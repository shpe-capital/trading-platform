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38a1d147324642" /><Relationship Type="http://schemas.openxmlformats.org/officeDocument/2006/relationships/extended-properties" Target="/docProps/app.xml" Id="Re6ac749cd24742e4" /><Relationship Type="http://schemas.openxmlformats.org/officeDocument/2006/relationships/officeDocument" Target="/ppt/presentation.xml" Id="R7748c7edbcd847c3" /></Relationships>
</file>

<file path=ppt/presentation.xml><?xml version="1.0" encoding="utf-8"?>
<p:presentation xmlns:p="http://schemas.openxmlformats.org/presentationml/2006/main">
  <p:sldMasterIdLst>
    <p:sldMasterId xmlns:r="http://schemas.openxmlformats.org/officeDocument/2006/relationships" id="2147483648" r:id="R6eb48aa3d9a64013"/>
  </p:sldMasterIdLst>
  <p:notesMasterIdLst>
    <p:notesMasterId xmlns:r="http://schemas.openxmlformats.org/officeDocument/2006/relationships" r:id="Rb4ee473aaea54c7e"/>
  </p:notesMasterIdLst>
  <p:sldIdLst>
    <p:sldId xmlns:r="http://schemas.openxmlformats.org/officeDocument/2006/relationships" id="256" r:id="R5cbbc2eff308464a"/>
    <p:sldId xmlns:r="http://schemas.openxmlformats.org/officeDocument/2006/relationships" id="257" r:id="R0a3c000efddd4940"/>
    <p:sldId xmlns:r="http://schemas.openxmlformats.org/officeDocument/2006/relationships" id="258" r:id="Rd926d625fefa4692"/>
    <p:sldId xmlns:r="http://schemas.openxmlformats.org/officeDocument/2006/relationships" id="259" r:id="R37780073cf254f7a"/>
    <p:sldId xmlns:r="http://schemas.openxmlformats.org/officeDocument/2006/relationships" id="260" r:id="R8ac741e3a8154652"/>
    <p:sldId xmlns:r="http://schemas.openxmlformats.org/officeDocument/2006/relationships" id="261" r:id="R833b45c7482f4255"/>
    <p:sldId xmlns:r="http://schemas.openxmlformats.org/officeDocument/2006/relationships" id="262" r:id="Rcd1d6f888fbb4b43"/>
    <p:sldId xmlns:r="http://schemas.openxmlformats.org/officeDocument/2006/relationships" id="263" r:id="Rbc8c6a69396b4923"/>
    <p:sldId xmlns:r="http://schemas.openxmlformats.org/officeDocument/2006/relationships" id="264" r:id="Re6a293a05eff4eec"/>
    <p:sldId xmlns:r="http://schemas.openxmlformats.org/officeDocument/2006/relationships" id="265" r:id="Rb7235c875dff4b39"/>
    <p:sldId xmlns:r="http://schemas.openxmlformats.org/officeDocument/2006/relationships" id="266" r:id="R2cb80c5bb3774a1f"/>
    <p:sldId xmlns:r="http://schemas.openxmlformats.org/officeDocument/2006/relationships" id="267" r:id="Rae6cedc115eb4d45"/>
    <p:sldId xmlns:r="http://schemas.openxmlformats.org/officeDocument/2006/relationships" id="268" r:id="Rb3495723b1644395"/>
    <p:sldId xmlns:r="http://schemas.openxmlformats.org/officeDocument/2006/relationships" id="269" r:id="R016d4237f9014c4f"/>
    <p:sldId xmlns:r="http://schemas.openxmlformats.org/officeDocument/2006/relationships" id="270" r:id="R257eba2f73bc4fc1"/>
    <p:sldId xmlns:r="http://schemas.openxmlformats.org/officeDocument/2006/relationships" id="271" r:id="R989eaf0ee49a4553"/>
    <p:sldId xmlns:r="http://schemas.openxmlformats.org/officeDocument/2006/relationships" id="272" r:id="Rd261ba6533bb4c4b"/>
    <p:sldId xmlns:r="http://schemas.openxmlformats.org/officeDocument/2006/relationships" id="273" r:id="R8367e15673b741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1b7b14211a46e9" /><Relationship Type="http://schemas.openxmlformats.org/officeDocument/2006/relationships/slideMaster" Target="/ppt/slideMasters/slideMaster1.xml" Id="R6eb48aa3d9a64013" /><Relationship Type="http://schemas.openxmlformats.org/officeDocument/2006/relationships/notesMaster" Target="/ppt/notesMasters/notesMaster1.xml" Id="Rb4ee473aaea54c7e" /><Relationship Type="http://schemas.openxmlformats.org/officeDocument/2006/relationships/presProps" Target="/ppt/presProps.xml" Id="Rc67210d674dc432d" /><Relationship Type="http://schemas.openxmlformats.org/officeDocument/2006/relationships/tableStyles" Target="/ppt/tableStyles.xml" Id="R994313233322483d" /><Relationship Type="http://schemas.openxmlformats.org/officeDocument/2006/relationships/slide" Target="/ppt/slides/slide1.xml" Id="R5cbbc2eff308464a" /><Relationship Type="http://schemas.openxmlformats.org/officeDocument/2006/relationships/slide" Target="/ppt/slides/slide2.xml" Id="R0a3c000efddd4940" /><Relationship Type="http://schemas.openxmlformats.org/officeDocument/2006/relationships/slide" Target="/ppt/slides/slide3.xml" Id="Rd926d625fefa4692" /><Relationship Type="http://schemas.openxmlformats.org/officeDocument/2006/relationships/slide" Target="/ppt/slides/slide4.xml" Id="R37780073cf254f7a" /><Relationship Type="http://schemas.openxmlformats.org/officeDocument/2006/relationships/slide" Target="/ppt/slides/slide5.xml" Id="R8ac741e3a8154652" /><Relationship Type="http://schemas.openxmlformats.org/officeDocument/2006/relationships/slide" Target="/ppt/slides/slide6.xml" Id="R833b45c7482f4255" /><Relationship Type="http://schemas.openxmlformats.org/officeDocument/2006/relationships/slide" Target="/ppt/slides/slide7.xml" Id="Rcd1d6f888fbb4b43" /><Relationship Type="http://schemas.openxmlformats.org/officeDocument/2006/relationships/slide" Target="/ppt/slides/slide8.xml" Id="Rbc8c6a69396b4923" /><Relationship Type="http://schemas.openxmlformats.org/officeDocument/2006/relationships/slide" Target="/ppt/slides/slide9.xml" Id="Re6a293a05eff4eec" /><Relationship Type="http://schemas.openxmlformats.org/officeDocument/2006/relationships/slide" Target="/ppt/slides/slide10.xml" Id="Rb7235c875dff4b39" /><Relationship Type="http://schemas.openxmlformats.org/officeDocument/2006/relationships/slide" Target="/ppt/slides/slide11.xml" Id="R2cb80c5bb3774a1f" /><Relationship Type="http://schemas.openxmlformats.org/officeDocument/2006/relationships/slide" Target="/ppt/slides/slide12.xml" Id="Rae6cedc115eb4d45" /><Relationship Type="http://schemas.openxmlformats.org/officeDocument/2006/relationships/slide" Target="/ppt/slides/slide13.xml" Id="Rb3495723b1644395" /><Relationship Type="http://schemas.openxmlformats.org/officeDocument/2006/relationships/slide" Target="/ppt/slides/slide14.xml" Id="R016d4237f9014c4f" /><Relationship Type="http://schemas.openxmlformats.org/officeDocument/2006/relationships/slide" Target="/ppt/slides/slide15.xml" Id="R257eba2f73bc4fc1" /><Relationship Type="http://schemas.openxmlformats.org/officeDocument/2006/relationships/slide" Target="/ppt/slides/slide16.xml" Id="R989eaf0ee49a4553" /><Relationship Type="http://schemas.openxmlformats.org/officeDocument/2006/relationships/slide" Target="/ppt/slides/slide17.xml" Id="Rd261ba6533bb4c4b" /><Relationship Type="http://schemas.openxmlformats.org/officeDocument/2006/relationships/slide" Target="/ppt/slides/slide18.xml" Id="R8367e15673b741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4e251cc19d48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a9c03fdad49b4" /><Relationship Type="http://schemas.openxmlformats.org/officeDocument/2006/relationships/notesMaster" Target="/ppt/notesMasters/notesMaster1.xml" Id="R10fe29ee80e54c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28076a598d4f16" /><Relationship Type="http://schemas.openxmlformats.org/officeDocument/2006/relationships/notesMaster" Target="/ppt/notesMasters/notesMaster1.xml" Id="R9d474ab10b754c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ce000a993f40e5" /><Relationship Type="http://schemas.openxmlformats.org/officeDocument/2006/relationships/notesMaster" Target="/ppt/notesMasters/notesMaster1.xml" Id="R47a74c9fb2aa45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4e3bbd287f4ad4" /><Relationship Type="http://schemas.openxmlformats.org/officeDocument/2006/relationships/notesMaster" Target="/ppt/notesMasters/notesMaster1.xml" Id="Rfd9f585af0344a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84d7c52f2b4df5" /><Relationship Type="http://schemas.openxmlformats.org/officeDocument/2006/relationships/notesMaster" Target="/ppt/notesMasters/notesMaster1.xml" Id="R16ea89bbcccb4c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0c930b2445418f" /><Relationship Type="http://schemas.openxmlformats.org/officeDocument/2006/relationships/notesMaster" Target="/ppt/notesMasters/notesMaster1.xml" Id="Ra668f7a710ac46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2c2a46de324aff" /><Relationship Type="http://schemas.openxmlformats.org/officeDocument/2006/relationships/notesMaster" Target="/ppt/notesMasters/notesMaster1.xml" Id="Rce9a401077374f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650a52ccc2412e" /><Relationship Type="http://schemas.openxmlformats.org/officeDocument/2006/relationships/notesMaster" Target="/ppt/notesMasters/notesMaster1.xml" Id="R524f52cd0e344b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3de66b3b3d4d48" /><Relationship Type="http://schemas.openxmlformats.org/officeDocument/2006/relationships/notesMaster" Target="/ppt/notesMasters/notesMaster1.xml" Id="R07ebc61ec94c41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433e18ec4643f7" /><Relationship Type="http://schemas.openxmlformats.org/officeDocument/2006/relationships/notesMaster" Target="/ppt/notesMasters/notesMaster1.xml" Id="R1da914afb55240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9dda639cab454a" /><Relationship Type="http://schemas.openxmlformats.org/officeDocument/2006/relationships/notesMaster" Target="/ppt/notesMasters/notesMaster1.xml" Id="Ra0da953820ab4b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cd7a7da442408f" /><Relationship Type="http://schemas.openxmlformats.org/officeDocument/2006/relationships/notesMaster" Target="/ppt/notesMasters/notesMaster1.xml" Id="R1f63aee5ab444f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0fa0862fa549f6" /><Relationship Type="http://schemas.openxmlformats.org/officeDocument/2006/relationships/notesMaster" Target="/ppt/notesMasters/notesMaster1.xml" Id="Rc566974c11d14a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c90ad89da943ac" /><Relationship Type="http://schemas.openxmlformats.org/officeDocument/2006/relationships/notesMaster" Target="/ppt/notesMasters/notesMaster1.xml" Id="R23d00a1be4e54d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c630affdb34aa0" /><Relationship Type="http://schemas.openxmlformats.org/officeDocument/2006/relationships/notesMaster" Target="/ppt/notesMasters/notesMaster1.xml" Id="R0c1ff3b2628142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866af3860a4f42" /><Relationship Type="http://schemas.openxmlformats.org/officeDocument/2006/relationships/notesMaster" Target="/ppt/notesMasters/notesMaster1.xml" Id="Rb6f46ed6534146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43855b6b274e09" /><Relationship Type="http://schemas.openxmlformats.org/officeDocument/2006/relationships/notesMaster" Target="/ppt/notesMasters/notesMaster1.xml" Id="R899f8fe443544e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9196d56df8948dd" /><Relationship Type="http://schemas.openxmlformats.org/officeDocument/2006/relationships/notesMaster" Target="/ppt/notesMasters/notesMaster1.xml" Id="Rf4e8062425754c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0:00–1:00, one minute. Welcome members to SHPE Capital. The project develops research, engineering, teamwork and communication skills by turning explicit trading hypotheses into repeatable experiments. A profitable result is an empirical question.</a:t>
            </a:r>
          </a:p>
          <a:p xmlns:a="http://schemas.openxmlformats.org/drawingml/2006/main">
            <a:r>
              <a:t/>
            </a:r>
          </a:p>
          <a:p xmlns:a="http://schemas.openxmlformats.org/drawingml/2006/main">
            <a:r>
              <a:t>PRESENTER PREPARATION: Add the actual lead names verbally or edit the team slide before the meeting. Confirm team assignments, give each team at least one experienced coder, and prepare a shared worksheet. Run the local demonstration beforehand with cached data. Bring a recorded fallback and screenshots. The first meeting is an introduction and planning session, so reserve installation support for office hours or the first optional workshop. Prepare approved data access, a fixed starter dataset, a baseline strategy, a common metrics template, source-reading prompts and a shared issue board. No actual trading performance is shown in this deck.</a:t>
            </a:r>
          </a:p>
          <a:p xmlns:a="http://schemas.openxmlformats.org/drawingml/2006/main">
            <a:r>
              <a:t/>
            </a:r>
          </a:p>
          <a:p xmlns:a="http://schemas.openxmlformats.org/drawingml/2006/main">
            <a:r>
              <a:t>AGENDA GUARDRAIL: Reach the activity by minute 30. Put deep questions into a shared parking-lot list for follow-up. Reference slides 13–18 are available after the activity and are not additional lecture time. Use a visible timer during team planning.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1:00–2:00. This agenda allocates exactly 60 minutes. Club introduction includes the team leads and each team's focus. Codebase overview uses one prepared demonstration. Goals cover the final deliverable and participation expectations. The roadmap and requirement overview are deliberately brief, with the detailed checklists in the appendix. Teams have 30 minutes to get acquainted and plan. Do not begin a full-room installation session during this meeting.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2:00–10:00. Spend about two minutes on the club purpose and the four team introductions, three minutes explaining the families, and three minutes introducing leads and how assignments work. Each lead says their name, background, what interests them about the family and how they will support beginners. Lead names are intentionally left out until assigned.</a:t>
            </a:r>
          </a:p>
          <a:p xmlns:a="http://schemas.openxmlformats.org/drawingml/2006/main">
            <a:r>
              <a:t/>
            </a:r>
          </a:p>
          <a:p xmlns:a="http://schemas.openxmlformats.org/drawingml/2006/main">
            <a:r>
              <a:t>RECOMMENDED SPLIT: For 12 members, four teams of three. For 15 members, three strategy teams of four and one platform team of three. Put an experienced coder in each team. Within a team, assign implementation, research and validation responsibilities, with the fourth member helping data analysis or operations. Rotate work so that the coding member is not the sole person who understands the strategy.</a:t>
            </a:r>
          </a:p>
          <a:p xmlns:a="http://schemas.openxmlformats.org/drawingml/2006/main">
            <a:r>
              <a:t/>
            </a:r>
          </a:p>
          <a:p xmlns:a="http://schemas.openxmlformats.org/drawingml/2006/main">
            <a:r>
              <a:t>MOMENTUM: Opening-range breakout or time-of-day momentum are candidate subtypes. Gao, Han, Li and Zhou (2018) study market intraday momentum, linking the first and last half-hour returns. This is a source of a hypothesis, not evidence that any opening-range implementation will succeed on IEX data.</a:t>
            </a:r>
          </a:p>
          <a:p xmlns:a="http://schemas.openxmlformats.org/drawingml/2006/main">
            <a:r>
              <a:t>RELATIVE VALUE: Pairs divergence and convergence, with distance-based or cointegration-based variants. Gatev, Goetzmann and Rouwenhorst's February 2006 manuscript tests a daily-data pairs strategy. Adapting it to intraday bars changes the research problem. Related instruments are illustrative; similarity and correlation do not ensure a stable, profitable hedge.</a:t>
            </a:r>
          </a:p>
          <a:p xmlns:a="http://schemas.openxmlformats.org/drawingml/2006/main">
            <a:r>
              <a:t>REVERSAL: Short-lived reversals after unusually large moves or temporary deviations. Heston, Korajczyk and Sadka (2010) identify short-term return reversal and liquidity effects. Apparent reversal can also come from bid–ask bounce, which is not automatically tradable profit.</a:t>
            </a:r>
          </a:p>
          <a:p xmlns:a="http://schemas.openxmlformats.org/drawingml/2006/main">
            <a:r>
              <a:t>PLATFORM: Prioritize shared support needed by the three teams. First acceptance test: each chosen strategy can run through the common backtest path and emit a comparable report. Other priorities are replay, analytics, deployment observability and timestamp instrumentation. Prioritize measured bottlenecks before latency changes.</a:t>
            </a:r>
          </a:p>
          <a:p xmlns:a="http://schemas.openxmlformats.org/drawingml/2006/main">
            <a:r>
              <a:t/>
            </a:r>
          </a:p>
          <a:p xmlns:a="http://schemas.openxmlformats.org/drawingml/2006/main">
            <a:r>
              <a:t>SOURCES:</a:t>
            </a:r>
          </a:p>
          <a:p xmlns:a="http://schemas.openxmlformats.org/drawingml/2006/main">
            <a:r>
              <a:t>Gao et al., Market intraday momentum (2018): https://profiles.wustl.edu/en/publications/market-intraday-momentum/</a:t>
            </a:r>
          </a:p>
          <a:p xmlns:a="http://schemas.openxmlformats.org/drawingml/2006/main">
            <a:r>
              <a:t>Gatev et al., Pairs Trading (February 2006 manuscript): https://repec.som.yale.edu/icfpub/publications/2573.pdf</a:t>
            </a:r>
          </a:p>
          <a:p xmlns:a="http://schemas.openxmlformats.org/drawingml/2006/main">
            <a:r>
              <a:t>Heston et al., Intraday Patterns (2010): https://arxiv.org/abs/1005.3535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10:00–12:30. Open the repository in advance. Explain purpose, not every file. Show backend/src/strategies/base/strategy.ts and one actual strategy implementation. Explain that TypeScript is the current integration language. Python research or inference services are optional later extensions with explicit contracts and failure behavior; they are not a prerequisite for a first strategy.</a:t>
            </a:r>
          </a:p>
          <a:p xmlns:a="http://schemas.openxmlformats.org/drawingml/2006/main">
            <a:r>
              <a:t/>
            </a:r>
          </a:p>
          <a:p xmlns:a="http://schemas.openxmlformats.org/drawingml/2006/main">
            <a:r>
              <a:t>REPOSITORY SOURCES, verified October 8, 2026:</a:t>
            </a:r>
          </a:p>
          <a:p xmlns:a="http://schemas.openxmlformats.org/drawingml/2006/main">
            <a:r>
              <a:t>README.md</a:t>
            </a:r>
          </a:p>
          <a:p xmlns:a="http://schemas.openxmlformats.org/drawingml/2006/main">
            <a:r>
              <a:t>docs/README.md</a:t>
            </a:r>
          </a:p>
          <a:p xmlns:a="http://schemas.openxmlformats.org/drawingml/2006/main">
            <a:r>
              <a:t>backend/src/strategies/base/strategy.ts</a:t>
            </a:r>
          </a:p>
          <a:p xmlns:a="http://schemas.openxmlformats.org/drawingml/2006/main">
            <a:r>
              <a:t>backend/src/core/engine/orchestrator.ts</a:t>
            </a:r>
          </a:p>
          <a:p xmlns:a="http://schemas.openxmlformats.org/drawingml/2006/main">
            <a:r>
              <a:t>backend/src/core/risk/riskEngine.ts</a:t>
            </a:r>
          </a:p>
          <a:p xmlns:a="http://schemas.openxmlformats.org/drawingml/2006/main">
            <a:r>
              <a:t>backend/src/core/backtest/strategyFactory.ts</a:t>
            </a:r>
          </a:p>
          <a:p xmlns:a="http://schemas.openxmlformats.org/drawingml/2006/main">
            <a:r>
              <a:t>docs/guides/local-development.md</a:t>
            </a:r>
          </a:p>
          <a:p xmlns:a="http://schemas.openxmlformats.org/drawingml/2006/main">
            <a:r>
              <a:t/>
            </a:r>
          </a:p>
          <a:p xmlns:a="http://schemas.openxmlformats.org/drawingml/2006/main">
            <a:r>
              <a:t>Avoid treating old implementation guides as an exact status report. Current source code determines what is supported.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12:30–15:30. Define a bar as a summary over an interval; a quote is an offered bid and ask; a trade is an executed transaction. Then trace one hypothetical signal through the platform. The strategy reads information available at that moment and returns a signal or no action. The rest of the system checks and executes the request. A signal is an intention, an order is a submitted instruction, and a fill is the completed quantity. These differ, so a backtest cannot assume every signal instantly fills.</a:t>
            </a:r>
          </a:p>
          <a:p xmlns:a="http://schemas.openxmlformats.org/drawingml/2006/main">
            <a:r>
              <a:t/>
            </a:r>
          </a:p>
          <a:p xmlns:a="http://schemas.openxmlformats.org/drawingml/2006/main">
            <a:r>
              <a:t>ILLUSTRATIVE EXAMPLE ONLY: Build the opening range from completed bars during a fixed opening window. After that window, a later bar closes above the range high. The strategy proposes a long entry; the risk layer can reject it for a position limit, loss limit, pending order or invalid data. An accepted order may be rejected, partly filled, canceled or filled. Position and order state need reconciliation. Entry, stop behavior, maximum holding time and end-of-day exit still need explicit rules. Do not treat this explanation as an approved or profitable strategy.</a:t>
            </a:r>
          </a:p>
          <a:p xmlns:a="http://schemas.openxmlformats.org/drawingml/2006/main">
            <a:r>
              <a:t/>
            </a:r>
          </a:p>
          <a:p xmlns:a="http://schemas.openxmlformats.org/drawingml/2006/main">
            <a:r>
              <a:t>SOURCES: backend/src/strategies/base/strategy.ts; backend/src/core/engine/orchestrator.ts; backend/src/core/risk/riskEngine.ts. Data concepts: https://docs.alpaca.markets/us/docs/market-data-faq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15:30–20:00. Spend one minute on the interface, about two minutes on a prepared run and one minute on implementation boundaries and testing support.</a:t>
            </a:r>
          </a:p>
          <a:p xmlns:a="http://schemas.openxmlformats.org/drawingml/2006/main">
            <a:r>
              <a:t/>
            </a:r>
          </a:p>
          <a:p xmlns:a="http://schemas.openxmlformats.org/drawingml/2006/main">
            <a:r>
              <a:t>DEMO PREPARATION: Use Node.js 22+ and a running Docker engine. From the repository root, follow docs/guides/local-development.md: npm install, npm run setup, npm run dev:stack. Provision cached bars in advance using the documented process and confirm the local simulation works without contacting the club's trading account. The default local execution target is sim. Optional personal Alpaca data or personal paper keys follow the local guide. Do not distribute the club credentials or display secrets. Only the prepared lead machine needs to be ready today.</a:t>
            </a:r>
          </a:p>
          <a:p xmlns:a="http://schemas.openxmlformats.org/drawingml/2006/main">
            <a:r>
              <a:t/>
            </a:r>
          </a:p>
          <a:p xmlns:a="http://schemas.openxmlformats.org/drawingml/2006/main">
            <a:r>
              <a:t>DEMO SCRIPT: (1) Open IStrategy and point to evaluate(context), a fast synchronous call returning StrategySignal or null. (2) Show a configured existing strategy running against prepared cached data or a recorded run. (3) Point to one signal, its risk decision, order and resulting ledger entry. (4) Show one result view. Use pairs trading for a supported backtest example. If demonstrating minute_reversal, describe it as an order-path test rather than a validated investment strategy. If setup or data fail, switch immediately to the recorded example.</a:t>
            </a:r>
          </a:p>
          <a:p xmlns:a="http://schemas.openxmlformats.org/drawingml/2006/main">
            <a:r>
              <a:t/>
            </a:r>
          </a:p>
          <a:p xmlns:a="http://schemas.openxmlformats.org/drawingml/2006/main">
            <a:r>
              <a:t>CURRENT SUPPORT: backend/src/core/backtest/strategyFactory.ts lists pairs_trading as its sole BACKTESTABLE_TYPES entry. Other selected strategy types need platform integration before the common backtest worker can run them. Agree on that integration in week one, with a minimal supported path by week two. Do not promise universal backtest readiness today.</a:t>
            </a:r>
          </a:p>
          <a:p xmlns:a="http://schemas.openxmlformats.org/drawingml/2006/main">
            <a:r>
              <a:t/>
            </a:r>
          </a:p>
          <a:p xmlns:a="http://schemas.openxmlformats.org/drawingml/2006/main">
            <a:r>
              <a:t>CONTRACT: Strategies consume shared state, emit signals and do not call external APIs, own WebSocket connections or write directly to the database. Paper, live and simulated execution belong to the platform. Keep advanced inference off the synchronous path unless a bounded, precomputed integration is reviewed. Parameter changes, logic version changes and warm-up behavior must be explicit.</a:t>
            </a:r>
          </a:p>
          <a:p xmlns:a="http://schemas.openxmlformats.org/drawingml/2006/main">
            <a:r>
              <a:t/>
            </a:r>
          </a:p>
          <a:p xmlns:a="http://schemas.openxmlformats.org/drawingml/2006/main">
            <a:r>
              <a:t>SOURCES: backend/src/strategies/base/strategy.ts; backend/src/core/backtest/strategyFactory.ts; backend/src/strategies/minuteReversal/minuteReversalStrategy.ts; docs/guides/local-development.md.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20:00–22:30. The audience is SHPE executive leadership. Each strategy team should explain a plain-language mechanism and show the evidence clearly enough for a non-specialist to assess. The appendix provides an eight-part presentation template. Every final result includes data dates, the strategy version, cost assumptions and a reproducible report. A negative finding or a limited sample can be a successful research project when the method is rigorous.</a:t>
            </a:r>
          </a:p>
          <a:p xmlns:a="http://schemas.openxmlformats.org/drawingml/2006/main">
            <a:r>
              <a:t/>
            </a:r>
          </a:p>
          <a:p xmlns:a="http://schemas.openxmlformats.org/drawingml/2006/main">
            <a:r>
              <a:t>DEFINE THREE TERMS: A backtest simulates a strategy on historical data. Paper trading runs the strategy prospectively against current data with simulated orders and fills. A drawdown is the decline in account equity from a previous peak. P&amp;L means profit and loss. Backtest and paper results must be displayed separately.</a:t>
            </a:r>
          </a:p>
          <a:p xmlns:a="http://schemas.openxmlformats.org/drawingml/2006/main">
            <a:r>
              <a:t/>
            </a:r>
          </a:p>
          <a:p xmlns:a="http://schemas.openxmlformats.org/drawingml/2006/main">
            <a:r>
              <a:t>FINAL EXPECTATIONS: (1) Idea and mechanism, cited primary research or credible evidence, applicability and differences from the source. (2) Backtest with chronological out-of-sample evaluation, a meaningful baseline and net results under modeled costs. (3) Ideally three weeks online, with version, dates, healthy sessions, trades, costs omitted by the simulator and incidents. (4) Reflections, failure cases, limitations and the next experiment.</a:t>
            </a:r>
          </a:p>
          <a:p xmlns:a="http://schemas.openxmlformats.org/drawingml/2006/main">
            <a:r>
              <a:t/>
            </a:r>
          </a:p>
          <a:p xmlns:a="http://schemas.openxmlformats.org/drawingml/2006/main">
            <a:r>
              <a:t>PLATFORM EQUIVALENT: Explain the bottleneck, design, cited technical evidence where relevant, before-and-after benchmark or reproducibility results, online operational reliability, how strategy teams used the tools and remaining gaps. The platform team is evaluated on infrastructure evidence, not its own trading return.</a:t>
            </a:r>
          </a:p>
          <a:p xmlns:a="http://schemas.openxmlformats.org/drawingml/2006/main">
            <a:r>
              <a:t/>
            </a:r>
          </a:p>
          <a:p xmlns:a="http://schemas.openxmlformats.org/drawingml/2006/main">
            <a:r>
              <a:t>SOURCE on simulation limits: https://docs.alpaca.markets/us/docs/paper-trading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22:30–25:00. Each team submits a short weekly update before Tuesday: what changed, the experiment run, results including failures, blockers and the next task owner. Keep the scope small: examine two candidate directions initially, finalize one family and one baseline by week three, then test a small, justified set of changes. Record every tested configuration and avoid selecting a winner from dozens of undocumented trials.</a:t>
            </a:r>
          </a:p>
          <a:p xmlns:a="http://schemas.openxmlformats.org/drawingml/2006/main">
            <a:r>
              <a:t/>
            </a:r>
          </a:p>
          <a:p xmlns:a="http://schemas.openxmlformats.org/drawingml/2006/main">
            <a:r>
              <a:t>ROLE ASSIGNMENTS: The research owner finds primary sources and summarizes mechanism, data, costs and limitations. The implementation owner builds the baseline and maintains a runnable, versioned strategy. The validation owner owns data splits, experiment logs, metrics, robustness and independent review. A fourth member can own data quality, monitoring or presentation artifacts. The lead coordinates and supports everyone. Members may pair and rotate responsibilities. Every member should be able to explain at least one signal and its risks.</a:t>
            </a:r>
          </a:p>
          <a:p xmlns:a="http://schemas.openxmlformats.org/drawingml/2006/main">
            <a:r>
              <a:t/>
            </a:r>
          </a:p>
          <a:p xmlns:a="http://schemas.openxmlformats.org/drawingml/2006/main">
            <a:r>
              <a:t>RECOMMENDED EFFORT ALLOCATION, TO AGREE WITH MEMBERS: Roughly one quarter reading/specification, one half implementation and historical testing, and one quarter review/monitoring/communication during the build phase. After deployment, shift time toward monitoring and analysis. These are planning ranges, not a grading formula. Reading should answer a specific testable question rather than expand without an experiment.</a:t>
            </a:r>
          </a:p>
          <a:p xmlns:a="http://schemas.openxmlformats.org/drawingml/2006/main">
            <a:r>
              <a:t/>
            </a:r>
          </a:p>
          <a:p xmlns:a="http://schemas.openxmlformats.org/drawingml/2006/main">
            <a:r>
              <a:t>BEGINNER SUPPORT: Use a short shared paper-reading template and annotated starter strategy. Let non-coders define rules, audit data and costs, inspect individual trades and draft figures. Have the experienced coder pair on small tasks rather than implement the whole project alone. Optional workshops: October 17–18 on setup, Git and strategy basics; October 24–25 on honest backtesting; October 31–November 1 on deployment, monitoring and incident response. Choose exact workshop times outside the core Tuesday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25:00–27:00. The roadmap reflects Tuesday meetings from October 13 through December 1, 2026. These are recommended acceptance-based milestones. Week four is a deployment readiness target, not permission to skip failed checks. A successful paper smoke test proves that the order path runs, not that the strategy earns money.</a:t>
            </a:r>
          </a:p>
          <a:p xmlns:a="http://schemas.openxmlformats.org/drawingml/2006/main">
            <a:r>
              <a:t/>
            </a:r>
          </a:p>
          <a:p xmlns:a="http://schemas.openxmlformats.org/drawingml/2006/main">
            <a:r>
              <a:t>WEEK 1, OCT 13: Two ideas, role assignments, two initial sources and a first experiment. Platform team collects needs, confirms data access and identifies shared backtest registration work. Lead distributes a prepared dataset and common metrics template.</a:t>
            </a:r>
          </a:p>
          <a:p xmlns:a="http://schemas.openxmlformats.org/drawingml/2006/main">
            <a:r>
              <a:t>WEEK 2, OCT 20: One baseline specified in plain language and an initial historical run. A prepared local setup per team is sufficient. Platform team supplies a minimal backtest path for each selected type or documents a concrete blocker. Teach leakage and costs, and inspect a few trades manually.</a:t>
            </a:r>
          </a:p>
          <a:p xmlns:a="http://schemas.openxmlformats.org/drawingml/2006/main">
            <a:r>
              <a:t>WEEK 3, OCT 27: Finalize the idea and submit a one-page research specification. Include exact rules, symbols, feed, sizing, holding period, splits, costs, baseline, trial plan and kill conditions. Freeze selection criteria before the untouched final test. Cross-team reviewer examines methodology.</a:t>
            </a:r>
          </a:p>
          <a:p xmlns:a="http://schemas.openxmlformats.org/drawingml/2006/main">
            <a:r>
              <a:t>WEEK 4, NOV 3: Implemented baseline, reproducible historical report, local smoke test and successful Alpaca paper smoke test. Review the readiness checklist, then deploy and start monitoring during the meeting if it passes. A no-trade strategy can test execution with a separate test strategy, clearly excluded from evaluation. Run the frozen evaluation version beginning November 4. If not ready, document the blocker and shorter actual evaluation window. Do not fabricate missing days.</a:t>
            </a:r>
          </a:p>
          <a:p xmlns:a="http://schemas.openxmlformats.org/drawingml/2006/main">
            <a:r>
              <a:t>WEEK 5, NOV 10: First weekly online report, actual healthy sessions, fills, incidents and backtest/paper discrepancies. Strategy changes receive new version labels. Platform team verifies monitoring and reconciled analytics.</a:t>
            </a:r>
          </a:p>
          <a:p xmlns:a="http://schemas.openxmlformats.org/drawingml/2006/main">
            <a:r>
              <a:t>WEEK 6, NOV 17: Independent audit of research, historical and online evidence. Draft findings, assess costs and describe failures. Keep new experiments separate from the frozen paper evaluation.</a:t>
            </a:r>
          </a:p>
          <a:p xmlns:a="http://schemas.openxmlformats.org/drawingml/2006/main">
            <a:r>
              <a:t>WEEK 7, NOV 24: Rehearsal using the results accumulated so far. November 4–24 contains 15 scheduled trading sessions, calculated as weekdays with no scheduled NYSE holiday in that interval. Count actual healthy sessions too. Team slides show the sample and uncertainty. Freeze the final export on November 30 and update the presentation from that dated snapshot.</a:t>
            </a:r>
          </a:p>
          <a:p xmlns:a="http://schemas.openxmlformats.org/drawingml/2006/main">
            <a:r>
              <a:t>WEEK 8, DEC 1: Final presentation to SHPE executive leadership. Optional continuation through December and early January requires assigned monitoring coverage, alerts, risk controls and dated periodic results. Label the continuation as a new evaluation window; it cannot be part of the December 1 evidence.</a:t>
            </a:r>
          </a:p>
          <a:p xmlns:a="http://schemas.openxmlformats.org/drawingml/2006/main">
            <a:r>
              <a:t/>
            </a:r>
          </a:p>
          <a:p xmlns:a="http://schemas.openxmlformats.org/drawingml/2006/main">
            <a:r>
              <a:t>HOLIDAYS: Thanksgiving is November 26 and November 27 has an early close at 1 p.m. ET. December 24 also closes early, December 25 is closed and January 1, 2027 is closed. All schedule-aware exits and reports should use a calendar.</a:t>
            </a:r>
          </a:p>
          <a:p xmlns:a="http://schemas.openxmlformats.org/drawingml/2006/main">
            <a:r>
              <a:t>CALENDAR SOURCE: https://www.nyse.com/trade/hours-calendars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27:00–30:00. Summarize the eight requirements; do not teach the entire appendix here. Each has an evidence artifact and an owner. Requirements apply even if the strategy is simple or uses a neural network. The detailed specification, validation and deployment checklists are on slides 13–15.</a:t>
            </a:r>
          </a:p>
          <a:p xmlns:a="http://schemas.openxmlformats.org/drawingml/2006/main">
            <a:r>
              <a:t/>
            </a:r>
          </a:p>
          <a:p xmlns:a="http://schemas.openxmlformats.org/drawingml/2006/main">
            <a:r>
              <a:t>1. RESEARCH: Cite at least one relevant primary paper or credible empirical source, ideally two. Explain the mechanism and how the project's feed, assets, sample and holding period differ. Report evidence against the idea too. Research motivates a test; it does not guarantee success.</a:t>
            </a:r>
          </a:p>
          <a:p xmlns:a="http://schemas.openxmlformats.org/drawingml/2006/main">
            <a:r>
              <a:t>2. EXACT RULES: State the universe, data inputs, entry, exit, sizing, maximum holding time, trading window, and behavior around end-of-day, halts and invalid inputs. Both long and short legs require feasible order handling.</a:t>
            </a:r>
          </a:p>
          <a:p xmlns:a="http://schemas.openxmlformats.org/drawingml/2006/main">
            <a:r>
              <a:t>3. DATA: Free IEX represents one exchange. Label the source. Verify timestamps, time zone, sessions, missing/duplicate records, bar completion, corporate actions and any symbol-selection bias. Do not interpret IEX volume or best bid/ask as consolidated market volume or the national best quote. Quotes and trades require sufficient recording and replay before use in experiments.</a:t>
            </a:r>
          </a:p>
          <a:p xmlns:a="http://schemas.openxmlformats.org/drawingml/2006/main">
            <a:r>
              <a:t>4. HONEST EVALUATION: Use chronological development, validation and final test windows. Fit all parameters and transformations only on permitted training data. Record the entire search. Keep the final test untouched until selection is finished. Overlapping labels or positions can require a gap between folds. Repeated inspection of the final window makes it part of development.</a:t>
            </a:r>
          </a:p>
          <a:p xmlns:a="http://schemas.openxmlformats.org/drawingml/2006/main">
            <a:r>
              <a:t>5. COSTS AND BASELINES: Show results after modeled spread, slippage, fees and applicable borrow costs. Handle delay, partial fills and same-bar ambiguity. Compare with cash and an appropriate same-capital, same-exposure simple baseline. Stress cost assumptions and show sensitivity.</a:t>
            </a:r>
          </a:p>
          <a:p xmlns:a="http://schemas.openxmlformats.org/drawingml/2006/main">
            <a:r>
              <a:t>6. RISK: Predefine size, exposure, per-trade risk, daily loss and drawdown limits, stop/exit behavior, short restrictions, pending orders and kill conditions. A stop order is not a guaranteed fill price. Pair legs can fail independently.</a:t>
            </a:r>
          </a:p>
          <a:p xmlns:a="http://schemas.openxmlformats.org/drawingml/2006/main">
            <a:r>
              <a:t>7. REPRODUCIBILITY: Preserve code version, configuration, feed, data dates, split boundaries, costs, seeds where relevant, raw results and experiment log. Someone outside the team should rerun the report.</a:t>
            </a:r>
          </a:p>
          <a:p xmlns:a="http://schemas.openxmlformats.org/drawingml/2006/main">
            <a:r>
              <a:t>8. SAFE ONLINE OPERATION: Successful paper smoke test, reviewed deployment, reconciliation, error handling, logs, alerts, owner coverage, shutdown and recovery procedure. Maintain a fixed paper version and report incidents and missing sessions.</a:t>
            </a:r>
          </a:p>
          <a:p xmlns:a="http://schemas.openxmlformats.org/drawingml/2006/main">
            <a:r>
              <a:t/>
            </a:r>
          </a:p>
          <a:p xmlns:a="http://schemas.openxmlformats.org/drawingml/2006/main">
            <a:r>
              <a:t>SOURCES:</a:t>
            </a:r>
          </a:p>
          <a:p xmlns:a="http://schemas.openxmlformats.org/drawingml/2006/main">
            <a:r>
              <a:t>Bailey et al. (February 2015 manuscript), The Probability of Backtest Overfitting: https://www.davidhbailey.com/dhbpapers/backtest-prob.pdf</a:t>
            </a:r>
          </a:p>
          <a:p xmlns:a="http://schemas.openxmlformats.org/drawingml/2006/main">
            <a:r>
              <a:t>Alpaca market data FAQ: https://docs.alpaca.markets/us/docs/market-data-faq</a:t>
            </a:r>
          </a:p>
          <a:p xmlns:a="http://schemas.openxmlformats.org/drawingml/2006/main">
            <a:r>
              <a:t>Alpaca paper trading and fill limits: https://docs.alpaca.markets/us/docs/paper-trading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30:00–60:00 total, with this slide displayed through minute 57 and the next slide during report-outs. Assign a facilitator and use a visible timer. Lead and platform members circulate to help teams frame ideas. Group members before the timer starts.</a:t>
            </a:r>
          </a:p>
          <a:p xmlns:a="http://schemas.openxmlformats.org/drawingml/2006/main">
            <a:r>
              <a:t/>
            </a:r>
          </a:p>
          <a:p xmlns:a="http://schemas.openxmlformats.org/drawingml/2006/main">
            <a:r>
              <a:t>MINUTES 30–35: Each member shares their name, experience, interests and one skill they want to learn. Avoid ranking members by coding skill. Make the experienced coder available as a mentor.</a:t>
            </a:r>
          </a:p>
          <a:p xmlns:a="http://schemas.openxmlformats.org/drawingml/2006/main">
            <a:r>
              <a:t>MINUTES 35–39: Assign research, implementation and validation owners. A fourth member owns data or monitoring. Choose the person responsible for the weekly update. Roles can rotate.</a:t>
            </a:r>
          </a:p>
          <a:p xmlns:a="http://schemas.openxmlformats.org/drawingml/2006/main">
            <a:r>
              <a:t>MINUTES 39–51: Write two candidate hypotheses in the family's scope. For each answer: why might it work, what information is available at decision time, which symbols and holding period, how would a trade enter and exit, what would disprove it, what data and platform capability does it need? Identify one primary source per candidate; if time is short, use the provided starting paper and choose a second source for homework. Do not finalize the best-looking configuration based on this brainstorm. Platform team proposes two shared infrastructure priorities and their acceptance tests instead of trading hypotheses.</a:t>
            </a:r>
          </a:p>
          <a:p xmlns:a="http://schemas.openxmlformats.org/drawingml/2006/main">
            <a:r>
              <a:t>MINUTES 51–57: Choose the first simple experiment, assign owners and agree what the team will bring on October 20. Create an issue or shared worksheet with dependencies and questions for the platform team. The output today is a plan, not a trained model or a complete strategy.</a:t>
            </a:r>
          </a:p>
          <a:p xmlns:a="http://schemas.openxmlformats.org/drawingml/2006/main">
            <a:r>
              <a:t>MINUTES 57–60: Four teams give a 45-second report-out: people and roles, first hypothesis or platform priority, first test and the most important blocker. If a team has more to discuss, capture it after the meeting.</a:t>
            </a:r>
          </a:p>
          <a:p xmlns:a="http://schemas.openxmlformats.org/drawingml/2006/main">
            <a:r>
              <a:t/>
            </a:r>
          </a:p>
          <a:p xmlns:a="http://schemas.openxmlformats.org/drawingml/2006/main">
            <a:r>
              <a:t>TEAM WORKSHEET TEMPLATE: Team and members; roles; candidate A and B; source links; mechanism; symbols/feed; inputs; proposed entry/exit; holding period; expected risks/costs; first experiment; result that would weaken the hypothesis; platform dependency; next-week deliverable and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57:00–60:00. Each of the four teams has 45 seconds. Prompt: who owns what, which idea will you test first, what result will you bring next Tuesday, and which blocker needs help?</a:t>
            </a:r>
          </a:p>
          <a:p xmlns:a="http://schemas.openxmlformats.org/drawingml/2006/main">
            <a:r>
              <a:t/>
            </a:r>
          </a:p>
          <a:p xmlns:a="http://schemas.openxmlformats.org/drawingml/2006/main">
            <a:r>
              <a:t>HOMEWORK FOR OCTOBER 20: Read two relevant sources using a short evidence summary: hypothesis, data, method, results, costs, limitations and relevance to one-minute IEX data. Write exact baseline rules in plain language before implementation. Bring one initial historical run if the shared testing path is ready. Otherwise bring the documented blocker, dependency owner and planned test, rather than inventing a backtest result. Validate data and hand-check a small number of trades. Agree setup responsibilities; one working prepared machine per team is enough to start.</a:t>
            </a:r>
          </a:p>
          <a:p xmlns:a="http://schemas.openxmlformats.org/drawingml/2006/main">
            <a:r>
              <a:t/>
            </a:r>
          </a:p>
          <a:p xmlns:a="http://schemas.openxmlformats.org/drawingml/2006/main">
            <a:r>
              <a:t>PLATFORM HOMEWORK: Publish the minimal strategy integration contract, a runnable prepared example, supported strategy types, dataset access and a consistent report format. Resolve or explicitly schedule the missing backtest registrations. Define deployment and monitoring acceptance tests. Use a shared task board with owners so research teams can work independently while blockers are handled.</a:t>
            </a:r>
          </a:p>
          <a:p xmlns:a="http://schemas.openxmlformats.org/drawingml/2006/main">
            <a:r>
              <a:t/>
            </a:r>
          </a:p>
          <a:p xmlns:a="http://schemas.openxmlformats.org/drawingml/2006/main">
            <a:r>
              <a:t>OPTIONAL WORKSHOPS: Reserve two or three separate sessions for setup and Git, honest backtesting and data handling, then deployment and incident response. Newer members get a small coding task paired with the experienced coder.</a:t>
            </a:r>
          </a:p>
          <a:p xmlns:a="http://schemas.openxmlformats.org/drawingml/2006/main">
            <a:r>
              <a:t/>
            </a:r>
          </a:p>
          <a:p xmlns:a="http://schemas.openxmlformats.org/drawingml/2006/main">
            <a:r>
              <a:t>AFTER TODAY: Share the appendix as a reference, collect member availability and confirm workshop dates. The detailed checklist is not homework to learn every concept immediately; it is the standard the teams build toward.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Due October 27. Each team should complete a concise specification and link supporting material rather than fill the page with indicators. Review with another team and the platform lead.</a:t>
            </a:r>
          </a:p>
          <a:p xmlns:a="http://schemas.openxmlformats.org/drawingml/2006/main">
            <a:r>
              <a:t/>
            </a:r>
          </a:p>
          <a:p xmlns:a="http://schemas.openxmlformats.org/drawingml/2006/main">
            <a:r>
              <a:t>FIELDS: Title, version, owners, source citations, mechanism, null or counter-hypothesis, scope, symbols and how selected, feed, interval or event inputs, session timezone, trading window, historical date range, entry/exit/sizing and stop rules, maximum holding time, overnight policy, short borrow and eligibility assumptions, daily and portfolio risk limits, missing data and restart rules, dependencies, split plan, cost and fill assumptions, baseline, metrics, predeclared parameter trials and acceptance criteria.</a:t>
            </a:r>
          </a:p>
          <a:p xmlns:a="http://schemas.openxmlformats.org/drawingml/2006/main">
            <a:r>
              <a:t/>
            </a:r>
          </a:p>
          <a:p xmlns:a="http://schemas.openxmlformats.org/drawingml/2006/main">
            <a:r>
              <a:t>MECHANISM EXAMPLE: If a liquid asset breaks a completed opening range, subsequent order flow may persist. A test compares a fixed breakout rule with a simple same-window baseline after costs. This is a hypothetical mechanism, not a claimed finding. Specify exactly when the range is available and which later event can trigger an order. A hypothesis must permit an unfavorable result.</a:t>
            </a:r>
          </a:p>
          <a:p xmlns:a="http://schemas.openxmlformats.org/drawingml/2006/main">
            <a:r>
              <a:t/>
            </a:r>
          </a:p>
          <a:p xmlns:a="http://schemas.openxmlformats.org/drawingml/2006/main">
            <a:r>
              <a:t>EVIDENCE REVIEW: Use primary papers when possible. Record title, authors, date and source URL. Summarize the paper's assets, frequency, sample, cost treatment, out-of-sample method and limitations. List the differences from this project. A daily study cannot establish intraday performance, and an older result is not a current guarantee. If no directly applicable paper exists, label the idea exploratory and propose a defensible test.</a:t>
            </a:r>
          </a:p>
          <a:p xmlns:a="http://schemas.openxmlformats.org/drawingml/2006/main">
            <a:r>
              <a:t/>
            </a:r>
          </a:p>
          <a:p xmlns:a="http://schemas.openxmlformats.org/drawingml/2006/main">
            <a:r>
              <a:t>DATA SCOPE: The initial default is US stocks/ETFs, long and short intraday, with free IEX data and one-minute-bar baselines. Quotes/trades are extensions when available with historical coverage, event replay and a credible execution model. One exchange's quotes do not provide the consolidated national best bid/offer. Symbols in examples are candidates only. Universe selection must use information that would have existed at selection time.</a:t>
            </a:r>
          </a:p>
          <a:p xmlns:a="http://schemas.openxmlformats.org/drawingml/2006/main">
            <a:r>
              <a:t/>
            </a:r>
          </a:p>
          <a:p xmlns:a="http://schemas.openxmlformats.org/drawingml/2006/main">
            <a:r>
              <a:t>SOURCES: https://docs.alpaca.markets/us/docs/market-data-faq; relevant family papers on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The platform team and the validation owner share this checklist. Guard against leakage and multiple-testing bias without implying a chronological split alone proves a profitable strategy.</a:t>
            </a:r>
          </a:p>
          <a:p xmlns:a="http://schemas.openxmlformats.org/drawingml/2006/main">
            <a:r>
              <a:t/>
            </a:r>
          </a:p>
          <a:p xmlns:a="http://schemas.openxmlformats.org/drawingml/2006/main">
            <a:r>
              <a:t>DATA CHECKS: Verify source, dates and coverage. Normalize time zones and daylight-saving transitions. Detect duplicates, missing or out-of-order events, bad prices, sparse IEX volume, corporate actions, symbol changes and selection bias. Use only completed information at the decision timestamp. Features that need a day-end value cannot be used earlier that day. Define warm-up and unavailable-input behavior.</a:t>
            </a:r>
          </a:p>
          <a:p xmlns:a="http://schemas.openxmlformats.org/drawingml/2006/main">
            <a:r>
              <a:t/>
            </a:r>
          </a:p>
          <a:p xmlns:a="http://schemas.openxmlformats.org/drawingml/2006/main">
            <a:r>
              <a:t>SPLITS: Use chronological development and validation periods, followed by a genuinely untouched final period. Pick the boundaries before comparing finalists. For time-series features and labels, ensure fitting is confined to training data and no label spans into a validation or test period. Where overlap can contaminate a boundary, purge overlapping samples and add an appropriate gap. Rolling walk-forward evaluation is useful when implemented without fitting on future windows. Randomly shuffling bars can leak future conditions.</a:t>
            </a:r>
          </a:p>
          <a:p xmlns:a="http://schemas.openxmlformats.org/drawingml/2006/main">
            <a:r>
              <a:t/>
            </a:r>
          </a:p>
          <a:p xmlns:a="http://schemas.openxmlformats.org/drawingml/2006/main">
            <a:r>
              <a:t>SEARCH LOG: Record every attempted idea, parameter set, chosen universe and tested rule, including discarded trials. Repeatedly inspecting holdout performance converts it into development data. Keep the number of variations small and justified. When search expands, advanced reviewers can consider selection-aware methods such as the probability of backtest overfitting or a deflated Sharpe ratio; do not treat them as a universal guarantee or a week-one prerequisite. Any neural-network normalizer, label, feature selection and hyperparameter search follows the same chronology.</a:t>
            </a:r>
          </a:p>
          <a:p xmlns:a="http://schemas.openxmlformats.org/drawingml/2006/main">
            <a:r>
              <a:t/>
            </a:r>
          </a:p>
          <a:p xmlns:a="http://schemas.openxmlformats.org/drawingml/2006/main">
            <a:r>
              <a:t>EXECUTION: Signals from a bar close cannot fill earlier in that bar. If both a stop and target could occur inside a minute, use a conservative documented ordering or finer data. Model spread, slippage, delay, partial fills, short restrictions and per-leg costs. A stop can fill beyond its trigger price. Report a cost stress case in addition to the base model. Do not assume all limit orders fill on touches when queue position is unknown.</a:t>
            </a:r>
          </a:p>
          <a:p xmlns:a="http://schemas.openxmlformats.org/drawingml/2006/main">
            <a:r>
              <a:t/>
            </a:r>
          </a:p>
          <a:p xmlns:a="http://schemas.openxmlformats.org/drawingml/2006/main">
            <a:r>
              <a:t>METRICS: Net dollar P&amp;L and return with starting capital/allocated-capital definition, maximum drawdown, trade count, turnover/exposure, holding period, win rate and win/loss size, daily equity series and benchmark. Specify how multi-leg trades are counted. Calculate any Sharpe ratio from appropriately spaced portfolio returns, with frequency and annualization documented. Trade-level returns do not directly justify minute-based annualization. Show results by dates/regimes and long versus short where meaningful. Sparse trades or a short record limit confidence. No passing trade-count threshold ensures statistical significance.</a:t>
            </a:r>
          </a:p>
          <a:p xmlns:a="http://schemas.openxmlformats.org/drawingml/2006/main">
            <a:r>
              <a:t/>
            </a:r>
          </a:p>
          <a:p xmlns:a="http://schemas.openxmlformats.org/drawingml/2006/main">
            <a:r>
              <a:t>REPRODUCIBILITY: Save commit/version, config, data/feed, splits, cost model, seed if relevant, metric definitions, logs and report. Have an independent teammate reproduce it. Data and engine limitations are findings.</a:t>
            </a:r>
          </a:p>
          <a:p xmlns:a="http://schemas.openxmlformats.org/drawingml/2006/main">
            <a:r>
              <a:t/>
            </a:r>
          </a:p>
          <a:p xmlns:a="http://schemas.openxmlformats.org/drawingml/2006/main">
            <a:r>
              <a:t>SOURCE: Bailey, Borwein, López de Prado and Zhu, The Probability of Backtest Overfitting, February 2015 manuscript: https://www.davidhbailey.com/dhbpapers/backtest-prob.pdf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On November 3, reviewers check the following before deploying the evaluation version. These are recommendations to implement and verify, not a claim that every control already exists.</a:t>
            </a:r>
          </a:p>
          <a:p xmlns:a="http://schemas.openxmlformats.org/drawingml/2006/main">
            <a:r>
              <a:t/>
            </a:r>
          </a:p>
          <a:p xmlns:a="http://schemas.openxmlformats.org/drawingml/2006/main">
            <a:r>
              <a:t>IMPLEMENTATION: Exact strategy and config, unit or scenario checks appropriate to signal/order/risk behavior, warm-up, no unsupported external calls in evaluate(), bounded compute, stable strategy ID and version. Historical report can be reproduced. Account, endpoint and environment are paper-only for this project phase. Use reviewed deployment and secret management.</a:t>
            </a:r>
          </a:p>
          <a:p xmlns:a="http://schemas.openxmlformats.org/drawingml/2006/main">
            <a:r>
              <a:t/>
            </a:r>
          </a:p>
          <a:p xmlns:a="http://schemas.openxmlformats.org/drawingml/2006/main">
            <a:r>
              <a:t>RISK: Review numerical per-trade size, per-symbol notional, gross and net exposure, maximum open orders, daily loss and drawdown limits. Agree the account-wide allocation so multiple teams do not independently consume the whole account's buying power. Define stop handling, timeouts, maximum holding time and session-aware closing. Verify both long and short eligibility. Pair-leg failure, partial fills and hedge exposure require explicit handling. Limit order/fill assumptions can differ from live behavior.</a:t>
            </a:r>
          </a:p>
          <a:p xmlns:a="http://schemas.openxmlformats.org/drawingml/2006/main">
            <a:r>
              <a:t/>
            </a:r>
          </a:p>
          <a:p xmlns:a="http://schemas.openxmlformats.org/drawingml/2006/main">
            <a:r>
              <a:t>SAFETY SCENARIOS: Test stale/missing/out-of-order data, disconnect and reconnect, repeated or duplicate signals, duplicate order submission, rejection, partial fill, cancellation, restart with existing positions and open orders, limits being breached and the kill switch. Reconcile the broker's positions/orders with internal state. Confirm restart policy and who resolves mismatches before trading resumes. Data-error behavior should be explicit and observable.</a:t>
            </a:r>
          </a:p>
          <a:p xmlns:a="http://schemas.openxmlformats.org/drawingml/2006/main">
            <a:r>
              <a:t/>
            </a:r>
          </a:p>
          <a:p xmlns:a="http://schemas.openxmlformats.org/drawingml/2006/main">
            <a:r>
              <a:t>SMOKE TEST: Demonstrate one end-to-end paper order path and clean shutdown/cancel/reconcile, with timestamps and logs. Test trades are labeled and excluded from performance. A quiet strategy does not need to force a signal in the evaluation period merely to pass the test; a separate test strategy or controlled scenario may exercise the order path.</a:t>
            </a:r>
          </a:p>
          <a:p xmlns:a="http://schemas.openxmlformats.org/drawingml/2006/main">
            <a:r>
              <a:t/>
            </a:r>
          </a:p>
          <a:p xmlns:a="http://schemas.openxmlformats.org/drawingml/2006/main">
            <a:r>
              <a:t>MONITORING: Heartbeat, data freshness, strategy active state, order/fill reconciliation, account and per-strategy exposure, P&amp;L/loss limits, exceptions, disconnects and failed writes. Agree warning thresholds, alert destination, on-call owner and backup. Give the lead a documented pause/stop/recovery procedure. Declare what healthy session means before reporting uptime.</a:t>
            </a:r>
          </a:p>
          <a:p xmlns:a="http://schemas.openxmlformats.org/drawingml/2006/main">
            <a:r>
              <a:t/>
            </a:r>
          </a:p>
          <a:p xmlns:a="http://schemas.openxmlformats.org/drawingml/2006/main">
            <a:r>
              <a:t>VERSION CONTROL: Freeze the evaluation version/configuration. Safety fixes can interrupt or halt it; record timestamps, reason and new version. Performance changes start a separate evaluation series. Do not concatenate only the profitable portions of several configurations.</a:t>
            </a:r>
          </a:p>
          <a:p xmlns:a="http://schemas.openxmlformats.org/drawingml/2006/main">
            <a:r>
              <a:t/>
            </a:r>
          </a:p>
          <a:p xmlns:a="http://schemas.openxmlformats.org/drawingml/2006/main">
            <a:r>
              <a:t>DECEMBER CONTINUATION: Obtain volunteer monitoring coverage, backup owner, access and emergency shutdown procedure before extending runs. Calendar-aware scheduling is required for holidays/early closes. If coverage is absent, pause rather than operate unattended without a response plan.</a:t>
            </a:r>
          </a:p>
          <a:p xmlns:a="http://schemas.openxmlformats.org/drawingml/2006/main">
            <a:r>
              <a:t/>
            </a:r>
          </a:p>
          <a:p xmlns:a="http://schemas.openxmlformats.org/drawingml/2006/main">
            <a:r>
              <a:t>SOURCE on simulator scope: https://docs.alpaca.markets/us/docs/paper-trading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Proposed formal window November 4–24, 2026, with 15 scheduled trading sessions, plus continued observation through the dated final snapshot on November 30. Report actual healthy sessions and outages, not merely scheduled days. Every series must identify its version and configuration. The November 24 rehearsal uses the snapshot available that day.</a:t>
            </a:r>
          </a:p>
          <a:p xmlns:a="http://schemas.openxmlformats.org/drawingml/2006/main">
            <a:r>
              <a:t/>
            </a:r>
          </a:p>
          <a:p xmlns:a="http://schemas.openxmlformats.org/drawingml/2006/main">
            <a:r>
              <a:t>WEEKLY REPORT: Version/configuration, start/end dates, symbols/feed, starting capital and allocations, sessions observed and healthy, trades/fills with counting convention, net P&amp;L/return, maximum drawdown, exposure/turnover, costs omitted by the simulator, time in positions, rejection/partial-fill counts, system incidents and unexpected behaviors. Show equity and drawdown over calendar time and link logs. Reconcile overall account and per-strategy attribution, especially with shared symbols or cash.</a:t>
            </a:r>
          </a:p>
          <a:p xmlns:a="http://schemas.openxmlformats.org/drawingml/2006/main">
            <a:r>
              <a:t/>
            </a:r>
          </a:p>
          <a:p xmlns:a="http://schemas.openxmlformats.org/drawingml/2006/main">
            <a:r>
              <a:t>COMPARISON: Compare backtest and paper on aligned rules and metrics, allowing for different dates and regimes. Explain discrepancies in data, bar timing, event ordering, execution, warm-up, account state and code. Inspect example orders. Include a realistic cost stress overlay without pretending it is an actual broker fill. Present simulated-fill results and modeled-cost-adjusted results with labels.</a:t>
            </a:r>
          </a:p>
          <a:p xmlns:a="http://schemas.openxmlformats.org/drawingml/2006/main">
            <a:r>
              <a:t/>
            </a:r>
          </a:p>
          <a:p xmlns:a="http://schemas.openxmlformats.org/drawingml/2006/main">
            <a:r>
              <a:t>ALPACA LIMITS: Paper fills are simulated. The simulator omits market impact, latency-related slippage, queue position, regulatory fees and borrowing fees. Paper orders may be filled without checking available displayed size. It uses NBBO for paper matching even if strategy signals come from IEX, creating a feed/execution distinction. These facts particularly matter for seconds-scale or passive-limit strategies. Free IEX is one exchange rather than the consolidated market. This does not establish the total achievable latency or validate high-frequency performance.</a:t>
            </a:r>
          </a:p>
          <a:p xmlns:a="http://schemas.openxmlformats.org/drawingml/2006/main">
            <a:r>
              <a:t/>
            </a:r>
          </a:p>
          <a:p xmlns:a="http://schemas.openxmlformats.org/drawingml/2006/main">
            <a:r>
              <a:t>SUCCESS DEFINITION: Reliable operation, reconcilable accounting, reproducible evidence and an honest conclusion. Three weeks is the desired observation window, not a statistical guarantee. A small sample or no trades may require a longer test. Do not annualize a short strong return into a promised annual result. Do not discard bad days or restart accounts to improve the reported history.</a:t>
            </a:r>
          </a:p>
          <a:p xmlns:a="http://schemas.openxmlformats.org/drawingml/2006/main">
            <a:r>
              <a:t/>
            </a:r>
          </a:p>
          <a:p xmlns:a="http://schemas.openxmlformats.org/drawingml/2006/main">
            <a:r>
              <a:t>RESEARCH CONTINUATION: Other configurations can be researched in parallel with separate names and logs, without changing the fixed formal series. December and early January can supply additional evidence only after the December 1 presentation and with named monitoring coverage.</a:t>
            </a:r>
          </a:p>
          <a:p xmlns:a="http://schemas.openxmlformats.org/drawingml/2006/main">
            <a:r>
              <a:t/>
            </a:r>
          </a:p>
          <a:p xmlns:a="http://schemas.openxmlformats.org/drawingml/2006/main">
            <a:r>
              <a:t>SOURCES: https://docs.alpaca.markets/us/docs/paper-trading; https://docs.alpaca.markets/us/docs/market-data-faq; https://www.nyse.com/trade/hours-calendars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Use this as a recommended eight-part structure, not a mandatory slide count. Lead with the idea in plain language and use concise charts with captions, date ranges and labeled units. Put implementation details in backup material. Define jargon such as Sharpe ratio or cointegration only if needed.</a:t>
            </a:r>
          </a:p>
          <a:p xmlns:a="http://schemas.openxmlformats.org/drawingml/2006/main">
            <a:r>
              <a:t/>
            </a:r>
          </a:p>
          <a:p xmlns:a="http://schemas.openxmlformats.org/drawingml/2006/main">
            <a:r>
              <a:t>1. PROBLEM AND MECHANISM: One research question, hypothesis and where the effect may fail.</a:t>
            </a:r>
          </a:p>
          <a:p xmlns:a="http://schemas.openxmlformats.org/drawingml/2006/main">
            <a:r>
              <a:t>2. SOURCES: Cite relevant papers with authors/year and links. Explain data/frequency differences and the adaptation.</a:t>
            </a:r>
          </a:p>
          <a:p xmlns:a="http://schemas.openxmlformats.org/drawingml/2006/main">
            <a:r>
              <a:t>3. RULES: A readable signal-to-trade example, assets, feed, entry/exit, sizing and holding period.</a:t>
            </a:r>
          </a:p>
          <a:p xmlns:a="http://schemas.openxmlformats.org/drawingml/2006/main">
            <a:r>
              <a:t>4. METHOD: Chronological splits, trial log, costs, baseline, reproducibility and validation review.</a:t>
            </a:r>
          </a:p>
          <a:p xmlns:a="http://schemas.openxmlformats.org/drawingml/2006/main">
            <a:r>
              <a:t>5. BACKTEST: Net equity curve, maximum drawdown, trade count, benchmark, cost sensitivity and an unfavorable segment. Label in/out-of-sample periods clearly.</a:t>
            </a:r>
          </a:p>
          <a:p xmlns:a="http://schemas.openxmlformats.org/drawingml/2006/main">
            <a:r>
              <a:t>6. PAPER: Dates, fixed version, actual healthy sessions, trades, net results, incidents and discrepancies. If not three weeks, state the actual duration and why.</a:t>
            </a:r>
          </a:p>
          <a:p xmlns:a="http://schemas.openxmlformats.org/drawingml/2006/main">
            <a:r>
              <a:t>7. RISKS AND LIMITATIONS: Failure cases, data/simulator limits, model instability, shorting and what the sample cannot establish.</a:t>
            </a:r>
          </a:p>
          <a:p xmlns:a="http://schemas.openxmlformats.org/drawingml/2006/main">
            <a:r>
              <a:t>8. REFLECTION: Each member's contribution, what changed in understanding, the next experiment and recommendation to continue, revise or stop.</a:t>
            </a:r>
          </a:p>
          <a:p xmlns:a="http://schemas.openxmlformats.org/drawingml/2006/main">
            <a:r>
              <a:t/>
            </a:r>
          </a:p>
          <a:p xmlns:a="http://schemas.openxmlformats.org/drawingml/2006/main">
            <a:r>
              <a:t>PLATFORM ADAPTATION: Show the initial bottleneck, chosen design and technical sources, architecture, acceptance tests, replay correctness and analytics reproducibility, before/after latency or runtime benchmarks where relevant, online reliability, adoption by strategy teams, limitations and future improvements. Do not invent a trading performance requirement for infrastructure work.</a:t>
            </a:r>
          </a:p>
          <a:p xmlns:a="http://schemas.openxmlformats.org/drawingml/2006/main">
            <a:r>
              <a:t/>
            </a:r>
          </a:p>
          <a:p xmlns:a="http://schemas.openxmlformats.org/drawingml/2006/main">
            <a:r>
              <a:t>SUGGESTED EVALUATION EMPHASIS: Method and research quality first, risk and honest limitations second, reproducibility/operational reliability and clear communication next. Return is a measured outcome, not the sole judging criterion. Require cited evidence, clear sample scope and independently reproducible results. Save the final report/code/configuration alongside the presentation. Decide the final presentation time allotment once leadership availability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These sources motivate hypotheses and provide research standards. They are not a ranking of current strategy profitability. Encourage members to read the abstract and methods, inspect the data and costs, then list differences from this project.</a:t>
            </a:r>
          </a:p>
          <a:p xmlns:a="http://schemas.openxmlformats.org/drawingml/2006/main">
            <a:r>
              <a:t/>
            </a:r>
          </a:p>
          <a:p xmlns:a="http://schemas.openxmlformats.org/drawingml/2006/main">
            <a:r>
              <a:t>RESEARCH:</a:t>
            </a:r>
          </a:p>
          <a:p xmlns:a="http://schemas.openxmlformats.org/drawingml/2006/main">
            <a:r>
              <a:t>Gao, Lei; Han, Yufeng; Li, Sophia Zhengzi; Zhou, Guofu (2018). Market intraday momentum. Journal of Financial Economics 129(2), 394–414. https://profiles.wustl.edu/en/publications/market-intraday-momentum/</a:t>
            </a:r>
          </a:p>
          <a:p xmlns:a="http://schemas.openxmlformats.org/drawingml/2006/main">
            <a:r>
              <a:t>Gatev, Evan; Goetzmann, William N.; Rouwenhorst, K. Geert. Pairs Trading: Performance of a Relative Value Arbitrage Rule. February 2006 manuscript. Daily data rather than one-minute bars. https://repec.som.yale.edu/icfpub/publications/2573.pdf</a:t>
            </a:r>
          </a:p>
          <a:p xmlns:a="http://schemas.openxmlformats.org/drawingml/2006/main">
            <a:r>
              <a:t>Heston, Steven L.; Korajczyk, Robert A.; Sadka, Ronnie (2010). Intraday Patterns in the Cross-section of Stock Returns. https://arxiv.org/abs/1005.3535</a:t>
            </a:r>
          </a:p>
          <a:p xmlns:a="http://schemas.openxmlformats.org/drawingml/2006/main">
            <a:r>
              <a:t>Bailey, David H.; Borwein, Jonathan M.; López de Prado, Marcos; Zhu, Qiji Jim. The Probability of Backtest Overfitting. February 2015 manuscript. https://www.davidhbailey.com/dhbpapers/backtest-prob.pdf</a:t>
            </a:r>
          </a:p>
          <a:p xmlns:a="http://schemas.openxmlformats.org/drawingml/2006/main">
            <a:r>
              <a:t/>
            </a:r>
          </a:p>
          <a:p xmlns:a="http://schemas.openxmlformats.org/drawingml/2006/main">
            <a:r>
              <a:t>PROVIDER AND CALENDAR:</a:t>
            </a:r>
          </a:p>
          <a:p xmlns:a="http://schemas.openxmlformats.org/drawingml/2006/main">
            <a:r>
              <a:t>Alpaca paper trading, including fill assumptions and omitted costs: https://docs.alpaca.markets/us/docs/paper-trading</a:t>
            </a:r>
          </a:p>
          <a:p xmlns:a="http://schemas.openxmlformats.org/drawingml/2006/main">
            <a:r>
              <a:t>Alpaca market-data FAQ, including IEX versus SIP: https://docs.alpaca.markets/us/docs/market-data-faq</a:t>
            </a:r>
          </a:p>
          <a:p xmlns:a="http://schemas.openxmlformats.org/drawingml/2006/main">
            <a:r>
              <a:t>NYSE 2026/2027 holiday and early-close calendar: https://www.nyse.com/trade/hours-calendars</a:t>
            </a:r>
          </a:p>
          <a:p xmlns:a="http://schemas.openxmlformats.org/drawingml/2006/main">
            <a:r>
              <a:t/>
            </a:r>
          </a:p>
          <a:p xmlns:a="http://schemas.openxmlformats.org/drawingml/2006/main">
            <a:r>
              <a:t>PROJECT SOURCES, verified October 8, 2026:</a:t>
            </a:r>
          </a:p>
          <a:p xmlns:a="http://schemas.openxmlformats.org/drawingml/2006/main">
            <a:r>
              <a:t>README.md; docs/README.md; docs/guides/local-development.md; backend/src/strategies/base/strategy.ts; backend/src/core/backtest/strategyFactory.ts; backend/src/core/engine/orchestrator.ts; backend/src/core/risk/riskEngine.ts.</a:t>
            </a:r>
          </a:p>
          <a:p xmlns:a="http://schemas.openxmlformats.org/drawingml/2006/main">
            <a:r>
              <a:t/>
            </a:r>
          </a:p>
          <a:p xmlns:a="http://schemas.openxmlformats.org/drawingml/2006/main">
            <a:r>
              <a:t>Review provider documentation and project source again before the deployment meeting because capabilities and rules can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84d382ffbc4e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d0c7f68ca740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d6ab801f2a44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43ebc5acd147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54971f3a9747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a47c117b9948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AE7B99-6045-4754-B420-FF3E19254D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41FF19-E344-4E6D-A446-75CC495ABE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7CFC8E-A0D8-40F8-B773-2042EF658B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890DEC-5291-4F70-AB80-DF520F76A7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DA4C14-4FBB-478C-9DBB-92AD278EB1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1741EA-1A2B-461E-98B2-FAFF6255C5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A71C46-A1D5-4C98-BFE5-EE30FC953A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055ECE-2CFC-475C-8839-9A43B1B246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5A677F-77D0-4D9C-8C4E-7D8F72950A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D51E8B-0654-40B5-91F3-F3EFD3B275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679225a9374db0" /><Relationship Type="http://schemas.openxmlformats.org/officeDocument/2006/relationships/slideLayout" Target="/ppt/slideLayouts/slideLayout1.xml" Id="R5c7a422311d7460e" /><Relationship Type="http://schemas.openxmlformats.org/officeDocument/2006/relationships/slideLayout" Target="/ppt/slideLayouts/slideLayout2.xml" Id="R3c9c3cc7f3d24e5b" /><Relationship Type="http://schemas.openxmlformats.org/officeDocument/2006/relationships/slideLayout" Target="/ppt/slideLayouts/slideLayout3.xml" Id="R7ccaa06aeeb14130" /><Relationship Type="http://schemas.openxmlformats.org/officeDocument/2006/relationships/slideLayout" Target="/ppt/slideLayouts/slideLayout4.xml" Id="R67819930843d4580" /><Relationship Type="http://schemas.openxmlformats.org/officeDocument/2006/relationships/slideLayout" Target="/ppt/slideLayouts/slideLayout5.xml" Id="R0180df550f0d4735" /><Relationship Type="http://schemas.openxmlformats.org/officeDocument/2006/relationships/slideLayout" Target="/ppt/slideLayouts/slideLayout6.xml" Id="R61e8a6e6ec334c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7a422311d7460e"/>
    <p:sldLayoutId xmlns:r="http://schemas.openxmlformats.org/officeDocument/2006/relationships" id="2147483650" r:id="R3c9c3cc7f3d24e5b"/>
    <p:sldLayoutId xmlns:r="http://schemas.openxmlformats.org/officeDocument/2006/relationships" id="2147483651" r:id="R7ccaa06aeeb14130"/>
    <p:sldLayoutId xmlns:r="http://schemas.openxmlformats.org/officeDocument/2006/relationships" id="2147483652" r:id="R67819930843d4580"/>
    <p:sldLayoutId xmlns:r="http://schemas.openxmlformats.org/officeDocument/2006/relationships" id="2147483653" r:id="R0180df550f0d4735"/>
    <p:sldLayoutId xmlns:r="http://schemas.openxmlformats.org/officeDocument/2006/relationships" id="2147483654" r:id="R61e8a6e6ec334c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9f233530334716" /><Relationship Type="http://schemas.openxmlformats.org/officeDocument/2006/relationships/notesSlide" Target="/ppt/notesSlides/notesSlide1.xml" Id="Rb1c613b0c3a14b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219eb68c7548d1" /><Relationship Type="http://schemas.openxmlformats.org/officeDocument/2006/relationships/notesSlide" Target="/ppt/notesSlides/notesSlide2.xml" Id="Ra14a43d4fd9f42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61ebca2f7d440c" /><Relationship Type="http://schemas.openxmlformats.org/officeDocument/2006/relationships/notesSlide" Target="/ppt/notesSlides/notesSlide3.xml" Id="R6caf981a1b1146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cea3fd435147f0" /><Relationship Type="http://schemas.openxmlformats.org/officeDocument/2006/relationships/notesSlide" Target="/ppt/notesSlides/notesSlide4.xml" Id="Rf8ec04a316a546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3fc3ae42b4b4d28" /><Relationship Type="http://schemas.openxmlformats.org/officeDocument/2006/relationships/notesSlide" Target="/ppt/notesSlides/notesSlide5.xml" Id="R4b3b77a8b2b041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5f8ffb64806495f" /><Relationship Type="http://schemas.openxmlformats.org/officeDocument/2006/relationships/notesSlide" Target="/ppt/notesSlides/notesSlide6.xml" Id="R276c4987df0342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b20e5f79ca44389" /><Relationship Type="http://schemas.openxmlformats.org/officeDocument/2006/relationships/notesSlide" Target="/ppt/notesSlides/notesSlide7.xml" Id="R27fcdfc4b21946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65ff7e23c8455f" /><Relationship Type="http://schemas.openxmlformats.org/officeDocument/2006/relationships/notesSlide" Target="/ppt/notesSlides/notesSlide8.xml" Id="R106b6ee7ea0041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7e4240a4d14a51" /><Relationship Type="http://schemas.openxmlformats.org/officeDocument/2006/relationships/notesSlide" Target="/ppt/notesSlides/notesSlide9.xml" Id="R771e97a653e24e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6f8ca9af1424b4d" /><Relationship Type="http://schemas.openxmlformats.org/officeDocument/2006/relationships/notesSlide" Target="/ppt/notesSlides/notesSlide10.xml" Id="R8734f37667e646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1e61e1670a4e96" /><Relationship Type="http://schemas.openxmlformats.org/officeDocument/2006/relationships/notesSlide" Target="/ppt/notesSlides/notesSlide11.xml" Id="Rf2dfd557d1a443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5e0cf1b5763489e" /><Relationship Type="http://schemas.openxmlformats.org/officeDocument/2006/relationships/notesSlide" Target="/ppt/notesSlides/notesSlide12.xml" Id="Rd73a414a01b449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7a6d05633b04364" /><Relationship Type="http://schemas.openxmlformats.org/officeDocument/2006/relationships/notesSlide" Target="/ppt/notesSlides/notesSlide13.xml" Id="R3fffcb1bcb224f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765b8d48b794cec" /><Relationship Type="http://schemas.openxmlformats.org/officeDocument/2006/relationships/notesSlide" Target="/ppt/notesSlides/notesSlide14.xml" Id="R8c9008e444a04b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94b34ba6dfd4927" /><Relationship Type="http://schemas.openxmlformats.org/officeDocument/2006/relationships/notesSlide" Target="/ppt/notesSlides/notesSlide15.xml" Id="R32cc9664b15b4d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b2bf581a0764684" /><Relationship Type="http://schemas.openxmlformats.org/officeDocument/2006/relationships/notesSlide" Target="/ppt/notesSlides/notesSlide16.xml" Id="R5662bd2f4b8741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7677bce59e2467a" /><Relationship Type="http://schemas.openxmlformats.org/officeDocument/2006/relationships/notesSlide" Target="/ppt/notesSlides/notesSlide17.xml" Id="Reb6f566dab084c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1b67e1d99e842e6" /><Relationship Type="http://schemas.openxmlformats.org/officeDocument/2006/relationships/hyperlink" Target="https://profiles.wustl.edu/en/publications/market-intraday-momentum/" TargetMode="External" Id="R7b23fc055867478c" /><Relationship Type="http://schemas.openxmlformats.org/officeDocument/2006/relationships/hyperlink" Target="https://repec.som.yale.edu/icfpub/publications/2573.pdf" TargetMode="External" Id="R0be4ee96d05147cf" /><Relationship Type="http://schemas.openxmlformats.org/officeDocument/2006/relationships/hyperlink" Target="https://arxiv.org/abs/1005.3535" TargetMode="External" Id="R78a513e816bd4e9a" /><Relationship Type="http://schemas.openxmlformats.org/officeDocument/2006/relationships/hyperlink" Target="https://www.davidhbailey.com/dhbpapers/backtest-prob.pdf" TargetMode="External" Id="R52b77d285aef46a4" /><Relationship Type="http://schemas.openxmlformats.org/officeDocument/2006/relationships/hyperlink" Target="https://docs.alpaca.markets/us/docs/paper-trading" TargetMode="External" Id="R94259e5c3e054fde" /><Relationship Type="http://schemas.openxmlformats.org/officeDocument/2006/relationships/hyperlink" Target="https://docs.alpaca.markets/us/docs/market-data-faq" TargetMode="External" Id="Ra4333f43ee4b4874" /><Relationship Type="http://schemas.openxmlformats.org/officeDocument/2006/relationships/hyperlink" Target="https://www.nyse.com/trade/hours-calendars" TargetMode="External" Id="Rcb293856dd8a4328" /><Relationship Type="http://schemas.openxmlformats.org/officeDocument/2006/relationships/notesSlide" Target="/ppt/notesSlides/notesSlide18.xml" Id="R130b6d545fa34d59" /></Relationships>
</file>

<file path=ppt/slides/slide1.xml><?xml version="1.0" encoding="utf-8"?>
<p:sld xmlns:p="http://schemas.openxmlformats.org/presentationml/2006/main">
  <p:cSld>
    <p:bg>
      <p:bgPr>
        <a:solidFill xmlns:a="http://schemas.openxmlformats.org/drawingml/2006/main">
          <a:srgbClr val="172A45"/>
        </a:solidFill>
      </p:bgPr>
    </p:bg>
    <p:spTree>
      <p:nvGrpSpPr>
        <p:cNvPr id="1" name=""/>
        <p:cNvGrpSpPr/>
        <p:nvPr/>
      </p:nvGrpSpPr>
      <p:grpSpPr>
        <a:xfrm xmlns:a="http://schemas.openxmlformats.org/drawingml/2006/main"/>
      </p:grpSpPr>
      <p:sp>
        <p:nvSpPr>
          <p:cNvPr id="7" name="SHPE CAPITAL">
            <a:extLst xmlns:a="http://schemas.openxmlformats.org/drawingml/2006/main">
              <a:ext uri="{FF2B5EF4-FFF2-40B4-BE49-F238E27FC236}">
                <a16:creationId xmlns:a16="http://schemas.microsoft.com/office/drawing/2014/main" id="{4DBF76CD-E80F-47F1-ADC7-F3BC65E6764D}"/>
              </a:ext>
            </a:extLst>
          </p:cNvPr>
          <p:cNvSpPr>
            <a:spLocks xmlns:a="http://schemas.openxmlformats.org/drawingml/2006/main" noGrp="1"/>
          </p:cNvSpPr>
          <p:nvPr/>
        </p:nvSpPr>
        <p:spPr>
          <a:xfrm xmlns:a="http://schemas.openxmlformats.org/drawingml/2006/main">
            <a:off x="609600" y="647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FB579"/>
                </a:solidFill>
                <a:latin typeface="Arial"/>
                <a:ea typeface="Arial"/>
                <a:cs typeface="Arial"/>
              </a:defRPr>
            </a:defPPr>
          </a:lstStyle>
          <a:p xmlns:a="http://schemas.openxmlformats.org/drawingml/2006/main">
            <a:pPr algn="l">
              <a:defRPr sz="1950" b="1">
                <a:solidFill>
                  <a:srgbClr val="FFB579"/>
                </a:solidFill>
                <a:latin typeface="Arial"/>
                <a:ea typeface="Arial"/>
                <a:cs typeface="Arial"/>
              </a:defRPr>
            </a:pPr>
            <a:r>
              <a:rPr sz="1950" b="1">
                <a:solidFill>
                  <a:srgbClr val="FFB579"/>
                </a:solidFill>
                <a:latin typeface="Arial"/>
                <a:ea typeface="Arial"/>
                <a:cs typeface="Arial"/>
              </a:rPr>
              <a:t>SHPE CAPITAL</a:t>
            </a:r>
          </a:p>
        </p:txBody>
      </p:sp>
      <p:sp>
        <p:nvSpPr>
          <p:cNvPr id="2" name="Slide title">
            <a:extLst xmlns:a="http://schemas.openxmlformats.org/drawingml/2006/main">
              <a:ext uri="{FF2B5EF4-FFF2-40B4-BE49-F238E27FC236}">
                <a16:creationId xmlns:a16="http://schemas.microsoft.com/office/drawing/2014/main" id="{5E159583-9EA3-40A3-AE39-A4AD5AFD10EC}"/>
              </a:ext>
            </a:extLst>
          </p:cNvPr>
          <p:cNvSpPr>
            <a:spLocks xmlns:a="http://schemas.openxmlformats.org/drawingml/2006/main" noGrp="1"/>
          </p:cNvSpPr>
          <p:nvPr/>
        </p:nvSpPr>
        <p:spPr>
          <a:xfrm xmlns:a="http://schemas.openxmlformats.org/drawingml/2006/main">
            <a:off x="609600" y="1695450"/>
            <a:ext cx="10972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250" b="1">
                <a:solidFill>
                  <a:srgbClr val="FFFFFF"/>
                </a:solidFill>
                <a:latin typeface="Arial"/>
                <a:ea typeface="Arial"/>
                <a:cs typeface="Arial"/>
              </a:defRPr>
            </a:defPPr>
          </a:lstStyle>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Algorithmic trading</a:t>
            </a:r>
          </a:p>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First meeting</a:t>
            </a:r>
          </a:p>
        </p:txBody>
      </p:sp>
      <p:sp>
        <p:nvSpPr>
          <p:cNvPr id="3" name="From a research question to a te">
            <a:extLst xmlns:a="http://schemas.openxmlformats.org/drawingml/2006/main">
              <a:ext uri="{FF2B5EF4-FFF2-40B4-BE49-F238E27FC236}">
                <a16:creationId xmlns:a16="http://schemas.microsoft.com/office/drawing/2014/main" id="{B9F9AD96-16DF-4DF0-8669-EED081CFF617}"/>
              </a:ext>
            </a:extLst>
          </p:cNvPr>
          <p:cNvSpPr>
            <a:spLocks xmlns:a="http://schemas.openxmlformats.org/drawingml/2006/main" noGrp="1"/>
          </p:cNvSpPr>
          <p:nvPr/>
        </p:nvSpPr>
        <p:spPr>
          <a:xfrm xmlns:a="http://schemas.openxmlformats.org/drawingml/2006/main">
            <a:off x="609600" y="3752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DCE4ED"/>
                </a:solidFill>
                <a:latin typeface="Arial"/>
                <a:ea typeface="Arial"/>
                <a:cs typeface="Arial"/>
              </a:defRPr>
            </a:defPPr>
          </a:lstStyle>
          <a:p xmlns:a="http://schemas.openxmlformats.org/drawingml/2006/main">
            <a:pPr algn="l">
              <a:defRPr sz="2400" b="0">
                <a:solidFill>
                  <a:srgbClr val="DCE4ED"/>
                </a:solidFill>
                <a:latin typeface="Arial"/>
                <a:ea typeface="Arial"/>
                <a:cs typeface="Arial"/>
              </a:defRPr>
            </a:pPr>
            <a:r>
              <a:rPr sz="2400" b="0">
                <a:solidFill>
                  <a:srgbClr val="DCE4ED"/>
                </a:solidFill>
                <a:latin typeface="Arial"/>
                <a:ea typeface="Arial"/>
                <a:cs typeface="Arial"/>
              </a:rPr>
              <a:t>From a research question to a tested trading strategy</a:t>
            </a:r>
          </a:p>
        </p:txBody>
      </p:sp>
      <p:sp>
        <p:nvSpPr>
          <p:cNvPr id="4" name="October 13, 2026     60 minutes">
            <a:extLst xmlns:a="http://schemas.openxmlformats.org/drawingml/2006/main">
              <a:ext uri="{FF2B5EF4-FFF2-40B4-BE49-F238E27FC236}">
                <a16:creationId xmlns:a16="http://schemas.microsoft.com/office/drawing/2014/main" id="{89B88864-EFCF-484B-B6A7-16BD91F6CBC0}"/>
              </a:ext>
            </a:extLst>
          </p:cNvPr>
          <p:cNvSpPr>
            <a:spLocks xmlns:a="http://schemas.openxmlformats.org/drawingml/2006/main" noGrp="1"/>
          </p:cNvSpPr>
          <p:nvPr/>
        </p:nvSpPr>
        <p:spPr>
          <a:xfrm xmlns:a="http://schemas.openxmlformats.org/drawingml/2006/main">
            <a:off x="609600" y="4695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October 13, 2026     60 minutes</a:t>
            </a:r>
          </a:p>
        </p:txBody>
      </p:sp>
      <p:sp>
        <p:nvSpPr>
          <p:cNvPr id="5" name="Research teams  +  shared tradin">
            <a:extLst xmlns:a="http://schemas.openxmlformats.org/drawingml/2006/main">
              <a:ext uri="{FF2B5EF4-FFF2-40B4-BE49-F238E27FC236}">
                <a16:creationId xmlns:a16="http://schemas.microsoft.com/office/drawing/2014/main" id="{E7FFC121-BB05-4B7F-8D39-14215E83654F}"/>
              </a:ext>
            </a:extLst>
          </p:cNvPr>
          <p:cNvSpPr>
            <a:spLocks xmlns:a="http://schemas.openxmlformats.org/drawingml/2006/main" noGrp="1"/>
          </p:cNvSpPr>
          <p:nvPr/>
        </p:nvSpPr>
        <p:spPr>
          <a:xfrm xmlns:a="http://schemas.openxmlformats.org/drawingml/2006/main">
            <a:off x="609600" y="5267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B579"/>
                </a:solidFill>
                <a:latin typeface="Arial"/>
                <a:ea typeface="Arial"/>
                <a:cs typeface="Arial"/>
              </a:defRPr>
            </a:defPPr>
          </a:lstStyle>
          <a:p xmlns:a="http://schemas.openxmlformats.org/drawingml/2006/main">
            <a:pPr algn="l">
              <a:defRPr sz="1950" b="0">
                <a:solidFill>
                  <a:srgbClr val="FFB579"/>
                </a:solidFill>
                <a:latin typeface="Arial"/>
                <a:ea typeface="Arial"/>
                <a:cs typeface="Arial"/>
              </a:defRPr>
            </a:pPr>
            <a:r>
              <a:rPr sz="1950" b="0">
                <a:solidFill>
                  <a:srgbClr val="FFB579"/>
                </a:solidFill>
                <a:latin typeface="Arial"/>
                <a:ea typeface="Arial"/>
                <a:cs typeface="Arial"/>
              </a:rPr>
              <a:t>Research teams  +  shared trading platform</a:t>
            </a:r>
          </a:p>
        </p:txBody>
      </p:sp>
      <p:sp>
        <p:nvSpPr>
          <p:cNvPr id="6" name="Semester showcase: December 1, 2">
            <a:extLst xmlns:a="http://schemas.openxmlformats.org/drawingml/2006/main">
              <a:ext uri="{FF2B5EF4-FFF2-40B4-BE49-F238E27FC236}">
                <a16:creationId xmlns:a16="http://schemas.microsoft.com/office/drawing/2014/main" id="{C93834AC-DEAC-4F82-97F3-00EE5B1B44CE}"/>
              </a:ext>
            </a:extLst>
          </p:cNvPr>
          <p:cNvSpPr>
            <a:spLocks xmlns:a="http://schemas.openxmlformats.org/drawingml/2006/main" noGrp="1"/>
          </p:cNvSpPr>
          <p:nvPr/>
        </p:nvSpPr>
        <p:spPr>
          <a:xfrm xmlns:a="http://schemas.openxmlformats.org/drawingml/2006/main">
            <a:off x="609600" y="62865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DCE4ED"/>
                </a:solidFill>
                <a:latin typeface="Arial"/>
                <a:ea typeface="Arial"/>
                <a:cs typeface="Arial"/>
              </a:defRPr>
            </a:defPPr>
          </a:lstStyle>
          <a:p xmlns:a="http://schemas.openxmlformats.org/drawingml/2006/main">
            <a:pPr algn="l">
              <a:defRPr sz="1500" b="0">
                <a:solidFill>
                  <a:srgbClr val="DCE4ED"/>
                </a:solidFill>
                <a:latin typeface="Arial"/>
                <a:ea typeface="Arial"/>
                <a:cs typeface="Arial"/>
              </a:defRPr>
            </a:pPr>
            <a:r>
              <a:rPr sz="1500" b="0">
                <a:solidFill>
                  <a:srgbClr val="DCE4ED"/>
                </a:solidFill>
                <a:latin typeface="Arial"/>
                <a:ea typeface="Arial"/>
                <a:cs typeface="Arial"/>
              </a:rPr>
              <a:t>Semester showcase: December 1, 2026</a:t>
            </a:r>
          </a:p>
        </p:txBody>
      </p:sp>
    </p:spTree>
    <p:extLst>
      <p:ext uri="{BB962C8B-B14F-4D97-AF65-F5344CB8AC3E}">
        <p14:creationId xmlns:p14="http://schemas.microsoft.com/office/powerpoint/2010/main" val="9884788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EETING PLAN">
            <a:extLst xmlns:a="http://schemas.openxmlformats.org/drawingml/2006/main">
              <a:ext uri="{FF2B5EF4-FFF2-40B4-BE49-F238E27FC236}">
                <a16:creationId xmlns:a16="http://schemas.microsoft.com/office/drawing/2014/main" id="{4CEDEDAA-E4A7-4544-8C30-C0B3FE09C994}"/>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MEETING PLAN</a:t>
            </a:r>
          </a:p>
        </p:txBody>
      </p:sp>
      <p:sp>
        <p:nvSpPr>
          <p:cNvPr id="2" name="Slide title">
            <a:extLst xmlns:a="http://schemas.openxmlformats.org/drawingml/2006/main">
              <a:ext uri="{FF2B5EF4-FFF2-40B4-BE49-F238E27FC236}">
                <a16:creationId xmlns:a16="http://schemas.microsoft.com/office/drawing/2014/main" id="{8CD6E843-B0FF-4C78-BE2F-ED5E3A64115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60-minute meeting</a:t>
            </a:r>
          </a:p>
        </p:txBody>
      </p:sp>
      <p:sp>
        <p:nvSpPr>
          <p:cNvPr id="3" name="SHPE CAPITAL    OCTOBER 13, 2026">
            <a:extLst xmlns:a="http://schemas.openxmlformats.org/drawingml/2006/main">
              <a:ext uri="{FF2B5EF4-FFF2-40B4-BE49-F238E27FC236}">
                <a16:creationId xmlns:a16="http://schemas.microsoft.com/office/drawing/2014/main" id="{C3621D11-0C0A-4E26-AF84-16D3CC9B5E5D}"/>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2 min">
            <a:extLst xmlns:a="http://schemas.openxmlformats.org/drawingml/2006/main">
              <a:ext uri="{FF2B5EF4-FFF2-40B4-BE49-F238E27FC236}">
                <a16:creationId xmlns:a16="http://schemas.microsoft.com/office/drawing/2014/main" id="{E6749948-B8BE-44A7-B4E1-591516766EA5}"/>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1–2 min</a:t>
            </a:r>
          </a:p>
        </p:txBody>
      </p:sp>
      <p:sp>
        <p:nvSpPr>
          <p:cNvPr id="5" name="2">
            <a:extLst xmlns:a="http://schemas.openxmlformats.org/drawingml/2006/main">
              <a:ext uri="{FF2B5EF4-FFF2-40B4-BE49-F238E27FC236}">
                <a16:creationId xmlns:a16="http://schemas.microsoft.com/office/drawing/2014/main" id="{040B8542-E4F7-4EBF-A1C7-60AE421508B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a:t>
            </a:r>
          </a:p>
        </p:txBody>
      </p:sp>
      <p:graphicFrame>
        <p:nvGraphicFramePr>
          <p:cNvPr id="6" name="">
            <a:extLst xmlns:a="http://schemas.openxmlformats.org/drawingml/2006/main">
              <a:ext uri="{FF2B5EF4-FFF2-40B4-BE49-F238E27FC236}">
                <a16:creationId xmlns:a16="http://schemas.microsoft.com/office/drawing/2014/main" id="{F5A3C36C-0DE6-4FD1-9399-58F55813F9BA}"/>
              </a:ext>
            </a:extLst>
          </p:cNvPr>
          <p:cNvGraphicFramePr/>
          <p:nvPr/>
        </p:nvGraphicFramePr>
        <p:xfrm>
          <a:off xmlns:a="http://schemas.openxmlformats.org/drawingml/2006/main" x="609600" y="1828800"/>
          <a:ext xmlns:a="http://schemas.openxmlformats.org/drawingml/2006/main" cx="10972800" cy="4057650"/>
        </p:xfrm>
        <a:graphic xmlns:a="http://schemas.openxmlformats.org/drawingml/2006/main">
          <a:graphicData uri="http://schemas.openxmlformats.org/drawingml/2006/table">
            <a:tbl>
              <a:tblPr firstRow="1" bandRow="0"/>
              <a:tblGrid>
                <a:gridCol w="1619250"/>
                <a:gridCol w="3448050"/>
                <a:gridCol w="5905500"/>
              </a:tblGrid>
              <a:tr h="676275">
                <a:tc>
                  <a:txBody>
                    <a:bodyPr lIns="95250" tIns="95250" rIns="95250" bIns="95250">
                      <a:noAutofit/>
                    </a:bodyPr>
                    <a:lstStyle/>
                    <a:p>
                      <a:pPr algn="l"/>
                      <a:r>
                        <a:rPr sz="1950" b="1">
                          <a:solidFill>
                            <a:srgbClr val="FFFFFF"/>
                          </a:solidFill>
                          <a:latin typeface="Arial"/>
                          <a:ea typeface="Arial"/>
                          <a:cs typeface="Arial"/>
                        </a:rPr>
                        <a:t>Time</a:t>
                      </a:r>
                    </a:p>
                  </a:txBody>
                  <a:tcPr marL="91440" marR="91440" marT="45720" marB="45720" anchor="ctr">
                    <a:solidFill>
                      <a:srgbClr val="172A45"/>
                    </a:solidFill>
                  </a:tcPr>
                </a:tc>
                <a:tc>
                  <a:txBody>
                    <a:bodyPr lIns="95250" tIns="95250" rIns="95250" bIns="95250">
                      <a:noAutofit/>
                    </a:bodyPr>
                    <a:lstStyle/>
                    <a:p>
                      <a:pPr algn="l"/>
                      <a:r>
                        <a:rPr sz="1950" b="1">
                          <a:solidFill>
                            <a:srgbClr val="FFFFFF"/>
                          </a:solidFill>
                          <a:latin typeface="Arial"/>
                          <a:ea typeface="Arial"/>
                          <a:cs typeface="Arial"/>
                        </a:rPr>
                        <a:t>Focus</a:t>
                      </a:r>
                    </a:p>
                  </a:txBody>
                  <a:tcPr marL="91440" marR="91440" marT="45720" marB="45720" anchor="ctr">
                    <a:solidFill>
                      <a:srgbClr val="172A45"/>
                    </a:solidFill>
                  </a:tcPr>
                </a:tc>
                <a:tc>
                  <a:txBody>
                    <a:bodyPr lIns="95250" tIns="95250" rIns="95250" bIns="95250">
                      <a:noAutofit/>
                    </a:bodyPr>
                    <a:lstStyle/>
                    <a:p>
                      <a:pPr algn="l"/>
                      <a:r>
                        <a:rPr sz="1950" b="1">
                          <a:solidFill>
                            <a:srgbClr val="FFFFFF"/>
                          </a:solidFill>
                          <a:latin typeface="Arial"/>
                          <a:ea typeface="Arial"/>
                          <a:cs typeface="Arial"/>
                        </a:rPr>
                        <a:t>Outcome</a:t>
                      </a:r>
                    </a:p>
                  </a:txBody>
                  <a:tcPr marL="91440" marR="91440" marT="45720" marB="45720" anchor="ctr">
                    <a:solidFill>
                      <a:srgbClr val="172A45"/>
                    </a:solidFill>
                  </a:tcPr>
                </a:tc>
              </a:tr>
              <a:tr h="676275">
                <a:tc>
                  <a:txBody>
                    <a:bodyPr lIns="95250" tIns="95250" rIns="95250" bIns="95250">
                      <a:noAutofit/>
                    </a:bodyPr>
                    <a:lstStyle/>
                    <a:p>
                      <a:pPr algn="l"/>
                      <a:r>
                        <a:rPr sz="1950" b="1">
                          <a:solidFill>
                            <a:srgbClr val="182C43"/>
                          </a:solidFill>
                          <a:latin typeface="Arial"/>
                          <a:ea typeface="Arial"/>
                          <a:cs typeface="Arial"/>
                        </a:rPr>
                        <a:t>0–10 min</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Club, leads and teams</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A team and a research direction</a:t>
                      </a:r>
                    </a:p>
                  </a:txBody>
                  <a:tcPr marL="91440" marR="91440" marT="45720" marB="45720" anchor="ctr">
                    <a:solidFill>
                      <a:srgbClr val="FFFFFF"/>
                    </a:solidFill>
                  </a:tcPr>
                </a:tc>
              </a:tr>
              <a:tr h="676275">
                <a:tc>
                  <a:txBody>
                    <a:bodyPr lIns="95250" tIns="95250" rIns="95250" bIns="95250">
                      <a:noAutofit/>
                    </a:bodyPr>
                    <a:lstStyle/>
                    <a:p>
                      <a:pPr algn="l"/>
                      <a:r>
                        <a:rPr sz="1950" b="1">
                          <a:solidFill>
                            <a:srgbClr val="182C43"/>
                          </a:solidFill>
                          <a:latin typeface="Arial"/>
                          <a:ea typeface="Arial"/>
                          <a:cs typeface="Arial"/>
                        </a:rPr>
                        <a:t>10–20 min</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Codebase and prepared demo</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Understand the strategy-to-order path</a:t>
                      </a:r>
                    </a:p>
                  </a:txBody>
                  <a:tcPr marL="91440" marR="91440" marT="45720" marB="45720" anchor="ctr">
                    <a:solidFill>
                      <a:srgbClr val="F1F4F7"/>
                    </a:solidFill>
                  </a:tcPr>
                </a:tc>
              </a:tr>
              <a:tr h="676275">
                <a:tc>
                  <a:txBody>
                    <a:bodyPr lIns="95250" tIns="95250" rIns="95250" bIns="95250">
                      <a:noAutofit/>
                    </a:bodyPr>
                    <a:lstStyle/>
                    <a:p>
                      <a:pPr algn="l"/>
                      <a:r>
                        <a:rPr sz="1950" b="1">
                          <a:solidFill>
                            <a:srgbClr val="182C43"/>
                          </a:solidFill>
                          <a:latin typeface="Arial"/>
                          <a:ea typeface="Arial"/>
                          <a:cs typeface="Arial"/>
                        </a:rPr>
                        <a:t>20–25 min</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Goals and expectations</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Know what success looks like</a:t>
                      </a:r>
                    </a:p>
                  </a:txBody>
                  <a:tcPr marL="91440" marR="91440" marT="45720" marB="45720" anchor="ctr">
                    <a:solidFill>
                      <a:srgbClr val="FFFFFF"/>
                    </a:solidFill>
                  </a:tcPr>
                </a:tc>
              </a:tr>
              <a:tr h="676275">
                <a:tc>
                  <a:txBody>
                    <a:bodyPr lIns="95250" tIns="95250" rIns="95250" bIns="95250">
                      <a:noAutofit/>
                    </a:bodyPr>
                    <a:lstStyle/>
                    <a:p>
                      <a:pPr algn="l"/>
                      <a:r>
                        <a:rPr sz="1950" b="1">
                          <a:solidFill>
                            <a:srgbClr val="182C43"/>
                          </a:solidFill>
                          <a:latin typeface="Arial"/>
                          <a:ea typeface="Arial"/>
                          <a:cs typeface="Arial"/>
                        </a:rPr>
                        <a:t>25–30 min</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Roadmap and requirements</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Know the milestones and standards</a:t>
                      </a:r>
                    </a:p>
                  </a:txBody>
                  <a:tcPr marL="91440" marR="91440" marT="45720" marB="45720" anchor="ctr">
                    <a:solidFill>
                      <a:srgbClr val="F1F4F7"/>
                    </a:solidFill>
                  </a:tcPr>
                </a:tc>
              </a:tr>
              <a:tr h="676275">
                <a:tc>
                  <a:txBody>
                    <a:bodyPr lIns="95250" tIns="95250" rIns="95250" bIns="95250">
                      <a:noAutofit/>
                    </a:bodyPr>
                    <a:lstStyle/>
                    <a:p>
                      <a:pPr algn="l"/>
                      <a:r>
                        <a:rPr sz="1950" b="1">
                          <a:solidFill>
                            <a:srgbClr val="182C43"/>
                          </a:solidFill>
                          <a:latin typeface="Arial"/>
                          <a:ea typeface="Arial"/>
                          <a:cs typeface="Arial"/>
                        </a:rPr>
                        <a:t>30–60 min</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Team introductions and planning</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Two ideas, owners and a first experiment</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53383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LUB AND TEAM INTRODUCTIONS">
            <a:extLst xmlns:a="http://schemas.openxmlformats.org/drawingml/2006/main">
              <a:ext uri="{FF2B5EF4-FFF2-40B4-BE49-F238E27FC236}">
                <a16:creationId xmlns:a16="http://schemas.microsoft.com/office/drawing/2014/main" id="{F867FED3-EE14-4505-A30E-9F2731ED44C8}"/>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CLUB AND TEAM INTRODUCTIONS</a:t>
            </a:r>
          </a:p>
        </p:txBody>
      </p:sp>
      <p:sp>
        <p:nvSpPr>
          <p:cNvPr id="2" name="Slide title">
            <a:extLst xmlns:a="http://schemas.openxmlformats.org/drawingml/2006/main">
              <a:ext uri="{FF2B5EF4-FFF2-40B4-BE49-F238E27FC236}">
                <a16:creationId xmlns:a16="http://schemas.microsoft.com/office/drawing/2014/main" id="{A815083F-91FB-413E-9A07-ABFE04EA07E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teams and their research questions</a:t>
            </a:r>
          </a:p>
        </p:txBody>
      </p:sp>
      <p:sp>
        <p:nvSpPr>
          <p:cNvPr id="3" name="SHPE CAPITAL    OCTOBER 13, 2026">
            <a:extLst xmlns:a="http://schemas.openxmlformats.org/drawingml/2006/main">
              <a:ext uri="{FF2B5EF4-FFF2-40B4-BE49-F238E27FC236}">
                <a16:creationId xmlns:a16="http://schemas.microsoft.com/office/drawing/2014/main" id="{5CA85175-7C33-4997-AA68-75598954FFD2}"/>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10 min">
            <a:extLst xmlns:a="http://schemas.openxmlformats.org/drawingml/2006/main">
              <a:ext uri="{FF2B5EF4-FFF2-40B4-BE49-F238E27FC236}">
                <a16:creationId xmlns:a16="http://schemas.microsoft.com/office/drawing/2014/main" id="{B7A2F0F6-5011-4E7B-9ACE-0D74046C1440}"/>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2–10 min</a:t>
            </a:r>
          </a:p>
        </p:txBody>
      </p:sp>
      <p:sp>
        <p:nvSpPr>
          <p:cNvPr id="5" name="3">
            <a:extLst xmlns:a="http://schemas.openxmlformats.org/drawingml/2006/main">
              <a:ext uri="{FF2B5EF4-FFF2-40B4-BE49-F238E27FC236}">
                <a16:creationId xmlns:a16="http://schemas.microsoft.com/office/drawing/2014/main" id="{E3912608-34D9-4226-A0A5-19734D1731FA}"/>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3</a:t>
            </a:r>
          </a:p>
        </p:txBody>
      </p:sp>
      <p:sp>
        <p:nvSpPr>
          <p:cNvPr id="6" name="Three strategy teams and one pla">
            <a:extLst xmlns:a="http://schemas.openxmlformats.org/drawingml/2006/main">
              <a:ext uri="{FF2B5EF4-FFF2-40B4-BE49-F238E27FC236}">
                <a16:creationId xmlns:a16="http://schemas.microsoft.com/office/drawing/2014/main" id="{E1FD34B9-A2D1-4209-96E5-46FD300EEFCD}"/>
              </a:ext>
            </a:extLst>
          </p:cNvPr>
          <p:cNvSpPr>
            <a:spLocks xmlns:a="http://schemas.openxmlformats.org/drawingml/2006/main" noGrp="1"/>
          </p:cNvSpPr>
          <p:nvPr/>
        </p:nvSpPr>
        <p:spPr>
          <a:xfrm xmlns:a="http://schemas.openxmlformats.org/drawingml/2006/main">
            <a:off x="609600" y="14382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556272"/>
                </a:solidFill>
                <a:latin typeface="Arial"/>
                <a:ea typeface="Arial"/>
                <a:cs typeface="Arial"/>
              </a:defRPr>
            </a:defPPr>
          </a:lstStyle>
          <a:p xmlns:a="http://schemas.openxmlformats.org/drawingml/2006/main">
            <a:pPr algn="l">
              <a:defRPr sz="1950" b="0">
                <a:solidFill>
                  <a:srgbClr val="556272"/>
                </a:solidFill>
                <a:latin typeface="Arial"/>
                <a:ea typeface="Arial"/>
                <a:cs typeface="Arial"/>
              </a:defRPr>
            </a:pPr>
            <a:r>
              <a:rPr sz="1950" b="0">
                <a:solidFill>
                  <a:srgbClr val="556272"/>
                </a:solidFill>
                <a:latin typeface="Arial"/>
                <a:ea typeface="Arial"/>
                <a:cs typeface="Arial"/>
              </a:rPr>
              <a:t>Three strategy teams and one platform team, with an experienced coder in each.</a:t>
            </a:r>
          </a:p>
        </p:txBody>
      </p:sp>
      <p:graphicFrame>
        <p:nvGraphicFramePr>
          <p:cNvPr id="7" name="">
            <a:extLst xmlns:a="http://schemas.openxmlformats.org/drawingml/2006/main">
              <a:ext uri="{FF2B5EF4-FFF2-40B4-BE49-F238E27FC236}">
                <a16:creationId xmlns:a16="http://schemas.microsoft.com/office/drawing/2014/main" id="{26905D87-6EFD-473B-8128-8B4FEC872297}"/>
              </a:ext>
            </a:extLst>
          </p:cNvPr>
          <p:cNvGraphicFramePr/>
          <p:nvPr/>
        </p:nvGraphicFramePr>
        <p:xfrm>
          <a:off xmlns:a="http://schemas.openxmlformats.org/drawingml/2006/main" x="609600" y="2247900"/>
          <a:ext xmlns:a="http://schemas.openxmlformats.org/drawingml/2006/main" cx="10972800" cy="3390900"/>
        </p:xfrm>
        <a:graphic xmlns:a="http://schemas.openxmlformats.org/drawingml/2006/main">
          <a:graphicData uri="http://schemas.openxmlformats.org/drawingml/2006/table">
            <a:tbl>
              <a:tblPr firstRow="1" bandRow="0"/>
              <a:tblGrid>
                <a:gridCol w="2219325"/>
                <a:gridCol w="4124325"/>
                <a:gridCol w="4629150"/>
              </a:tblGrid>
              <a:tr h="678180">
                <a:tc>
                  <a:txBody>
                    <a:bodyPr lIns="95250" tIns="95250" rIns="95250" bIns="95250">
                      <a:noAutofit/>
                    </a:bodyPr>
                    <a:lstStyle/>
                    <a:p>
                      <a:pPr algn="l"/>
                      <a:r>
                        <a:rPr sz="1875" b="1">
                          <a:solidFill>
                            <a:srgbClr val="FFFFFF"/>
                          </a:solidFill>
                          <a:latin typeface="Arial"/>
                          <a:ea typeface="Arial"/>
                          <a:cs typeface="Arial"/>
                        </a:rPr>
                        <a:t>Team</a:t>
                      </a:r>
                    </a:p>
                  </a:txBody>
                  <a:tcPr marL="91440" marR="91440" marT="45720" marB="45720" anchor="ctr">
                    <a:solidFill>
                      <a:srgbClr val="172A45"/>
                    </a:solidFill>
                  </a:tcPr>
                </a:tc>
                <a:tc>
                  <a:txBody>
                    <a:bodyPr lIns="95250" tIns="95250" rIns="95250" bIns="95250">
                      <a:noAutofit/>
                    </a:bodyPr>
                    <a:lstStyle/>
                    <a:p>
                      <a:pPr algn="l"/>
                      <a:r>
                        <a:rPr sz="1875" b="1">
                          <a:solidFill>
                            <a:srgbClr val="FFFFFF"/>
                          </a:solidFill>
                          <a:latin typeface="Arial"/>
                          <a:ea typeface="Arial"/>
                          <a:cs typeface="Arial"/>
                        </a:rPr>
                        <a:t>Question to test</a:t>
                      </a:r>
                    </a:p>
                  </a:txBody>
                  <a:tcPr marL="91440" marR="91440" marT="45720" marB="45720" anchor="ctr">
                    <a:solidFill>
                      <a:srgbClr val="172A45"/>
                    </a:solidFill>
                  </a:tcPr>
                </a:tc>
                <a:tc>
                  <a:txBody>
                    <a:bodyPr lIns="95250" tIns="95250" rIns="95250" bIns="95250">
                      <a:noAutofit/>
                    </a:bodyPr>
                    <a:lstStyle/>
                    <a:p>
                      <a:pPr algn="l"/>
                      <a:r>
                        <a:rPr sz="1875" b="1">
                          <a:solidFill>
                            <a:srgbClr val="FFFFFF"/>
                          </a:solidFill>
                          <a:latin typeface="Arial"/>
                          <a:ea typeface="Arial"/>
                          <a:cs typeface="Arial"/>
                        </a:rPr>
                        <a:t>Possible starting point</a:t>
                      </a:r>
                    </a:p>
                  </a:txBody>
                  <a:tcPr marL="91440" marR="91440" marT="45720" marB="45720" anchor="ctr">
                    <a:solidFill>
                      <a:srgbClr val="172A45"/>
                    </a:solidFill>
                  </a:tcPr>
                </a:tc>
              </a:tr>
              <a:tr h="678180">
                <a:tc>
                  <a:txBody>
                    <a:bodyPr lIns="95250" tIns="95250" rIns="95250" bIns="95250">
                      <a:noAutofit/>
                    </a:bodyPr>
                    <a:lstStyle/>
                    <a:p>
                      <a:pPr algn="l"/>
                      <a:r>
                        <a:rPr sz="1875" b="1">
                          <a:solidFill>
                            <a:srgbClr val="182C43"/>
                          </a:solidFill>
                          <a:latin typeface="Arial"/>
                          <a:ea typeface="Arial"/>
                          <a:cs typeface="Arial"/>
                        </a:rPr>
                        <a:t>Momentum</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Does a directional move continue?</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Opening-range breakout or time-of-day trend</a:t>
                      </a:r>
                    </a:p>
                  </a:txBody>
                  <a:tcPr marL="91440" marR="91440" marT="45720" marB="45720" anchor="ctr">
                    <a:solidFill>
                      <a:srgbClr val="FFFFFF"/>
                    </a:solidFill>
                  </a:tcPr>
                </a:tc>
              </a:tr>
              <a:tr h="678180">
                <a:tc>
                  <a:txBody>
                    <a:bodyPr lIns="95250" tIns="95250" rIns="95250" bIns="95250">
                      <a:noAutofit/>
                    </a:bodyPr>
                    <a:lstStyle/>
                    <a:p>
                      <a:pPr algn="l"/>
                      <a:r>
                        <a:rPr sz="1875" b="1">
                          <a:solidFill>
                            <a:srgbClr val="182C43"/>
                          </a:solidFill>
                          <a:latin typeface="Arial"/>
                          <a:ea typeface="Arial"/>
                          <a:cs typeface="Arial"/>
                        </a:rPr>
                        <a:t>Relative value</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Does a relationship between assets recover?</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A two-asset spread with a predefined hedge</a:t>
                      </a:r>
                    </a:p>
                  </a:txBody>
                  <a:tcPr marL="91440" marR="91440" marT="45720" marB="45720" anchor="ctr">
                    <a:solidFill>
                      <a:srgbClr val="F1F4F7"/>
                    </a:solidFill>
                  </a:tcPr>
                </a:tc>
              </a:tr>
              <a:tr h="678180">
                <a:tc>
                  <a:txBody>
                    <a:bodyPr lIns="95250" tIns="95250" rIns="95250" bIns="95250">
                      <a:noAutofit/>
                    </a:bodyPr>
                    <a:lstStyle/>
                    <a:p>
                      <a:pPr algn="l"/>
                      <a:r>
                        <a:rPr sz="1875" b="1">
                          <a:solidFill>
                            <a:srgbClr val="182C43"/>
                          </a:solidFill>
                          <a:latin typeface="Arial"/>
                          <a:ea typeface="Arial"/>
                          <a:cs typeface="Arial"/>
                        </a:rPr>
                        <a:t>Short-term reversal</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Does a temporary move reverse?</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A large-move or deviation reversal</a:t>
                      </a:r>
                    </a:p>
                  </a:txBody>
                  <a:tcPr marL="91440" marR="91440" marT="45720" marB="45720" anchor="ctr">
                    <a:solidFill>
                      <a:srgbClr val="FFFFFF"/>
                    </a:solidFill>
                  </a:tcPr>
                </a:tc>
              </a:tr>
              <a:tr h="678180">
                <a:tc>
                  <a:txBody>
                    <a:bodyPr lIns="95250" tIns="95250" rIns="95250" bIns="95250">
                      <a:noAutofit/>
                    </a:bodyPr>
                    <a:lstStyle/>
                    <a:p>
                      <a:pPr algn="l"/>
                      <a:r>
                        <a:rPr sz="1875" b="1">
                          <a:solidFill>
                            <a:srgbClr val="182C43"/>
                          </a:solidFill>
                          <a:latin typeface="Arial"/>
                          <a:ea typeface="Arial"/>
                          <a:cs typeface="Arial"/>
                        </a:rPr>
                        <a:t>Platform and data</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Can everyone test and run reliably?</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Backtest support, replay, analytics and monitoring</a:t>
                      </a:r>
                    </a:p>
                  </a:txBody>
                  <a:tcPr marL="91440" marR="91440" marT="45720" marB="45720" anchor="ctr">
                    <a:solidFill>
                      <a:srgbClr val="F1F4F7"/>
                    </a:solidFill>
                  </a:tcPr>
                </a:tc>
              </a:tr>
            </a:tbl>
          </a:graphicData>
        </a:graphic>
      </p:graphicFrame>
      <p:sp>
        <p:nvSpPr>
          <p:cNvPr id="8" name="Each lead introduces their backg">
            <a:extLst xmlns:a="http://schemas.openxmlformats.org/drawingml/2006/main">
              <a:ext uri="{FF2B5EF4-FFF2-40B4-BE49-F238E27FC236}">
                <a16:creationId xmlns:a16="http://schemas.microsoft.com/office/drawing/2014/main" id="{B47DD45B-45F5-48D1-BE75-272B26332977}"/>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Each lead introduces their background, team focus and support for beginners.</a:t>
            </a:r>
          </a:p>
        </p:txBody>
      </p:sp>
    </p:spTree>
    <p:extLst>
      <p:ext uri="{BB962C8B-B14F-4D97-AF65-F5344CB8AC3E}">
        <p14:creationId xmlns:p14="http://schemas.microsoft.com/office/powerpoint/2010/main" val="8451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LATFORM OVERVIEW">
            <a:extLst xmlns:a="http://schemas.openxmlformats.org/drawingml/2006/main">
              <a:ext uri="{FF2B5EF4-FFF2-40B4-BE49-F238E27FC236}">
                <a16:creationId xmlns:a16="http://schemas.microsoft.com/office/drawing/2014/main" id="{ED191507-EDE3-4BB3-949D-ED0658723FA9}"/>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PLATFORM OVERVIEW</a:t>
            </a:r>
          </a:p>
        </p:txBody>
      </p:sp>
      <p:sp>
        <p:nvSpPr>
          <p:cNvPr id="2" name="Slide title">
            <a:extLst xmlns:a="http://schemas.openxmlformats.org/drawingml/2006/main">
              <a:ext uri="{FF2B5EF4-FFF2-40B4-BE49-F238E27FC236}">
                <a16:creationId xmlns:a16="http://schemas.microsoft.com/office/drawing/2014/main" id="{A75C238D-98F6-4284-8832-F2D101F8FE2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codebase at a glance</a:t>
            </a:r>
          </a:p>
        </p:txBody>
      </p:sp>
      <p:sp>
        <p:nvSpPr>
          <p:cNvPr id="3" name="SHPE CAPITAL    OCTOBER 13, 2026">
            <a:extLst xmlns:a="http://schemas.openxmlformats.org/drawingml/2006/main">
              <a:ext uri="{FF2B5EF4-FFF2-40B4-BE49-F238E27FC236}">
                <a16:creationId xmlns:a16="http://schemas.microsoft.com/office/drawing/2014/main" id="{F75F0772-16CA-4068-A1CB-2530854E30BB}"/>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0–12.5 min">
            <a:extLst xmlns:a="http://schemas.openxmlformats.org/drawingml/2006/main">
              <a:ext uri="{FF2B5EF4-FFF2-40B4-BE49-F238E27FC236}">
                <a16:creationId xmlns:a16="http://schemas.microsoft.com/office/drawing/2014/main" id="{4D4BC112-E6D1-4F5E-A452-7505448AE71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10–12.5 min</a:t>
            </a:r>
          </a:p>
        </p:txBody>
      </p:sp>
      <p:sp>
        <p:nvSpPr>
          <p:cNvPr id="5" name="4">
            <a:extLst xmlns:a="http://schemas.openxmlformats.org/drawingml/2006/main">
              <a:ext uri="{FF2B5EF4-FFF2-40B4-BE49-F238E27FC236}">
                <a16:creationId xmlns:a16="http://schemas.microsoft.com/office/drawing/2014/main" id="{4B976FEC-E644-4697-839D-FC3D7556B12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4</a:t>
            </a:r>
          </a:p>
        </p:txBody>
      </p:sp>
      <p:graphicFrame>
        <p:nvGraphicFramePr>
          <p:cNvPr id="6" name="">
            <a:extLst xmlns:a="http://schemas.openxmlformats.org/drawingml/2006/main">
              <a:ext uri="{FF2B5EF4-FFF2-40B4-BE49-F238E27FC236}">
                <a16:creationId xmlns:a16="http://schemas.microsoft.com/office/drawing/2014/main" id="{848BE59A-E416-45CB-BA0E-632AB5E2DDDD}"/>
              </a:ext>
            </a:extLst>
          </p:cNvPr>
          <p:cNvGraphicFramePr/>
          <p:nvPr/>
        </p:nvGraphicFramePr>
        <p:xfrm>
          <a:off xmlns:a="http://schemas.openxmlformats.org/drawingml/2006/main" x="609600" y="1838325"/>
          <a:ext xmlns:a="http://schemas.openxmlformats.org/drawingml/2006/main" cx="10972800" cy="3762375"/>
        </p:xfrm>
        <a:graphic xmlns:a="http://schemas.openxmlformats.org/drawingml/2006/main">
          <a:graphicData uri="http://schemas.openxmlformats.org/drawingml/2006/table">
            <a:tbl>
              <a:tblPr firstRow="1" bandRow="0"/>
              <a:tblGrid>
                <a:gridCol w="4210050"/>
                <a:gridCol w="4467225"/>
                <a:gridCol w="2295525"/>
              </a:tblGrid>
              <a:tr h="627063">
                <a:tc>
                  <a:txBody>
                    <a:bodyPr lIns="95250" tIns="95250" rIns="95250" bIns="95250">
                      <a:noAutofit/>
                    </a:bodyPr>
                    <a:lstStyle/>
                    <a:p>
                      <a:pPr algn="l"/>
                      <a:r>
                        <a:rPr sz="1875" b="1">
                          <a:solidFill>
                            <a:srgbClr val="FFFFFF"/>
                          </a:solidFill>
                          <a:latin typeface="Arial"/>
                          <a:ea typeface="Arial"/>
                          <a:cs typeface="Arial"/>
                        </a:rPr>
                        <a:t>Location</a:t>
                      </a:r>
                    </a:p>
                  </a:txBody>
                  <a:tcPr marL="91440" marR="91440" marT="45720" marB="45720" anchor="ctr">
                    <a:solidFill>
                      <a:srgbClr val="172A45"/>
                    </a:solidFill>
                  </a:tcPr>
                </a:tc>
                <a:tc>
                  <a:txBody>
                    <a:bodyPr lIns="95250" tIns="95250" rIns="95250" bIns="95250">
                      <a:noAutofit/>
                    </a:bodyPr>
                    <a:lstStyle/>
                    <a:p>
                      <a:pPr algn="l"/>
                      <a:r>
                        <a:rPr sz="1875" b="1">
                          <a:solidFill>
                            <a:srgbClr val="FFFFFF"/>
                          </a:solidFill>
                          <a:latin typeface="Arial"/>
                          <a:ea typeface="Arial"/>
                          <a:cs typeface="Arial"/>
                        </a:rPr>
                        <a:t>Purpose</a:t>
                      </a:r>
                    </a:p>
                  </a:txBody>
                  <a:tcPr marL="91440" marR="91440" marT="45720" marB="45720" anchor="ctr">
                    <a:solidFill>
                      <a:srgbClr val="172A45"/>
                    </a:solidFill>
                  </a:tcPr>
                </a:tc>
                <a:tc>
                  <a:txBody>
                    <a:bodyPr lIns="95250" tIns="95250" rIns="95250" bIns="95250">
                      <a:noAutofit/>
                    </a:bodyPr>
                    <a:lstStyle/>
                    <a:p>
                      <a:pPr algn="l"/>
                      <a:r>
                        <a:rPr sz="1875" b="1">
                          <a:solidFill>
                            <a:srgbClr val="FFFFFF"/>
                          </a:solidFill>
                          <a:latin typeface="Arial"/>
                          <a:ea typeface="Arial"/>
                          <a:cs typeface="Arial"/>
                        </a:rPr>
                        <a:t>Who mainly works here</a:t>
                      </a:r>
                    </a:p>
                  </a:txBody>
                  <a:tcPr marL="91440" marR="91440" marT="45720" marB="45720" anchor="ctr">
                    <a:solidFill>
                      <a:srgbClr val="172A45"/>
                    </a:solidFill>
                  </a:tcPr>
                </a:tc>
              </a:tr>
              <a:tr h="627063">
                <a:tc>
                  <a:txBody>
                    <a:bodyPr lIns="95250" tIns="95250" rIns="95250" bIns="95250">
                      <a:noAutofit/>
                    </a:bodyPr>
                    <a:lstStyle/>
                    <a:p>
                      <a:pPr algn="l"/>
                      <a:r>
                        <a:rPr sz="1875" b="1">
                          <a:solidFill>
                            <a:srgbClr val="182C43"/>
                          </a:solidFill>
                          <a:latin typeface="Arial"/>
                          <a:ea typeface="Arial"/>
                          <a:cs typeface="Arial"/>
                        </a:rPr>
                        <a:t>backend/src/strategies/</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Research logic that emits signals</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Strategy teams</a:t>
                      </a:r>
                    </a:p>
                  </a:txBody>
                  <a:tcPr marL="91440" marR="91440" marT="45720" marB="45720" anchor="ctr">
                    <a:solidFill>
                      <a:srgbClr val="FFFFFF"/>
                    </a:solidFill>
                  </a:tcPr>
                </a:tc>
              </a:tr>
              <a:tr h="627063">
                <a:tc>
                  <a:txBody>
                    <a:bodyPr lIns="95250" tIns="95250" rIns="95250" bIns="95250">
                      <a:noAutofit/>
                    </a:bodyPr>
                    <a:lstStyle/>
                    <a:p>
                      <a:pPr algn="l"/>
                      <a:r>
                        <a:rPr sz="1875" b="1">
                          <a:solidFill>
                            <a:srgbClr val="182C43"/>
                          </a:solidFill>
                          <a:latin typeface="Arial"/>
                          <a:ea typeface="Arial"/>
                          <a:cs typeface="Arial"/>
                        </a:rPr>
                        <a:t>backend/src/core/</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State, risk, execution and testing</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Platform team, with strategy input</a:t>
                      </a:r>
                    </a:p>
                  </a:txBody>
                  <a:tcPr marL="91440" marR="91440" marT="45720" marB="45720" anchor="ctr">
                    <a:solidFill>
                      <a:srgbClr val="F1F4F7"/>
                    </a:solidFill>
                  </a:tcPr>
                </a:tc>
              </a:tr>
              <a:tr h="627063">
                <a:tc>
                  <a:txBody>
                    <a:bodyPr lIns="95250" tIns="95250" rIns="95250" bIns="95250">
                      <a:noAutofit/>
                    </a:bodyPr>
                    <a:lstStyle/>
                    <a:p>
                      <a:pPr algn="l"/>
                      <a:r>
                        <a:rPr sz="1875" b="1">
                          <a:solidFill>
                            <a:srgbClr val="182C43"/>
                          </a:solidFill>
                          <a:latin typeface="Arial"/>
                          <a:ea typeface="Arial"/>
                          <a:cs typeface="Arial"/>
                        </a:rPr>
                        <a:t>backend/src/adapters/</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Alpaca and database integration</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Platform team</a:t>
                      </a:r>
                    </a:p>
                  </a:txBody>
                  <a:tcPr marL="91440" marR="91440" marT="45720" marB="45720" anchor="ctr">
                    <a:solidFill>
                      <a:srgbClr val="FFFFFF"/>
                    </a:solidFill>
                  </a:tcPr>
                </a:tc>
              </a:tr>
              <a:tr h="627063">
                <a:tc>
                  <a:txBody>
                    <a:bodyPr lIns="95250" tIns="95250" rIns="95250" bIns="95250">
                      <a:noAutofit/>
                    </a:bodyPr>
                    <a:lstStyle/>
                    <a:p>
                      <a:pPr algn="l"/>
                      <a:r>
                        <a:rPr sz="1875" b="1">
                          <a:solidFill>
                            <a:srgbClr val="182C43"/>
                          </a:solidFill>
                          <a:latin typeface="Arial"/>
                          <a:ea typeface="Arial"/>
                          <a:cs typeface="Arial"/>
                        </a:rPr>
                        <a:t>frontend/</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Dashboard, strategy controls and results</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Platform team and all reviewers</a:t>
                      </a:r>
                    </a:p>
                  </a:txBody>
                  <a:tcPr marL="91440" marR="91440" marT="45720" marB="45720" anchor="ctr">
                    <a:solidFill>
                      <a:srgbClr val="F1F4F7"/>
                    </a:solidFill>
                  </a:tcPr>
                </a:tc>
              </a:tr>
              <a:tr h="627063">
                <a:tc>
                  <a:txBody>
                    <a:bodyPr lIns="95250" tIns="95250" rIns="95250" bIns="95250">
                      <a:noAutofit/>
                    </a:bodyPr>
                    <a:lstStyle/>
                    <a:p>
                      <a:pPr algn="l"/>
                      <a:r>
                        <a:rPr sz="1875" b="1">
                          <a:solidFill>
                            <a:srgbClr val="182C43"/>
                          </a:solidFill>
                          <a:latin typeface="Arial"/>
                          <a:ea typeface="Arial"/>
                          <a:cs typeface="Arial"/>
                        </a:rPr>
                        <a:t>supabase/ and deploy/</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Schema, deployment and infrastructure</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Platform team</a:t>
                      </a:r>
                    </a:p>
                  </a:txBody>
                  <a:tcPr marL="91440" marR="91440" marT="45720" marB="45720" anchor="ctr">
                    <a:solidFill>
                      <a:srgbClr val="FFFFFF"/>
                    </a:solidFill>
                  </a:tcPr>
                </a:tc>
              </a:tr>
            </a:tbl>
          </a:graphicData>
        </a:graphic>
      </p:graphicFrame>
      <p:sp>
        <p:nvSpPr>
          <p:cNvPr id="7" name="Start with one strategy and the ">
            <a:extLst xmlns:a="http://schemas.openxmlformats.org/drawingml/2006/main">
              <a:ext uri="{FF2B5EF4-FFF2-40B4-BE49-F238E27FC236}">
                <a16:creationId xmlns:a16="http://schemas.microsoft.com/office/drawing/2014/main" id="{0257A2D5-B901-4545-A125-DFC3A44ADA2D}"/>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Start with one strategy and the shared interface.</a:t>
            </a:r>
          </a:p>
        </p:txBody>
      </p:sp>
    </p:spTree>
    <p:extLst>
      <p:ext uri="{BB962C8B-B14F-4D97-AF65-F5344CB8AC3E}">
        <p14:creationId xmlns:p14="http://schemas.microsoft.com/office/powerpoint/2010/main" val="5041080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LATFORM OVERVIEW">
            <a:extLst xmlns:a="http://schemas.openxmlformats.org/drawingml/2006/main">
              <a:ext uri="{FF2B5EF4-FFF2-40B4-BE49-F238E27FC236}">
                <a16:creationId xmlns:a16="http://schemas.microsoft.com/office/drawing/2014/main" id="{8B61574D-1566-4ACB-A2A4-D54576AB1D89}"/>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PLATFORM OVERVIEW</a:t>
            </a:r>
          </a:p>
        </p:txBody>
      </p:sp>
      <p:sp>
        <p:nvSpPr>
          <p:cNvPr id="2" name="Slide title">
            <a:extLst xmlns:a="http://schemas.openxmlformats.org/drawingml/2006/main">
              <a:ext uri="{FF2B5EF4-FFF2-40B4-BE49-F238E27FC236}">
                <a16:creationId xmlns:a16="http://schemas.microsoft.com/office/drawing/2014/main" id="{C16479B4-6D92-4BDA-A88A-16033A87E3B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From market data to a recorded trade</a:t>
            </a:r>
          </a:p>
        </p:txBody>
      </p:sp>
      <p:sp>
        <p:nvSpPr>
          <p:cNvPr id="3" name="SHPE CAPITAL    OCTOBER 13, 2026">
            <a:extLst xmlns:a="http://schemas.openxmlformats.org/drawingml/2006/main">
              <a:ext uri="{FF2B5EF4-FFF2-40B4-BE49-F238E27FC236}">
                <a16:creationId xmlns:a16="http://schemas.microsoft.com/office/drawing/2014/main" id="{E9F0BF49-4497-40F0-AEFA-BEEA674B7B28}"/>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2.5–15.5 min">
            <a:extLst xmlns:a="http://schemas.openxmlformats.org/drawingml/2006/main">
              <a:ext uri="{FF2B5EF4-FFF2-40B4-BE49-F238E27FC236}">
                <a16:creationId xmlns:a16="http://schemas.microsoft.com/office/drawing/2014/main" id="{3100E971-F1D4-4CE2-8860-8D79EEF6E79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12.5–15.5 min</a:t>
            </a:r>
          </a:p>
        </p:txBody>
      </p:sp>
      <p:sp>
        <p:nvSpPr>
          <p:cNvPr id="5" name="5">
            <a:extLst xmlns:a="http://schemas.openxmlformats.org/drawingml/2006/main">
              <a:ext uri="{FF2B5EF4-FFF2-40B4-BE49-F238E27FC236}">
                <a16:creationId xmlns:a16="http://schemas.microsoft.com/office/drawing/2014/main" id="{66D60882-6527-47B7-8892-64B2AA0972DD}"/>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5</a:t>
            </a:r>
          </a:p>
        </p:txBody>
      </p:sp>
      <p:graphicFrame>
        <p:nvGraphicFramePr>
          <p:cNvPr id="6" name="">
            <a:extLst xmlns:a="http://schemas.openxmlformats.org/drawingml/2006/main">
              <a:ext uri="{FF2B5EF4-FFF2-40B4-BE49-F238E27FC236}">
                <a16:creationId xmlns:a16="http://schemas.microsoft.com/office/drawing/2014/main" id="{7B45495A-BD65-4444-965D-29D027ECC258}"/>
              </a:ext>
            </a:extLst>
          </p:cNvPr>
          <p:cNvGraphicFramePr/>
          <p:nvPr/>
        </p:nvGraphicFramePr>
        <p:xfrm>
          <a:off xmlns:a="http://schemas.openxmlformats.org/drawingml/2006/main" x="609600" y="1828800"/>
          <a:ext xmlns:a="http://schemas.openxmlformats.org/drawingml/2006/main" cx="10972800" cy="3581400"/>
        </p:xfrm>
        <a:graphic xmlns:a="http://schemas.openxmlformats.org/drawingml/2006/main">
          <a:graphicData uri="http://schemas.openxmlformats.org/drawingml/2006/table">
            <a:tbl>
              <a:tblPr firstRow="1" bandRow="0"/>
              <a:tblGrid>
                <a:gridCol w="2876550"/>
                <a:gridCol w="8096250"/>
              </a:tblGrid>
              <a:tr h="596900">
                <a:tc>
                  <a:txBody>
                    <a:bodyPr lIns="95250" tIns="95250" rIns="95250" bIns="95250">
                      <a:noAutofit/>
                    </a:bodyPr>
                    <a:lstStyle/>
                    <a:p>
                      <a:pPr algn="l"/>
                      <a:r>
                        <a:rPr sz="2025" b="1">
                          <a:solidFill>
                            <a:srgbClr val="FFFFFF"/>
                          </a:solidFill>
                          <a:latin typeface="Arial"/>
                          <a:ea typeface="Arial"/>
                          <a:cs typeface="Arial"/>
                        </a:rPr>
                        <a:t>Stage</a:t>
                      </a:r>
                    </a:p>
                  </a:txBody>
                  <a:tcPr marL="91440" marR="91440" marT="45720" marB="45720" anchor="ctr">
                    <a:solidFill>
                      <a:srgbClr val="172A45"/>
                    </a:solidFill>
                  </a:tcPr>
                </a:tc>
                <a:tc>
                  <a:txBody>
                    <a:bodyPr lIns="95250" tIns="95250" rIns="95250" bIns="95250">
                      <a:noAutofit/>
                    </a:bodyPr>
                    <a:lstStyle/>
                    <a:p>
                      <a:pPr algn="l"/>
                      <a:r>
                        <a:rPr sz="2025" b="1">
                          <a:solidFill>
                            <a:srgbClr val="FFFFFF"/>
                          </a:solidFill>
                          <a:latin typeface="Arial"/>
                          <a:ea typeface="Arial"/>
                          <a:cs typeface="Arial"/>
                        </a:rPr>
                        <a:t>What happens</a:t>
                      </a:r>
                    </a:p>
                  </a:txBody>
                  <a:tcPr marL="91440" marR="91440" marT="45720" marB="45720" anchor="ctr">
                    <a:solidFill>
                      <a:srgbClr val="172A45"/>
                    </a:solidFill>
                  </a:tcPr>
                </a:tc>
              </a:tr>
              <a:tr h="596900">
                <a:tc>
                  <a:txBody>
                    <a:bodyPr lIns="95250" tIns="95250" rIns="95250" bIns="95250">
                      <a:noAutofit/>
                    </a:bodyPr>
                    <a:lstStyle/>
                    <a:p>
                      <a:pPr algn="l"/>
                      <a:r>
                        <a:rPr sz="2025" b="1">
                          <a:solidFill>
                            <a:srgbClr val="182C43"/>
                          </a:solidFill>
                          <a:latin typeface="Arial"/>
                          <a:ea typeface="Arial"/>
                          <a:cs typeface="Arial"/>
                        </a:rPr>
                        <a:t>1. Data and state</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Receive market events and update the shared view</a:t>
                      </a:r>
                    </a:p>
                  </a:txBody>
                  <a:tcPr marL="91440" marR="91440" marT="45720" marB="45720" anchor="ctr">
                    <a:solidFill>
                      <a:srgbClr val="FFFFFF"/>
                    </a:solidFill>
                  </a:tcPr>
                </a:tc>
              </a:tr>
              <a:tr h="596900">
                <a:tc>
                  <a:txBody>
                    <a:bodyPr lIns="95250" tIns="95250" rIns="95250" bIns="95250">
                      <a:noAutofit/>
                    </a:bodyPr>
                    <a:lstStyle/>
                    <a:p>
                      <a:pPr algn="l"/>
                      <a:r>
                        <a:rPr sz="2025" b="1">
                          <a:solidFill>
                            <a:srgbClr val="182C43"/>
                          </a:solidFill>
                          <a:latin typeface="Arial"/>
                          <a:ea typeface="Arial"/>
                          <a:cs typeface="Arial"/>
                        </a:rPr>
                        <a:t>2. Strategy</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Read current state and propose a signal or no action</a:t>
                      </a:r>
                    </a:p>
                  </a:txBody>
                  <a:tcPr marL="91440" marR="91440" marT="45720" marB="45720" anchor="ctr">
                    <a:solidFill>
                      <a:srgbClr val="F1F4F7"/>
                    </a:solidFill>
                  </a:tcPr>
                </a:tc>
              </a:tr>
              <a:tr h="596900">
                <a:tc>
                  <a:txBody>
                    <a:bodyPr lIns="95250" tIns="95250" rIns="95250" bIns="95250">
                      <a:noAutofit/>
                    </a:bodyPr>
                    <a:lstStyle/>
                    <a:p>
                      <a:pPr algn="l"/>
                      <a:r>
                        <a:rPr sz="2025" b="1">
                          <a:solidFill>
                            <a:srgbClr val="182C43"/>
                          </a:solidFill>
                          <a:latin typeface="Arial"/>
                          <a:ea typeface="Arial"/>
                          <a:cs typeface="Arial"/>
                        </a:rPr>
                        <a:t>3. Risk and sizing</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Check limits and determine an allowed order size</a:t>
                      </a:r>
                    </a:p>
                  </a:txBody>
                  <a:tcPr marL="91440" marR="91440" marT="45720" marB="45720" anchor="ctr">
                    <a:solidFill>
                      <a:srgbClr val="FFFFFF"/>
                    </a:solidFill>
                  </a:tcPr>
                </a:tc>
              </a:tr>
              <a:tr h="596900">
                <a:tc>
                  <a:txBody>
                    <a:bodyPr lIns="95250" tIns="95250" rIns="95250" bIns="95250">
                      <a:noAutofit/>
                    </a:bodyPr>
                    <a:lstStyle/>
                    <a:p>
                      <a:pPr algn="l"/>
                      <a:r>
                        <a:rPr sz="2025" b="1">
                          <a:solidFill>
                            <a:srgbClr val="182C43"/>
                          </a:solidFill>
                          <a:latin typeface="Arial"/>
                          <a:ea typeface="Arial"/>
                          <a:cs typeface="Arial"/>
                        </a:rPr>
                        <a:t>4. Order and fill</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Submit, track, handle rejection and reconcile fills</a:t>
                      </a:r>
                    </a:p>
                  </a:txBody>
                  <a:tcPr marL="91440" marR="91440" marT="45720" marB="45720" anchor="ctr">
                    <a:solidFill>
                      <a:srgbClr val="F1F4F7"/>
                    </a:solidFill>
                  </a:tcPr>
                </a:tc>
              </a:tr>
              <a:tr h="596900">
                <a:tc>
                  <a:txBody>
                    <a:bodyPr lIns="95250" tIns="95250" rIns="95250" bIns="95250">
                      <a:noAutofit/>
                    </a:bodyPr>
                    <a:lstStyle/>
                    <a:p>
                      <a:pPr algn="l"/>
                      <a:r>
                        <a:rPr sz="2025" b="1">
                          <a:solidFill>
                            <a:srgbClr val="182C43"/>
                          </a:solidFill>
                          <a:latin typeface="Arial"/>
                          <a:ea typeface="Arial"/>
                          <a:cs typeface="Arial"/>
                        </a:rPr>
                        <a:t>5. Results</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Record positions, P&amp;L, metrics and operational events</a:t>
                      </a:r>
                    </a:p>
                  </a:txBody>
                  <a:tcPr marL="91440" marR="91440" marT="45720" marB="45720" anchor="ctr">
                    <a:solidFill>
                      <a:srgbClr val="FFFFFF"/>
                    </a:solidFill>
                  </a:tcPr>
                </a:tc>
              </a:tr>
            </a:tbl>
          </a:graphicData>
        </a:graphic>
      </p:graphicFrame>
      <p:sp>
        <p:nvSpPr>
          <p:cNvPr id="7" name="Example to discuss: a later bar ">
            <a:extLst xmlns:a="http://schemas.openxmlformats.org/drawingml/2006/main">
              <a:ext uri="{FF2B5EF4-FFF2-40B4-BE49-F238E27FC236}">
                <a16:creationId xmlns:a16="http://schemas.microsoft.com/office/drawing/2014/main" id="{17F41D5E-8766-4097-BB55-113BE9A7BCCF}"/>
              </a:ext>
            </a:extLst>
          </p:cNvPr>
          <p:cNvSpPr>
            <a:spLocks xmlns:a="http://schemas.openxmlformats.org/drawingml/2006/main" noGrp="1"/>
          </p:cNvSpPr>
          <p:nvPr/>
        </p:nvSpPr>
        <p:spPr>
          <a:xfrm xmlns:a="http://schemas.openxmlformats.org/drawingml/2006/main">
            <a:off x="609600" y="5686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Example to discuss: a later bar closes above the opening range high.</a:t>
            </a:r>
          </a:p>
        </p:txBody>
      </p:sp>
    </p:spTree>
    <p:extLst>
      <p:ext uri="{BB962C8B-B14F-4D97-AF65-F5344CB8AC3E}">
        <p14:creationId xmlns:p14="http://schemas.microsoft.com/office/powerpoint/2010/main" val="13932942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LATFORM OVERVIEW">
            <a:extLst xmlns:a="http://schemas.openxmlformats.org/drawingml/2006/main">
              <a:ext uri="{FF2B5EF4-FFF2-40B4-BE49-F238E27FC236}">
                <a16:creationId xmlns:a16="http://schemas.microsoft.com/office/drawing/2014/main" id="{B572C486-1869-4CDA-8C95-F417BBE28381}"/>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PLATFORM OVERVIEW</a:t>
            </a:r>
          </a:p>
        </p:txBody>
      </p:sp>
      <p:sp>
        <p:nvSpPr>
          <p:cNvPr id="2" name="Slide title">
            <a:extLst xmlns:a="http://schemas.openxmlformats.org/drawingml/2006/main">
              <a:ext uri="{FF2B5EF4-FFF2-40B4-BE49-F238E27FC236}">
                <a16:creationId xmlns:a16="http://schemas.microsoft.com/office/drawing/2014/main" id="{937FFF1C-C32C-4958-9A2E-0908D2C8EE7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strategy contract and today’s demo</a:t>
            </a:r>
          </a:p>
        </p:txBody>
      </p:sp>
      <p:sp>
        <p:nvSpPr>
          <p:cNvPr id="3" name="SHPE CAPITAL    OCTOBER 13, 2026">
            <a:extLst xmlns:a="http://schemas.openxmlformats.org/drawingml/2006/main">
              <a:ext uri="{FF2B5EF4-FFF2-40B4-BE49-F238E27FC236}">
                <a16:creationId xmlns:a16="http://schemas.microsoft.com/office/drawing/2014/main" id="{44A95CBC-5890-4733-8D61-9535C42F3E06}"/>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5.5–20 min">
            <a:extLst xmlns:a="http://schemas.openxmlformats.org/drawingml/2006/main">
              <a:ext uri="{FF2B5EF4-FFF2-40B4-BE49-F238E27FC236}">
                <a16:creationId xmlns:a16="http://schemas.microsoft.com/office/drawing/2014/main" id="{E9B33DA1-4878-4837-A933-B077F4E03EC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15.5–20 min</a:t>
            </a:r>
          </a:p>
        </p:txBody>
      </p:sp>
      <p:sp>
        <p:nvSpPr>
          <p:cNvPr id="5" name="6">
            <a:extLst xmlns:a="http://schemas.openxmlformats.org/drawingml/2006/main">
              <a:ext uri="{FF2B5EF4-FFF2-40B4-BE49-F238E27FC236}">
                <a16:creationId xmlns:a16="http://schemas.microsoft.com/office/drawing/2014/main" id="{FEA376D2-BCDE-4926-8902-B1F162401873}"/>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6</a:t>
            </a:r>
          </a:p>
        </p:txBody>
      </p:sp>
      <p:sp>
        <p:nvSpPr>
          <p:cNvPr id="6" name="Strategy teams">
            <a:extLst xmlns:a="http://schemas.openxmlformats.org/drawingml/2006/main">
              <a:ext uri="{FF2B5EF4-FFF2-40B4-BE49-F238E27FC236}">
                <a16:creationId xmlns:a16="http://schemas.microsoft.com/office/drawing/2014/main" id="{CB4ABC74-86F8-4FFA-AB0C-D1A93ABA4AC2}"/>
              </a:ext>
            </a:extLst>
          </p:cNvPr>
          <p:cNvSpPr>
            <a:spLocks xmlns:a="http://schemas.openxmlformats.org/drawingml/2006/main" noGrp="1"/>
          </p:cNvSpPr>
          <p:nvPr/>
        </p:nvSpPr>
        <p:spPr>
          <a:xfrm xmlns:a="http://schemas.openxmlformats.org/drawingml/2006/main">
            <a:off x="609600" y="20955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C55A11"/>
                </a:solidFill>
                <a:latin typeface="Arial"/>
                <a:ea typeface="Arial"/>
                <a:cs typeface="Arial"/>
              </a:defRPr>
            </a:defPPr>
          </a:lstStyle>
          <a:p xmlns:a="http://schemas.openxmlformats.org/drawingml/2006/main">
            <a:pPr algn="l">
              <a:defRPr sz="2100" b="1">
                <a:solidFill>
                  <a:srgbClr val="C55A11"/>
                </a:solidFill>
                <a:latin typeface="Arial"/>
                <a:ea typeface="Arial"/>
                <a:cs typeface="Arial"/>
              </a:defRPr>
            </a:pPr>
            <a:r>
              <a:rPr sz="2100" b="1">
                <a:solidFill>
                  <a:srgbClr val="C55A11"/>
                </a:solidFill>
                <a:latin typeface="Arial"/>
                <a:ea typeface="Arial"/>
                <a:cs typeface="Arial"/>
              </a:rPr>
              <a:t>Strategy teams</a:t>
            </a:r>
          </a:p>
        </p:txBody>
      </p:sp>
      <p:sp>
        <p:nvSpPr>
          <p:cNvPr id="7" name="Inputs: shared market and portfo">
            <a:extLst xmlns:a="http://schemas.openxmlformats.org/drawingml/2006/main">
              <a:ext uri="{FF2B5EF4-FFF2-40B4-BE49-F238E27FC236}">
                <a16:creationId xmlns:a16="http://schemas.microsoft.com/office/drawing/2014/main" id="{585298CA-7081-451E-9590-60EEBFFC5BE8}"/>
              </a:ext>
            </a:extLst>
          </p:cNvPr>
          <p:cNvSpPr>
            <a:spLocks xmlns:a="http://schemas.openxmlformats.org/drawingml/2006/main" noGrp="1"/>
          </p:cNvSpPr>
          <p:nvPr/>
        </p:nvSpPr>
        <p:spPr>
          <a:xfrm xmlns:a="http://schemas.openxmlformats.org/drawingml/2006/main">
            <a:off x="609600" y="24765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Inputs: shared market and portfolio state.</a:t>
            </a:r>
          </a:p>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Output: a signal or no action.</a:t>
            </a:r>
          </a:p>
        </p:txBody>
      </p:sp>
      <p:sp>
        <p:nvSpPr>
          <p:cNvPr id="8" name="Shared services">
            <a:extLst xmlns:a="http://schemas.openxmlformats.org/drawingml/2006/main">
              <a:ext uri="{FF2B5EF4-FFF2-40B4-BE49-F238E27FC236}">
                <a16:creationId xmlns:a16="http://schemas.microsoft.com/office/drawing/2014/main" id="{34D9E4EE-A15E-412E-A700-FF770C7D8599}"/>
              </a:ext>
            </a:extLst>
          </p:cNvPr>
          <p:cNvSpPr>
            <a:spLocks xmlns:a="http://schemas.openxmlformats.org/drawingml/2006/main" noGrp="1"/>
          </p:cNvSpPr>
          <p:nvPr/>
        </p:nvSpPr>
        <p:spPr>
          <a:xfrm xmlns:a="http://schemas.openxmlformats.org/drawingml/2006/main">
            <a:off x="609600" y="36290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C55A11"/>
                </a:solidFill>
                <a:latin typeface="Arial"/>
                <a:ea typeface="Arial"/>
                <a:cs typeface="Arial"/>
              </a:defRPr>
            </a:defPPr>
          </a:lstStyle>
          <a:p xmlns:a="http://schemas.openxmlformats.org/drawingml/2006/main">
            <a:pPr algn="l">
              <a:defRPr sz="2100" b="1">
                <a:solidFill>
                  <a:srgbClr val="C55A11"/>
                </a:solidFill>
                <a:latin typeface="Arial"/>
                <a:ea typeface="Arial"/>
                <a:cs typeface="Arial"/>
              </a:defRPr>
            </a:pPr>
            <a:r>
              <a:rPr sz="2100" b="1">
                <a:solidFill>
                  <a:srgbClr val="C55A11"/>
                </a:solidFill>
                <a:latin typeface="Arial"/>
                <a:ea typeface="Arial"/>
                <a:cs typeface="Arial"/>
              </a:rPr>
              <a:t>Shared services</a:t>
            </a:r>
          </a:p>
        </p:txBody>
      </p:sp>
      <p:sp>
        <p:nvSpPr>
          <p:cNvPr id="9" name="The platform owns data connectio">
            <a:extLst xmlns:a="http://schemas.openxmlformats.org/drawingml/2006/main">
              <a:ext uri="{FF2B5EF4-FFF2-40B4-BE49-F238E27FC236}">
                <a16:creationId xmlns:a16="http://schemas.microsoft.com/office/drawing/2014/main" id="{2646F44A-849F-49E1-A328-32F192CD626D}"/>
              </a:ext>
            </a:extLst>
          </p:cNvPr>
          <p:cNvSpPr>
            <a:spLocks xmlns:a="http://schemas.openxmlformats.org/drawingml/2006/main" noGrp="1"/>
          </p:cNvSpPr>
          <p:nvPr/>
        </p:nvSpPr>
        <p:spPr>
          <a:xfrm xmlns:a="http://schemas.openxmlformats.org/drawingml/2006/main">
            <a:off x="609600" y="4010025"/>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The platform owns data connections, risk, orders and storage.</a:t>
            </a:r>
          </a:p>
        </p:txBody>
      </p:sp>
      <p:sp>
        <p:nvSpPr>
          <p:cNvPr id="10" name="Prepared demonstration">
            <a:extLst xmlns:a="http://schemas.openxmlformats.org/drawingml/2006/main">
              <a:ext uri="{FF2B5EF4-FFF2-40B4-BE49-F238E27FC236}">
                <a16:creationId xmlns:a16="http://schemas.microsoft.com/office/drawing/2014/main" id="{1E196320-B59C-4AA1-A6CD-E249AAB1ABAF}"/>
              </a:ext>
            </a:extLst>
          </p:cNvPr>
          <p:cNvSpPr>
            <a:spLocks xmlns:a="http://schemas.openxmlformats.org/drawingml/2006/main" noGrp="1"/>
          </p:cNvSpPr>
          <p:nvPr/>
        </p:nvSpPr>
        <p:spPr>
          <a:xfrm xmlns:a="http://schemas.openxmlformats.org/drawingml/2006/main">
            <a:off x="6248400" y="20955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C55A11"/>
                </a:solidFill>
                <a:latin typeface="Arial"/>
                <a:ea typeface="Arial"/>
                <a:cs typeface="Arial"/>
              </a:defRPr>
            </a:defPPr>
          </a:lstStyle>
          <a:p xmlns:a="http://schemas.openxmlformats.org/drawingml/2006/main">
            <a:pPr algn="l">
              <a:defRPr sz="2100" b="1">
                <a:solidFill>
                  <a:srgbClr val="C55A11"/>
                </a:solidFill>
                <a:latin typeface="Arial"/>
                <a:ea typeface="Arial"/>
                <a:cs typeface="Arial"/>
              </a:defRPr>
            </a:pPr>
            <a:r>
              <a:rPr sz="2100" b="1">
                <a:solidFill>
                  <a:srgbClr val="C55A11"/>
                </a:solidFill>
                <a:latin typeface="Arial"/>
                <a:ea typeface="Arial"/>
                <a:cs typeface="Arial"/>
              </a:rPr>
              <a:t>Prepared demonstration</a:t>
            </a:r>
          </a:p>
        </p:txBody>
      </p:sp>
      <p:sp>
        <p:nvSpPr>
          <p:cNvPr id="11" name="One machine shows a signal, risk">
            <a:extLst xmlns:a="http://schemas.openxmlformats.org/drawingml/2006/main">
              <a:ext uri="{FF2B5EF4-FFF2-40B4-BE49-F238E27FC236}">
                <a16:creationId xmlns:a16="http://schemas.microsoft.com/office/drawing/2014/main" id="{408BA556-A000-462A-A6F8-64AD0E8E0D55}"/>
              </a:ext>
            </a:extLst>
          </p:cNvPr>
          <p:cNvSpPr>
            <a:spLocks xmlns:a="http://schemas.openxmlformats.org/drawingml/2006/main" noGrp="1"/>
          </p:cNvSpPr>
          <p:nvPr/>
        </p:nvSpPr>
        <p:spPr>
          <a:xfrm xmlns:a="http://schemas.openxmlformats.org/drawingml/2006/main">
            <a:off x="6248400" y="24765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One machine shows a signal, risk check, order and result.</a:t>
            </a:r>
          </a:p>
        </p:txBody>
      </p:sp>
      <p:sp>
        <p:nvSpPr>
          <p:cNvPr id="12" name="Current backtest support">
            <a:extLst xmlns:a="http://schemas.openxmlformats.org/drawingml/2006/main">
              <a:ext uri="{FF2B5EF4-FFF2-40B4-BE49-F238E27FC236}">
                <a16:creationId xmlns:a16="http://schemas.microsoft.com/office/drawing/2014/main" id="{CDE7FFA9-06CD-4729-BD65-3BF25582C4A3}"/>
              </a:ext>
            </a:extLst>
          </p:cNvPr>
          <p:cNvSpPr>
            <a:spLocks xmlns:a="http://schemas.openxmlformats.org/drawingml/2006/main" noGrp="1"/>
          </p:cNvSpPr>
          <p:nvPr/>
        </p:nvSpPr>
        <p:spPr>
          <a:xfrm xmlns:a="http://schemas.openxmlformats.org/drawingml/2006/main">
            <a:off x="6248400" y="36290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C55A11"/>
                </a:solidFill>
                <a:latin typeface="Arial"/>
                <a:ea typeface="Arial"/>
                <a:cs typeface="Arial"/>
              </a:defRPr>
            </a:defPPr>
          </a:lstStyle>
          <a:p xmlns:a="http://schemas.openxmlformats.org/drawingml/2006/main">
            <a:pPr algn="l">
              <a:defRPr sz="2100" b="1">
                <a:solidFill>
                  <a:srgbClr val="C55A11"/>
                </a:solidFill>
                <a:latin typeface="Arial"/>
                <a:ea typeface="Arial"/>
                <a:cs typeface="Arial"/>
              </a:defRPr>
            </a:pPr>
            <a:r>
              <a:rPr sz="2100" b="1">
                <a:solidFill>
                  <a:srgbClr val="C55A11"/>
                </a:solidFill>
                <a:latin typeface="Arial"/>
                <a:ea typeface="Arial"/>
                <a:cs typeface="Arial"/>
              </a:rPr>
              <a:t>Current backtest support</a:t>
            </a:r>
          </a:p>
        </p:txBody>
      </p:sp>
      <p:sp>
        <p:nvSpPr>
          <p:cNvPr id="13" name="Pairs trading is supported. Othe">
            <a:extLst xmlns:a="http://schemas.openxmlformats.org/drawingml/2006/main">
              <a:ext uri="{FF2B5EF4-FFF2-40B4-BE49-F238E27FC236}">
                <a16:creationId xmlns:a16="http://schemas.microsoft.com/office/drawing/2014/main" id="{BBAACF03-0F2A-400F-82B8-47E626B69705}"/>
              </a:ext>
            </a:extLst>
          </p:cNvPr>
          <p:cNvSpPr>
            <a:spLocks xmlns:a="http://schemas.openxmlformats.org/drawingml/2006/main" noGrp="1"/>
          </p:cNvSpPr>
          <p:nvPr/>
        </p:nvSpPr>
        <p:spPr>
          <a:xfrm xmlns:a="http://schemas.openxmlformats.org/drawingml/2006/main">
            <a:off x="6248400" y="4010025"/>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Pairs trading is supported. Other selected types need integration.</a:t>
            </a:r>
          </a:p>
        </p:txBody>
      </p:sp>
      <p:sp>
        <p:nvSpPr>
          <p:cNvPr id="14" name="Installation support happens aft">
            <a:extLst xmlns:a="http://schemas.openxmlformats.org/drawingml/2006/main">
              <a:ext uri="{FF2B5EF4-FFF2-40B4-BE49-F238E27FC236}">
                <a16:creationId xmlns:a16="http://schemas.microsoft.com/office/drawing/2014/main" id="{5A202E4F-B6B7-40CC-AD86-2E3D96B4FEED}"/>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Installation support happens after the meeting or in a workshop.</a:t>
            </a:r>
          </a:p>
        </p:txBody>
      </p:sp>
    </p:spTree>
    <p:extLst>
      <p:ext uri="{BB962C8B-B14F-4D97-AF65-F5344CB8AC3E}">
        <p14:creationId xmlns:p14="http://schemas.microsoft.com/office/powerpoint/2010/main" val="8428579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ALS AND EXPECTATIONS">
            <a:extLst xmlns:a="http://schemas.openxmlformats.org/drawingml/2006/main">
              <a:ext uri="{FF2B5EF4-FFF2-40B4-BE49-F238E27FC236}">
                <a16:creationId xmlns:a16="http://schemas.microsoft.com/office/drawing/2014/main" id="{F58BB323-20E8-487B-96D3-77793C1DB4A9}"/>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GOALS AND EXPECTATIONS</a:t>
            </a:r>
          </a:p>
        </p:txBody>
      </p:sp>
      <p:sp>
        <p:nvSpPr>
          <p:cNvPr id="2" name="Slide title">
            <a:extLst xmlns:a="http://schemas.openxmlformats.org/drawingml/2006/main">
              <a:ext uri="{FF2B5EF4-FFF2-40B4-BE49-F238E27FC236}">
                <a16:creationId xmlns:a16="http://schemas.microsoft.com/office/drawing/2014/main" id="{AE688613-50F9-4252-A9B8-A37E3F985C7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December 1 presentation</a:t>
            </a:r>
          </a:p>
        </p:txBody>
      </p:sp>
      <p:sp>
        <p:nvSpPr>
          <p:cNvPr id="3" name="SHPE CAPITAL    OCTOBER 13, 2026">
            <a:extLst xmlns:a="http://schemas.openxmlformats.org/drawingml/2006/main">
              <a:ext uri="{FF2B5EF4-FFF2-40B4-BE49-F238E27FC236}">
                <a16:creationId xmlns:a16="http://schemas.microsoft.com/office/drawing/2014/main" id="{C5E18580-D057-485F-821A-A0F2BB4B0CED}"/>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0–22.5 min">
            <a:extLst xmlns:a="http://schemas.openxmlformats.org/drawingml/2006/main">
              <a:ext uri="{FF2B5EF4-FFF2-40B4-BE49-F238E27FC236}">
                <a16:creationId xmlns:a16="http://schemas.microsoft.com/office/drawing/2014/main" id="{D0B2D692-A3BB-4032-B61D-E695B724FC39}"/>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20–22.5 min</a:t>
            </a:r>
          </a:p>
        </p:txBody>
      </p:sp>
      <p:sp>
        <p:nvSpPr>
          <p:cNvPr id="5" name="7">
            <a:extLst xmlns:a="http://schemas.openxmlformats.org/drawingml/2006/main">
              <a:ext uri="{FF2B5EF4-FFF2-40B4-BE49-F238E27FC236}">
                <a16:creationId xmlns:a16="http://schemas.microsoft.com/office/drawing/2014/main" id="{AB0CC56E-E13A-4CDA-B36A-369B7B2B28C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7</a:t>
            </a:r>
          </a:p>
        </p:txBody>
      </p:sp>
      <p:graphicFrame>
        <p:nvGraphicFramePr>
          <p:cNvPr id="6" name="">
            <a:extLst xmlns:a="http://schemas.openxmlformats.org/drawingml/2006/main">
              <a:ext uri="{FF2B5EF4-FFF2-40B4-BE49-F238E27FC236}">
                <a16:creationId xmlns:a16="http://schemas.microsoft.com/office/drawing/2014/main" id="{89DECE5C-4AD9-4D37-AD67-3BE3F6F20B9D}"/>
              </a:ext>
            </a:extLst>
          </p:cNvPr>
          <p:cNvGraphicFramePr/>
          <p:nvPr/>
        </p:nvGraphicFramePr>
        <p:xfrm>
          <a:off xmlns:a="http://schemas.openxmlformats.org/drawingml/2006/main" x="609600" y="1971675"/>
          <a:ext xmlns:a="http://schemas.openxmlformats.org/drawingml/2006/main" cx="10972800" cy="3228975"/>
        </p:xfrm>
        <a:graphic xmlns:a="http://schemas.openxmlformats.org/drawingml/2006/main">
          <a:graphicData uri="http://schemas.openxmlformats.org/drawingml/2006/table">
            <a:tbl>
              <a:tblPr firstRow="1" bandRow="0"/>
              <a:tblGrid>
                <a:gridCol w="3238500"/>
                <a:gridCol w="7734300"/>
              </a:tblGrid>
              <a:tr h="645795">
                <a:tc>
                  <a:txBody>
                    <a:bodyPr lIns="95250" tIns="95250" rIns="95250" bIns="95250">
                      <a:noAutofit/>
                    </a:bodyPr>
                    <a:lstStyle/>
                    <a:p>
                      <a:pPr algn="l"/>
                      <a:r>
                        <a:rPr sz="2100" b="1">
                          <a:solidFill>
                            <a:srgbClr val="FFFFFF"/>
                          </a:solidFill>
                          <a:latin typeface="Arial"/>
                          <a:ea typeface="Arial"/>
                          <a:cs typeface="Arial"/>
                        </a:rPr>
                        <a:t>Part</a:t>
                      </a:r>
                    </a:p>
                  </a:txBody>
                  <a:tcPr marL="91440" marR="91440" marT="45720" marB="45720" anchor="ctr">
                    <a:solidFill>
                      <a:srgbClr val="172A45"/>
                    </a:solidFill>
                  </a:tcPr>
                </a:tc>
                <a:tc>
                  <a:txBody>
                    <a:bodyPr lIns="95250" tIns="95250" rIns="95250" bIns="95250">
                      <a:noAutofit/>
                    </a:bodyPr>
                    <a:lstStyle/>
                    <a:p>
                      <a:pPr algn="l"/>
                      <a:r>
                        <a:rPr sz="2100" b="1">
                          <a:solidFill>
                            <a:srgbClr val="FFFFFF"/>
                          </a:solidFill>
                          <a:latin typeface="Arial"/>
                          <a:ea typeface="Arial"/>
                          <a:cs typeface="Arial"/>
                        </a:rPr>
                        <a:t>Evidence to bring</a:t>
                      </a:r>
                    </a:p>
                  </a:txBody>
                  <a:tcPr marL="91440" marR="91440" marT="45720" marB="45720" anchor="ctr">
                    <a:solidFill>
                      <a:srgbClr val="172A45"/>
                    </a:solidFill>
                  </a:tcPr>
                </a:tc>
              </a:tr>
              <a:tr h="645795">
                <a:tc>
                  <a:txBody>
                    <a:bodyPr lIns="95250" tIns="95250" rIns="95250" bIns="95250">
                      <a:noAutofit/>
                    </a:bodyPr>
                    <a:lstStyle/>
                    <a:p>
                      <a:pPr algn="l"/>
                      <a:r>
                        <a:rPr sz="2100" b="1">
                          <a:solidFill>
                            <a:srgbClr val="182C43"/>
                          </a:solidFill>
                          <a:latin typeface="Arial"/>
                          <a:ea typeface="Arial"/>
                          <a:cs typeface="Arial"/>
                        </a:rPr>
                        <a:t>Idea and research</a:t>
                      </a:r>
                    </a:p>
                  </a:txBody>
                  <a:tcPr marL="91440" marR="91440" marT="45720" marB="45720" anchor="ctr">
                    <a:solidFill>
                      <a:srgbClr val="FFFFFF"/>
                    </a:solidFill>
                  </a:tcPr>
                </a:tc>
                <a:tc>
                  <a:txBody>
                    <a:bodyPr lIns="95250" tIns="95250" rIns="95250" bIns="95250">
                      <a:noAutofit/>
                    </a:bodyPr>
                    <a:lstStyle/>
                    <a:p>
                      <a:pPr algn="l"/>
                      <a:r>
                        <a:rPr sz="2100" b="0">
                          <a:solidFill>
                            <a:srgbClr val="182C43"/>
                          </a:solidFill>
                          <a:latin typeface="Arial"/>
                          <a:ea typeface="Arial"/>
                          <a:cs typeface="Arial"/>
                        </a:rPr>
                        <a:t>Explain the mechanism, cite sources and state the hypothesis</a:t>
                      </a:r>
                    </a:p>
                  </a:txBody>
                  <a:tcPr marL="91440" marR="91440" marT="45720" marB="45720" anchor="ctr">
                    <a:solidFill>
                      <a:srgbClr val="FFFFFF"/>
                    </a:solidFill>
                  </a:tcPr>
                </a:tc>
              </a:tr>
              <a:tr h="645795">
                <a:tc>
                  <a:txBody>
                    <a:bodyPr lIns="95250" tIns="95250" rIns="95250" bIns="95250">
                      <a:noAutofit/>
                    </a:bodyPr>
                    <a:lstStyle/>
                    <a:p>
                      <a:pPr algn="l"/>
                      <a:r>
                        <a:rPr sz="2100" b="1">
                          <a:solidFill>
                            <a:srgbClr val="182C43"/>
                          </a:solidFill>
                          <a:latin typeface="Arial"/>
                          <a:ea typeface="Arial"/>
                          <a:cs typeface="Arial"/>
                        </a:rPr>
                        <a:t>Historical backtest</a:t>
                      </a:r>
                    </a:p>
                  </a:txBody>
                  <a:tcPr marL="91440" marR="91440" marT="45720" marB="45720" anchor="ctr">
                    <a:solidFill>
                      <a:srgbClr val="F1F4F7"/>
                    </a:solidFill>
                  </a:tcPr>
                </a:tc>
                <a:tc>
                  <a:txBody>
                    <a:bodyPr lIns="95250" tIns="95250" rIns="95250" bIns="95250">
                      <a:noAutofit/>
                    </a:bodyPr>
                    <a:lstStyle/>
                    <a:p>
                      <a:pPr algn="l"/>
                      <a:r>
                        <a:rPr sz="2100" b="0">
                          <a:solidFill>
                            <a:srgbClr val="182C43"/>
                          </a:solidFill>
                          <a:latin typeface="Arial"/>
                          <a:ea typeface="Arial"/>
                          <a:cs typeface="Arial"/>
                        </a:rPr>
                        <a:t>Show net returns, drawdown, trade count and a fair baseline</a:t>
                      </a:r>
                    </a:p>
                  </a:txBody>
                  <a:tcPr marL="91440" marR="91440" marT="45720" marB="45720" anchor="ctr">
                    <a:solidFill>
                      <a:srgbClr val="F1F4F7"/>
                    </a:solidFill>
                  </a:tcPr>
                </a:tc>
              </a:tr>
              <a:tr h="645795">
                <a:tc>
                  <a:txBody>
                    <a:bodyPr lIns="95250" tIns="95250" rIns="95250" bIns="95250">
                      <a:noAutofit/>
                    </a:bodyPr>
                    <a:lstStyle/>
                    <a:p>
                      <a:pPr algn="l"/>
                      <a:r>
                        <a:rPr sz="2100" b="1">
                          <a:solidFill>
                            <a:srgbClr val="182C43"/>
                          </a:solidFill>
                          <a:latin typeface="Arial"/>
                          <a:ea typeface="Arial"/>
                          <a:cs typeface="Arial"/>
                        </a:rPr>
                        <a:t>Online paper evaluation</a:t>
                      </a:r>
                    </a:p>
                  </a:txBody>
                  <a:tcPr marL="91440" marR="91440" marT="45720" marB="45720" anchor="ctr">
                    <a:solidFill>
                      <a:srgbClr val="FFFFFF"/>
                    </a:solidFill>
                  </a:tcPr>
                </a:tc>
                <a:tc>
                  <a:txBody>
                    <a:bodyPr lIns="95250" tIns="95250" rIns="95250" bIns="95250">
                      <a:noAutofit/>
                    </a:bodyPr>
                    <a:lstStyle/>
                    <a:p>
                      <a:pPr algn="l"/>
                      <a:r>
                        <a:rPr sz="2100" b="0">
                          <a:solidFill>
                            <a:srgbClr val="182C43"/>
                          </a:solidFill>
                          <a:latin typeface="Arial"/>
                          <a:ea typeface="Arial"/>
                          <a:cs typeface="Arial"/>
                        </a:rPr>
                        <a:t>Aim for three weeks, with version, dates, results and incidents</a:t>
                      </a:r>
                    </a:p>
                  </a:txBody>
                  <a:tcPr marL="91440" marR="91440" marT="45720" marB="45720" anchor="ctr">
                    <a:solidFill>
                      <a:srgbClr val="FFFFFF"/>
                    </a:solidFill>
                  </a:tcPr>
                </a:tc>
              </a:tr>
              <a:tr h="645795">
                <a:tc>
                  <a:txBody>
                    <a:bodyPr lIns="95250" tIns="95250" rIns="95250" bIns="95250">
                      <a:noAutofit/>
                    </a:bodyPr>
                    <a:lstStyle/>
                    <a:p>
                      <a:pPr algn="l"/>
                      <a:r>
                        <a:rPr sz="2100" b="1">
                          <a:solidFill>
                            <a:srgbClr val="182C43"/>
                          </a:solidFill>
                          <a:latin typeface="Arial"/>
                          <a:ea typeface="Arial"/>
                          <a:cs typeface="Arial"/>
                        </a:rPr>
                        <a:t>Reflection and next steps</a:t>
                      </a:r>
                    </a:p>
                  </a:txBody>
                  <a:tcPr marL="91440" marR="91440" marT="45720" marB="45720" anchor="ctr">
                    <a:solidFill>
                      <a:srgbClr val="F1F4F7"/>
                    </a:solidFill>
                  </a:tcPr>
                </a:tc>
                <a:tc>
                  <a:txBody>
                    <a:bodyPr lIns="95250" tIns="95250" rIns="95250" bIns="95250">
                      <a:noAutofit/>
                    </a:bodyPr>
                    <a:lstStyle/>
                    <a:p>
                      <a:pPr algn="l"/>
                      <a:r>
                        <a:rPr sz="2100" b="0">
                          <a:solidFill>
                            <a:srgbClr val="182C43"/>
                          </a:solidFill>
                          <a:latin typeface="Arial"/>
                          <a:ea typeface="Arial"/>
                          <a:cs typeface="Arial"/>
                        </a:rPr>
                        <a:t>Explain limitations, failed ideas and the next useful experiment</a:t>
                      </a:r>
                    </a:p>
                  </a:txBody>
                  <a:tcPr marL="91440" marR="91440" marT="45720" marB="45720" anchor="ctr">
                    <a:solidFill>
                      <a:srgbClr val="F1F4F7"/>
                    </a:solidFill>
                  </a:tcPr>
                </a:tc>
              </a:tr>
            </a:tbl>
          </a:graphicData>
        </a:graphic>
      </p:graphicFrame>
      <p:sp>
        <p:nvSpPr>
          <p:cNvPr id="7" name="Platform team: show testing impr">
            <a:extLst xmlns:a="http://schemas.openxmlformats.org/drawingml/2006/main">
              <a:ext uri="{FF2B5EF4-FFF2-40B4-BE49-F238E27FC236}">
                <a16:creationId xmlns:a16="http://schemas.microsoft.com/office/drawing/2014/main" id="{B60672EF-26C5-44BE-A16A-DC751138EC72}"/>
              </a:ext>
            </a:extLst>
          </p:cNvPr>
          <p:cNvSpPr>
            <a:spLocks xmlns:a="http://schemas.openxmlformats.org/drawingml/2006/main" noGrp="1"/>
          </p:cNvSpPr>
          <p:nvPr/>
        </p:nvSpPr>
        <p:spPr>
          <a:xfrm xmlns:a="http://schemas.openxmlformats.org/drawingml/2006/main">
            <a:off x="609600" y="54959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Platform team: show testing improvements, benchmark evidence and online reliability.</a:t>
            </a:r>
          </a:p>
        </p:txBody>
      </p:sp>
    </p:spTree>
    <p:extLst>
      <p:ext uri="{BB962C8B-B14F-4D97-AF65-F5344CB8AC3E}">
        <p14:creationId xmlns:p14="http://schemas.microsoft.com/office/powerpoint/2010/main" val="10627821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ALS AND EXPECTATIONS">
            <a:extLst xmlns:a="http://schemas.openxmlformats.org/drawingml/2006/main">
              <a:ext uri="{FF2B5EF4-FFF2-40B4-BE49-F238E27FC236}">
                <a16:creationId xmlns:a16="http://schemas.microsoft.com/office/drawing/2014/main" id="{55788210-997E-44B8-BB7A-A13B46ED40AF}"/>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GOALS AND EXPECTATIONS</a:t>
            </a:r>
          </a:p>
        </p:txBody>
      </p:sp>
      <p:sp>
        <p:nvSpPr>
          <p:cNvPr id="2" name="Slide title">
            <a:extLst xmlns:a="http://schemas.openxmlformats.org/drawingml/2006/main">
              <a:ext uri="{FF2B5EF4-FFF2-40B4-BE49-F238E27FC236}">
                <a16:creationId xmlns:a16="http://schemas.microsoft.com/office/drawing/2014/main" id="{BA762A2E-C46B-4080-859D-96E5227E1F1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Weekly team expectations</a:t>
            </a:r>
          </a:p>
        </p:txBody>
      </p:sp>
      <p:sp>
        <p:nvSpPr>
          <p:cNvPr id="3" name="SHPE CAPITAL    OCTOBER 13, 2026">
            <a:extLst xmlns:a="http://schemas.openxmlformats.org/drawingml/2006/main">
              <a:ext uri="{FF2B5EF4-FFF2-40B4-BE49-F238E27FC236}">
                <a16:creationId xmlns:a16="http://schemas.microsoft.com/office/drawing/2014/main" id="{14FE8389-4AB1-40CA-9114-5DC8B1000844}"/>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2.5–25 min">
            <a:extLst xmlns:a="http://schemas.openxmlformats.org/drawingml/2006/main">
              <a:ext uri="{FF2B5EF4-FFF2-40B4-BE49-F238E27FC236}">
                <a16:creationId xmlns:a16="http://schemas.microsoft.com/office/drawing/2014/main" id="{BF9D2433-1218-43B0-BFF0-0A84A3E5BE63}"/>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22.5–25 min</a:t>
            </a:r>
          </a:p>
        </p:txBody>
      </p:sp>
      <p:sp>
        <p:nvSpPr>
          <p:cNvPr id="5" name="8">
            <a:extLst xmlns:a="http://schemas.openxmlformats.org/drawingml/2006/main">
              <a:ext uri="{FF2B5EF4-FFF2-40B4-BE49-F238E27FC236}">
                <a16:creationId xmlns:a16="http://schemas.microsoft.com/office/drawing/2014/main" id="{1CB91FCF-9082-407C-A227-D2033EC6F21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59B248DF-7970-4EC5-8E30-89D051165893}"/>
              </a:ext>
            </a:extLst>
          </p:cNvPr>
          <p:cNvSpPr>
            <a:spLocks xmlns:a="http://schemas.openxmlformats.org/drawingml/2006/main" noGrp="1"/>
          </p:cNvSpPr>
          <p:nvPr/>
        </p:nvSpPr>
        <p:spPr>
          <a:xfrm xmlns:a="http://schemas.openxmlformats.org/drawingml/2006/main">
            <a:off x="609600" y="1943100"/>
            <a:ext cx="109728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C43"/>
                </a:solidFill>
                <a:latin typeface="Arial"/>
                <a:ea typeface="Arial"/>
                <a:cs typeface="Arial"/>
              </a:defRPr>
            </a:defPPr>
          </a:lstStyle>
          <a:p xmlns:a="http://schemas.openxmlformats.org/drawingml/2006/main">
            <a:pPr marL="254000" indent="-127000" algn="l">
              <a:spcAft>
                <a:spcPts val="1400"/>
              </a:spcAft>
              <a:buChar char="•"/>
              <a:defRPr sz="2175" b="0">
                <a:solidFill>
                  <a:srgbClr val="182C43"/>
                </a:solidFill>
                <a:latin typeface="Arial"/>
                <a:ea typeface="Arial"/>
                <a:cs typeface="Arial"/>
              </a:defRPr>
            </a:pPr>
            <a:r>
              <a:rPr sz="2175" b="0">
                <a:solidFill>
                  <a:srgbClr val="182C43"/>
                </a:solidFill>
                <a:latin typeface="Arial"/>
                <a:ea typeface="Arial"/>
                <a:cs typeface="Arial"/>
              </a:rPr>
              <a:t> Clear owners for research, implementation and independent validation.</a:t>
            </a:r>
          </a:p>
          <a:p xmlns:a="http://schemas.openxmlformats.org/drawingml/2006/main">
            <a:pPr marL="254000" indent="-127000" algn="l">
              <a:spcAft>
                <a:spcPts val="1400"/>
              </a:spcAft>
              <a:buChar char="•"/>
              <a:defRPr sz="2175" b="0">
                <a:solidFill>
                  <a:srgbClr val="182C43"/>
                </a:solidFill>
                <a:latin typeface="Arial"/>
                <a:ea typeface="Arial"/>
                <a:cs typeface="Arial"/>
              </a:defRPr>
            </a:pPr>
            <a:r>
              <a:rPr sz="2175" b="0">
                <a:solidFill>
                  <a:srgbClr val="182C43"/>
                </a:solidFill>
                <a:latin typeface="Arial"/>
                <a:ea typeface="Arial"/>
                <a:cs typeface="Arial"/>
              </a:rPr>
              <a:t> One small baseline, a justified set of variations and a log of every experiment.</a:t>
            </a:r>
          </a:p>
          <a:p xmlns:a="http://schemas.openxmlformats.org/drawingml/2006/main">
            <a:pPr marL="254000" indent="-127000" algn="l">
              <a:spcAft>
                <a:spcPts val="1400"/>
              </a:spcAft>
              <a:buChar char="•"/>
              <a:defRPr sz="2175" b="0">
                <a:solidFill>
                  <a:srgbClr val="182C43"/>
                </a:solidFill>
                <a:latin typeface="Arial"/>
                <a:ea typeface="Arial"/>
                <a:cs typeface="Arial"/>
              </a:defRPr>
            </a:pPr>
            <a:r>
              <a:rPr sz="2175" b="0">
                <a:solidFill>
                  <a:srgbClr val="182C43"/>
                </a:solidFill>
                <a:latin typeface="Arial"/>
                <a:ea typeface="Arial"/>
                <a:cs typeface="Arial"/>
              </a:rPr>
              <a:t> A weekly update with results, blockers and the next owner and task.</a:t>
            </a:r>
          </a:p>
          <a:p xmlns:a="http://schemas.openxmlformats.org/drawingml/2006/main">
            <a:pPr marL="254000" indent="-127000" algn="l">
              <a:spcAft>
                <a:spcPts val="1400"/>
              </a:spcAft>
              <a:buChar char="•"/>
              <a:defRPr sz="2175" b="0">
                <a:solidFill>
                  <a:srgbClr val="182C43"/>
                </a:solidFill>
                <a:latin typeface="Arial"/>
                <a:ea typeface="Arial"/>
                <a:cs typeface="Arial"/>
              </a:defRPr>
            </a:pPr>
            <a:r>
              <a:rPr sz="2175" b="0">
                <a:solidFill>
                  <a:srgbClr val="182C43"/>
                </a:solidFill>
                <a:latin typeface="Arial"/>
                <a:ea typeface="Arial"/>
                <a:cs typeface="Arial"/>
              </a:rPr>
              <a:t> Shared understanding of the strategy, including the newest programmers.</a:t>
            </a:r>
          </a:p>
          <a:p xmlns:a="http://schemas.openxmlformats.org/drawingml/2006/main">
            <a:pPr marL="254000" indent="-127000" algn="l">
              <a:spcAft>
                <a:spcPts val="1400"/>
              </a:spcAft>
              <a:buChar char="•"/>
              <a:defRPr sz="2175" b="0">
                <a:solidFill>
                  <a:srgbClr val="182C43"/>
                </a:solidFill>
                <a:latin typeface="Arial"/>
                <a:ea typeface="Arial"/>
                <a:cs typeface="Arial"/>
              </a:defRPr>
            </a:pPr>
            <a:r>
              <a:rPr sz="2175" b="0">
                <a:solidFill>
                  <a:srgbClr val="182C43"/>
                </a:solidFill>
                <a:latin typeface="Arial"/>
                <a:ea typeface="Arial"/>
                <a:cs typeface="Arial"/>
              </a:rPr>
              <a:t> Progress judged by reliable evidence, including negative findings.</a:t>
            </a:r>
          </a:p>
        </p:txBody>
      </p:sp>
      <p:sp>
        <p:nvSpPr>
          <p:cNvPr id="7" name="Each team owns its idea. The pla">
            <a:extLst xmlns:a="http://schemas.openxmlformats.org/drawingml/2006/main">
              <a:ext uri="{FF2B5EF4-FFF2-40B4-BE49-F238E27FC236}">
                <a16:creationId xmlns:a16="http://schemas.microsoft.com/office/drawing/2014/main" id="{1CA730D7-5875-4E63-A4EB-B401ADFB203D}"/>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Each team owns its idea. The platform team removes shared testing friction.</a:t>
            </a:r>
          </a:p>
        </p:txBody>
      </p:sp>
    </p:spTree>
    <p:extLst>
      <p:ext uri="{BB962C8B-B14F-4D97-AF65-F5344CB8AC3E}">
        <p14:creationId xmlns:p14="http://schemas.microsoft.com/office/powerpoint/2010/main" val="2412784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ILESTONES">
            <a:extLst xmlns:a="http://schemas.openxmlformats.org/drawingml/2006/main">
              <a:ext uri="{FF2B5EF4-FFF2-40B4-BE49-F238E27FC236}">
                <a16:creationId xmlns:a16="http://schemas.microsoft.com/office/drawing/2014/main" id="{1A6F50CF-C2BD-415D-8E9D-3A5E82FD3410}"/>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MILESTONES</a:t>
            </a:r>
          </a:p>
        </p:txBody>
      </p:sp>
      <p:sp>
        <p:nvSpPr>
          <p:cNvPr id="2" name="Slide title">
            <a:extLst xmlns:a="http://schemas.openxmlformats.org/drawingml/2006/main">
              <a:ext uri="{FF2B5EF4-FFF2-40B4-BE49-F238E27FC236}">
                <a16:creationId xmlns:a16="http://schemas.microsoft.com/office/drawing/2014/main" id="{8E755810-C5AF-4093-9352-085B103EC28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eight-meeting roadmap</a:t>
            </a:r>
          </a:p>
        </p:txBody>
      </p:sp>
      <p:sp>
        <p:nvSpPr>
          <p:cNvPr id="3" name="SHPE CAPITAL    OCTOBER 13, 2026">
            <a:extLst xmlns:a="http://schemas.openxmlformats.org/drawingml/2006/main">
              <a:ext uri="{FF2B5EF4-FFF2-40B4-BE49-F238E27FC236}">
                <a16:creationId xmlns:a16="http://schemas.microsoft.com/office/drawing/2014/main" id="{CFC0E2EF-3F29-494E-8FD0-8BD0D71522D2}"/>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5–27 min">
            <a:extLst xmlns:a="http://schemas.openxmlformats.org/drawingml/2006/main">
              <a:ext uri="{FF2B5EF4-FFF2-40B4-BE49-F238E27FC236}">
                <a16:creationId xmlns:a16="http://schemas.microsoft.com/office/drawing/2014/main" id="{24FEFB2B-4BE3-4762-814E-B8D2A380281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25–27 min</a:t>
            </a:r>
          </a:p>
        </p:txBody>
      </p:sp>
      <p:sp>
        <p:nvSpPr>
          <p:cNvPr id="5" name="9">
            <a:extLst xmlns:a="http://schemas.openxmlformats.org/drawingml/2006/main">
              <a:ext uri="{FF2B5EF4-FFF2-40B4-BE49-F238E27FC236}">
                <a16:creationId xmlns:a16="http://schemas.microsoft.com/office/drawing/2014/main" id="{6A3BA4DA-CA6F-46A8-962B-92DF74A8C32E}"/>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9</a:t>
            </a:r>
          </a:p>
        </p:txBody>
      </p:sp>
      <p:graphicFrame>
        <p:nvGraphicFramePr>
          <p:cNvPr id="6" name="">
            <a:extLst xmlns:a="http://schemas.openxmlformats.org/drawingml/2006/main">
              <a:ext uri="{FF2B5EF4-FFF2-40B4-BE49-F238E27FC236}">
                <a16:creationId xmlns:a16="http://schemas.microsoft.com/office/drawing/2014/main" id="{991C42E9-312C-4C83-A961-639930945FAE}"/>
              </a:ext>
            </a:extLst>
          </p:cNvPr>
          <p:cNvGraphicFramePr/>
          <p:nvPr/>
        </p:nvGraphicFramePr>
        <p:xfrm>
          <a:off xmlns:a="http://schemas.openxmlformats.org/drawingml/2006/main" x="609600" y="1676400"/>
          <a:ext xmlns:a="http://schemas.openxmlformats.org/drawingml/2006/main" cx="10972800" cy="3943350"/>
        </p:xfrm>
        <a:graphic xmlns:a="http://schemas.openxmlformats.org/drawingml/2006/main">
          <a:graphicData uri="http://schemas.openxmlformats.org/drawingml/2006/table">
            <a:tbl>
              <a:tblPr firstRow="1" bandRow="0"/>
              <a:tblGrid>
                <a:gridCol w="2476500"/>
                <a:gridCol w="3943350"/>
                <a:gridCol w="4552950"/>
              </a:tblGrid>
              <a:tr h="438150">
                <a:tc>
                  <a:txBody>
                    <a:bodyPr lIns="95250" tIns="95250" rIns="95250" bIns="95250">
                      <a:noAutofit/>
                    </a:bodyPr>
                    <a:lstStyle/>
                    <a:p>
                      <a:pPr algn="l"/>
                      <a:r>
                        <a:rPr sz="1800" b="1">
                          <a:solidFill>
                            <a:srgbClr val="FFFFFF"/>
                          </a:solidFill>
                          <a:latin typeface="Arial"/>
                          <a:ea typeface="Arial"/>
                          <a:cs typeface="Arial"/>
                        </a:rPr>
                        <a:t>Meeting</a:t>
                      </a:r>
                    </a:p>
                  </a:txBody>
                  <a:tcPr marL="91440" marR="91440" marT="45720" marB="45720" anchor="ctr">
                    <a:solidFill>
                      <a:srgbClr val="172A45"/>
                    </a:solidFill>
                  </a:tcPr>
                </a:tc>
                <a:tc>
                  <a:txBody>
                    <a:bodyPr lIns="95250" tIns="95250" rIns="95250" bIns="95250">
                      <a:noAutofit/>
                    </a:bodyPr>
                    <a:lstStyle/>
                    <a:p>
                      <a:pPr algn="l"/>
                      <a:r>
                        <a:rPr sz="1800" b="1">
                          <a:solidFill>
                            <a:srgbClr val="FFFFFF"/>
                          </a:solidFill>
                          <a:latin typeface="Arial"/>
                          <a:ea typeface="Arial"/>
                          <a:cs typeface="Arial"/>
                        </a:rPr>
                        <a:t>Milestone</a:t>
                      </a:r>
                    </a:p>
                  </a:txBody>
                  <a:tcPr marL="91440" marR="91440" marT="45720" marB="45720" anchor="ctr">
                    <a:solidFill>
                      <a:srgbClr val="172A45"/>
                    </a:solidFill>
                  </a:tcPr>
                </a:tc>
                <a:tc>
                  <a:txBody>
                    <a:bodyPr lIns="95250" tIns="95250" rIns="95250" bIns="95250">
                      <a:noAutofit/>
                    </a:bodyPr>
                    <a:lstStyle/>
                    <a:p>
                      <a:pPr algn="l"/>
                      <a:r>
                        <a:rPr sz="1800" b="1">
                          <a:solidFill>
                            <a:srgbClr val="FFFFFF"/>
                          </a:solidFill>
                          <a:latin typeface="Arial"/>
                          <a:ea typeface="Arial"/>
                          <a:cs typeface="Arial"/>
                        </a:rPr>
                        <a:t>Deliverable</a:t>
                      </a:r>
                    </a:p>
                  </a:txBody>
                  <a:tcPr marL="91440" marR="91440" marT="45720" marB="45720" anchor="ctr">
                    <a:solidFill>
                      <a:srgbClr val="172A45"/>
                    </a:solidFill>
                  </a:tcPr>
                </a:tc>
              </a:tr>
              <a:tr h="438150">
                <a:tc>
                  <a:txBody>
                    <a:bodyPr lIns="95250" tIns="95250" rIns="95250" bIns="95250">
                      <a:noAutofit/>
                    </a:bodyPr>
                    <a:lstStyle/>
                    <a:p>
                      <a:pPr algn="l"/>
                      <a:r>
                        <a:rPr sz="1800" b="1">
                          <a:solidFill>
                            <a:srgbClr val="182C43"/>
                          </a:solidFill>
                          <a:latin typeface="Arial"/>
                          <a:ea typeface="Arial"/>
                          <a:cs typeface="Arial"/>
                        </a:rPr>
                        <a:t>Oct 13, week 1</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Teams and candidate ideas</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Roles, two ideas and first experiment</a:t>
                      </a:r>
                    </a:p>
                  </a:txBody>
                  <a:tcPr marL="91440" marR="91440" marT="45720" marB="45720" anchor="ctr">
                    <a:solidFill>
                      <a:srgbClr val="FFFFFF"/>
                    </a:solidFill>
                  </a:tcPr>
                </a:tc>
              </a:tr>
              <a:tr h="438150">
                <a:tc>
                  <a:txBody>
                    <a:bodyPr lIns="95250" tIns="95250" rIns="95250" bIns="95250">
                      <a:noAutofit/>
                    </a:bodyPr>
                    <a:lstStyle/>
                    <a:p>
                      <a:pPr algn="l"/>
                      <a:r>
                        <a:rPr sz="1800" b="1">
                          <a:solidFill>
                            <a:srgbClr val="182C43"/>
                          </a:solidFill>
                          <a:latin typeface="Arial"/>
                          <a:ea typeface="Arial"/>
                          <a:cs typeface="Arial"/>
                        </a:rPr>
                        <a:t>Oct 20, week 2</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Baseline and first historical run</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Rules, initial report and data checks</a:t>
                      </a:r>
                    </a:p>
                  </a:txBody>
                  <a:tcPr marL="91440" marR="91440" marT="45720" marB="45720" anchor="ctr">
                    <a:solidFill>
                      <a:srgbClr val="F1F4F7"/>
                    </a:solidFill>
                  </a:tcPr>
                </a:tc>
              </a:tr>
              <a:tr h="438150">
                <a:tc>
                  <a:txBody>
                    <a:bodyPr lIns="95250" tIns="95250" rIns="95250" bIns="95250">
                      <a:noAutofit/>
                    </a:bodyPr>
                    <a:lstStyle/>
                    <a:p>
                      <a:pPr algn="l"/>
                      <a:r>
                        <a:rPr sz="1800" b="1">
                          <a:solidFill>
                            <a:srgbClr val="182C43"/>
                          </a:solidFill>
                          <a:latin typeface="Arial"/>
                          <a:ea typeface="Arial"/>
                          <a:cs typeface="Arial"/>
                        </a:rPr>
                        <a:t>Oct 27, week 3</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Idea finalized</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One-page spec and evaluation plan</a:t>
                      </a:r>
                    </a:p>
                  </a:txBody>
                  <a:tcPr marL="91440" marR="91440" marT="45720" marB="45720" anchor="ctr">
                    <a:solidFill>
                      <a:srgbClr val="FFFFFF"/>
                    </a:solidFill>
                  </a:tcPr>
                </a:tc>
              </a:tr>
              <a:tr h="438150">
                <a:tc>
                  <a:txBody>
                    <a:bodyPr lIns="95250" tIns="95250" rIns="95250" bIns="95250">
                      <a:noAutofit/>
                    </a:bodyPr>
                    <a:lstStyle/>
                    <a:p>
                      <a:pPr algn="l"/>
                      <a:r>
                        <a:rPr sz="1800" b="1">
                          <a:solidFill>
                            <a:srgbClr val="182C43"/>
                          </a:solidFill>
                          <a:latin typeface="Arial"/>
                          <a:ea typeface="Arial"/>
                          <a:cs typeface="Arial"/>
                        </a:rPr>
                        <a:t>Nov 3, week 4</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Paper smoke test and deployment</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Readiness review and frozen version</a:t>
                      </a:r>
                    </a:p>
                  </a:txBody>
                  <a:tcPr marL="91440" marR="91440" marT="45720" marB="45720" anchor="ctr">
                    <a:solidFill>
                      <a:srgbClr val="F1F4F7"/>
                    </a:solidFill>
                  </a:tcPr>
                </a:tc>
              </a:tr>
              <a:tr h="438150">
                <a:tc>
                  <a:txBody>
                    <a:bodyPr lIns="95250" tIns="95250" rIns="95250" bIns="95250">
                      <a:noAutofit/>
                    </a:bodyPr>
                    <a:lstStyle/>
                    <a:p>
                      <a:pPr algn="l"/>
                      <a:r>
                        <a:rPr sz="1800" b="1">
                          <a:solidFill>
                            <a:srgbClr val="182C43"/>
                          </a:solidFill>
                          <a:latin typeface="Arial"/>
                          <a:ea typeface="Arial"/>
                          <a:cs typeface="Arial"/>
                        </a:rPr>
                        <a:t>Nov 10, week 5</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Online monitoring</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Week-one paper report and incidents</a:t>
                      </a:r>
                    </a:p>
                  </a:txBody>
                  <a:tcPr marL="91440" marR="91440" marT="45720" marB="45720" anchor="ctr">
                    <a:solidFill>
                      <a:srgbClr val="FFFFFF"/>
                    </a:solidFill>
                  </a:tcPr>
                </a:tc>
              </a:tr>
              <a:tr h="438150">
                <a:tc>
                  <a:txBody>
                    <a:bodyPr lIns="95250" tIns="95250" rIns="95250" bIns="95250">
                      <a:noAutofit/>
                    </a:bodyPr>
                    <a:lstStyle/>
                    <a:p>
                      <a:pPr algn="l"/>
                      <a:r>
                        <a:rPr sz="1800" b="1">
                          <a:solidFill>
                            <a:srgbClr val="182C43"/>
                          </a:solidFill>
                          <a:latin typeface="Arial"/>
                          <a:ea typeface="Arial"/>
                          <a:cs typeface="Arial"/>
                        </a:rPr>
                        <a:t>Nov 17, week 6</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Independent review</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Audit, comparison and draft findings</a:t>
                      </a:r>
                    </a:p>
                  </a:txBody>
                  <a:tcPr marL="91440" marR="91440" marT="45720" marB="45720" anchor="ctr">
                    <a:solidFill>
                      <a:srgbClr val="F1F4F7"/>
                    </a:solidFill>
                  </a:tcPr>
                </a:tc>
              </a:tr>
              <a:tr h="438150">
                <a:tc>
                  <a:txBody>
                    <a:bodyPr lIns="95250" tIns="95250" rIns="95250" bIns="95250">
                      <a:noAutofit/>
                    </a:bodyPr>
                    <a:lstStyle/>
                    <a:p>
                      <a:pPr algn="l"/>
                      <a:r>
                        <a:rPr sz="1800" b="1">
                          <a:solidFill>
                            <a:srgbClr val="182C43"/>
                          </a:solidFill>
                          <a:latin typeface="Arial"/>
                          <a:ea typeface="Arial"/>
                          <a:cs typeface="Arial"/>
                        </a:rPr>
                        <a:t>Nov 24, week 7</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Presentation rehearsal</a:t>
                      </a:r>
                    </a:p>
                  </a:txBody>
                  <a:tcPr marL="91440" marR="91440" marT="45720" marB="45720" anchor="ctr">
                    <a:solidFill>
                      <a:srgbClr val="FFFFFF"/>
                    </a:solidFill>
                  </a:tcPr>
                </a:tc>
                <a:tc>
                  <a:txBody>
                    <a:bodyPr lIns="95250" tIns="95250" rIns="95250" bIns="95250">
                      <a:noAutofit/>
                    </a:bodyPr>
                    <a:lstStyle/>
                    <a:p>
                      <a:pPr algn="l"/>
                      <a:r>
                        <a:rPr sz="1800" b="0">
                          <a:solidFill>
                            <a:srgbClr val="182C43"/>
                          </a:solidFill>
                          <a:latin typeface="Arial"/>
                          <a:ea typeface="Arial"/>
                          <a:cs typeface="Arial"/>
                        </a:rPr>
                        <a:t>Results, limitations and draft slides</a:t>
                      </a:r>
                    </a:p>
                  </a:txBody>
                  <a:tcPr marL="91440" marR="91440" marT="45720" marB="45720" anchor="ctr">
                    <a:solidFill>
                      <a:srgbClr val="FFFFFF"/>
                    </a:solidFill>
                  </a:tcPr>
                </a:tc>
              </a:tr>
              <a:tr h="438150">
                <a:tc>
                  <a:txBody>
                    <a:bodyPr lIns="95250" tIns="95250" rIns="95250" bIns="95250">
                      <a:noAutofit/>
                    </a:bodyPr>
                    <a:lstStyle/>
                    <a:p>
                      <a:pPr algn="l"/>
                      <a:r>
                        <a:rPr sz="1800" b="1">
                          <a:solidFill>
                            <a:srgbClr val="182C43"/>
                          </a:solidFill>
                          <a:latin typeface="Arial"/>
                          <a:ea typeface="Arial"/>
                          <a:cs typeface="Arial"/>
                        </a:rPr>
                        <a:t>Dec 1, week 8</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SHPE leadership showcase</a:t>
                      </a:r>
                    </a:p>
                  </a:txBody>
                  <a:tcPr marL="91440" marR="91440" marT="45720" marB="45720" anchor="ctr">
                    <a:solidFill>
                      <a:srgbClr val="F1F4F7"/>
                    </a:solidFill>
                  </a:tcPr>
                </a:tc>
                <a:tc>
                  <a:txBody>
                    <a:bodyPr lIns="95250" tIns="95250" rIns="95250" bIns="95250">
                      <a:noAutofit/>
                    </a:bodyPr>
                    <a:lstStyle/>
                    <a:p>
                      <a:pPr algn="l"/>
                      <a:r>
                        <a:rPr sz="1800" b="0">
                          <a:solidFill>
                            <a:srgbClr val="182C43"/>
                          </a:solidFill>
                          <a:latin typeface="Arial"/>
                          <a:ea typeface="Arial"/>
                          <a:cs typeface="Arial"/>
                        </a:rPr>
                        <a:t>Final presentation and reproducible report</a:t>
                      </a:r>
                    </a:p>
                  </a:txBody>
                  <a:tcPr marL="91440" marR="91440" marT="45720" marB="45720" anchor="ctr">
                    <a:solidFill>
                      <a:srgbClr val="F1F4F7"/>
                    </a:solidFill>
                  </a:tcPr>
                </a:tc>
              </a:tr>
            </a:tbl>
          </a:graphicData>
        </a:graphic>
      </p:graphicFrame>
      <p:sp>
        <p:nvSpPr>
          <p:cNvPr id="7" name="Paper target: November 4–24, fol">
            <a:extLst xmlns:a="http://schemas.openxmlformats.org/drawingml/2006/main">
              <a:ext uri="{FF2B5EF4-FFF2-40B4-BE49-F238E27FC236}">
                <a16:creationId xmlns:a16="http://schemas.microsoft.com/office/drawing/2014/main" id="{76C0D152-8572-441A-AA4F-4FA75EA3B503}"/>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Paper target: November 4–24, followed by a dated final results snapshot.</a:t>
            </a:r>
          </a:p>
        </p:txBody>
      </p:sp>
    </p:spTree>
    <p:extLst>
      <p:ext uri="{BB962C8B-B14F-4D97-AF65-F5344CB8AC3E}">
        <p14:creationId xmlns:p14="http://schemas.microsoft.com/office/powerpoint/2010/main" val="6284357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SEARCH AND TRADING STANDARDS">
            <a:extLst xmlns:a="http://schemas.openxmlformats.org/drawingml/2006/main">
              <a:ext uri="{FF2B5EF4-FFF2-40B4-BE49-F238E27FC236}">
                <a16:creationId xmlns:a16="http://schemas.microsoft.com/office/drawing/2014/main" id="{6EECEBD6-096A-4CD2-B248-96885F6390E8}"/>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RESEARCH AND TRADING STANDARDS</a:t>
            </a:r>
          </a:p>
        </p:txBody>
      </p:sp>
      <p:sp>
        <p:nvSpPr>
          <p:cNvPr id="2" name="Slide title">
            <a:extLst xmlns:a="http://schemas.openxmlformats.org/drawingml/2006/main">
              <a:ext uri="{FF2B5EF4-FFF2-40B4-BE49-F238E27FC236}">
                <a16:creationId xmlns:a16="http://schemas.microsoft.com/office/drawing/2014/main" id="{E49C9A55-600E-4421-8025-404D83ACBE0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Requirements for every algorithm</a:t>
            </a:r>
          </a:p>
        </p:txBody>
      </p:sp>
      <p:sp>
        <p:nvSpPr>
          <p:cNvPr id="3" name="SHPE CAPITAL    OCTOBER 13, 2026">
            <a:extLst xmlns:a="http://schemas.openxmlformats.org/drawingml/2006/main">
              <a:ext uri="{FF2B5EF4-FFF2-40B4-BE49-F238E27FC236}">
                <a16:creationId xmlns:a16="http://schemas.microsoft.com/office/drawing/2014/main" id="{1A828C77-4808-454D-ADA0-1593D8DFFEA1}"/>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7–30 min">
            <a:extLst xmlns:a="http://schemas.openxmlformats.org/drawingml/2006/main">
              <a:ext uri="{FF2B5EF4-FFF2-40B4-BE49-F238E27FC236}">
                <a16:creationId xmlns:a16="http://schemas.microsoft.com/office/drawing/2014/main" id="{48A5B887-21C0-4F09-BDEC-A43DD5FB827A}"/>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27–30 min</a:t>
            </a:r>
          </a:p>
        </p:txBody>
      </p:sp>
      <p:sp>
        <p:nvSpPr>
          <p:cNvPr id="5" name="10">
            <a:extLst xmlns:a="http://schemas.openxmlformats.org/drawingml/2006/main">
              <a:ext uri="{FF2B5EF4-FFF2-40B4-BE49-F238E27FC236}">
                <a16:creationId xmlns:a16="http://schemas.microsoft.com/office/drawing/2014/main" id="{AE2D5B48-7714-42A7-9F86-3D466896B5A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10</a:t>
            </a:r>
          </a:p>
        </p:txBody>
      </p:sp>
      <p:sp>
        <p:nvSpPr>
          <p:cNvPr id="6" name="Research evidence">
            <a:extLst xmlns:a="http://schemas.openxmlformats.org/drawingml/2006/main">
              <a:ext uri="{FF2B5EF4-FFF2-40B4-BE49-F238E27FC236}">
                <a16:creationId xmlns:a16="http://schemas.microsoft.com/office/drawing/2014/main" id="{CE490C6A-73E8-48AF-8EFD-A9F6EBC2232D}"/>
              </a:ext>
            </a:extLst>
          </p:cNvPr>
          <p:cNvSpPr>
            <a:spLocks xmlns:a="http://schemas.openxmlformats.org/drawingml/2006/main" noGrp="1"/>
          </p:cNvSpPr>
          <p:nvPr/>
        </p:nvSpPr>
        <p:spPr>
          <a:xfrm xmlns:a="http://schemas.openxmlformats.org/drawingml/2006/main">
            <a:off x="609600" y="1781175"/>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Research evidence</a:t>
            </a:r>
          </a:p>
        </p:txBody>
      </p:sp>
      <p:sp>
        <p:nvSpPr>
          <p:cNvPr id="7" name="Cited sources and a plausible, t">
            <a:extLst xmlns:a="http://schemas.openxmlformats.org/drawingml/2006/main">
              <a:ext uri="{FF2B5EF4-FFF2-40B4-BE49-F238E27FC236}">
                <a16:creationId xmlns:a16="http://schemas.microsoft.com/office/drawing/2014/main" id="{F9317CC8-DD36-4DD1-9224-5D35D42D8249}"/>
              </a:ext>
            </a:extLst>
          </p:cNvPr>
          <p:cNvSpPr>
            <a:spLocks xmlns:a="http://schemas.openxmlformats.org/drawingml/2006/main" noGrp="1"/>
          </p:cNvSpPr>
          <p:nvPr/>
        </p:nvSpPr>
        <p:spPr>
          <a:xfrm xmlns:a="http://schemas.openxmlformats.org/drawingml/2006/main">
            <a:off x="609600" y="2114550"/>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Cited sources and a plausible, testable mechanism.</a:t>
            </a:r>
          </a:p>
        </p:txBody>
      </p:sp>
      <p:sp>
        <p:nvSpPr>
          <p:cNvPr id="8" name="Realistic evaluation">
            <a:extLst xmlns:a="http://schemas.openxmlformats.org/drawingml/2006/main">
              <a:ext uri="{FF2B5EF4-FFF2-40B4-BE49-F238E27FC236}">
                <a16:creationId xmlns:a16="http://schemas.microsoft.com/office/drawing/2014/main" id="{FA5407BE-913E-4896-ABC4-8F7E3CD8FF07}"/>
              </a:ext>
            </a:extLst>
          </p:cNvPr>
          <p:cNvSpPr>
            <a:spLocks xmlns:a="http://schemas.openxmlformats.org/drawingml/2006/main" noGrp="1"/>
          </p:cNvSpPr>
          <p:nvPr/>
        </p:nvSpPr>
        <p:spPr>
          <a:xfrm xmlns:a="http://schemas.openxmlformats.org/drawingml/2006/main">
            <a:off x="6248400" y="1781175"/>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Realistic evaluation</a:t>
            </a:r>
          </a:p>
        </p:txBody>
      </p:sp>
      <p:sp>
        <p:nvSpPr>
          <p:cNvPr id="9" name="Modeled costs, execution assumpt">
            <a:extLst xmlns:a="http://schemas.openxmlformats.org/drawingml/2006/main">
              <a:ext uri="{FF2B5EF4-FFF2-40B4-BE49-F238E27FC236}">
                <a16:creationId xmlns:a16="http://schemas.microsoft.com/office/drawing/2014/main" id="{D7A40299-3948-4996-B03C-319C59B211E5}"/>
              </a:ext>
            </a:extLst>
          </p:cNvPr>
          <p:cNvSpPr>
            <a:spLocks xmlns:a="http://schemas.openxmlformats.org/drawingml/2006/main" noGrp="1"/>
          </p:cNvSpPr>
          <p:nvPr/>
        </p:nvSpPr>
        <p:spPr>
          <a:xfrm xmlns:a="http://schemas.openxmlformats.org/drawingml/2006/main">
            <a:off x="6248400" y="2114550"/>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Modeled costs, execution assumptions and baselines.</a:t>
            </a:r>
          </a:p>
        </p:txBody>
      </p:sp>
      <p:sp>
        <p:nvSpPr>
          <p:cNvPr id="10" name="Exact trading rules">
            <a:extLst xmlns:a="http://schemas.openxmlformats.org/drawingml/2006/main">
              <a:ext uri="{FF2B5EF4-FFF2-40B4-BE49-F238E27FC236}">
                <a16:creationId xmlns:a16="http://schemas.microsoft.com/office/drawing/2014/main" id="{05AA2585-C514-4A53-B26F-E01CB0532387}"/>
              </a:ext>
            </a:extLst>
          </p:cNvPr>
          <p:cNvSpPr>
            <a:spLocks xmlns:a="http://schemas.openxmlformats.org/drawingml/2006/main" noGrp="1"/>
          </p:cNvSpPr>
          <p:nvPr/>
        </p:nvSpPr>
        <p:spPr>
          <a:xfrm xmlns:a="http://schemas.openxmlformats.org/drawingml/2006/main">
            <a:off x="609600" y="27813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Exact trading rules</a:t>
            </a:r>
          </a:p>
        </p:txBody>
      </p:sp>
      <p:sp>
        <p:nvSpPr>
          <p:cNvPr id="11" name="Inputs, entry, exit, sizing and ">
            <a:extLst xmlns:a="http://schemas.openxmlformats.org/drawingml/2006/main">
              <a:ext uri="{FF2B5EF4-FFF2-40B4-BE49-F238E27FC236}">
                <a16:creationId xmlns:a16="http://schemas.microsoft.com/office/drawing/2014/main" id="{2F950D53-073F-4D95-BE90-8656BE530EDC}"/>
              </a:ext>
            </a:extLst>
          </p:cNvPr>
          <p:cNvSpPr>
            <a:spLocks xmlns:a="http://schemas.openxmlformats.org/drawingml/2006/main" noGrp="1"/>
          </p:cNvSpPr>
          <p:nvPr/>
        </p:nvSpPr>
        <p:spPr>
          <a:xfrm xmlns:a="http://schemas.openxmlformats.org/drawingml/2006/main">
            <a:off x="609600" y="3114675"/>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Inputs, entry, exit, sizing and holding period.</a:t>
            </a:r>
          </a:p>
        </p:txBody>
      </p:sp>
      <p:sp>
        <p:nvSpPr>
          <p:cNvPr id="12" name="Risk controls">
            <a:extLst xmlns:a="http://schemas.openxmlformats.org/drawingml/2006/main">
              <a:ext uri="{FF2B5EF4-FFF2-40B4-BE49-F238E27FC236}">
                <a16:creationId xmlns:a16="http://schemas.microsoft.com/office/drawing/2014/main" id="{6F3A2B1B-0BED-4D18-B76E-D5D231888989}"/>
              </a:ext>
            </a:extLst>
          </p:cNvPr>
          <p:cNvSpPr>
            <a:spLocks xmlns:a="http://schemas.openxmlformats.org/drawingml/2006/main" noGrp="1"/>
          </p:cNvSpPr>
          <p:nvPr/>
        </p:nvSpPr>
        <p:spPr>
          <a:xfrm xmlns:a="http://schemas.openxmlformats.org/drawingml/2006/main">
            <a:off x="6248400" y="27813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Risk controls</a:t>
            </a:r>
          </a:p>
        </p:txBody>
      </p:sp>
      <p:sp>
        <p:nvSpPr>
          <p:cNvPr id="13" name="Exposure, loss limits, shorting ">
            <a:extLst xmlns:a="http://schemas.openxmlformats.org/drawingml/2006/main">
              <a:ext uri="{FF2B5EF4-FFF2-40B4-BE49-F238E27FC236}">
                <a16:creationId xmlns:a16="http://schemas.microsoft.com/office/drawing/2014/main" id="{51150F52-13CD-4232-8827-78B100D1EC67}"/>
              </a:ext>
            </a:extLst>
          </p:cNvPr>
          <p:cNvSpPr>
            <a:spLocks xmlns:a="http://schemas.openxmlformats.org/drawingml/2006/main" noGrp="1"/>
          </p:cNvSpPr>
          <p:nvPr/>
        </p:nvSpPr>
        <p:spPr>
          <a:xfrm xmlns:a="http://schemas.openxmlformats.org/drawingml/2006/main">
            <a:off x="6248400" y="3114675"/>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Exposure, loss limits, shorting checks and shutdown.</a:t>
            </a:r>
          </a:p>
        </p:txBody>
      </p:sp>
      <p:sp>
        <p:nvSpPr>
          <p:cNvPr id="14" name="Known data limits">
            <a:extLst xmlns:a="http://schemas.openxmlformats.org/drawingml/2006/main">
              <a:ext uri="{FF2B5EF4-FFF2-40B4-BE49-F238E27FC236}">
                <a16:creationId xmlns:a16="http://schemas.microsoft.com/office/drawing/2014/main" id="{F5E85B87-8FBB-4642-95E7-2B6DE7F26F0C}"/>
              </a:ext>
            </a:extLst>
          </p:cNvPr>
          <p:cNvSpPr>
            <a:spLocks xmlns:a="http://schemas.openxmlformats.org/drawingml/2006/main" noGrp="1"/>
          </p:cNvSpPr>
          <p:nvPr/>
        </p:nvSpPr>
        <p:spPr>
          <a:xfrm xmlns:a="http://schemas.openxmlformats.org/drawingml/2006/main">
            <a:off x="609600" y="3781425"/>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Known data limits</a:t>
            </a:r>
          </a:p>
        </p:txBody>
      </p:sp>
      <p:sp>
        <p:nvSpPr>
          <p:cNvPr id="15" name="Feed, timestamps, missing data a">
            <a:extLst xmlns:a="http://schemas.openxmlformats.org/drawingml/2006/main">
              <a:ext uri="{FF2B5EF4-FFF2-40B4-BE49-F238E27FC236}">
                <a16:creationId xmlns:a16="http://schemas.microsoft.com/office/drawing/2014/main" id="{2A345655-4F63-438F-9C66-CEAE431726FC}"/>
              </a:ext>
            </a:extLst>
          </p:cNvPr>
          <p:cNvSpPr>
            <a:spLocks xmlns:a="http://schemas.openxmlformats.org/drawingml/2006/main" noGrp="1"/>
          </p:cNvSpPr>
          <p:nvPr/>
        </p:nvSpPr>
        <p:spPr>
          <a:xfrm xmlns:a="http://schemas.openxmlformats.org/drawingml/2006/main">
            <a:off x="609600" y="4114800"/>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Feed, timestamps, missing data and session rules.</a:t>
            </a:r>
          </a:p>
        </p:txBody>
      </p:sp>
      <p:sp>
        <p:nvSpPr>
          <p:cNvPr id="16" name="Reproducible results">
            <a:extLst xmlns:a="http://schemas.openxmlformats.org/drawingml/2006/main">
              <a:ext uri="{FF2B5EF4-FFF2-40B4-BE49-F238E27FC236}">
                <a16:creationId xmlns:a16="http://schemas.microsoft.com/office/drawing/2014/main" id="{1EF1B54C-5AB3-4F6C-8717-1D7EE57D1028}"/>
              </a:ext>
            </a:extLst>
          </p:cNvPr>
          <p:cNvSpPr>
            <a:spLocks xmlns:a="http://schemas.openxmlformats.org/drawingml/2006/main" noGrp="1"/>
          </p:cNvSpPr>
          <p:nvPr/>
        </p:nvSpPr>
        <p:spPr>
          <a:xfrm xmlns:a="http://schemas.openxmlformats.org/drawingml/2006/main">
            <a:off x="6248400" y="3781425"/>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Reproducible results</a:t>
            </a:r>
          </a:p>
        </p:txBody>
      </p:sp>
      <p:sp>
        <p:nvSpPr>
          <p:cNvPr id="17" name="Versioned code, configuration, d">
            <a:extLst xmlns:a="http://schemas.openxmlformats.org/drawingml/2006/main">
              <a:ext uri="{FF2B5EF4-FFF2-40B4-BE49-F238E27FC236}">
                <a16:creationId xmlns:a16="http://schemas.microsoft.com/office/drawing/2014/main" id="{D112C84A-90F9-43F2-A682-784DB9FD92EA}"/>
              </a:ext>
            </a:extLst>
          </p:cNvPr>
          <p:cNvSpPr>
            <a:spLocks xmlns:a="http://schemas.openxmlformats.org/drawingml/2006/main" noGrp="1"/>
          </p:cNvSpPr>
          <p:nvPr/>
        </p:nvSpPr>
        <p:spPr>
          <a:xfrm xmlns:a="http://schemas.openxmlformats.org/drawingml/2006/main">
            <a:off x="6248400" y="4114800"/>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Versioned code, configuration, data and reports.</a:t>
            </a:r>
          </a:p>
        </p:txBody>
      </p:sp>
      <p:sp>
        <p:nvSpPr>
          <p:cNvPr id="18" name="Overfitting controls">
            <a:extLst xmlns:a="http://schemas.openxmlformats.org/drawingml/2006/main">
              <a:ext uri="{FF2B5EF4-FFF2-40B4-BE49-F238E27FC236}">
                <a16:creationId xmlns:a16="http://schemas.microsoft.com/office/drawing/2014/main" id="{E9C6C524-C642-46B8-9C97-C55DC94ED13E}"/>
              </a:ext>
            </a:extLst>
          </p:cNvPr>
          <p:cNvSpPr>
            <a:spLocks xmlns:a="http://schemas.openxmlformats.org/drawingml/2006/main" noGrp="1"/>
          </p:cNvSpPr>
          <p:nvPr/>
        </p:nvSpPr>
        <p:spPr>
          <a:xfrm xmlns:a="http://schemas.openxmlformats.org/drawingml/2006/main">
            <a:off x="609600" y="478155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Overfitting controls</a:t>
            </a:r>
          </a:p>
        </p:txBody>
      </p:sp>
      <p:sp>
        <p:nvSpPr>
          <p:cNvPr id="19" name="Chronological splits, untouched ">
            <a:extLst xmlns:a="http://schemas.openxmlformats.org/drawingml/2006/main">
              <a:ext uri="{FF2B5EF4-FFF2-40B4-BE49-F238E27FC236}">
                <a16:creationId xmlns:a16="http://schemas.microsoft.com/office/drawing/2014/main" id="{4E3C9286-41CC-4571-B12D-D08D991E2207}"/>
              </a:ext>
            </a:extLst>
          </p:cNvPr>
          <p:cNvSpPr>
            <a:spLocks xmlns:a="http://schemas.openxmlformats.org/drawingml/2006/main" noGrp="1"/>
          </p:cNvSpPr>
          <p:nvPr/>
        </p:nvSpPr>
        <p:spPr>
          <a:xfrm xmlns:a="http://schemas.openxmlformats.org/drawingml/2006/main">
            <a:off x="609600" y="5114925"/>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Chronological splits, untouched test and trial log.</a:t>
            </a:r>
          </a:p>
        </p:txBody>
      </p:sp>
      <p:sp>
        <p:nvSpPr>
          <p:cNvPr id="20" name="Online readiness">
            <a:extLst xmlns:a="http://schemas.openxmlformats.org/drawingml/2006/main">
              <a:ext uri="{FF2B5EF4-FFF2-40B4-BE49-F238E27FC236}">
                <a16:creationId xmlns:a16="http://schemas.microsoft.com/office/drawing/2014/main" id="{BD142A0F-605B-4326-AD79-7D0877C6674F}"/>
              </a:ext>
            </a:extLst>
          </p:cNvPr>
          <p:cNvSpPr>
            <a:spLocks xmlns:a="http://schemas.openxmlformats.org/drawingml/2006/main" noGrp="1"/>
          </p:cNvSpPr>
          <p:nvPr/>
        </p:nvSpPr>
        <p:spPr>
          <a:xfrm xmlns:a="http://schemas.openxmlformats.org/drawingml/2006/main">
            <a:off x="6248400" y="478155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Online readiness</a:t>
            </a:r>
          </a:p>
        </p:txBody>
      </p:sp>
      <p:sp>
        <p:nvSpPr>
          <p:cNvPr id="21" name="Paper smoke test, monitoring and">
            <a:extLst xmlns:a="http://schemas.openxmlformats.org/drawingml/2006/main">
              <a:ext uri="{FF2B5EF4-FFF2-40B4-BE49-F238E27FC236}">
                <a16:creationId xmlns:a16="http://schemas.microsoft.com/office/drawing/2014/main" id="{5BD1C549-E166-4D01-BC26-414445B83D61}"/>
              </a:ext>
            </a:extLst>
          </p:cNvPr>
          <p:cNvSpPr>
            <a:spLocks xmlns:a="http://schemas.openxmlformats.org/drawingml/2006/main" noGrp="1"/>
          </p:cNvSpPr>
          <p:nvPr/>
        </p:nvSpPr>
        <p:spPr>
          <a:xfrm xmlns:a="http://schemas.openxmlformats.org/drawingml/2006/main">
            <a:off x="6248400" y="5114925"/>
            <a:ext cx="525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Paper smoke test, monitoring and recovery owner.</a:t>
            </a:r>
          </a:p>
        </p:txBody>
      </p:sp>
    </p:spTree>
    <p:extLst>
      <p:ext uri="{BB962C8B-B14F-4D97-AF65-F5344CB8AC3E}">
        <p14:creationId xmlns:p14="http://schemas.microsoft.com/office/powerpoint/2010/main" val="109889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AM ACTIVITY">
            <a:extLst xmlns:a="http://schemas.openxmlformats.org/drawingml/2006/main">
              <a:ext uri="{FF2B5EF4-FFF2-40B4-BE49-F238E27FC236}">
                <a16:creationId xmlns:a16="http://schemas.microsoft.com/office/drawing/2014/main" id="{2AFA3669-13CC-493C-A409-97F13CE7D9E9}"/>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TEAM ACTIVITY</a:t>
            </a:r>
          </a:p>
        </p:txBody>
      </p:sp>
      <p:sp>
        <p:nvSpPr>
          <p:cNvPr id="2" name="Slide title">
            <a:extLst xmlns:a="http://schemas.openxmlformats.org/drawingml/2006/main">
              <a:ext uri="{FF2B5EF4-FFF2-40B4-BE49-F238E27FC236}">
                <a16:creationId xmlns:a16="http://schemas.microsoft.com/office/drawing/2014/main" id="{2BA5CB66-15B3-488D-9414-845D01D90DD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30-minute team planning session</a:t>
            </a:r>
          </a:p>
        </p:txBody>
      </p:sp>
      <p:sp>
        <p:nvSpPr>
          <p:cNvPr id="3" name="SHPE CAPITAL    OCTOBER 13, 2026">
            <a:extLst xmlns:a="http://schemas.openxmlformats.org/drawingml/2006/main">
              <a:ext uri="{FF2B5EF4-FFF2-40B4-BE49-F238E27FC236}">
                <a16:creationId xmlns:a16="http://schemas.microsoft.com/office/drawing/2014/main" id="{62298AE5-2D65-4279-A571-730B7BA17185}"/>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30–60 min">
            <a:extLst xmlns:a="http://schemas.openxmlformats.org/drawingml/2006/main">
              <a:ext uri="{FF2B5EF4-FFF2-40B4-BE49-F238E27FC236}">
                <a16:creationId xmlns:a16="http://schemas.microsoft.com/office/drawing/2014/main" id="{597E375C-46F0-4845-A511-E3B50D0972B3}"/>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30–60 min</a:t>
            </a:r>
          </a:p>
        </p:txBody>
      </p:sp>
      <p:sp>
        <p:nvSpPr>
          <p:cNvPr id="5" name="11">
            <a:extLst xmlns:a="http://schemas.openxmlformats.org/drawingml/2006/main">
              <a:ext uri="{FF2B5EF4-FFF2-40B4-BE49-F238E27FC236}">
                <a16:creationId xmlns:a16="http://schemas.microsoft.com/office/drawing/2014/main" id="{E4DC218D-124A-439F-9040-A4E217E137CB}"/>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11</a:t>
            </a:r>
          </a:p>
        </p:txBody>
      </p:sp>
      <p:graphicFrame>
        <p:nvGraphicFramePr>
          <p:cNvPr id="6" name="">
            <a:extLst xmlns:a="http://schemas.openxmlformats.org/drawingml/2006/main">
              <a:ext uri="{FF2B5EF4-FFF2-40B4-BE49-F238E27FC236}">
                <a16:creationId xmlns:a16="http://schemas.microsoft.com/office/drawing/2014/main" id="{6A3C8807-7566-4554-934A-1B418EC9F5C6}"/>
              </a:ext>
            </a:extLst>
          </p:cNvPr>
          <p:cNvGraphicFramePr/>
          <p:nvPr/>
        </p:nvGraphicFramePr>
        <p:xfrm>
          <a:off xmlns:a="http://schemas.openxmlformats.org/drawingml/2006/main" x="609600" y="1866900"/>
          <a:ext xmlns:a="http://schemas.openxmlformats.org/drawingml/2006/main" cx="10972800" cy="3695700"/>
        </p:xfrm>
        <a:graphic xmlns:a="http://schemas.openxmlformats.org/drawingml/2006/main">
          <a:graphicData uri="http://schemas.openxmlformats.org/drawingml/2006/table">
            <a:tbl>
              <a:tblPr firstRow="1" bandRow="0"/>
              <a:tblGrid>
                <a:gridCol w="1504950"/>
                <a:gridCol w="3419475"/>
                <a:gridCol w="6048375"/>
              </a:tblGrid>
              <a:tr h="615950">
                <a:tc>
                  <a:txBody>
                    <a:bodyPr lIns="95250" tIns="95250" rIns="95250" bIns="95250">
                      <a:noAutofit/>
                    </a:bodyPr>
                    <a:lstStyle/>
                    <a:p>
                      <a:pPr algn="l"/>
                      <a:r>
                        <a:rPr sz="2025" b="1">
                          <a:solidFill>
                            <a:srgbClr val="FFFFFF"/>
                          </a:solidFill>
                          <a:latin typeface="Arial"/>
                          <a:ea typeface="Arial"/>
                          <a:cs typeface="Arial"/>
                        </a:rPr>
                        <a:t>Duration</a:t>
                      </a:r>
                    </a:p>
                  </a:txBody>
                  <a:tcPr marL="91440" marR="91440" marT="45720" marB="45720" anchor="ctr">
                    <a:solidFill>
                      <a:srgbClr val="172A45"/>
                    </a:solidFill>
                  </a:tcPr>
                </a:tc>
                <a:tc>
                  <a:txBody>
                    <a:bodyPr lIns="95250" tIns="95250" rIns="95250" bIns="95250">
                      <a:noAutofit/>
                    </a:bodyPr>
                    <a:lstStyle/>
                    <a:p>
                      <a:pPr algn="l"/>
                      <a:r>
                        <a:rPr sz="2025" b="1">
                          <a:solidFill>
                            <a:srgbClr val="FFFFFF"/>
                          </a:solidFill>
                          <a:latin typeface="Arial"/>
                          <a:ea typeface="Arial"/>
                          <a:cs typeface="Arial"/>
                        </a:rPr>
                        <a:t>Activity</a:t>
                      </a:r>
                    </a:p>
                  </a:txBody>
                  <a:tcPr marL="91440" marR="91440" marT="45720" marB="45720" anchor="ctr">
                    <a:solidFill>
                      <a:srgbClr val="172A45"/>
                    </a:solidFill>
                  </a:tcPr>
                </a:tc>
                <a:tc>
                  <a:txBody>
                    <a:bodyPr lIns="95250" tIns="95250" rIns="95250" bIns="95250">
                      <a:noAutofit/>
                    </a:bodyPr>
                    <a:lstStyle/>
                    <a:p>
                      <a:pPr algn="l"/>
                      <a:r>
                        <a:rPr sz="2025" b="1">
                          <a:solidFill>
                            <a:srgbClr val="FFFFFF"/>
                          </a:solidFill>
                          <a:latin typeface="Arial"/>
                          <a:ea typeface="Arial"/>
                          <a:cs typeface="Arial"/>
                        </a:rPr>
                        <a:t>Written output</a:t>
                      </a:r>
                    </a:p>
                  </a:txBody>
                  <a:tcPr marL="91440" marR="91440" marT="45720" marB="45720" anchor="ctr">
                    <a:solidFill>
                      <a:srgbClr val="172A45"/>
                    </a:solidFill>
                  </a:tcPr>
                </a:tc>
              </a:tr>
              <a:tr h="615950">
                <a:tc>
                  <a:txBody>
                    <a:bodyPr lIns="95250" tIns="95250" rIns="95250" bIns="95250">
                      <a:noAutofit/>
                    </a:bodyPr>
                    <a:lstStyle/>
                    <a:p>
                      <a:pPr algn="l"/>
                      <a:r>
                        <a:rPr sz="2025" b="1">
                          <a:solidFill>
                            <a:srgbClr val="182C43"/>
                          </a:solidFill>
                          <a:latin typeface="Arial"/>
                          <a:ea typeface="Arial"/>
                          <a:cs typeface="Arial"/>
                        </a:rPr>
                        <a:t>5 min</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Introductions and interests</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Members and skills to learn</a:t>
                      </a:r>
                    </a:p>
                  </a:txBody>
                  <a:tcPr marL="91440" marR="91440" marT="45720" marB="45720" anchor="ctr">
                    <a:solidFill>
                      <a:srgbClr val="FFFFFF"/>
                    </a:solidFill>
                  </a:tcPr>
                </a:tc>
              </a:tr>
              <a:tr h="615950">
                <a:tc>
                  <a:txBody>
                    <a:bodyPr lIns="95250" tIns="95250" rIns="95250" bIns="95250">
                      <a:noAutofit/>
                    </a:bodyPr>
                    <a:lstStyle/>
                    <a:p>
                      <a:pPr algn="l"/>
                      <a:r>
                        <a:rPr sz="2025" b="1">
                          <a:solidFill>
                            <a:srgbClr val="182C43"/>
                          </a:solidFill>
                          <a:latin typeface="Arial"/>
                          <a:ea typeface="Arial"/>
                          <a:cs typeface="Arial"/>
                        </a:rPr>
                        <a:t>4 min</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Assign team roles</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Research, implementation and validation owners</a:t>
                      </a:r>
                    </a:p>
                  </a:txBody>
                  <a:tcPr marL="91440" marR="91440" marT="45720" marB="45720" anchor="ctr">
                    <a:solidFill>
                      <a:srgbClr val="F1F4F7"/>
                    </a:solidFill>
                  </a:tcPr>
                </a:tc>
              </a:tr>
              <a:tr h="615950">
                <a:tc>
                  <a:txBody>
                    <a:bodyPr lIns="95250" tIns="95250" rIns="95250" bIns="95250">
                      <a:noAutofit/>
                    </a:bodyPr>
                    <a:lstStyle/>
                    <a:p>
                      <a:pPr algn="l"/>
                      <a:r>
                        <a:rPr sz="2025" b="1">
                          <a:solidFill>
                            <a:srgbClr val="182C43"/>
                          </a:solidFill>
                          <a:latin typeface="Arial"/>
                          <a:ea typeface="Arial"/>
                          <a:cs typeface="Arial"/>
                        </a:rPr>
                        <a:t>12 min</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Explore two candidate ideas</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Mechanism, source, rules and failure case</a:t>
                      </a:r>
                    </a:p>
                  </a:txBody>
                  <a:tcPr marL="91440" marR="91440" marT="45720" marB="45720" anchor="ctr">
                    <a:solidFill>
                      <a:srgbClr val="FFFFFF"/>
                    </a:solidFill>
                  </a:tcPr>
                </a:tc>
              </a:tr>
              <a:tr h="615950">
                <a:tc>
                  <a:txBody>
                    <a:bodyPr lIns="95250" tIns="95250" rIns="95250" bIns="95250">
                      <a:noAutofit/>
                    </a:bodyPr>
                    <a:lstStyle/>
                    <a:p>
                      <a:pPr algn="l"/>
                      <a:r>
                        <a:rPr sz="2025" b="1">
                          <a:solidFill>
                            <a:srgbClr val="182C43"/>
                          </a:solidFill>
                          <a:latin typeface="Arial"/>
                          <a:ea typeface="Arial"/>
                          <a:cs typeface="Arial"/>
                        </a:rPr>
                        <a:t>6 min</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Plan the first experiment</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Task owners, next-week artifact and blockers</a:t>
                      </a:r>
                    </a:p>
                  </a:txBody>
                  <a:tcPr marL="91440" marR="91440" marT="45720" marB="45720" anchor="ctr">
                    <a:solidFill>
                      <a:srgbClr val="F1F4F7"/>
                    </a:solidFill>
                  </a:tcPr>
                </a:tc>
              </a:tr>
              <a:tr h="615950">
                <a:tc>
                  <a:txBody>
                    <a:bodyPr lIns="95250" tIns="95250" rIns="95250" bIns="95250">
                      <a:noAutofit/>
                    </a:bodyPr>
                    <a:lstStyle/>
                    <a:p>
                      <a:pPr algn="l"/>
                      <a:r>
                        <a:rPr sz="2025" b="1">
                          <a:solidFill>
                            <a:srgbClr val="182C43"/>
                          </a:solidFill>
                          <a:latin typeface="Arial"/>
                          <a:ea typeface="Arial"/>
                          <a:cs typeface="Arial"/>
                        </a:rPr>
                        <a:t>3 min</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Four short report-outs</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45 seconds per team</a:t>
                      </a:r>
                    </a:p>
                  </a:txBody>
                  <a:tcPr marL="91440" marR="91440" marT="45720" marB="45720" anchor="ctr">
                    <a:solidFill>
                      <a:srgbClr val="FFFFFF"/>
                    </a:solidFill>
                  </a:tcPr>
                </a:tc>
              </a:tr>
            </a:tbl>
          </a:graphicData>
        </a:graphic>
      </p:graphicFrame>
      <p:sp>
        <p:nvSpPr>
          <p:cNvPr id="7" name="Platform team: choose shared blo">
            <a:extLst xmlns:a="http://schemas.openxmlformats.org/drawingml/2006/main">
              <a:ext uri="{FF2B5EF4-FFF2-40B4-BE49-F238E27FC236}">
                <a16:creationId xmlns:a16="http://schemas.microsoft.com/office/drawing/2014/main" id="{450EC10C-6612-49A3-901B-9D8BB2681E23}"/>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Platform team: choose shared blockers and define measurable acceptance tests.</a:t>
            </a:r>
          </a:p>
        </p:txBody>
      </p:sp>
    </p:spTree>
    <p:extLst>
      <p:ext uri="{BB962C8B-B14F-4D97-AF65-F5344CB8AC3E}">
        <p14:creationId xmlns:p14="http://schemas.microsoft.com/office/powerpoint/2010/main" val="5778165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PORT-OUTS AND NEXT STEPS">
            <a:extLst xmlns:a="http://schemas.openxmlformats.org/drawingml/2006/main">
              <a:ext uri="{FF2B5EF4-FFF2-40B4-BE49-F238E27FC236}">
                <a16:creationId xmlns:a16="http://schemas.microsoft.com/office/drawing/2014/main" id="{AC0342A6-A27E-49DC-BAC7-E5BF2DA094FD}"/>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REPORT-OUTS AND NEXT STEPS</a:t>
            </a:r>
          </a:p>
        </p:txBody>
      </p:sp>
      <p:sp>
        <p:nvSpPr>
          <p:cNvPr id="2" name="Slide title">
            <a:extLst xmlns:a="http://schemas.openxmlformats.org/drawingml/2006/main">
              <a:ext uri="{FF2B5EF4-FFF2-40B4-BE49-F238E27FC236}">
                <a16:creationId xmlns:a16="http://schemas.microsoft.com/office/drawing/2014/main" id="{C9B574DD-7FD6-43EA-9417-D213B00DCD2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next meeting’s deliverables</a:t>
            </a:r>
          </a:p>
        </p:txBody>
      </p:sp>
      <p:sp>
        <p:nvSpPr>
          <p:cNvPr id="3" name="SHPE CAPITAL    OCTOBER 13, 2026">
            <a:extLst xmlns:a="http://schemas.openxmlformats.org/drawingml/2006/main">
              <a:ext uri="{FF2B5EF4-FFF2-40B4-BE49-F238E27FC236}">
                <a16:creationId xmlns:a16="http://schemas.microsoft.com/office/drawing/2014/main" id="{07402EDC-E429-48AA-B83B-937715D18C0E}"/>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57–60 min">
            <a:extLst xmlns:a="http://schemas.openxmlformats.org/drawingml/2006/main">
              <a:ext uri="{FF2B5EF4-FFF2-40B4-BE49-F238E27FC236}">
                <a16:creationId xmlns:a16="http://schemas.microsoft.com/office/drawing/2014/main" id="{50354422-47A5-4FE5-9D00-EEFABAFF93B6}"/>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57–60 min</a:t>
            </a:r>
          </a:p>
        </p:txBody>
      </p:sp>
      <p:sp>
        <p:nvSpPr>
          <p:cNvPr id="5" name="12">
            <a:extLst xmlns:a="http://schemas.openxmlformats.org/drawingml/2006/main">
              <a:ext uri="{FF2B5EF4-FFF2-40B4-BE49-F238E27FC236}">
                <a16:creationId xmlns:a16="http://schemas.microsoft.com/office/drawing/2014/main" id="{44F1366E-6A82-425D-A07E-8A0895C9151D}"/>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E2FF633D-1985-4573-9E67-07FB31AF3B45}"/>
              </a:ext>
            </a:extLst>
          </p:cNvPr>
          <p:cNvSpPr>
            <a:spLocks xmlns:a="http://schemas.openxmlformats.org/drawingml/2006/main" noGrp="1"/>
          </p:cNvSpPr>
          <p:nvPr/>
        </p:nvSpPr>
        <p:spPr>
          <a:xfrm xmlns:a="http://schemas.openxmlformats.org/drawingml/2006/main">
            <a:off x="609600" y="2000250"/>
            <a:ext cx="109728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82C43"/>
                </a:solidFill>
                <a:latin typeface="Arial"/>
                <a:ea typeface="Arial"/>
                <a:cs typeface="Arial"/>
              </a:defRPr>
            </a:defPPr>
          </a:lstStyle>
          <a:p xmlns:a="http://schemas.openxmlformats.org/drawingml/2006/main">
            <a:pPr marL="254000" indent="-127000" algn="l">
              <a:spcAft>
                <a:spcPts val="1400"/>
              </a:spcAft>
              <a:buChar char="•"/>
              <a:defRPr sz="2325" b="0">
                <a:solidFill>
                  <a:srgbClr val="182C43"/>
                </a:solidFill>
                <a:latin typeface="Arial"/>
                <a:ea typeface="Arial"/>
                <a:cs typeface="Arial"/>
              </a:defRPr>
            </a:pPr>
            <a:r>
              <a:rPr sz="2325" b="0">
                <a:solidFill>
                  <a:srgbClr val="182C43"/>
                </a:solidFill>
                <a:latin typeface="Arial"/>
                <a:ea typeface="Arial"/>
                <a:cs typeface="Arial"/>
              </a:rPr>
              <a:t> Two research sources with a short evidence summary.</a:t>
            </a:r>
          </a:p>
          <a:p xmlns:a="http://schemas.openxmlformats.org/drawingml/2006/main">
            <a:pPr marL="254000" indent="-127000" algn="l">
              <a:spcAft>
                <a:spcPts val="1400"/>
              </a:spcAft>
              <a:buChar char="•"/>
              <a:defRPr sz="2325" b="0">
                <a:solidFill>
                  <a:srgbClr val="182C43"/>
                </a:solidFill>
                <a:latin typeface="Arial"/>
                <a:ea typeface="Arial"/>
                <a:cs typeface="Arial"/>
              </a:defRPr>
            </a:pPr>
            <a:r>
              <a:rPr sz="2325" b="0">
                <a:solidFill>
                  <a:srgbClr val="182C43"/>
                </a:solidFill>
                <a:latin typeface="Arial"/>
                <a:ea typeface="Arial"/>
                <a:cs typeface="Arial"/>
              </a:rPr>
              <a:t> Exact baseline rules and the first historical experiment.</a:t>
            </a:r>
          </a:p>
          <a:p xmlns:a="http://schemas.openxmlformats.org/drawingml/2006/main">
            <a:pPr marL="254000" indent="-127000" algn="l">
              <a:spcAft>
                <a:spcPts val="1400"/>
              </a:spcAft>
              <a:buChar char="•"/>
              <a:defRPr sz="2325" b="0">
                <a:solidFill>
                  <a:srgbClr val="182C43"/>
                </a:solidFill>
                <a:latin typeface="Arial"/>
                <a:ea typeface="Arial"/>
                <a:cs typeface="Arial"/>
              </a:defRPr>
            </a:pPr>
            <a:r>
              <a:rPr sz="2325" b="0">
                <a:solidFill>
                  <a:srgbClr val="182C43"/>
                </a:solidFill>
                <a:latin typeface="Arial"/>
                <a:ea typeface="Arial"/>
                <a:cs typeface="Arial"/>
              </a:rPr>
              <a:t> A prepared team machine, or an explicit setup or platform blocker.</a:t>
            </a:r>
          </a:p>
          <a:p xmlns:a="http://schemas.openxmlformats.org/drawingml/2006/main">
            <a:pPr marL="254000" indent="-127000" algn="l">
              <a:spcAft>
                <a:spcPts val="1400"/>
              </a:spcAft>
              <a:buChar char="•"/>
              <a:defRPr sz="2325" b="0">
                <a:solidFill>
                  <a:srgbClr val="182C43"/>
                </a:solidFill>
                <a:latin typeface="Arial"/>
                <a:ea typeface="Arial"/>
                <a:cs typeface="Arial"/>
              </a:defRPr>
            </a:pPr>
            <a:r>
              <a:rPr sz="2325" b="0">
                <a:solidFill>
                  <a:srgbClr val="182C43"/>
                </a:solidFill>
                <a:latin typeface="Arial"/>
                <a:ea typeface="Arial"/>
                <a:cs typeface="Arial"/>
              </a:rPr>
              <a:t> A shared task list with owners and questions for the platform team.</a:t>
            </a:r>
          </a:p>
        </p:txBody>
      </p:sp>
      <p:sp>
        <p:nvSpPr>
          <p:cNvPr id="7" name="October 20: bring a testable bas">
            <a:extLst xmlns:a="http://schemas.openxmlformats.org/drawingml/2006/main">
              <a:ext uri="{FF2B5EF4-FFF2-40B4-BE49-F238E27FC236}">
                <a16:creationId xmlns:a16="http://schemas.microsoft.com/office/drawing/2014/main" id="{2119D232-A43B-4604-95B5-241E60391D22}"/>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October 20: bring a testable baseline and evidence of progress.</a:t>
            </a:r>
          </a:p>
        </p:txBody>
      </p:sp>
    </p:spTree>
    <p:extLst>
      <p:ext uri="{BB962C8B-B14F-4D97-AF65-F5344CB8AC3E}">
        <p14:creationId xmlns:p14="http://schemas.microsoft.com/office/powerpoint/2010/main" val="14786224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FERENCE: WEEK-THREE DELIVERABL">
            <a:extLst xmlns:a="http://schemas.openxmlformats.org/drawingml/2006/main">
              <a:ext uri="{FF2B5EF4-FFF2-40B4-BE49-F238E27FC236}">
                <a16:creationId xmlns:a16="http://schemas.microsoft.com/office/drawing/2014/main" id="{BCD41012-6525-46EF-AF78-F9EB158BA6E6}"/>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REFERENCE: WEEK-THREE DELIVERABLE</a:t>
            </a:r>
          </a:p>
        </p:txBody>
      </p:sp>
      <p:sp>
        <p:nvSpPr>
          <p:cNvPr id="2" name="Slide title">
            <a:extLst xmlns:a="http://schemas.openxmlformats.org/drawingml/2006/main">
              <a:ext uri="{FF2B5EF4-FFF2-40B4-BE49-F238E27FC236}">
                <a16:creationId xmlns:a16="http://schemas.microsoft.com/office/drawing/2014/main" id="{046A21E8-37C5-47F0-A785-ABB91D1C5F9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one-page algorithm specification</a:t>
            </a:r>
          </a:p>
        </p:txBody>
      </p:sp>
      <p:sp>
        <p:nvSpPr>
          <p:cNvPr id="3" name="SHPE CAPITAL    OCTOBER 13, 2026">
            <a:extLst xmlns:a="http://schemas.openxmlformats.org/drawingml/2006/main">
              <a:ext uri="{FF2B5EF4-FFF2-40B4-BE49-F238E27FC236}">
                <a16:creationId xmlns:a16="http://schemas.microsoft.com/office/drawing/2014/main" id="{E96B7D31-233E-4547-BD29-5685E1BF589C}"/>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C50E6BD5-18CA-454E-AE88-C0547DA74A7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3">
            <a:extLst xmlns:a="http://schemas.openxmlformats.org/drawingml/2006/main">
              <a:ext uri="{FF2B5EF4-FFF2-40B4-BE49-F238E27FC236}">
                <a16:creationId xmlns:a16="http://schemas.microsoft.com/office/drawing/2014/main" id="{A592F5D6-3344-469C-A5D4-DB983700C50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13</a:t>
            </a:r>
          </a:p>
        </p:txBody>
      </p:sp>
      <p:graphicFrame>
        <p:nvGraphicFramePr>
          <p:cNvPr id="6" name="">
            <a:extLst xmlns:a="http://schemas.openxmlformats.org/drawingml/2006/main">
              <a:ext uri="{FF2B5EF4-FFF2-40B4-BE49-F238E27FC236}">
                <a16:creationId xmlns:a16="http://schemas.microsoft.com/office/drawing/2014/main" id="{7C024751-9B3D-4D37-909A-A656D7A379F7}"/>
              </a:ext>
            </a:extLst>
          </p:cNvPr>
          <p:cNvGraphicFramePr/>
          <p:nvPr/>
        </p:nvGraphicFramePr>
        <p:xfrm>
          <a:off xmlns:a="http://schemas.openxmlformats.org/drawingml/2006/main" x="609600" y="1781175"/>
          <a:ext xmlns:a="http://schemas.openxmlformats.org/drawingml/2006/main" cx="10972800" cy="4124325"/>
        </p:xfrm>
        <a:graphic xmlns:a="http://schemas.openxmlformats.org/drawingml/2006/main">
          <a:graphicData uri="http://schemas.openxmlformats.org/drawingml/2006/table">
            <a:tbl>
              <a:tblPr firstRow="1" bandRow="0"/>
              <a:tblGrid>
                <a:gridCol w="3190875"/>
                <a:gridCol w="7781925"/>
              </a:tblGrid>
              <a:tr h="589189">
                <a:tc>
                  <a:txBody>
                    <a:bodyPr lIns="95250" tIns="95250" rIns="95250" bIns="95250">
                      <a:noAutofit/>
                    </a:bodyPr>
                    <a:lstStyle/>
                    <a:p>
                      <a:pPr algn="l"/>
                      <a:r>
                        <a:rPr sz="1950" b="1">
                          <a:solidFill>
                            <a:srgbClr val="FFFFFF"/>
                          </a:solidFill>
                          <a:latin typeface="Arial"/>
                          <a:ea typeface="Arial"/>
                          <a:cs typeface="Arial"/>
                        </a:rPr>
                        <a:t>Field</a:t>
                      </a:r>
                    </a:p>
                  </a:txBody>
                  <a:tcPr marL="91440" marR="91440" marT="45720" marB="45720" anchor="ctr">
                    <a:solidFill>
                      <a:srgbClr val="172A45"/>
                    </a:solidFill>
                  </a:tcPr>
                </a:tc>
                <a:tc>
                  <a:txBody>
                    <a:bodyPr lIns="95250" tIns="95250" rIns="95250" bIns="95250">
                      <a:noAutofit/>
                    </a:bodyPr>
                    <a:lstStyle/>
                    <a:p>
                      <a:pPr algn="l"/>
                      <a:r>
                        <a:rPr sz="1950" b="1">
                          <a:solidFill>
                            <a:srgbClr val="FFFFFF"/>
                          </a:solidFill>
                          <a:latin typeface="Arial"/>
                          <a:ea typeface="Arial"/>
                          <a:cs typeface="Arial"/>
                        </a:rPr>
                        <a:t>What the team defines</a:t>
                      </a:r>
                    </a:p>
                  </a:txBody>
                  <a:tcPr marL="91440" marR="91440" marT="45720" marB="45720" anchor="ctr">
                    <a:solidFill>
                      <a:srgbClr val="172A45"/>
                    </a:solidFill>
                  </a:tcPr>
                </a:tc>
              </a:tr>
              <a:tr h="589189">
                <a:tc>
                  <a:txBody>
                    <a:bodyPr lIns="95250" tIns="95250" rIns="95250" bIns="95250">
                      <a:noAutofit/>
                    </a:bodyPr>
                    <a:lstStyle/>
                    <a:p>
                      <a:pPr algn="l"/>
                      <a:r>
                        <a:rPr sz="1950" b="1">
                          <a:solidFill>
                            <a:srgbClr val="182C43"/>
                          </a:solidFill>
                          <a:latin typeface="Arial"/>
                          <a:ea typeface="Arial"/>
                          <a:cs typeface="Arial"/>
                        </a:rPr>
                        <a:t>Mechanism and sources</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Why the effect might exist and what evidence supports it</a:t>
                      </a:r>
                    </a:p>
                  </a:txBody>
                  <a:tcPr marL="91440" marR="91440" marT="45720" marB="45720" anchor="ctr">
                    <a:solidFill>
                      <a:srgbClr val="FFFFFF"/>
                    </a:solidFill>
                  </a:tcPr>
                </a:tc>
              </a:tr>
              <a:tr h="589189">
                <a:tc>
                  <a:txBody>
                    <a:bodyPr lIns="95250" tIns="95250" rIns="95250" bIns="95250">
                      <a:noAutofit/>
                    </a:bodyPr>
                    <a:lstStyle/>
                    <a:p>
                      <a:pPr algn="l"/>
                      <a:r>
                        <a:rPr sz="1950" b="1">
                          <a:solidFill>
                            <a:srgbClr val="182C43"/>
                          </a:solidFill>
                          <a:latin typeface="Arial"/>
                          <a:ea typeface="Arial"/>
                          <a:cs typeface="Arial"/>
                        </a:rPr>
                        <a:t>Trading rules</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Universe, signal, entry, exit, size, timing and shorting</a:t>
                      </a:r>
                    </a:p>
                  </a:txBody>
                  <a:tcPr marL="91440" marR="91440" marT="45720" marB="45720" anchor="ctr">
                    <a:solidFill>
                      <a:srgbClr val="F1F4F7"/>
                    </a:solidFill>
                  </a:tcPr>
                </a:tc>
              </a:tr>
              <a:tr h="589189">
                <a:tc>
                  <a:txBody>
                    <a:bodyPr lIns="95250" tIns="95250" rIns="95250" bIns="95250">
                      <a:noAutofit/>
                    </a:bodyPr>
                    <a:lstStyle/>
                    <a:p>
                      <a:pPr algn="l"/>
                      <a:r>
                        <a:rPr sz="1950" b="1">
                          <a:solidFill>
                            <a:srgbClr val="182C43"/>
                          </a:solidFill>
                          <a:latin typeface="Arial"/>
                          <a:ea typeface="Arial"/>
                          <a:cs typeface="Arial"/>
                        </a:rPr>
                        <a:t>Data and scope</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Feed, dates, sessions, timestamps and missing-data policy</a:t>
                      </a:r>
                    </a:p>
                  </a:txBody>
                  <a:tcPr marL="91440" marR="91440" marT="45720" marB="45720" anchor="ctr">
                    <a:solidFill>
                      <a:srgbClr val="FFFFFF"/>
                    </a:solidFill>
                  </a:tcPr>
                </a:tc>
              </a:tr>
              <a:tr h="589189">
                <a:tc>
                  <a:txBody>
                    <a:bodyPr lIns="95250" tIns="95250" rIns="95250" bIns="95250">
                      <a:noAutofit/>
                    </a:bodyPr>
                    <a:lstStyle/>
                    <a:p>
                      <a:pPr algn="l"/>
                      <a:r>
                        <a:rPr sz="1950" b="1">
                          <a:solidFill>
                            <a:srgbClr val="182C43"/>
                          </a:solidFill>
                          <a:latin typeface="Arial"/>
                          <a:ea typeface="Arial"/>
                          <a:cs typeface="Arial"/>
                        </a:rPr>
                        <a:t>Evaluation plan</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Chronological splits, baseline, costs, metrics and trial plan</a:t>
                      </a:r>
                    </a:p>
                  </a:txBody>
                  <a:tcPr marL="91440" marR="91440" marT="45720" marB="45720" anchor="ctr">
                    <a:solidFill>
                      <a:srgbClr val="F1F4F7"/>
                    </a:solidFill>
                  </a:tcPr>
                </a:tc>
              </a:tr>
              <a:tr h="589189">
                <a:tc>
                  <a:txBody>
                    <a:bodyPr lIns="95250" tIns="95250" rIns="95250" bIns="95250">
                      <a:noAutofit/>
                    </a:bodyPr>
                    <a:lstStyle/>
                    <a:p>
                      <a:pPr algn="l"/>
                      <a:r>
                        <a:rPr sz="1950" b="1">
                          <a:solidFill>
                            <a:srgbClr val="182C43"/>
                          </a:solidFill>
                          <a:latin typeface="Arial"/>
                          <a:ea typeface="Arial"/>
                          <a:cs typeface="Arial"/>
                        </a:rPr>
                        <a:t>Risk and failure</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Loss/exposure limits, invalid-data behavior and shutdown</a:t>
                      </a:r>
                    </a:p>
                  </a:txBody>
                  <a:tcPr marL="91440" marR="91440" marT="45720" marB="45720" anchor="ctr">
                    <a:solidFill>
                      <a:srgbClr val="FFFFFF"/>
                    </a:solidFill>
                  </a:tcPr>
                </a:tc>
              </a:tr>
              <a:tr h="589189">
                <a:tc>
                  <a:txBody>
                    <a:bodyPr lIns="95250" tIns="95250" rIns="95250" bIns="95250">
                      <a:noAutofit/>
                    </a:bodyPr>
                    <a:lstStyle/>
                    <a:p>
                      <a:pPr algn="l"/>
                      <a:r>
                        <a:rPr sz="1950" b="1">
                          <a:solidFill>
                            <a:srgbClr val="182C43"/>
                          </a:solidFill>
                          <a:latin typeface="Arial"/>
                          <a:ea typeface="Arial"/>
                          <a:cs typeface="Arial"/>
                        </a:rPr>
                        <a:t>Owners and dependencies</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Implementation, independent reviewer and platform needs</a:t>
                      </a:r>
                    </a:p>
                  </a:txBody>
                  <a:tcPr marL="91440" marR="91440" marT="45720" marB="45720" anchor="ctr">
                    <a:solidFill>
                      <a:srgbClr val="F1F4F7"/>
                    </a:solidFill>
                  </a:tcPr>
                </a:tc>
              </a:tr>
            </a:tbl>
          </a:graphicData>
        </a:graphic>
      </p:graphicFrame>
    </p:spTree>
    <p:extLst>
      <p:ext uri="{BB962C8B-B14F-4D97-AF65-F5344CB8AC3E}">
        <p14:creationId xmlns:p14="http://schemas.microsoft.com/office/powerpoint/2010/main" val="21144993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FERENCE: VALIDATION CHECKLIST">
            <a:extLst xmlns:a="http://schemas.openxmlformats.org/drawingml/2006/main">
              <a:ext uri="{FF2B5EF4-FFF2-40B4-BE49-F238E27FC236}">
                <a16:creationId xmlns:a16="http://schemas.microsoft.com/office/drawing/2014/main" id="{2E008A22-71B7-412D-A35B-0BA8ED8679F7}"/>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REFERENCE: VALIDATION CHECKLIST</a:t>
            </a:r>
          </a:p>
        </p:txBody>
      </p:sp>
      <p:sp>
        <p:nvSpPr>
          <p:cNvPr id="2" name="Slide title">
            <a:extLst xmlns:a="http://schemas.openxmlformats.org/drawingml/2006/main">
              <a:ext uri="{FF2B5EF4-FFF2-40B4-BE49-F238E27FC236}">
                <a16:creationId xmlns:a16="http://schemas.microsoft.com/office/drawing/2014/main" id="{58EFF7AE-FB2C-4B14-A4FC-5F025D8B7EFF}"/>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Historical testing and overfitting controls</a:t>
            </a:r>
          </a:p>
        </p:txBody>
      </p:sp>
      <p:sp>
        <p:nvSpPr>
          <p:cNvPr id="3" name="SHPE CAPITAL    OCTOBER 13, 2026">
            <a:extLst xmlns:a="http://schemas.openxmlformats.org/drawingml/2006/main">
              <a:ext uri="{FF2B5EF4-FFF2-40B4-BE49-F238E27FC236}">
                <a16:creationId xmlns:a16="http://schemas.microsoft.com/office/drawing/2014/main" id="{67456560-D3BE-410D-8E33-F5ACF281F9D2}"/>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13010F0B-62AD-4B4F-9EEE-96AAF06CAE53}"/>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4">
            <a:extLst xmlns:a="http://schemas.openxmlformats.org/drawingml/2006/main">
              <a:ext uri="{FF2B5EF4-FFF2-40B4-BE49-F238E27FC236}">
                <a16:creationId xmlns:a16="http://schemas.microsoft.com/office/drawing/2014/main" id="{07D75865-1C69-4B12-93B5-06FE453843F9}"/>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14</a:t>
            </a:r>
          </a:p>
        </p:txBody>
      </p:sp>
      <p:sp>
        <p:nvSpPr>
          <p:cNvPr id="6" name="Chronological splits">
            <a:extLst xmlns:a="http://schemas.openxmlformats.org/drawingml/2006/main">
              <a:ext uri="{FF2B5EF4-FFF2-40B4-BE49-F238E27FC236}">
                <a16:creationId xmlns:a16="http://schemas.microsoft.com/office/drawing/2014/main" id="{711DB87D-1A73-4283-B22C-D4FCAC13C6AF}"/>
              </a:ext>
            </a:extLst>
          </p:cNvPr>
          <p:cNvSpPr>
            <a:spLocks xmlns:a="http://schemas.openxmlformats.org/drawingml/2006/main" noGrp="1"/>
          </p:cNvSpPr>
          <p:nvPr/>
        </p:nvSpPr>
        <p:spPr>
          <a:xfrm xmlns:a="http://schemas.openxmlformats.org/drawingml/2006/main">
            <a:off x="609600" y="18288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Chronological splits</a:t>
            </a:r>
          </a:p>
        </p:txBody>
      </p:sp>
      <p:sp>
        <p:nvSpPr>
          <p:cNvPr id="7" name="Separate development, validation">
            <a:extLst xmlns:a="http://schemas.openxmlformats.org/drawingml/2006/main">
              <a:ext uri="{FF2B5EF4-FFF2-40B4-BE49-F238E27FC236}">
                <a16:creationId xmlns:a16="http://schemas.microsoft.com/office/drawing/2014/main" id="{8154C398-4BB7-4253-9F4E-1D34953B8E50}"/>
              </a:ext>
            </a:extLst>
          </p:cNvPr>
          <p:cNvSpPr>
            <a:spLocks xmlns:a="http://schemas.openxmlformats.org/drawingml/2006/main" noGrp="1"/>
          </p:cNvSpPr>
          <p:nvPr/>
        </p:nvSpPr>
        <p:spPr>
          <a:xfrm xmlns:a="http://schemas.openxmlformats.org/drawingml/2006/main">
            <a:off x="609600" y="22098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Separate development, validation and an untouched final test.</a:t>
            </a:r>
          </a:p>
        </p:txBody>
      </p:sp>
      <p:sp>
        <p:nvSpPr>
          <p:cNvPr id="8" name="Full experiment log">
            <a:extLst xmlns:a="http://schemas.openxmlformats.org/drawingml/2006/main">
              <a:ext uri="{FF2B5EF4-FFF2-40B4-BE49-F238E27FC236}">
                <a16:creationId xmlns:a16="http://schemas.microsoft.com/office/drawing/2014/main" id="{5CAE36A5-AC2F-4ADC-97B1-1E08E1C4ED6B}"/>
              </a:ext>
            </a:extLst>
          </p:cNvPr>
          <p:cNvSpPr>
            <a:spLocks xmlns:a="http://schemas.openxmlformats.org/drawingml/2006/main" noGrp="1"/>
          </p:cNvSpPr>
          <p:nvPr/>
        </p:nvSpPr>
        <p:spPr>
          <a:xfrm xmlns:a="http://schemas.openxmlformats.org/drawingml/2006/main">
            <a:off x="609600" y="30861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Full experiment log</a:t>
            </a:r>
          </a:p>
        </p:txBody>
      </p:sp>
      <p:sp>
        <p:nvSpPr>
          <p:cNvPr id="9" name="Keep every tried idea and config">
            <a:extLst xmlns:a="http://schemas.openxmlformats.org/drawingml/2006/main">
              <a:ext uri="{FF2B5EF4-FFF2-40B4-BE49-F238E27FC236}">
                <a16:creationId xmlns:a16="http://schemas.microsoft.com/office/drawing/2014/main" id="{FD1E6255-9B0B-4395-B062-BDC8C8CCA140}"/>
              </a:ext>
            </a:extLst>
          </p:cNvPr>
          <p:cNvSpPr>
            <a:spLocks xmlns:a="http://schemas.openxmlformats.org/drawingml/2006/main" noGrp="1"/>
          </p:cNvSpPr>
          <p:nvPr/>
        </p:nvSpPr>
        <p:spPr>
          <a:xfrm xmlns:a="http://schemas.openxmlformats.org/drawingml/2006/main">
            <a:off x="609600" y="34671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Keep every tried idea and configuration, including failures.</a:t>
            </a:r>
          </a:p>
        </p:txBody>
      </p:sp>
      <p:sp>
        <p:nvSpPr>
          <p:cNvPr id="10" name="Leakage prevention">
            <a:extLst xmlns:a="http://schemas.openxmlformats.org/drawingml/2006/main">
              <a:ext uri="{FF2B5EF4-FFF2-40B4-BE49-F238E27FC236}">
                <a16:creationId xmlns:a16="http://schemas.microsoft.com/office/drawing/2014/main" id="{F7815220-9760-4BAE-AB25-C1A84462F610}"/>
              </a:ext>
            </a:extLst>
          </p:cNvPr>
          <p:cNvSpPr>
            <a:spLocks xmlns:a="http://schemas.openxmlformats.org/drawingml/2006/main" noGrp="1"/>
          </p:cNvSpPr>
          <p:nvPr/>
        </p:nvSpPr>
        <p:spPr>
          <a:xfrm xmlns:a="http://schemas.openxmlformats.org/drawingml/2006/main">
            <a:off x="609600" y="43434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Leakage prevention</a:t>
            </a:r>
          </a:p>
        </p:txBody>
      </p:sp>
      <p:sp>
        <p:nvSpPr>
          <p:cNvPr id="11" name="Fit only on past data and use in">
            <a:extLst xmlns:a="http://schemas.openxmlformats.org/drawingml/2006/main">
              <a:ext uri="{FF2B5EF4-FFF2-40B4-BE49-F238E27FC236}">
                <a16:creationId xmlns:a16="http://schemas.microsoft.com/office/drawing/2014/main" id="{7B563B50-E127-4260-AAF8-6FF5591236B8}"/>
              </a:ext>
            </a:extLst>
          </p:cNvPr>
          <p:cNvSpPr>
            <a:spLocks xmlns:a="http://schemas.openxmlformats.org/drawingml/2006/main" noGrp="1"/>
          </p:cNvSpPr>
          <p:nvPr/>
        </p:nvSpPr>
        <p:spPr>
          <a:xfrm xmlns:a="http://schemas.openxmlformats.org/drawingml/2006/main">
            <a:off x="609600" y="47244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Fit only on past data and use inputs available at decision time.</a:t>
            </a:r>
          </a:p>
        </p:txBody>
      </p:sp>
      <p:sp>
        <p:nvSpPr>
          <p:cNvPr id="12" name="Costs and execution">
            <a:extLst xmlns:a="http://schemas.openxmlformats.org/drawingml/2006/main">
              <a:ext uri="{FF2B5EF4-FFF2-40B4-BE49-F238E27FC236}">
                <a16:creationId xmlns:a16="http://schemas.microsoft.com/office/drawing/2014/main" id="{6820DB15-51F3-4F5A-B561-E19A590D0C63}"/>
              </a:ext>
            </a:extLst>
          </p:cNvPr>
          <p:cNvSpPr>
            <a:spLocks xmlns:a="http://schemas.openxmlformats.org/drawingml/2006/main" noGrp="1"/>
          </p:cNvSpPr>
          <p:nvPr/>
        </p:nvSpPr>
        <p:spPr>
          <a:xfrm xmlns:a="http://schemas.openxmlformats.org/drawingml/2006/main">
            <a:off x="6248400" y="18288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Costs and execution</a:t>
            </a:r>
          </a:p>
        </p:txBody>
      </p:sp>
      <p:sp>
        <p:nvSpPr>
          <p:cNvPr id="13" name="Model spread, slippage, delay an">
            <a:extLst xmlns:a="http://schemas.openxmlformats.org/drawingml/2006/main">
              <a:ext uri="{FF2B5EF4-FFF2-40B4-BE49-F238E27FC236}">
                <a16:creationId xmlns:a16="http://schemas.microsoft.com/office/drawing/2014/main" id="{5D66EE7C-04B3-45A4-A21B-64BDD2033625}"/>
              </a:ext>
            </a:extLst>
          </p:cNvPr>
          <p:cNvSpPr>
            <a:spLocks xmlns:a="http://schemas.openxmlformats.org/drawingml/2006/main" noGrp="1"/>
          </p:cNvSpPr>
          <p:nvPr/>
        </p:nvSpPr>
        <p:spPr>
          <a:xfrm xmlns:a="http://schemas.openxmlformats.org/drawingml/2006/main">
            <a:off x="6248400" y="22098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Model spread, slippage, delay and ambiguous intrabar fills.</a:t>
            </a:r>
          </a:p>
        </p:txBody>
      </p:sp>
      <p:sp>
        <p:nvSpPr>
          <p:cNvPr id="14" name="Robustness and baseline">
            <a:extLst xmlns:a="http://schemas.openxmlformats.org/drawingml/2006/main">
              <a:ext uri="{FF2B5EF4-FFF2-40B4-BE49-F238E27FC236}">
                <a16:creationId xmlns:a16="http://schemas.microsoft.com/office/drawing/2014/main" id="{6AD03489-EC17-4FDB-B973-8655370C24A3}"/>
              </a:ext>
            </a:extLst>
          </p:cNvPr>
          <p:cNvSpPr>
            <a:spLocks xmlns:a="http://schemas.openxmlformats.org/drawingml/2006/main" noGrp="1"/>
          </p:cNvSpPr>
          <p:nvPr/>
        </p:nvSpPr>
        <p:spPr>
          <a:xfrm xmlns:a="http://schemas.openxmlformats.org/drawingml/2006/main">
            <a:off x="6248400" y="30861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Robustness and baseline</a:t>
            </a:r>
          </a:p>
        </p:txBody>
      </p:sp>
      <p:sp>
        <p:nvSpPr>
          <p:cNvPr id="15" name="Stress costs and nearby paramete">
            <a:extLst xmlns:a="http://schemas.openxmlformats.org/drawingml/2006/main">
              <a:ext uri="{FF2B5EF4-FFF2-40B4-BE49-F238E27FC236}">
                <a16:creationId xmlns:a16="http://schemas.microsoft.com/office/drawing/2014/main" id="{9D87F6EB-A59F-4E9E-800E-2F8EACFA2CDA}"/>
              </a:ext>
            </a:extLst>
          </p:cNvPr>
          <p:cNvSpPr>
            <a:spLocks xmlns:a="http://schemas.openxmlformats.org/drawingml/2006/main" noGrp="1"/>
          </p:cNvSpPr>
          <p:nvPr/>
        </p:nvSpPr>
        <p:spPr>
          <a:xfrm xmlns:a="http://schemas.openxmlformats.org/drawingml/2006/main">
            <a:off x="6248400" y="34671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Stress costs and nearby parameters against a fair baseline.</a:t>
            </a:r>
          </a:p>
        </p:txBody>
      </p:sp>
      <p:sp>
        <p:nvSpPr>
          <p:cNvPr id="16" name="Repeatable report">
            <a:extLst xmlns:a="http://schemas.openxmlformats.org/drawingml/2006/main">
              <a:ext uri="{FF2B5EF4-FFF2-40B4-BE49-F238E27FC236}">
                <a16:creationId xmlns:a16="http://schemas.microsoft.com/office/drawing/2014/main" id="{1E86F35F-184B-4605-AEA6-CFCB62A488F8}"/>
              </a:ext>
            </a:extLst>
          </p:cNvPr>
          <p:cNvSpPr>
            <a:spLocks xmlns:a="http://schemas.openxmlformats.org/drawingml/2006/main" noGrp="1"/>
          </p:cNvSpPr>
          <p:nvPr/>
        </p:nvSpPr>
        <p:spPr>
          <a:xfrm xmlns:a="http://schemas.openxmlformats.org/drawingml/2006/main">
            <a:off x="6248400" y="43434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Repeatable report</a:t>
            </a:r>
          </a:p>
        </p:txBody>
      </p:sp>
      <p:sp>
        <p:nvSpPr>
          <p:cNvPr id="17" name="Save code, data, settings, net r">
            <a:extLst xmlns:a="http://schemas.openxmlformats.org/drawingml/2006/main">
              <a:ext uri="{FF2B5EF4-FFF2-40B4-BE49-F238E27FC236}">
                <a16:creationId xmlns:a16="http://schemas.microsoft.com/office/drawing/2014/main" id="{7B160756-46DE-416D-9FD8-4C0F4FF417EF}"/>
              </a:ext>
            </a:extLst>
          </p:cNvPr>
          <p:cNvSpPr>
            <a:spLocks xmlns:a="http://schemas.openxmlformats.org/drawingml/2006/main" noGrp="1"/>
          </p:cNvSpPr>
          <p:nvPr/>
        </p:nvSpPr>
        <p:spPr>
          <a:xfrm xmlns:a="http://schemas.openxmlformats.org/drawingml/2006/main">
            <a:off x="6248400" y="47244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algn="l">
              <a:defRPr sz="1875" b="0">
                <a:solidFill>
                  <a:srgbClr val="182C43"/>
                </a:solidFill>
                <a:latin typeface="Arial"/>
                <a:ea typeface="Arial"/>
                <a:cs typeface="Arial"/>
              </a:defRPr>
            </a:pPr>
            <a:r>
              <a:rPr sz="1875" b="0">
                <a:solidFill>
                  <a:srgbClr val="182C43"/>
                </a:solidFill>
                <a:latin typeface="Arial"/>
                <a:ea typeface="Arial"/>
                <a:cs typeface="Arial"/>
              </a:rPr>
              <a:t>Save code, data, settings, net results and metric definitions.</a:t>
            </a:r>
          </a:p>
        </p:txBody>
      </p:sp>
    </p:spTree>
    <p:extLst>
      <p:ext uri="{BB962C8B-B14F-4D97-AF65-F5344CB8AC3E}">
        <p14:creationId xmlns:p14="http://schemas.microsoft.com/office/powerpoint/2010/main" val="5852482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FERENCE: ONLINE ACCEPTANCE CHE">
            <a:extLst xmlns:a="http://schemas.openxmlformats.org/drawingml/2006/main">
              <a:ext uri="{FF2B5EF4-FFF2-40B4-BE49-F238E27FC236}">
                <a16:creationId xmlns:a16="http://schemas.microsoft.com/office/drawing/2014/main" id="{D082B4B2-AB2C-4DCF-A76B-156E55B04F9F}"/>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REFERENCE: ONLINE ACCEPTANCE CHECKLIST</a:t>
            </a:r>
          </a:p>
        </p:txBody>
      </p:sp>
      <p:sp>
        <p:nvSpPr>
          <p:cNvPr id="2" name="Slide title">
            <a:extLst xmlns:a="http://schemas.openxmlformats.org/drawingml/2006/main">
              <a:ext uri="{FF2B5EF4-FFF2-40B4-BE49-F238E27FC236}">
                <a16:creationId xmlns:a16="http://schemas.microsoft.com/office/drawing/2014/main" id="{A7CE094E-344D-4614-AFF5-C35B8D6B5273}"/>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week-four deployment readiness review</a:t>
            </a:r>
          </a:p>
        </p:txBody>
      </p:sp>
      <p:sp>
        <p:nvSpPr>
          <p:cNvPr id="3" name="SHPE CAPITAL    OCTOBER 13, 2026">
            <a:extLst xmlns:a="http://schemas.openxmlformats.org/drawingml/2006/main">
              <a:ext uri="{FF2B5EF4-FFF2-40B4-BE49-F238E27FC236}">
                <a16:creationId xmlns:a16="http://schemas.microsoft.com/office/drawing/2014/main" id="{033E9230-3295-4AE2-9FFD-E8BC37B5108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7D1201C4-BB98-4FC6-B9AD-C5D55DD7938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5">
            <a:extLst xmlns:a="http://schemas.openxmlformats.org/drawingml/2006/main">
              <a:ext uri="{FF2B5EF4-FFF2-40B4-BE49-F238E27FC236}">
                <a16:creationId xmlns:a16="http://schemas.microsoft.com/office/drawing/2014/main" id="{6FAF4646-72BE-4F10-B79E-9781818F9FB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15</a:t>
            </a:r>
          </a:p>
        </p:txBody>
      </p:sp>
      <p:graphicFrame>
        <p:nvGraphicFramePr>
          <p:cNvPr id="6" name="">
            <a:extLst xmlns:a="http://schemas.openxmlformats.org/drawingml/2006/main">
              <a:ext uri="{FF2B5EF4-FFF2-40B4-BE49-F238E27FC236}">
                <a16:creationId xmlns:a16="http://schemas.microsoft.com/office/drawing/2014/main" id="{2A42D0BB-5F16-4C79-8F74-7B70A0BF8F28}"/>
              </a:ext>
            </a:extLst>
          </p:cNvPr>
          <p:cNvGraphicFramePr/>
          <p:nvPr/>
        </p:nvGraphicFramePr>
        <p:xfrm>
          <a:off xmlns:a="http://schemas.openxmlformats.org/drawingml/2006/main" x="609600" y="1781175"/>
          <a:ext xmlns:a="http://schemas.openxmlformats.org/drawingml/2006/main" cx="10972800" cy="4105275"/>
        </p:xfrm>
        <a:graphic xmlns:a="http://schemas.openxmlformats.org/drawingml/2006/main">
          <a:graphicData uri="http://schemas.openxmlformats.org/drawingml/2006/table">
            <a:tbl>
              <a:tblPr firstRow="1" bandRow="0"/>
              <a:tblGrid>
                <a:gridCol w="3571875"/>
                <a:gridCol w="7400925"/>
              </a:tblGrid>
              <a:tr h="586468">
                <a:tc>
                  <a:txBody>
                    <a:bodyPr lIns="95250" tIns="95250" rIns="95250" bIns="95250">
                      <a:noAutofit/>
                    </a:bodyPr>
                    <a:lstStyle/>
                    <a:p>
                      <a:pPr algn="l"/>
                      <a:r>
                        <a:rPr sz="1875" b="1">
                          <a:solidFill>
                            <a:srgbClr val="FFFFFF"/>
                          </a:solidFill>
                          <a:latin typeface="Arial"/>
                          <a:ea typeface="Arial"/>
                          <a:cs typeface="Arial"/>
                        </a:rPr>
                        <a:t>Check</a:t>
                      </a:r>
                    </a:p>
                  </a:txBody>
                  <a:tcPr marL="91440" marR="91440" marT="45720" marB="45720" anchor="ctr">
                    <a:solidFill>
                      <a:srgbClr val="172A45"/>
                    </a:solidFill>
                  </a:tcPr>
                </a:tc>
                <a:tc>
                  <a:txBody>
                    <a:bodyPr lIns="95250" tIns="95250" rIns="95250" bIns="95250">
                      <a:noAutofit/>
                    </a:bodyPr>
                    <a:lstStyle/>
                    <a:p>
                      <a:pPr algn="l"/>
                      <a:r>
                        <a:rPr sz="1875" b="1">
                          <a:solidFill>
                            <a:srgbClr val="FFFFFF"/>
                          </a:solidFill>
                          <a:latin typeface="Arial"/>
                          <a:ea typeface="Arial"/>
                          <a:cs typeface="Arial"/>
                        </a:rPr>
                        <a:t>Evidence needed before deployment</a:t>
                      </a:r>
                    </a:p>
                  </a:txBody>
                  <a:tcPr marL="91440" marR="91440" marT="45720" marB="45720" anchor="ctr">
                    <a:solidFill>
                      <a:srgbClr val="172A45"/>
                    </a:solidFill>
                  </a:tcPr>
                </a:tc>
              </a:tr>
              <a:tr h="586468">
                <a:tc>
                  <a:txBody>
                    <a:bodyPr lIns="95250" tIns="95250" rIns="95250" bIns="95250">
                      <a:noAutofit/>
                    </a:bodyPr>
                    <a:lstStyle/>
                    <a:p>
                      <a:pPr algn="l"/>
                      <a:r>
                        <a:rPr sz="1875" b="1">
                          <a:solidFill>
                            <a:srgbClr val="182C43"/>
                          </a:solidFill>
                          <a:latin typeface="Arial"/>
                          <a:ea typeface="Arial"/>
                          <a:cs typeface="Arial"/>
                        </a:rPr>
                        <a:t>Working strategy</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Versioned implementation and reproducible historical report</a:t>
                      </a:r>
                    </a:p>
                  </a:txBody>
                  <a:tcPr marL="91440" marR="91440" marT="45720" marB="45720" anchor="ctr">
                    <a:solidFill>
                      <a:srgbClr val="FFFFFF"/>
                    </a:solidFill>
                  </a:tcPr>
                </a:tc>
              </a:tr>
              <a:tr h="586468">
                <a:tc>
                  <a:txBody>
                    <a:bodyPr lIns="95250" tIns="95250" rIns="95250" bIns="95250">
                      <a:noAutofit/>
                    </a:bodyPr>
                    <a:lstStyle/>
                    <a:p>
                      <a:pPr algn="l"/>
                      <a:r>
                        <a:rPr sz="1875" b="1">
                          <a:solidFill>
                            <a:srgbClr val="182C43"/>
                          </a:solidFill>
                          <a:latin typeface="Arial"/>
                          <a:ea typeface="Arial"/>
                          <a:cs typeface="Arial"/>
                        </a:rPr>
                        <a:t>Risk controls</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Reviewed size, exposure, loss limits and shorting policy</a:t>
                      </a:r>
                    </a:p>
                  </a:txBody>
                  <a:tcPr marL="91440" marR="91440" marT="45720" marB="45720" anchor="ctr">
                    <a:solidFill>
                      <a:srgbClr val="F1F4F7"/>
                    </a:solidFill>
                  </a:tcPr>
                </a:tc>
              </a:tr>
              <a:tr h="586468">
                <a:tc>
                  <a:txBody>
                    <a:bodyPr lIns="95250" tIns="95250" rIns="95250" bIns="95250">
                      <a:noAutofit/>
                    </a:bodyPr>
                    <a:lstStyle/>
                    <a:p>
                      <a:pPr algn="l"/>
                      <a:r>
                        <a:rPr sz="1875" b="1">
                          <a:solidFill>
                            <a:srgbClr val="182C43"/>
                          </a:solidFill>
                          <a:latin typeface="Arial"/>
                          <a:ea typeface="Arial"/>
                          <a:cs typeface="Arial"/>
                        </a:rPr>
                        <a:t>Successful paper smoke test</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Order path, fills, shutdown and reconciliation verified</a:t>
                      </a:r>
                    </a:p>
                  </a:txBody>
                  <a:tcPr marL="91440" marR="91440" marT="45720" marB="45720" anchor="ctr">
                    <a:solidFill>
                      <a:srgbClr val="FFFFFF"/>
                    </a:solidFill>
                  </a:tcPr>
                </a:tc>
              </a:tr>
              <a:tr h="586468">
                <a:tc>
                  <a:txBody>
                    <a:bodyPr lIns="95250" tIns="95250" rIns="95250" bIns="95250">
                      <a:noAutofit/>
                    </a:bodyPr>
                    <a:lstStyle/>
                    <a:p>
                      <a:pPr algn="l"/>
                      <a:r>
                        <a:rPr sz="1875" b="1">
                          <a:solidFill>
                            <a:srgbClr val="182C43"/>
                          </a:solidFill>
                          <a:latin typeface="Arial"/>
                          <a:ea typeface="Arial"/>
                          <a:cs typeface="Arial"/>
                        </a:rPr>
                        <a:t>Failure handling</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Data gaps, rejection, partial fills and restart scenarios checked</a:t>
                      </a:r>
                    </a:p>
                  </a:txBody>
                  <a:tcPr marL="91440" marR="91440" marT="45720" marB="45720" anchor="ctr">
                    <a:solidFill>
                      <a:srgbClr val="F1F4F7"/>
                    </a:solidFill>
                  </a:tcPr>
                </a:tc>
              </a:tr>
              <a:tr h="586468">
                <a:tc>
                  <a:txBody>
                    <a:bodyPr lIns="95250" tIns="95250" rIns="95250" bIns="95250">
                      <a:noAutofit/>
                    </a:bodyPr>
                    <a:lstStyle/>
                    <a:p>
                      <a:pPr algn="l"/>
                      <a:r>
                        <a:rPr sz="1875" b="1">
                          <a:solidFill>
                            <a:srgbClr val="182C43"/>
                          </a:solidFill>
                          <a:latin typeface="Arial"/>
                          <a:ea typeface="Arial"/>
                          <a:cs typeface="Arial"/>
                        </a:rPr>
                        <a:t>Monitoring and recovery</a:t>
                      </a:r>
                    </a:p>
                  </a:txBody>
                  <a:tcPr marL="91440" marR="91440" marT="45720" marB="45720" anchor="ctr">
                    <a:solidFill>
                      <a:srgbClr val="FFFFFF"/>
                    </a:solidFill>
                  </a:tcPr>
                </a:tc>
                <a:tc>
                  <a:txBody>
                    <a:bodyPr lIns="95250" tIns="95250" rIns="95250" bIns="95250">
                      <a:noAutofit/>
                    </a:bodyPr>
                    <a:lstStyle/>
                    <a:p>
                      <a:pPr algn="l"/>
                      <a:r>
                        <a:rPr sz="1875" b="0">
                          <a:solidFill>
                            <a:srgbClr val="182C43"/>
                          </a:solidFill>
                          <a:latin typeface="Arial"/>
                          <a:ea typeface="Arial"/>
                          <a:cs typeface="Arial"/>
                        </a:rPr>
                        <a:t>Alerts, logs, responsible owner, backup and stop procedure</a:t>
                      </a:r>
                    </a:p>
                  </a:txBody>
                  <a:tcPr marL="91440" marR="91440" marT="45720" marB="45720" anchor="ctr">
                    <a:solidFill>
                      <a:srgbClr val="FFFFFF"/>
                    </a:solidFill>
                  </a:tcPr>
                </a:tc>
              </a:tr>
              <a:tr h="586468">
                <a:tc>
                  <a:txBody>
                    <a:bodyPr lIns="95250" tIns="95250" rIns="95250" bIns="95250">
                      <a:noAutofit/>
                    </a:bodyPr>
                    <a:lstStyle/>
                    <a:p>
                      <a:pPr algn="l"/>
                      <a:r>
                        <a:rPr sz="1875" b="1">
                          <a:solidFill>
                            <a:srgbClr val="182C43"/>
                          </a:solidFill>
                          <a:latin typeface="Arial"/>
                          <a:ea typeface="Arial"/>
                          <a:cs typeface="Arial"/>
                        </a:rPr>
                        <a:t>Evaluation record</a:t>
                      </a:r>
                    </a:p>
                  </a:txBody>
                  <a:tcPr marL="91440" marR="91440" marT="45720" marB="45720" anchor="ctr">
                    <a:solidFill>
                      <a:srgbClr val="F1F4F7"/>
                    </a:solidFill>
                  </a:tcPr>
                </a:tc>
                <a:tc>
                  <a:txBody>
                    <a:bodyPr lIns="95250" tIns="95250" rIns="95250" bIns="95250">
                      <a:noAutofit/>
                    </a:bodyPr>
                    <a:lstStyle/>
                    <a:p>
                      <a:pPr algn="l"/>
                      <a:r>
                        <a:rPr sz="1875" b="0">
                          <a:solidFill>
                            <a:srgbClr val="182C43"/>
                          </a:solidFill>
                          <a:latin typeface="Arial"/>
                          <a:ea typeface="Arial"/>
                          <a:cs typeface="Arial"/>
                        </a:rPr>
                        <a:t>Frozen version/configuration, dates and incident log</a:t>
                      </a:r>
                    </a:p>
                  </a:txBody>
                  <a:tcPr marL="91440" marR="91440" marT="45720" marB="45720" anchor="ctr">
                    <a:solidFill>
                      <a:srgbClr val="F1F4F7"/>
                    </a:solidFill>
                  </a:tcPr>
                </a:tc>
              </a:tr>
            </a:tbl>
          </a:graphicData>
        </a:graphic>
      </p:graphicFrame>
    </p:spTree>
    <p:extLst>
      <p:ext uri="{BB962C8B-B14F-4D97-AF65-F5344CB8AC3E}">
        <p14:creationId xmlns:p14="http://schemas.microsoft.com/office/powerpoint/2010/main" val="853938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FERENCE: PAPER REPORT">
            <a:extLst xmlns:a="http://schemas.openxmlformats.org/drawingml/2006/main">
              <a:ext uri="{FF2B5EF4-FFF2-40B4-BE49-F238E27FC236}">
                <a16:creationId xmlns:a16="http://schemas.microsoft.com/office/drawing/2014/main" id="{574C02E3-2E25-46B2-A06D-168BD095E758}"/>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REFERENCE: PAPER REPORT</a:t>
            </a:r>
          </a:p>
        </p:txBody>
      </p:sp>
      <p:sp>
        <p:nvSpPr>
          <p:cNvPr id="2" name="Slide title">
            <a:extLst xmlns:a="http://schemas.openxmlformats.org/drawingml/2006/main">
              <a:ext uri="{FF2B5EF4-FFF2-40B4-BE49-F238E27FC236}">
                <a16:creationId xmlns:a16="http://schemas.microsoft.com/office/drawing/2014/main" id="{F6189D2E-1665-4ABC-8065-2119A8DCD97B}"/>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three-week online evaluation</a:t>
            </a:r>
          </a:p>
        </p:txBody>
      </p:sp>
      <p:sp>
        <p:nvSpPr>
          <p:cNvPr id="3" name="SHPE CAPITAL    OCTOBER 13, 2026">
            <a:extLst xmlns:a="http://schemas.openxmlformats.org/drawingml/2006/main">
              <a:ext uri="{FF2B5EF4-FFF2-40B4-BE49-F238E27FC236}">
                <a16:creationId xmlns:a16="http://schemas.microsoft.com/office/drawing/2014/main" id="{D9FF5C23-DC1F-493E-AACD-F230ED879523}"/>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1E39A89C-ADD0-4A26-851E-3626F4900EE5}"/>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6">
            <a:extLst xmlns:a="http://schemas.openxmlformats.org/drawingml/2006/main">
              <a:ext uri="{FF2B5EF4-FFF2-40B4-BE49-F238E27FC236}">
                <a16:creationId xmlns:a16="http://schemas.microsoft.com/office/drawing/2014/main" id="{FF39CA6D-E562-4A3F-B39F-986E0734C213}"/>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16</a:t>
            </a:r>
          </a:p>
        </p:txBody>
      </p:sp>
      <p:graphicFrame>
        <p:nvGraphicFramePr>
          <p:cNvPr id="6" name="">
            <a:extLst xmlns:a="http://schemas.openxmlformats.org/drawingml/2006/main">
              <a:ext uri="{FF2B5EF4-FFF2-40B4-BE49-F238E27FC236}">
                <a16:creationId xmlns:a16="http://schemas.microsoft.com/office/drawing/2014/main" id="{46F1313E-BE92-4FE4-97E4-E71AFE2467DD}"/>
              </a:ext>
            </a:extLst>
          </p:cNvPr>
          <p:cNvGraphicFramePr/>
          <p:nvPr/>
        </p:nvGraphicFramePr>
        <p:xfrm>
          <a:off xmlns:a="http://schemas.openxmlformats.org/drawingml/2006/main" x="609600" y="2133600"/>
          <a:ext xmlns:a="http://schemas.openxmlformats.org/drawingml/2006/main" cx="10972800" cy="3019425"/>
        </p:xfrm>
        <a:graphic xmlns:a="http://schemas.openxmlformats.org/drawingml/2006/main">
          <a:graphicData uri="http://schemas.openxmlformats.org/drawingml/2006/table">
            <a:tbl>
              <a:tblPr firstRow="1" bandRow="0"/>
              <a:tblGrid>
                <a:gridCol w="3429000"/>
                <a:gridCol w="7543800"/>
              </a:tblGrid>
              <a:tr h="603885">
                <a:tc>
                  <a:txBody>
                    <a:bodyPr lIns="95250" tIns="95250" rIns="95250" bIns="95250">
                      <a:noAutofit/>
                    </a:bodyPr>
                    <a:lstStyle/>
                    <a:p>
                      <a:pPr algn="l"/>
                      <a:r>
                        <a:rPr sz="2025" b="1">
                          <a:solidFill>
                            <a:srgbClr val="FFFFFF"/>
                          </a:solidFill>
                          <a:latin typeface="Arial"/>
                          <a:ea typeface="Arial"/>
                          <a:cs typeface="Arial"/>
                        </a:rPr>
                        <a:t>Track</a:t>
                      </a:r>
                    </a:p>
                  </a:txBody>
                  <a:tcPr marL="91440" marR="91440" marT="45720" marB="45720" anchor="ctr">
                    <a:solidFill>
                      <a:srgbClr val="172A45"/>
                    </a:solidFill>
                  </a:tcPr>
                </a:tc>
                <a:tc>
                  <a:txBody>
                    <a:bodyPr lIns="95250" tIns="95250" rIns="95250" bIns="95250">
                      <a:noAutofit/>
                    </a:bodyPr>
                    <a:lstStyle/>
                    <a:p>
                      <a:pPr algn="l"/>
                      <a:r>
                        <a:rPr sz="2025" b="1">
                          <a:solidFill>
                            <a:srgbClr val="FFFFFF"/>
                          </a:solidFill>
                          <a:latin typeface="Arial"/>
                          <a:ea typeface="Arial"/>
                          <a:cs typeface="Arial"/>
                        </a:rPr>
                        <a:t>Weekly report includes</a:t>
                      </a:r>
                    </a:p>
                  </a:txBody>
                  <a:tcPr marL="91440" marR="91440" marT="45720" marB="45720" anchor="ctr">
                    <a:solidFill>
                      <a:srgbClr val="172A45"/>
                    </a:solidFill>
                  </a:tcPr>
                </a:tc>
              </a:tr>
              <a:tr h="603885">
                <a:tc>
                  <a:txBody>
                    <a:bodyPr lIns="95250" tIns="95250" rIns="95250" bIns="95250">
                      <a:noAutofit/>
                    </a:bodyPr>
                    <a:lstStyle/>
                    <a:p>
                      <a:pPr algn="l"/>
                      <a:r>
                        <a:rPr sz="2025" b="1">
                          <a:solidFill>
                            <a:srgbClr val="182C43"/>
                          </a:solidFill>
                          <a:latin typeface="Arial"/>
                          <a:ea typeface="Arial"/>
                          <a:cs typeface="Arial"/>
                        </a:rPr>
                        <a:t>Performance</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Net results, equity curve, drawdown, trades and exposure</a:t>
                      </a:r>
                    </a:p>
                  </a:txBody>
                  <a:tcPr marL="91440" marR="91440" marT="45720" marB="45720" anchor="ctr">
                    <a:solidFill>
                      <a:srgbClr val="FFFFFF"/>
                    </a:solidFill>
                  </a:tcPr>
                </a:tc>
              </a:tr>
              <a:tr h="603885">
                <a:tc>
                  <a:txBody>
                    <a:bodyPr lIns="95250" tIns="95250" rIns="95250" bIns="95250">
                      <a:noAutofit/>
                    </a:bodyPr>
                    <a:lstStyle/>
                    <a:p>
                      <a:pPr algn="l"/>
                      <a:r>
                        <a:rPr sz="2025" b="1">
                          <a:solidFill>
                            <a:srgbClr val="182C43"/>
                          </a:solidFill>
                          <a:latin typeface="Arial"/>
                          <a:ea typeface="Arial"/>
                          <a:cs typeface="Arial"/>
                        </a:rPr>
                        <a:t>Reliability</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Healthy sessions, data gaps, rejects, incidents and recovery</a:t>
                      </a:r>
                    </a:p>
                  </a:txBody>
                  <a:tcPr marL="91440" marR="91440" marT="45720" marB="45720" anchor="ctr">
                    <a:solidFill>
                      <a:srgbClr val="F1F4F7"/>
                    </a:solidFill>
                  </a:tcPr>
                </a:tc>
              </a:tr>
              <a:tr h="603885">
                <a:tc>
                  <a:txBody>
                    <a:bodyPr lIns="95250" tIns="95250" rIns="95250" bIns="95250">
                      <a:noAutofit/>
                    </a:bodyPr>
                    <a:lstStyle/>
                    <a:p>
                      <a:pPr algn="l"/>
                      <a:r>
                        <a:rPr sz="2025" b="1">
                          <a:solidFill>
                            <a:srgbClr val="182C43"/>
                          </a:solidFill>
                          <a:latin typeface="Arial"/>
                          <a:ea typeface="Arial"/>
                          <a:cs typeface="Arial"/>
                        </a:rPr>
                        <a:t>Backtest comparison</a:t>
                      </a:r>
                    </a:p>
                  </a:txBody>
                  <a:tcPr marL="91440" marR="91440" marT="45720" marB="45720" anchor="ctr">
                    <a:solidFill>
                      <a:srgbClr val="FFFFFF"/>
                    </a:solidFill>
                  </a:tcPr>
                </a:tc>
                <a:tc>
                  <a:txBody>
                    <a:bodyPr lIns="95250" tIns="95250" rIns="95250" bIns="95250">
                      <a:noAutofit/>
                    </a:bodyPr>
                    <a:lstStyle/>
                    <a:p>
                      <a:pPr algn="l"/>
                      <a:r>
                        <a:rPr sz="2025" b="0">
                          <a:solidFill>
                            <a:srgbClr val="182C43"/>
                          </a:solidFill>
                          <a:latin typeface="Arial"/>
                          <a:ea typeface="Arial"/>
                          <a:cs typeface="Arial"/>
                        </a:rPr>
                        <a:t>Rule/version alignment and reasons results differ</a:t>
                      </a:r>
                    </a:p>
                  </a:txBody>
                  <a:tcPr marL="91440" marR="91440" marT="45720" marB="45720" anchor="ctr">
                    <a:solidFill>
                      <a:srgbClr val="FFFFFF"/>
                    </a:solidFill>
                  </a:tcPr>
                </a:tc>
              </a:tr>
              <a:tr h="603885">
                <a:tc>
                  <a:txBody>
                    <a:bodyPr lIns="95250" tIns="95250" rIns="95250" bIns="95250">
                      <a:noAutofit/>
                    </a:bodyPr>
                    <a:lstStyle/>
                    <a:p>
                      <a:pPr algn="l"/>
                      <a:r>
                        <a:rPr sz="2025" b="1">
                          <a:solidFill>
                            <a:srgbClr val="182C43"/>
                          </a:solidFill>
                          <a:latin typeface="Arial"/>
                          <a:ea typeface="Arial"/>
                          <a:cs typeface="Arial"/>
                        </a:rPr>
                        <a:t>Evidence limits</a:t>
                      </a:r>
                    </a:p>
                  </a:txBody>
                  <a:tcPr marL="91440" marR="91440" marT="45720" marB="45720" anchor="ctr">
                    <a:solidFill>
                      <a:srgbClr val="F1F4F7"/>
                    </a:solidFill>
                  </a:tcPr>
                </a:tc>
                <a:tc>
                  <a:txBody>
                    <a:bodyPr lIns="95250" tIns="95250" rIns="95250" bIns="95250">
                      <a:noAutofit/>
                    </a:bodyPr>
                    <a:lstStyle/>
                    <a:p>
                      <a:pPr algn="l"/>
                      <a:r>
                        <a:rPr sz="2025" b="0">
                          <a:solidFill>
                            <a:srgbClr val="182C43"/>
                          </a:solidFill>
                          <a:latin typeface="Arial"/>
                          <a:ea typeface="Arial"/>
                          <a:cs typeface="Arial"/>
                        </a:rPr>
                        <a:t>Sample size, simulator assumptions and omitted costs</a:t>
                      </a:r>
                    </a:p>
                  </a:txBody>
                  <a:tcPr marL="91440" marR="91440" marT="45720" marB="45720" anchor="ctr">
                    <a:solidFill>
                      <a:srgbClr val="F1F4F7"/>
                    </a:solidFill>
                  </a:tcPr>
                </a:tc>
              </a:tr>
            </a:tbl>
          </a:graphicData>
        </a:graphic>
      </p:graphicFrame>
      <p:sp>
        <p:nvSpPr>
          <p:cNvPr id="7" name="Three weeks provides operational">
            <a:extLst xmlns:a="http://schemas.openxmlformats.org/drawingml/2006/main">
              <a:ext uri="{FF2B5EF4-FFF2-40B4-BE49-F238E27FC236}">
                <a16:creationId xmlns:a16="http://schemas.microsoft.com/office/drawing/2014/main" id="{560EF043-8C46-456F-B7C2-A0B78F6FB278}"/>
              </a:ext>
            </a:extLst>
          </p:cNvPr>
          <p:cNvSpPr>
            <a:spLocks xmlns:a="http://schemas.openxmlformats.org/drawingml/2006/main" noGrp="1"/>
          </p:cNvSpPr>
          <p:nvPr/>
        </p:nvSpPr>
        <p:spPr>
          <a:xfrm xmlns:a="http://schemas.openxmlformats.org/drawingml/2006/main">
            <a:off x="609600" y="5476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C55A11"/>
                </a:solidFill>
                <a:latin typeface="Arial"/>
                <a:ea typeface="Arial"/>
                <a:cs typeface="Arial"/>
              </a:defRPr>
            </a:defPPr>
          </a:lstStyle>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Three weeks provides operational and preliminary performance evidence.</a:t>
            </a:r>
          </a:p>
          <a:p xmlns:a="http://schemas.openxmlformats.org/drawingml/2006/main">
            <a:pPr algn="l">
              <a:defRPr sz="1950" b="1">
                <a:solidFill>
                  <a:srgbClr val="C55A11"/>
                </a:solidFill>
                <a:latin typeface="Arial"/>
                <a:ea typeface="Arial"/>
                <a:cs typeface="Arial"/>
              </a:defRPr>
            </a:pPr>
            <a:r>
              <a:rPr sz="1950" b="1">
                <a:solidFill>
                  <a:srgbClr val="C55A11"/>
                </a:solidFill>
                <a:latin typeface="Arial"/>
                <a:ea typeface="Arial"/>
                <a:cs typeface="Arial"/>
              </a:rPr>
              <a:t>A sparse trade sample needs more observation.</a:t>
            </a:r>
          </a:p>
        </p:txBody>
      </p:sp>
    </p:spTree>
    <p:extLst>
      <p:ext uri="{BB962C8B-B14F-4D97-AF65-F5344CB8AC3E}">
        <p14:creationId xmlns:p14="http://schemas.microsoft.com/office/powerpoint/2010/main" val="18520293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FERENCE: SHPE LEADERSHIP SHOWC">
            <a:extLst xmlns:a="http://schemas.openxmlformats.org/drawingml/2006/main">
              <a:ext uri="{FF2B5EF4-FFF2-40B4-BE49-F238E27FC236}">
                <a16:creationId xmlns:a16="http://schemas.microsoft.com/office/drawing/2014/main" id="{39BBC672-BEEB-41E0-AC10-467058921739}"/>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REFERENCE: SHPE LEADERSHIP SHOWCASE</a:t>
            </a:r>
          </a:p>
        </p:txBody>
      </p:sp>
      <p:sp>
        <p:nvSpPr>
          <p:cNvPr id="2" name="Slide title">
            <a:extLst xmlns:a="http://schemas.openxmlformats.org/drawingml/2006/main">
              <a:ext uri="{FF2B5EF4-FFF2-40B4-BE49-F238E27FC236}">
                <a16:creationId xmlns:a16="http://schemas.microsoft.com/office/drawing/2014/main" id="{B46EE419-F917-4FCE-8043-F8B7D740AB0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The final presentation structure</a:t>
            </a:r>
          </a:p>
        </p:txBody>
      </p:sp>
      <p:sp>
        <p:nvSpPr>
          <p:cNvPr id="3" name="SHPE CAPITAL    OCTOBER 13, 2026">
            <a:extLst xmlns:a="http://schemas.openxmlformats.org/drawingml/2006/main">
              <a:ext uri="{FF2B5EF4-FFF2-40B4-BE49-F238E27FC236}">
                <a16:creationId xmlns:a16="http://schemas.microsoft.com/office/drawing/2014/main" id="{BBD940F2-5970-47C7-85C4-2ADDCDBBB8ED}"/>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F8E3F495-1934-413E-9BE4-FC39E26148A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7">
            <a:extLst xmlns:a="http://schemas.openxmlformats.org/drawingml/2006/main">
              <a:ext uri="{FF2B5EF4-FFF2-40B4-BE49-F238E27FC236}">
                <a16:creationId xmlns:a16="http://schemas.microsoft.com/office/drawing/2014/main" id="{F77BA2E8-13E4-4714-88AE-1057055D4A00}"/>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17</a:t>
            </a:r>
          </a:p>
        </p:txBody>
      </p:sp>
      <p:graphicFrame>
        <p:nvGraphicFramePr>
          <p:cNvPr id="6" name="">
            <a:extLst xmlns:a="http://schemas.openxmlformats.org/drawingml/2006/main">
              <a:ext uri="{FF2B5EF4-FFF2-40B4-BE49-F238E27FC236}">
                <a16:creationId xmlns:a16="http://schemas.microsoft.com/office/drawing/2014/main" id="{8904C35A-AD5A-4D27-AD56-E6ACF7AEAC0A}"/>
              </a:ext>
            </a:extLst>
          </p:cNvPr>
          <p:cNvGraphicFramePr/>
          <p:nvPr/>
        </p:nvGraphicFramePr>
        <p:xfrm>
          <a:off xmlns:a="http://schemas.openxmlformats.org/drawingml/2006/main" x="609600" y="1952625"/>
          <a:ext xmlns:a="http://schemas.openxmlformats.org/drawingml/2006/main" cx="10972800" cy="3676650"/>
        </p:xfrm>
        <a:graphic xmlns:a="http://schemas.openxmlformats.org/drawingml/2006/main">
          <a:graphicData uri="http://schemas.openxmlformats.org/drawingml/2006/table">
            <a:tbl>
              <a:tblPr firstRow="1" bandRow="0"/>
              <a:tblGrid>
                <a:gridCol w="3448050"/>
                <a:gridCol w="7524750"/>
              </a:tblGrid>
              <a:tr h="612775">
                <a:tc>
                  <a:txBody>
                    <a:bodyPr lIns="95250" tIns="95250" rIns="95250" bIns="95250">
                      <a:noAutofit/>
                    </a:bodyPr>
                    <a:lstStyle/>
                    <a:p>
                      <a:pPr algn="l"/>
                      <a:r>
                        <a:rPr sz="1950" b="1">
                          <a:solidFill>
                            <a:srgbClr val="FFFFFF"/>
                          </a:solidFill>
                          <a:latin typeface="Arial"/>
                          <a:ea typeface="Arial"/>
                          <a:cs typeface="Arial"/>
                        </a:rPr>
                        <a:t>Part</a:t>
                      </a:r>
                    </a:p>
                  </a:txBody>
                  <a:tcPr marL="91440" marR="91440" marT="45720" marB="45720" anchor="ctr">
                    <a:solidFill>
                      <a:srgbClr val="172A45"/>
                    </a:solidFill>
                  </a:tcPr>
                </a:tc>
                <a:tc>
                  <a:txBody>
                    <a:bodyPr lIns="95250" tIns="95250" rIns="95250" bIns="95250">
                      <a:noAutofit/>
                    </a:bodyPr>
                    <a:lstStyle/>
                    <a:p>
                      <a:pPr algn="l"/>
                      <a:r>
                        <a:rPr sz="1950" b="1">
                          <a:solidFill>
                            <a:srgbClr val="FFFFFF"/>
                          </a:solidFill>
                          <a:latin typeface="Arial"/>
                          <a:ea typeface="Arial"/>
                          <a:cs typeface="Arial"/>
                        </a:rPr>
                        <a:t>What leadership should understand</a:t>
                      </a:r>
                    </a:p>
                  </a:txBody>
                  <a:tcPr marL="91440" marR="91440" marT="45720" marB="45720" anchor="ctr">
                    <a:solidFill>
                      <a:srgbClr val="172A45"/>
                    </a:solidFill>
                  </a:tcPr>
                </a:tc>
              </a:tr>
              <a:tr h="612775">
                <a:tc>
                  <a:txBody>
                    <a:bodyPr lIns="95250" tIns="95250" rIns="95250" bIns="95250">
                      <a:noAutofit/>
                    </a:bodyPr>
                    <a:lstStyle/>
                    <a:p>
                      <a:pPr algn="l"/>
                      <a:r>
                        <a:rPr sz="1950" b="1">
                          <a:solidFill>
                            <a:srgbClr val="182C43"/>
                          </a:solidFill>
                          <a:latin typeface="Arial"/>
                          <a:ea typeface="Arial"/>
                          <a:cs typeface="Arial"/>
                        </a:rPr>
                        <a:t>1–2. Idea and research</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The mechanism, cited evidence and differences from the paper</a:t>
                      </a:r>
                    </a:p>
                  </a:txBody>
                  <a:tcPr marL="91440" marR="91440" marT="45720" marB="45720" anchor="ctr">
                    <a:solidFill>
                      <a:srgbClr val="FFFFFF"/>
                    </a:solidFill>
                  </a:tcPr>
                </a:tc>
              </a:tr>
              <a:tr h="612775">
                <a:tc>
                  <a:txBody>
                    <a:bodyPr lIns="95250" tIns="95250" rIns="95250" bIns="95250">
                      <a:noAutofit/>
                    </a:bodyPr>
                    <a:lstStyle/>
                    <a:p>
                      <a:pPr algn="l"/>
                      <a:r>
                        <a:rPr sz="1950" b="1">
                          <a:solidFill>
                            <a:srgbClr val="182C43"/>
                          </a:solidFill>
                          <a:latin typeface="Arial"/>
                          <a:ea typeface="Arial"/>
                          <a:cs typeface="Arial"/>
                        </a:rPr>
                        <a:t>3–4. Rules and method</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How a trade works and how the experiment avoids bias</a:t>
                      </a:r>
                    </a:p>
                  </a:txBody>
                  <a:tcPr marL="91440" marR="91440" marT="45720" marB="45720" anchor="ctr">
                    <a:solidFill>
                      <a:srgbClr val="F1F4F7"/>
                    </a:solidFill>
                  </a:tcPr>
                </a:tc>
              </a:tr>
              <a:tr h="612775">
                <a:tc>
                  <a:txBody>
                    <a:bodyPr lIns="95250" tIns="95250" rIns="95250" bIns="95250">
                      <a:noAutofit/>
                    </a:bodyPr>
                    <a:lstStyle/>
                    <a:p>
                      <a:pPr algn="l"/>
                      <a:r>
                        <a:rPr sz="1950" b="1">
                          <a:solidFill>
                            <a:srgbClr val="182C43"/>
                          </a:solidFill>
                          <a:latin typeface="Arial"/>
                          <a:ea typeface="Arial"/>
                          <a:cs typeface="Arial"/>
                        </a:rPr>
                        <a:t>5. Historical results</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Net performance, drawdown, baseline and cost sensitivity</a:t>
                      </a:r>
                    </a:p>
                  </a:txBody>
                  <a:tcPr marL="91440" marR="91440" marT="45720" marB="45720" anchor="ctr">
                    <a:solidFill>
                      <a:srgbClr val="FFFFFF"/>
                    </a:solidFill>
                  </a:tcPr>
                </a:tc>
              </a:tr>
              <a:tr h="612775">
                <a:tc>
                  <a:txBody>
                    <a:bodyPr lIns="95250" tIns="95250" rIns="95250" bIns="95250">
                      <a:noAutofit/>
                    </a:bodyPr>
                    <a:lstStyle/>
                    <a:p>
                      <a:pPr algn="l"/>
                      <a:r>
                        <a:rPr sz="1950" b="1">
                          <a:solidFill>
                            <a:srgbClr val="182C43"/>
                          </a:solidFill>
                          <a:latin typeface="Arial"/>
                          <a:ea typeface="Arial"/>
                          <a:cs typeface="Arial"/>
                        </a:rPr>
                        <a:t>6. Paper results</a:t>
                      </a:r>
                    </a:p>
                  </a:txBody>
                  <a:tcPr marL="91440" marR="91440" marT="45720" marB="45720" anchor="ctr">
                    <a:solidFill>
                      <a:srgbClr val="F1F4F7"/>
                    </a:solidFill>
                  </a:tcPr>
                </a:tc>
                <a:tc>
                  <a:txBody>
                    <a:bodyPr lIns="95250" tIns="95250" rIns="95250" bIns="95250">
                      <a:noAutofit/>
                    </a:bodyPr>
                    <a:lstStyle/>
                    <a:p>
                      <a:pPr algn="l"/>
                      <a:r>
                        <a:rPr sz="1950" b="0">
                          <a:solidFill>
                            <a:srgbClr val="182C43"/>
                          </a:solidFill>
                          <a:latin typeface="Arial"/>
                          <a:ea typeface="Arial"/>
                          <a:cs typeface="Arial"/>
                        </a:rPr>
                        <a:t>Dates, sessions, version, trades, incidents and discrepancies</a:t>
                      </a:r>
                    </a:p>
                  </a:txBody>
                  <a:tcPr marL="91440" marR="91440" marT="45720" marB="45720" anchor="ctr">
                    <a:solidFill>
                      <a:srgbClr val="F1F4F7"/>
                    </a:solidFill>
                  </a:tcPr>
                </a:tc>
              </a:tr>
              <a:tr h="612775">
                <a:tc>
                  <a:txBody>
                    <a:bodyPr lIns="95250" tIns="95250" rIns="95250" bIns="95250">
                      <a:noAutofit/>
                    </a:bodyPr>
                    <a:lstStyle/>
                    <a:p>
                      <a:pPr algn="l"/>
                      <a:r>
                        <a:rPr sz="1950" b="1">
                          <a:solidFill>
                            <a:srgbClr val="182C43"/>
                          </a:solidFill>
                          <a:latin typeface="Arial"/>
                          <a:ea typeface="Arial"/>
                          <a:cs typeface="Arial"/>
                        </a:rPr>
                        <a:t>7–8. Limits and reflection</a:t>
                      </a:r>
                    </a:p>
                  </a:txBody>
                  <a:tcPr marL="91440" marR="91440" marT="45720" marB="45720" anchor="ctr">
                    <a:solidFill>
                      <a:srgbClr val="FFFFFF"/>
                    </a:solidFill>
                  </a:tcPr>
                </a:tc>
                <a:tc>
                  <a:txBody>
                    <a:bodyPr lIns="95250" tIns="95250" rIns="95250" bIns="95250">
                      <a:noAutofit/>
                    </a:bodyPr>
                    <a:lstStyle/>
                    <a:p>
                      <a:pPr algn="l"/>
                      <a:r>
                        <a:rPr sz="1950" b="0">
                          <a:solidFill>
                            <a:srgbClr val="182C43"/>
                          </a:solidFill>
                          <a:latin typeface="Arial"/>
                          <a:ea typeface="Arial"/>
                          <a:cs typeface="Arial"/>
                        </a:rPr>
                        <a:t>What failed, what was learned and the next useful step</a:t>
                      </a:r>
                    </a:p>
                  </a:txBody>
                  <a:tcPr marL="91440" marR="91440" marT="45720" marB="45720" anchor="ctr">
                    <a:solidFill>
                      <a:srgbClr val="FFFFFF"/>
                    </a:solidFill>
                  </a:tcPr>
                </a:tc>
              </a:tr>
            </a:tbl>
          </a:graphicData>
        </a:graphic>
      </p:graphicFrame>
      <p:sp>
        <p:nvSpPr>
          <p:cNvPr id="7" name="A rigorous negative result is a ">
            <a:extLst xmlns:a="http://schemas.openxmlformats.org/drawingml/2006/main">
              <a:ext uri="{FF2B5EF4-FFF2-40B4-BE49-F238E27FC236}">
                <a16:creationId xmlns:a16="http://schemas.microsoft.com/office/drawing/2014/main" id="{78B15485-0A14-4D92-AB3C-9080042B69B8}"/>
              </a:ext>
            </a:extLst>
          </p:cNvPr>
          <p:cNvSpPr>
            <a:spLocks xmlns:a="http://schemas.openxmlformats.org/drawingml/2006/main" noGrp="1"/>
          </p:cNvSpPr>
          <p:nvPr/>
        </p:nvSpPr>
        <p:spPr>
          <a:xfrm xmlns:a="http://schemas.openxmlformats.org/drawingml/2006/main">
            <a:off x="609600" y="59340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C55A11"/>
                </a:solidFill>
                <a:latin typeface="Arial"/>
                <a:ea typeface="Arial"/>
                <a:cs typeface="Arial"/>
              </a:defRPr>
            </a:defPPr>
          </a:lstStyle>
          <a:p xmlns:a="http://schemas.openxmlformats.org/drawingml/2006/main">
            <a:pPr algn="l">
              <a:defRPr sz="1650" b="1">
                <a:solidFill>
                  <a:srgbClr val="C55A11"/>
                </a:solidFill>
                <a:latin typeface="Arial"/>
                <a:ea typeface="Arial"/>
                <a:cs typeface="Arial"/>
              </a:defRPr>
            </a:pPr>
            <a:r>
              <a:rPr sz="1650" b="1">
                <a:solidFill>
                  <a:srgbClr val="C55A11"/>
                </a:solidFill>
                <a:latin typeface="Arial"/>
                <a:ea typeface="Arial"/>
                <a:cs typeface="Arial"/>
              </a:rPr>
              <a:t>A rigorous negative result is a valid finding.</a:t>
            </a:r>
          </a:p>
        </p:txBody>
      </p:sp>
    </p:spTree>
    <p:extLst>
      <p:ext uri="{BB962C8B-B14F-4D97-AF65-F5344CB8AC3E}">
        <p14:creationId xmlns:p14="http://schemas.microsoft.com/office/powerpoint/2010/main" val="4390630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FERENCE: SOURCE LINKS">
            <a:extLst xmlns:a="http://schemas.openxmlformats.org/drawingml/2006/main">
              <a:ext uri="{FF2B5EF4-FFF2-40B4-BE49-F238E27FC236}">
                <a16:creationId xmlns:a16="http://schemas.microsoft.com/office/drawing/2014/main" id="{65EF7A12-5CE9-4692-AA6D-BC539BC543C8}"/>
              </a:ext>
            </a:extLst>
          </p:cNvPr>
          <p:cNvSpPr>
            <a:spLocks xmlns:a="http://schemas.openxmlformats.org/drawingml/2006/main" noGrp="1"/>
          </p:cNvSpPr>
          <p:nvPr/>
        </p:nvSpPr>
        <p:spPr>
          <a:xfrm xmlns:a="http://schemas.openxmlformats.org/drawingml/2006/main">
            <a:off x="609600" y="285750"/>
            <a:ext cx="876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C55A11"/>
                </a:solidFill>
                <a:latin typeface="Arial"/>
                <a:ea typeface="Arial"/>
                <a:cs typeface="Arial"/>
              </a:defRPr>
            </a:defPPr>
          </a:lstStyle>
          <a:p xmlns:a="http://schemas.openxmlformats.org/drawingml/2006/main">
            <a:pPr algn="l">
              <a:defRPr sz="1350" b="1">
                <a:solidFill>
                  <a:srgbClr val="C55A11"/>
                </a:solidFill>
                <a:latin typeface="Arial"/>
                <a:ea typeface="Arial"/>
                <a:cs typeface="Arial"/>
              </a:defRPr>
            </a:pPr>
            <a:r>
              <a:rPr sz="1350" b="1">
                <a:solidFill>
                  <a:srgbClr val="C55A11"/>
                </a:solidFill>
                <a:latin typeface="Arial"/>
                <a:ea typeface="Arial"/>
                <a:cs typeface="Arial"/>
              </a:rPr>
              <a:t>REFERENCE: SOURCE LINKS</a:t>
            </a:r>
          </a:p>
        </p:txBody>
      </p:sp>
      <p:sp>
        <p:nvSpPr>
          <p:cNvPr id="2" name="Slide title">
            <a:extLst xmlns:a="http://schemas.openxmlformats.org/drawingml/2006/main">
              <a:ext uri="{FF2B5EF4-FFF2-40B4-BE49-F238E27FC236}">
                <a16:creationId xmlns:a16="http://schemas.microsoft.com/office/drawing/2014/main" id="{6A76B3A2-9F10-472D-844D-61DD0E0350E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A45"/>
                </a:solidFill>
                <a:latin typeface="Arial"/>
                <a:ea typeface="Arial"/>
                <a:cs typeface="Arial"/>
              </a:defRPr>
            </a:defPPr>
          </a:lstStyle>
          <a:p xmlns:a="http://schemas.openxmlformats.org/drawingml/2006/main">
            <a:pPr algn="l">
              <a:defRPr sz="3450" b="1">
                <a:solidFill>
                  <a:srgbClr val="172A45"/>
                </a:solidFill>
                <a:latin typeface="Arial"/>
                <a:ea typeface="Arial"/>
                <a:cs typeface="Arial"/>
              </a:defRPr>
            </a:pPr>
            <a:r>
              <a:rPr sz="3450" b="1">
                <a:solidFill>
                  <a:srgbClr val="172A45"/>
                </a:solidFill>
                <a:latin typeface="Arial"/>
                <a:ea typeface="Arial"/>
                <a:cs typeface="Arial"/>
              </a:rPr>
              <a:t>Starting research and reference material</a:t>
            </a:r>
          </a:p>
        </p:txBody>
      </p:sp>
      <p:sp>
        <p:nvSpPr>
          <p:cNvPr id="3" name="SHPE CAPITAL    OCTOBER 13, 2026">
            <a:extLst xmlns:a="http://schemas.openxmlformats.org/drawingml/2006/main">
              <a:ext uri="{FF2B5EF4-FFF2-40B4-BE49-F238E27FC236}">
                <a16:creationId xmlns:a16="http://schemas.microsoft.com/office/drawing/2014/main" id="{9B657204-BF87-48CA-9A27-5A5E77149D1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3D5833BA-3BA3-4012-888B-CED18F5D585A}"/>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8">
            <a:extLst xmlns:a="http://schemas.openxmlformats.org/drawingml/2006/main">
              <a:ext uri="{FF2B5EF4-FFF2-40B4-BE49-F238E27FC236}">
                <a16:creationId xmlns:a16="http://schemas.microsoft.com/office/drawing/2014/main" id="{E48816CD-E481-4036-8389-C8498673687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18</a:t>
            </a:r>
          </a:p>
        </p:txBody>
      </p:sp>
      <p:sp>
        <p:nvSpPr>
          <p:cNvPr id="6" name="Momentum">
            <a:extLst xmlns:a="http://schemas.openxmlformats.org/drawingml/2006/main">
              <a:ext uri="{FF2B5EF4-FFF2-40B4-BE49-F238E27FC236}">
                <a16:creationId xmlns:a16="http://schemas.microsoft.com/office/drawing/2014/main" id="{A5ADDCC0-B2EF-40BB-9E09-10C755EFC6E3}"/>
              </a:ext>
            </a:extLst>
          </p:cNvPr>
          <p:cNvSpPr>
            <a:spLocks xmlns:a="http://schemas.openxmlformats.org/drawingml/2006/main" noGrp="1"/>
          </p:cNvSpPr>
          <p:nvPr/>
        </p:nvSpPr>
        <p:spPr>
          <a:xfrm xmlns:a="http://schemas.openxmlformats.org/drawingml/2006/main">
            <a:off x="609600" y="181927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Momentum</a:t>
            </a:r>
          </a:p>
        </p:txBody>
      </p:sp>
      <p:sp>
        <p:nvSpPr>
          <p:cNvPr id="7" name="">
            <a:extLst xmlns:a="http://schemas.openxmlformats.org/drawingml/2006/main">
              <a:ext uri="{FF2B5EF4-FFF2-40B4-BE49-F238E27FC236}">
                <a16:creationId xmlns:a16="http://schemas.microsoft.com/office/drawing/2014/main" id="{79839AA5-A1B2-4D9F-92C6-667192AB2919}"/>
              </a:ext>
            </a:extLst>
          </p:cNvPr>
          <p:cNvSpPr>
            <a:spLocks xmlns:a="http://schemas.openxmlformats.org/drawingml/2006/main" noGrp="1"/>
          </p:cNvSpPr>
          <p:nvPr/>
        </p:nvSpPr>
        <p:spPr>
          <a:xfrm xmlns:a="http://schemas.openxmlformats.org/drawingml/2006/main">
            <a:off x="3162300" y="1819275"/>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A45"/>
                </a:solidFill>
                <a:latin typeface="Arial"/>
                <a:ea typeface="Arial"/>
                <a:cs typeface="Arial"/>
              </a:defRPr>
            </a:defPPr>
          </a:lstStyle>
          <a:p xmlns:a="http://schemas.openxmlformats.org/drawingml/2006/main">
            <a:pPr algn="l">
              <a:defRPr sz="1875" b="0">
                <a:solidFill>
                  <a:srgbClr val="172A45"/>
                </a:solidFill>
                <a:latin typeface="Arial"/>
                <a:ea typeface="Arial"/>
                <a:cs typeface="Arial"/>
              </a:defRPr>
            </a:pPr>
            <a:r>
              <a:rPr sz="1875" u="sng">
                <a:solidFill>
                  <a:srgbClr val="172A45"/>
                </a:solidFill>
                <a:latin typeface="Arial"/>
                <a:ea typeface="Arial"/>
                <a:cs typeface="Arial"/>
                <a:hlinkClick xmlns:r="http://schemas.openxmlformats.org/officeDocument/2006/relationships" r:id="R7b23fc055867478c"/>
              </a:rPr>
              <a:t>Gao et al. (2018), Market intraday momentum</a:t>
            </a:r>
          </a:p>
        </p:txBody>
      </p:sp>
      <p:sp>
        <p:nvSpPr>
          <p:cNvPr id="8" name="Pairs trading">
            <a:extLst xmlns:a="http://schemas.openxmlformats.org/drawingml/2006/main">
              <a:ext uri="{FF2B5EF4-FFF2-40B4-BE49-F238E27FC236}">
                <a16:creationId xmlns:a16="http://schemas.microsoft.com/office/drawing/2014/main" id="{B7811B8D-2764-452D-AA91-1B9A7F7A3294}"/>
              </a:ext>
            </a:extLst>
          </p:cNvPr>
          <p:cNvSpPr>
            <a:spLocks xmlns:a="http://schemas.openxmlformats.org/drawingml/2006/main" noGrp="1"/>
          </p:cNvSpPr>
          <p:nvPr/>
        </p:nvSpPr>
        <p:spPr>
          <a:xfrm xmlns:a="http://schemas.openxmlformats.org/drawingml/2006/main">
            <a:off x="609600" y="23622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Pairs trading</a:t>
            </a:r>
          </a:p>
        </p:txBody>
      </p:sp>
      <p:sp>
        <p:nvSpPr>
          <p:cNvPr id="9" name="">
            <a:extLst xmlns:a="http://schemas.openxmlformats.org/drawingml/2006/main">
              <a:ext uri="{FF2B5EF4-FFF2-40B4-BE49-F238E27FC236}">
                <a16:creationId xmlns:a16="http://schemas.microsoft.com/office/drawing/2014/main" id="{293D700B-6C24-4EC6-9DA7-3C3CB0B10952}"/>
              </a:ext>
            </a:extLst>
          </p:cNvPr>
          <p:cNvSpPr>
            <a:spLocks xmlns:a="http://schemas.openxmlformats.org/drawingml/2006/main" noGrp="1"/>
          </p:cNvSpPr>
          <p:nvPr/>
        </p:nvSpPr>
        <p:spPr>
          <a:xfrm xmlns:a="http://schemas.openxmlformats.org/drawingml/2006/main">
            <a:off x="3162300" y="2362200"/>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A45"/>
                </a:solidFill>
                <a:latin typeface="Arial"/>
                <a:ea typeface="Arial"/>
                <a:cs typeface="Arial"/>
              </a:defRPr>
            </a:defPPr>
          </a:lstStyle>
          <a:p xmlns:a="http://schemas.openxmlformats.org/drawingml/2006/main">
            <a:pPr algn="l">
              <a:defRPr sz="1875" b="0">
                <a:solidFill>
                  <a:srgbClr val="172A45"/>
                </a:solidFill>
                <a:latin typeface="Arial"/>
                <a:ea typeface="Arial"/>
                <a:cs typeface="Arial"/>
              </a:defRPr>
            </a:pPr>
            <a:r>
              <a:rPr sz="1875" u="sng">
                <a:solidFill>
                  <a:srgbClr val="172A45"/>
                </a:solidFill>
                <a:latin typeface="Arial"/>
                <a:ea typeface="Arial"/>
                <a:cs typeface="Arial"/>
                <a:hlinkClick xmlns:r="http://schemas.openxmlformats.org/officeDocument/2006/relationships" r:id="R0be4ee96d05147cf"/>
              </a:rPr>
              <a:t>Gatev et al., February 2006 manuscript</a:t>
            </a:r>
          </a:p>
        </p:txBody>
      </p:sp>
      <p:sp>
        <p:nvSpPr>
          <p:cNvPr id="10" name="Reversal">
            <a:extLst xmlns:a="http://schemas.openxmlformats.org/drawingml/2006/main">
              <a:ext uri="{FF2B5EF4-FFF2-40B4-BE49-F238E27FC236}">
                <a16:creationId xmlns:a16="http://schemas.microsoft.com/office/drawing/2014/main" id="{AD09A07D-14BC-43DF-A802-2CEFC852025E}"/>
              </a:ext>
            </a:extLst>
          </p:cNvPr>
          <p:cNvSpPr>
            <a:spLocks xmlns:a="http://schemas.openxmlformats.org/drawingml/2006/main" noGrp="1"/>
          </p:cNvSpPr>
          <p:nvPr/>
        </p:nvSpPr>
        <p:spPr>
          <a:xfrm xmlns:a="http://schemas.openxmlformats.org/drawingml/2006/main">
            <a:off x="609600" y="29051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Reversal</a:t>
            </a:r>
          </a:p>
        </p:txBody>
      </p:sp>
      <p:sp>
        <p:nvSpPr>
          <p:cNvPr id="11" name="">
            <a:extLst xmlns:a="http://schemas.openxmlformats.org/drawingml/2006/main">
              <a:ext uri="{FF2B5EF4-FFF2-40B4-BE49-F238E27FC236}">
                <a16:creationId xmlns:a16="http://schemas.microsoft.com/office/drawing/2014/main" id="{8D594584-2B19-4FB3-800C-A40E1EC6230B}"/>
              </a:ext>
            </a:extLst>
          </p:cNvPr>
          <p:cNvSpPr>
            <a:spLocks xmlns:a="http://schemas.openxmlformats.org/drawingml/2006/main" noGrp="1"/>
          </p:cNvSpPr>
          <p:nvPr/>
        </p:nvSpPr>
        <p:spPr>
          <a:xfrm xmlns:a="http://schemas.openxmlformats.org/drawingml/2006/main">
            <a:off x="3162300" y="2905125"/>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A45"/>
                </a:solidFill>
                <a:latin typeface="Arial"/>
                <a:ea typeface="Arial"/>
                <a:cs typeface="Arial"/>
              </a:defRPr>
            </a:defPPr>
          </a:lstStyle>
          <a:p xmlns:a="http://schemas.openxmlformats.org/drawingml/2006/main">
            <a:pPr algn="l">
              <a:defRPr sz="1875" b="0">
                <a:solidFill>
                  <a:srgbClr val="172A45"/>
                </a:solidFill>
                <a:latin typeface="Arial"/>
                <a:ea typeface="Arial"/>
                <a:cs typeface="Arial"/>
              </a:defRPr>
            </a:pPr>
            <a:r>
              <a:rPr sz="1875" u="sng">
                <a:solidFill>
                  <a:srgbClr val="172A45"/>
                </a:solidFill>
                <a:latin typeface="Arial"/>
                <a:ea typeface="Arial"/>
                <a:cs typeface="Arial"/>
                <a:hlinkClick xmlns:r="http://schemas.openxmlformats.org/officeDocument/2006/relationships" r:id="R78a513e816bd4e9a"/>
              </a:rPr>
              <a:t>Heston et al. (2010), Intraday Patterns</a:t>
            </a:r>
          </a:p>
        </p:txBody>
      </p:sp>
      <p:sp>
        <p:nvSpPr>
          <p:cNvPr id="12" name="Overfitting">
            <a:extLst xmlns:a="http://schemas.openxmlformats.org/drawingml/2006/main">
              <a:ext uri="{FF2B5EF4-FFF2-40B4-BE49-F238E27FC236}">
                <a16:creationId xmlns:a16="http://schemas.microsoft.com/office/drawing/2014/main" id="{FC9F85C3-EC7E-4899-A1B7-48216DEBC41A}"/>
              </a:ext>
            </a:extLst>
          </p:cNvPr>
          <p:cNvSpPr>
            <a:spLocks xmlns:a="http://schemas.openxmlformats.org/drawingml/2006/main" noGrp="1"/>
          </p:cNvSpPr>
          <p:nvPr/>
        </p:nvSpPr>
        <p:spPr>
          <a:xfrm xmlns:a="http://schemas.openxmlformats.org/drawingml/2006/main">
            <a:off x="609600" y="34480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Overfitting</a:t>
            </a:r>
          </a:p>
        </p:txBody>
      </p:sp>
      <p:sp>
        <p:nvSpPr>
          <p:cNvPr id="13" name="">
            <a:extLst xmlns:a="http://schemas.openxmlformats.org/drawingml/2006/main">
              <a:ext uri="{FF2B5EF4-FFF2-40B4-BE49-F238E27FC236}">
                <a16:creationId xmlns:a16="http://schemas.microsoft.com/office/drawing/2014/main" id="{E231162E-1D86-4A94-B25E-E6EE18E396B2}"/>
              </a:ext>
            </a:extLst>
          </p:cNvPr>
          <p:cNvSpPr>
            <a:spLocks xmlns:a="http://schemas.openxmlformats.org/drawingml/2006/main" noGrp="1"/>
          </p:cNvSpPr>
          <p:nvPr/>
        </p:nvSpPr>
        <p:spPr>
          <a:xfrm xmlns:a="http://schemas.openxmlformats.org/drawingml/2006/main">
            <a:off x="3162300" y="3448050"/>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A45"/>
                </a:solidFill>
                <a:latin typeface="Arial"/>
                <a:ea typeface="Arial"/>
                <a:cs typeface="Arial"/>
              </a:defRPr>
            </a:defPPr>
          </a:lstStyle>
          <a:p xmlns:a="http://schemas.openxmlformats.org/drawingml/2006/main">
            <a:pPr algn="l">
              <a:defRPr sz="1875" b="0">
                <a:solidFill>
                  <a:srgbClr val="172A45"/>
                </a:solidFill>
                <a:latin typeface="Arial"/>
                <a:ea typeface="Arial"/>
                <a:cs typeface="Arial"/>
              </a:defRPr>
            </a:pPr>
            <a:r>
              <a:rPr sz="1875" u="sng">
                <a:solidFill>
                  <a:srgbClr val="172A45"/>
                </a:solidFill>
                <a:latin typeface="Arial"/>
                <a:ea typeface="Arial"/>
                <a:cs typeface="Arial"/>
                <a:hlinkClick xmlns:r="http://schemas.openxmlformats.org/officeDocument/2006/relationships" r:id="R52b77d285aef46a4"/>
              </a:rPr>
              <a:t>Bailey et al., February 2015 manuscript</a:t>
            </a:r>
          </a:p>
        </p:txBody>
      </p:sp>
      <p:sp>
        <p:nvSpPr>
          <p:cNvPr id="14" name="Paper trading">
            <a:extLst xmlns:a="http://schemas.openxmlformats.org/drawingml/2006/main">
              <a:ext uri="{FF2B5EF4-FFF2-40B4-BE49-F238E27FC236}">
                <a16:creationId xmlns:a16="http://schemas.microsoft.com/office/drawing/2014/main" id="{EE7BC474-78AF-40EB-836C-E7E02C621E53}"/>
              </a:ext>
            </a:extLst>
          </p:cNvPr>
          <p:cNvSpPr>
            <a:spLocks xmlns:a="http://schemas.openxmlformats.org/drawingml/2006/main" noGrp="1"/>
          </p:cNvSpPr>
          <p:nvPr/>
        </p:nvSpPr>
        <p:spPr>
          <a:xfrm xmlns:a="http://schemas.openxmlformats.org/drawingml/2006/main">
            <a:off x="609600" y="399097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Paper trading</a:t>
            </a:r>
          </a:p>
        </p:txBody>
      </p:sp>
      <p:sp>
        <p:nvSpPr>
          <p:cNvPr id="15" name="">
            <a:extLst xmlns:a="http://schemas.openxmlformats.org/drawingml/2006/main">
              <a:ext uri="{FF2B5EF4-FFF2-40B4-BE49-F238E27FC236}">
                <a16:creationId xmlns:a16="http://schemas.microsoft.com/office/drawing/2014/main" id="{3CE52FAD-1340-4769-A95B-C059A9843AC4}"/>
              </a:ext>
            </a:extLst>
          </p:cNvPr>
          <p:cNvSpPr>
            <a:spLocks xmlns:a="http://schemas.openxmlformats.org/drawingml/2006/main" noGrp="1"/>
          </p:cNvSpPr>
          <p:nvPr/>
        </p:nvSpPr>
        <p:spPr>
          <a:xfrm xmlns:a="http://schemas.openxmlformats.org/drawingml/2006/main">
            <a:off x="3162300" y="3990975"/>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A45"/>
                </a:solidFill>
                <a:latin typeface="Arial"/>
                <a:ea typeface="Arial"/>
                <a:cs typeface="Arial"/>
              </a:defRPr>
            </a:defPPr>
          </a:lstStyle>
          <a:p xmlns:a="http://schemas.openxmlformats.org/drawingml/2006/main">
            <a:pPr algn="l">
              <a:defRPr sz="1875" b="0">
                <a:solidFill>
                  <a:srgbClr val="172A45"/>
                </a:solidFill>
                <a:latin typeface="Arial"/>
                <a:ea typeface="Arial"/>
                <a:cs typeface="Arial"/>
              </a:defRPr>
            </a:pPr>
            <a:r>
              <a:rPr sz="1875" u="sng">
                <a:solidFill>
                  <a:srgbClr val="172A45"/>
                </a:solidFill>
                <a:latin typeface="Arial"/>
                <a:ea typeface="Arial"/>
                <a:cs typeface="Arial"/>
                <a:hlinkClick xmlns:r="http://schemas.openxmlformats.org/officeDocument/2006/relationships" r:id="R94259e5c3e054fde"/>
              </a:rPr>
              <a:t>Alpaca simulator rules and fill assumptions</a:t>
            </a:r>
          </a:p>
        </p:txBody>
      </p:sp>
      <p:sp>
        <p:nvSpPr>
          <p:cNvPr id="16" name="Market data">
            <a:extLst xmlns:a="http://schemas.openxmlformats.org/drawingml/2006/main">
              <a:ext uri="{FF2B5EF4-FFF2-40B4-BE49-F238E27FC236}">
                <a16:creationId xmlns:a16="http://schemas.microsoft.com/office/drawing/2014/main" id="{C77E4D8F-8CE5-4876-BC79-E84693D914FD}"/>
              </a:ext>
            </a:extLst>
          </p:cNvPr>
          <p:cNvSpPr>
            <a:spLocks xmlns:a="http://schemas.openxmlformats.org/drawingml/2006/main" noGrp="1"/>
          </p:cNvSpPr>
          <p:nvPr/>
        </p:nvSpPr>
        <p:spPr>
          <a:xfrm xmlns:a="http://schemas.openxmlformats.org/drawingml/2006/main">
            <a:off x="609600" y="45339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Market data</a:t>
            </a:r>
          </a:p>
        </p:txBody>
      </p:sp>
      <p:sp>
        <p:nvSpPr>
          <p:cNvPr id="17" name="">
            <a:extLst xmlns:a="http://schemas.openxmlformats.org/drawingml/2006/main">
              <a:ext uri="{FF2B5EF4-FFF2-40B4-BE49-F238E27FC236}">
                <a16:creationId xmlns:a16="http://schemas.microsoft.com/office/drawing/2014/main" id="{2015FD6D-5409-449C-9982-D6F550F5F66A}"/>
              </a:ext>
            </a:extLst>
          </p:cNvPr>
          <p:cNvSpPr>
            <a:spLocks xmlns:a="http://schemas.openxmlformats.org/drawingml/2006/main" noGrp="1"/>
          </p:cNvSpPr>
          <p:nvPr/>
        </p:nvSpPr>
        <p:spPr>
          <a:xfrm xmlns:a="http://schemas.openxmlformats.org/drawingml/2006/main">
            <a:off x="3162300" y="4533900"/>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A45"/>
                </a:solidFill>
                <a:latin typeface="Arial"/>
                <a:ea typeface="Arial"/>
                <a:cs typeface="Arial"/>
              </a:defRPr>
            </a:defPPr>
          </a:lstStyle>
          <a:p xmlns:a="http://schemas.openxmlformats.org/drawingml/2006/main">
            <a:pPr algn="l">
              <a:defRPr sz="1875" b="0">
                <a:solidFill>
                  <a:srgbClr val="172A45"/>
                </a:solidFill>
                <a:latin typeface="Arial"/>
                <a:ea typeface="Arial"/>
                <a:cs typeface="Arial"/>
              </a:defRPr>
            </a:pPr>
            <a:r>
              <a:rPr sz="1875" u="sng">
                <a:solidFill>
                  <a:srgbClr val="172A45"/>
                </a:solidFill>
                <a:latin typeface="Arial"/>
                <a:ea typeface="Arial"/>
                <a:cs typeface="Arial"/>
                <a:hlinkClick xmlns:r="http://schemas.openxmlformats.org/officeDocument/2006/relationships" r:id="Ra4333f43ee4b4874"/>
              </a:rPr>
              <a:t>Alpaca market-data FAQ and IEX feed scope</a:t>
            </a:r>
          </a:p>
        </p:txBody>
      </p:sp>
      <p:sp>
        <p:nvSpPr>
          <p:cNvPr id="18" name="Trading calendar">
            <a:extLst xmlns:a="http://schemas.openxmlformats.org/drawingml/2006/main">
              <a:ext uri="{FF2B5EF4-FFF2-40B4-BE49-F238E27FC236}">
                <a16:creationId xmlns:a16="http://schemas.microsoft.com/office/drawing/2014/main" id="{BAE3D1E3-636A-41BC-9F69-4B5C2600B8CC}"/>
              </a:ext>
            </a:extLst>
          </p:cNvPr>
          <p:cNvSpPr>
            <a:spLocks xmlns:a="http://schemas.openxmlformats.org/drawingml/2006/main" noGrp="1"/>
          </p:cNvSpPr>
          <p:nvPr/>
        </p:nvSpPr>
        <p:spPr>
          <a:xfrm xmlns:a="http://schemas.openxmlformats.org/drawingml/2006/main">
            <a:off x="609600" y="50768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C55A11"/>
                </a:solidFill>
                <a:latin typeface="Arial"/>
                <a:ea typeface="Arial"/>
                <a:cs typeface="Arial"/>
              </a:defRPr>
            </a:defPPr>
          </a:lstStyle>
          <a:p xmlns:a="http://schemas.openxmlformats.org/drawingml/2006/main">
            <a:pPr algn="l">
              <a:defRPr sz="1875" b="1">
                <a:solidFill>
                  <a:srgbClr val="C55A11"/>
                </a:solidFill>
                <a:latin typeface="Arial"/>
                <a:ea typeface="Arial"/>
                <a:cs typeface="Arial"/>
              </a:defRPr>
            </a:pPr>
            <a:r>
              <a:rPr sz="1875" b="1">
                <a:solidFill>
                  <a:srgbClr val="C55A11"/>
                </a:solidFill>
                <a:latin typeface="Arial"/>
                <a:ea typeface="Arial"/>
                <a:cs typeface="Arial"/>
              </a:rPr>
              <a:t>Trading calendar</a:t>
            </a:r>
          </a:p>
        </p:txBody>
      </p:sp>
      <p:sp>
        <p:nvSpPr>
          <p:cNvPr id="19" name="">
            <a:extLst xmlns:a="http://schemas.openxmlformats.org/drawingml/2006/main">
              <a:ext uri="{FF2B5EF4-FFF2-40B4-BE49-F238E27FC236}">
                <a16:creationId xmlns:a16="http://schemas.microsoft.com/office/drawing/2014/main" id="{175EEC30-0D92-4116-9081-C2525FE16967}"/>
              </a:ext>
            </a:extLst>
          </p:cNvPr>
          <p:cNvSpPr>
            <a:spLocks xmlns:a="http://schemas.openxmlformats.org/drawingml/2006/main" noGrp="1"/>
          </p:cNvSpPr>
          <p:nvPr/>
        </p:nvSpPr>
        <p:spPr>
          <a:xfrm xmlns:a="http://schemas.openxmlformats.org/drawingml/2006/main">
            <a:off x="3162300" y="5076825"/>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A45"/>
                </a:solidFill>
                <a:latin typeface="Arial"/>
                <a:ea typeface="Arial"/>
                <a:cs typeface="Arial"/>
              </a:defRPr>
            </a:defPPr>
          </a:lstStyle>
          <a:p xmlns:a="http://schemas.openxmlformats.org/drawingml/2006/main">
            <a:pPr algn="l">
              <a:defRPr sz="1875" b="0">
                <a:solidFill>
                  <a:srgbClr val="172A45"/>
                </a:solidFill>
                <a:latin typeface="Arial"/>
                <a:ea typeface="Arial"/>
                <a:cs typeface="Arial"/>
              </a:defRPr>
            </a:pPr>
            <a:r>
              <a:rPr sz="1875" u="sng">
                <a:solidFill>
                  <a:srgbClr val="172A45"/>
                </a:solidFill>
                <a:latin typeface="Arial"/>
                <a:ea typeface="Arial"/>
                <a:cs typeface="Arial"/>
                <a:hlinkClick xmlns:r="http://schemas.openxmlformats.org/officeDocument/2006/relationships" r:id="Rcb293856dd8a4328"/>
              </a:rPr>
              <a:t>NYSE holidays and early closes</a:t>
            </a:r>
          </a:p>
        </p:txBody>
      </p:sp>
      <p:sp>
        <p:nvSpPr>
          <p:cNvPr id="20" name="Project entry points: docs/READM">
            <a:extLst xmlns:a="http://schemas.openxmlformats.org/drawingml/2006/main">
              <a:ext uri="{FF2B5EF4-FFF2-40B4-BE49-F238E27FC236}">
                <a16:creationId xmlns:a16="http://schemas.microsoft.com/office/drawing/2014/main" id="{18D30A72-8936-428F-A7BD-6F353D96DEF4}"/>
              </a:ext>
            </a:extLst>
          </p:cNvPr>
          <p:cNvSpPr>
            <a:spLocks xmlns:a="http://schemas.openxmlformats.org/drawingml/2006/main" noGrp="1"/>
          </p:cNvSpPr>
          <p:nvPr/>
        </p:nvSpPr>
        <p:spPr>
          <a:xfrm xmlns:a="http://schemas.openxmlformats.org/drawingml/2006/main">
            <a:off x="609600" y="5848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556272"/>
                </a:solidFill>
                <a:latin typeface="Arial"/>
                <a:ea typeface="Arial"/>
                <a:cs typeface="Arial"/>
              </a:defRPr>
            </a:defPPr>
          </a:lstStyle>
          <a:p xmlns:a="http://schemas.openxmlformats.org/drawingml/2006/main">
            <a:pPr algn="l">
              <a:defRPr sz="1650" b="0">
                <a:solidFill>
                  <a:srgbClr val="556272"/>
                </a:solidFill>
                <a:latin typeface="Arial"/>
                <a:ea typeface="Arial"/>
                <a:cs typeface="Arial"/>
              </a:defRPr>
            </a:pPr>
            <a:r>
              <a:rPr sz="1650" b="0">
                <a:solidFill>
                  <a:srgbClr val="556272"/>
                </a:solidFill>
                <a:latin typeface="Arial"/>
                <a:ea typeface="Arial"/>
                <a:cs typeface="Arial"/>
              </a:rPr>
              <a:t>Project entry points: docs/README.md and docs/guides/local-development.md</a:t>
            </a:r>
          </a:p>
        </p:txBody>
      </p:sp>
    </p:spTree>
    <p:extLst>
      <p:ext uri="{BB962C8B-B14F-4D97-AF65-F5344CB8AC3E}">
        <p14:creationId xmlns:p14="http://schemas.microsoft.com/office/powerpoint/2010/main" val="1257350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2026-10-09T00:45:17.4940000Z</dcterms:created>
  <dcterms:modified xsi:type="dcterms:W3CDTF">2026-10-09T00:45:17.4940000Z</dcterms:modified>
</coreProperties>
</file>