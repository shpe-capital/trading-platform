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87471b8d5cc4d9c" /><Relationship Type="http://schemas.openxmlformats.org/officeDocument/2006/relationships/extended-properties" Target="/docProps/app.xml" Id="Rac435f48e9da449b" /><Relationship Type="http://schemas.openxmlformats.org/officeDocument/2006/relationships/officeDocument" Target="/ppt/presentation.xml" Id="Rdcb4528a2b164cfb" /></Relationships>
</file>

<file path=ppt/presentation.xml><?xml version="1.0" encoding="utf-8"?>
<p:presentation xmlns:p="http://schemas.openxmlformats.org/presentationml/2006/main">
  <p:sldMasterIdLst>
    <p:sldMasterId xmlns:r="http://schemas.openxmlformats.org/officeDocument/2006/relationships" id="2147483648" r:id="R419146c8dc0b40c9"/>
  </p:sldMasterIdLst>
  <p:notesMasterIdLst>
    <p:notesMasterId xmlns:r="http://schemas.openxmlformats.org/officeDocument/2006/relationships" r:id="Rd137cc650b054df1"/>
  </p:notesMasterIdLst>
  <p:sldIdLst>
    <p:sldId xmlns:r="http://schemas.openxmlformats.org/officeDocument/2006/relationships" id="256" r:id="R1b8db756e6234fab"/>
    <p:sldId xmlns:r="http://schemas.openxmlformats.org/officeDocument/2006/relationships" id="257" r:id="Rf42a10f2b94a4872"/>
    <p:sldId xmlns:r="http://schemas.openxmlformats.org/officeDocument/2006/relationships" id="258" r:id="R907b55c45b9449b7"/>
    <p:sldId xmlns:r="http://schemas.openxmlformats.org/officeDocument/2006/relationships" id="259" r:id="R7e96daa309834e33"/>
    <p:sldId xmlns:r="http://schemas.openxmlformats.org/officeDocument/2006/relationships" id="260" r:id="R7fdfe78cf174471d"/>
    <p:sldId xmlns:r="http://schemas.openxmlformats.org/officeDocument/2006/relationships" id="261" r:id="Re79a21747de04d3e"/>
    <p:sldId xmlns:r="http://schemas.openxmlformats.org/officeDocument/2006/relationships" id="262" r:id="R4e37fed90ba741f7"/>
    <p:sldId xmlns:r="http://schemas.openxmlformats.org/officeDocument/2006/relationships" id="263" r:id="R852c293a18c942f1"/>
    <p:sldId xmlns:r="http://schemas.openxmlformats.org/officeDocument/2006/relationships" id="264" r:id="R95163e3a11b64500"/>
    <p:sldId xmlns:r="http://schemas.openxmlformats.org/officeDocument/2006/relationships" id="265" r:id="R7c76d99e7edb4e7d"/>
    <p:sldId xmlns:r="http://schemas.openxmlformats.org/officeDocument/2006/relationships" id="266" r:id="R7701c4bdc320413a"/>
    <p:sldId xmlns:r="http://schemas.openxmlformats.org/officeDocument/2006/relationships" id="267" r:id="Rb7a619105f5443e8"/>
    <p:sldId xmlns:r="http://schemas.openxmlformats.org/officeDocument/2006/relationships" id="268" r:id="Rb090ef9b84be4019"/>
    <p:sldId xmlns:r="http://schemas.openxmlformats.org/officeDocument/2006/relationships" id="269" r:id="R1e8d9d66b83346b3"/>
    <p:sldId xmlns:r="http://schemas.openxmlformats.org/officeDocument/2006/relationships" id="270" r:id="R188f0833bef746f8"/>
    <p:sldId xmlns:r="http://schemas.openxmlformats.org/officeDocument/2006/relationships" id="271" r:id="Rcece95df3eb34f83"/>
    <p:sldId xmlns:r="http://schemas.openxmlformats.org/officeDocument/2006/relationships" id="272" r:id="Rbcedfb099daa40f2"/>
    <p:sldId xmlns:r="http://schemas.openxmlformats.org/officeDocument/2006/relationships" id="273" r:id="R0ab746428b18413e"/>
    <p:sldId xmlns:r="http://schemas.openxmlformats.org/officeDocument/2006/relationships" id="274" r:id="Rcbfdf04373284983"/>
    <p:sldId xmlns:r="http://schemas.openxmlformats.org/officeDocument/2006/relationships" id="275" r:id="Ra5639ae2a3e245a0"/>
    <p:sldId xmlns:r="http://schemas.openxmlformats.org/officeDocument/2006/relationships" id="276" r:id="Reba6fdf0cbba416a"/>
    <p:sldId xmlns:r="http://schemas.openxmlformats.org/officeDocument/2006/relationships" id="277" r:id="R707b1a1b65ec44c2"/>
    <p:sldId xmlns:r="http://schemas.openxmlformats.org/officeDocument/2006/relationships" id="278" r:id="Ra815c98af59e4404"/>
    <p:sldId xmlns:r="http://schemas.openxmlformats.org/officeDocument/2006/relationships" id="279" r:id="Ra7554106b86143db"/>
    <p:sldId xmlns:r="http://schemas.openxmlformats.org/officeDocument/2006/relationships" id="280" r:id="Re40ceab4f61a4b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99e06ac8ad4c48" /><Relationship Type="http://schemas.openxmlformats.org/officeDocument/2006/relationships/slideMaster" Target="/ppt/slideMasters/slideMaster1.xml" Id="R419146c8dc0b40c9" /><Relationship Type="http://schemas.openxmlformats.org/officeDocument/2006/relationships/notesMaster" Target="/ppt/notesMasters/notesMaster1.xml" Id="Rd137cc650b054df1" /><Relationship Type="http://schemas.openxmlformats.org/officeDocument/2006/relationships/presProps" Target="/ppt/presProps.xml" Id="R84d16494f4604a25" /><Relationship Type="http://schemas.openxmlformats.org/officeDocument/2006/relationships/tableStyles" Target="/ppt/tableStyles.xml" Id="R005185609a5a48aa" /><Relationship Type="http://schemas.openxmlformats.org/officeDocument/2006/relationships/slide" Target="/ppt/slides/slide1.xml" Id="R1b8db756e6234fab" /><Relationship Type="http://schemas.openxmlformats.org/officeDocument/2006/relationships/slide" Target="/ppt/slides/slide2.xml" Id="Rf42a10f2b94a4872" /><Relationship Type="http://schemas.openxmlformats.org/officeDocument/2006/relationships/slide" Target="/ppt/slides/slide3.xml" Id="R907b55c45b9449b7" /><Relationship Type="http://schemas.openxmlformats.org/officeDocument/2006/relationships/slide" Target="/ppt/slides/slide4.xml" Id="R7e96daa309834e33" /><Relationship Type="http://schemas.openxmlformats.org/officeDocument/2006/relationships/slide" Target="/ppt/slides/slide5.xml" Id="R7fdfe78cf174471d" /><Relationship Type="http://schemas.openxmlformats.org/officeDocument/2006/relationships/slide" Target="/ppt/slides/slide6.xml" Id="Re79a21747de04d3e" /><Relationship Type="http://schemas.openxmlformats.org/officeDocument/2006/relationships/slide" Target="/ppt/slides/slide7.xml" Id="R4e37fed90ba741f7" /><Relationship Type="http://schemas.openxmlformats.org/officeDocument/2006/relationships/slide" Target="/ppt/slides/slide8.xml" Id="R852c293a18c942f1" /><Relationship Type="http://schemas.openxmlformats.org/officeDocument/2006/relationships/slide" Target="/ppt/slides/slide9.xml" Id="R95163e3a11b64500" /><Relationship Type="http://schemas.openxmlformats.org/officeDocument/2006/relationships/slide" Target="/ppt/slides/slide10.xml" Id="R7c76d99e7edb4e7d" /><Relationship Type="http://schemas.openxmlformats.org/officeDocument/2006/relationships/slide" Target="/ppt/slides/slide11.xml" Id="R7701c4bdc320413a" /><Relationship Type="http://schemas.openxmlformats.org/officeDocument/2006/relationships/slide" Target="/ppt/slides/slide12.xml" Id="Rb7a619105f5443e8" /><Relationship Type="http://schemas.openxmlformats.org/officeDocument/2006/relationships/slide" Target="/ppt/slides/slide13.xml" Id="Rb090ef9b84be4019" /><Relationship Type="http://schemas.openxmlformats.org/officeDocument/2006/relationships/slide" Target="/ppt/slides/slide14.xml" Id="R1e8d9d66b83346b3" /><Relationship Type="http://schemas.openxmlformats.org/officeDocument/2006/relationships/slide" Target="/ppt/slides/slide15.xml" Id="R188f0833bef746f8" /><Relationship Type="http://schemas.openxmlformats.org/officeDocument/2006/relationships/slide" Target="/ppt/slides/slide16.xml" Id="Rcece95df3eb34f83" /><Relationship Type="http://schemas.openxmlformats.org/officeDocument/2006/relationships/slide" Target="/ppt/slides/slide17.xml" Id="Rbcedfb099daa40f2" /><Relationship Type="http://schemas.openxmlformats.org/officeDocument/2006/relationships/slide" Target="/ppt/slides/slide18.xml" Id="R0ab746428b18413e" /><Relationship Type="http://schemas.openxmlformats.org/officeDocument/2006/relationships/slide" Target="/ppt/slides/slide19.xml" Id="Rcbfdf04373284983" /><Relationship Type="http://schemas.openxmlformats.org/officeDocument/2006/relationships/slide" Target="/ppt/slides/slide20.xml" Id="Ra5639ae2a3e245a0" /><Relationship Type="http://schemas.openxmlformats.org/officeDocument/2006/relationships/slide" Target="/ppt/slides/slide21.xml" Id="Reba6fdf0cbba416a" /><Relationship Type="http://schemas.openxmlformats.org/officeDocument/2006/relationships/slide" Target="/ppt/slides/slide22.xml" Id="R707b1a1b65ec44c2" /><Relationship Type="http://schemas.openxmlformats.org/officeDocument/2006/relationships/slide" Target="/ppt/slides/slide23.xml" Id="Ra815c98af59e4404" /><Relationship Type="http://schemas.openxmlformats.org/officeDocument/2006/relationships/slide" Target="/ppt/slides/slide24.xml" Id="Ra7554106b86143db" /><Relationship Type="http://schemas.openxmlformats.org/officeDocument/2006/relationships/slide" Target="/ppt/slides/slide25.xml" Id="Re40ceab4f61a4b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5bef7f032d45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631ea27147343bb" /><Relationship Type="http://schemas.openxmlformats.org/officeDocument/2006/relationships/notesMaster" Target="/ppt/notesMasters/notesMaster1.xml" Id="R4d7b202093054f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fcf90bdaea409e" /><Relationship Type="http://schemas.openxmlformats.org/officeDocument/2006/relationships/notesMaster" Target="/ppt/notesMasters/notesMaster1.xml" Id="R6f4f28e0f749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a0d8f2033b4c2a" /><Relationship Type="http://schemas.openxmlformats.org/officeDocument/2006/relationships/notesMaster" Target="/ppt/notesMasters/notesMaster1.xml" Id="R816301d632f14f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91ef0230584030" /><Relationship Type="http://schemas.openxmlformats.org/officeDocument/2006/relationships/notesMaster" Target="/ppt/notesMasters/notesMaster1.xml" Id="Ree2ae7e8e83747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85cf10c7c64bf0" /><Relationship Type="http://schemas.openxmlformats.org/officeDocument/2006/relationships/notesMaster" Target="/ppt/notesMasters/notesMaster1.xml" Id="Rc61bdb0424fd45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479862b8a341e1" /><Relationship Type="http://schemas.openxmlformats.org/officeDocument/2006/relationships/notesMaster" Target="/ppt/notesMasters/notesMaster1.xml" Id="Rf26606fe492b4c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f7b3b347a7b04079" /><Relationship Type="http://schemas.openxmlformats.org/officeDocument/2006/relationships/notesMaster" Target="/ppt/notesMasters/notesMaster1.xml" Id="R0a2cefd5e83a4b9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abaf26479b4f68" /><Relationship Type="http://schemas.openxmlformats.org/officeDocument/2006/relationships/notesMaster" Target="/ppt/notesMasters/notesMaster1.xml" Id="Rb171eefe0ee348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5ac999192d4092" /><Relationship Type="http://schemas.openxmlformats.org/officeDocument/2006/relationships/notesMaster" Target="/ppt/notesMasters/notesMaster1.xml" Id="Rc8988c6d3d9849b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28b210974634936" /><Relationship Type="http://schemas.openxmlformats.org/officeDocument/2006/relationships/notesMaster" Target="/ppt/notesMasters/notesMaster1.xml" Id="R4df919d820e84fc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b268bfbf6a4d0c" /><Relationship Type="http://schemas.openxmlformats.org/officeDocument/2006/relationships/notesMaster" Target="/ppt/notesMasters/notesMaster1.xml" Id="Re134eff474a54e8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1e07e724d24bb1" /><Relationship Type="http://schemas.openxmlformats.org/officeDocument/2006/relationships/notesMaster" Target="/ppt/notesMasters/notesMaster1.xml" Id="R5766834252da450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5f58d375e243bc" /><Relationship Type="http://schemas.openxmlformats.org/officeDocument/2006/relationships/notesMaster" Target="/ppt/notesMasters/notesMaster1.xml" Id="R39128278b7264b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dd267c13c974305" /><Relationship Type="http://schemas.openxmlformats.org/officeDocument/2006/relationships/notesMaster" Target="/ppt/notesMasters/notesMaster1.xml" Id="Rabc954420d9c40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ca0772b0d5d46b3" /><Relationship Type="http://schemas.openxmlformats.org/officeDocument/2006/relationships/notesMaster" Target="/ppt/notesMasters/notesMaster1.xml" Id="R9477823938c34b5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4b474fd2c3d465d" /><Relationship Type="http://schemas.openxmlformats.org/officeDocument/2006/relationships/notesMaster" Target="/ppt/notesMasters/notesMaster1.xml" Id="R473134b44c0a493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ac88b8b5b054b64" /><Relationship Type="http://schemas.openxmlformats.org/officeDocument/2006/relationships/notesMaster" Target="/ppt/notesMasters/notesMaster1.xml" Id="Rde906a963d8c44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9c819900fec4d60" /><Relationship Type="http://schemas.openxmlformats.org/officeDocument/2006/relationships/notesMaster" Target="/ppt/notesMasters/notesMaster1.xml" Id="R2979c0bd185443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2a80ae0fd34c2c" /><Relationship Type="http://schemas.openxmlformats.org/officeDocument/2006/relationships/notesMaster" Target="/ppt/notesMasters/notesMaster1.xml" Id="R8d006e77d52a478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9a75efb7e974344" /><Relationship Type="http://schemas.openxmlformats.org/officeDocument/2006/relationships/notesMaster" Target="/ppt/notesMasters/notesMaster1.xml" Id="R091c0009443b4e3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adbdf64e2d405e" /><Relationship Type="http://schemas.openxmlformats.org/officeDocument/2006/relationships/notesMaster" Target="/ppt/notesMasters/notesMaster1.xml" Id="R18860e100aca4a0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98beed2caa4fb7" /><Relationship Type="http://schemas.openxmlformats.org/officeDocument/2006/relationships/notesMaster" Target="/ppt/notesMasters/notesMaster1.xml" Id="Rd59f7e796b8849f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cbdbb5d2c0c4574" /><Relationship Type="http://schemas.openxmlformats.org/officeDocument/2006/relationships/notesMaster" Target="/ppt/notesMasters/notesMaster1.xml" Id="Rcb6b2844968c431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8436fb131fb4b69" /><Relationship Type="http://schemas.openxmlformats.org/officeDocument/2006/relationships/notesMaster" Target="/ppt/notesMasters/notesMaster1.xml" Id="Reba32b0c15ba425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61a66c77f03451e" /><Relationship Type="http://schemas.openxmlformats.org/officeDocument/2006/relationships/notesMaster" Target="/ppt/notesMasters/notesMaster1.xml" Id="Rb96208fd204149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0:00-0:30. Welcome members to SHPE Capital. The division develops systematic intraday equity strategies and investigates whether they work after costs. Today has 28 minutes of introduction, course and a short prepared demonstration, plus a two-minute buffer. Assigned teams work during the remaining 30 minutes. Keep the timeline visible and use deeper notes for preparation rather than reading them all aloud.</a:t>
            </a:r>
          </a:p>
          <a:p xmlns:a="http://schemas.openxmlformats.org/drawingml/2006/main">
            <a:r>
              <a:t/>
            </a:r>
          </a:p>
          <a:p xmlns:a="http://schemas.openxmlformats.org/drawingml/2006/main">
            <a:r>
              <a:t>PRESENTER PREPARATION: Fill in the existing personal introduction and lead/member names. Assign members before the meeting. Prepare one supported pairs example and cached results on a working machine. Use screenshots if the demonstration fails. Share the three team guides. Discord setup remains pending until completed. Final presentations take place Monday, November 30, 2026.</a:t>
            </a:r>
          </a:p>
          <a:p xmlns:a="http://schemas.openxmlformats.org/drawingml/2006/main">
            <a:r>
              <a:t/>
            </a:r>
          </a:p>
          <a:p xmlns:a="http://schemas.openxmlformats.org/drawingml/2006/main">
            <a:r>
              <a:t>COURSE OBJECTIVE: Members can explain a complete trading rule, distinguish prediction from execution, identify risk and common backtest errors, and describe their assigned research program. Team research covers individual indicators and advanced models.</a:t>
            </a:r>
          </a:p>
          <a:p xmlns:a="http://schemas.openxmlformats.org/drawingml/2006/main">
            <a:r>
              <a:t/>
            </a:r>
          </a:p>
          <a:p xmlns:a="http://schemas.openxmlformats.org/drawingml/2006/main">
            <a:r>
              <a:t>THEME: Existing UF SHPE chapter palette and layout. Colors #004D73 and #FF5400 from https://www.shpeuf.com/static/css/main.35d110aa.css.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0:30-1:00. Introduce your name, role and one relevant motivation or experience. Use the existing editable personal fields. Keep this to 30 seconds so the course and team work retain their time. Personal details and team names need the lead's actual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1:00-2:00. SHPE Capital's research and development division builds systematic, automated equity trading strategies. An algorithm is a precise set of instructions. Intraday means positions intend to open and close within the trading session. It includes seconds-long and hours-long positions.</a:t>
            </a:r>
          </a:p>
          <a:p xmlns:a="http://schemas.openxmlformats.org/drawingml/2006/main">
            <a:r>
              <a:t/>
            </a:r>
          </a:p>
          <a:p xmlns:a="http://schemas.openxmlformats.org/drawingml/2006/main">
            <a:r>
              <a:t>The platform supplies the supported Alpaca observations and common testing tools. A bar summarizes an interval, a quote shows displayed bid/ask prices and sizes, and a trade reports an execution. Members use the platform's datasets while the platform team owns common recording and quality checks. Teams still define what information their decision uses and when it became available.</a:t>
            </a:r>
          </a:p>
          <a:p xmlns:a="http://schemas.openxmlformats.org/drawingml/2006/main">
            <a:r>
              <a:t/>
            </a:r>
          </a:p>
          <a:p xmlns:a="http://schemas.openxmlformats.org/drawingml/2006/main">
            <a:r>
              <a:t>This semester focuses on US-listed stocks and ETFs, with reviewed long and short strategies. Stock/ETF scope matches the current research and implementation. Alpaca supports other asset classes, but their existence does not make this platform ready to trade them.</a:t>
            </a:r>
          </a:p>
          <a:p xmlns:a="http://schemas.openxmlformats.org/drawingml/2006/main">
            <a:r>
              <a:t/>
            </a:r>
          </a:p>
          <a:p xmlns:a="http://schemas.openxmlformats.org/drawingml/2006/main">
            <a:r>
              <a:t>Briefly mention that free IEX represents one exchange. Avoid a separate data-engineering lecture. Intraday creates complete daily observation cycles and explicit session exits, while costs and timing can matter relative to small expected gains.</a:t>
            </a:r>
          </a:p>
          <a:p xmlns:a="http://schemas.openxmlformats.org/drawingml/2006/main">
            <a:r>
              <a:t/>
            </a:r>
          </a:p>
          <a:p xmlns:a="http://schemas.openxmlformats.org/drawingml/2006/main">
            <a:r>
              <a:t>SOURCE: https://docs.alpaca.markets/us/docs/market-data-faq.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2:00-2:30. Each assigned team develops one reproducible baseline in its research program and evaluates it against a predefined comparison after costs. The ambition is market outperformance, but success includes rigorous evidence and honest negative findings. Risk, allocated capital and trading windows matter when comparing strategies.</a:t>
            </a:r>
          </a:p>
          <a:p xmlns:a="http://schemas.openxmlformats.org/drawingml/2006/main">
            <a:r>
              <a:t/>
            </a:r>
          </a:p>
          <a:p xmlns:a="http://schemas.openxmlformats.org/drawingml/2006/main">
            <a:r>
              <a:t>The final deliverable explains the idea and cited literature, exact rules, historical results, monitored paper observations and limitations. Baselines remain permanent comparisons as the club improves the programs over a year. A few weeks of paper activity provide preliminary evidence and operational experience.</a:t>
            </a:r>
          </a:p>
          <a:p xmlns:a="http://schemas.openxmlformats.org/drawingml/2006/main">
            <a:r>
              <a:t/>
            </a:r>
          </a:p>
          <a:p xmlns:a="http://schemas.openxmlformats.org/drawingml/2006/main">
            <a:r>
              <a:t>The teams are Statistical Arbitrage and Relative Value, Intraday Momentum and Market Regimes, and Market Microstructure and Short-Horizon Signals. Volatility, regimes and lead-lag provide later enhancements.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2:30-4:30. Ask whether a security has moved unusually far from a modeled relationship with related securities and whether that deviation later narrows. Statistical arbitrage uses uncertain statistical relationships, not guaranteed arbitrage.</a:t>
            </a:r>
          </a:p>
          <a:p xmlns:a="http://schemas.openxmlformats.org/drawingml/2006/main">
            <a:r>
              <a:t/>
            </a:r>
          </a:p>
          <a:p xmlns:a="http://schemas.openxmlformats.org/drawingml/2006/main">
            <a:r>
              <a:t>BASIC EXAMPLE: Earlier observations suggest A is approximately twice B. If A is $103 and B is $50, the spread A minus 2B is $3. A candidate shorts A and buys twice as many B shares under this price-level model. If A falls toward $100 while B stays near $50, the spread narrows. Actual sizes, costs, entry/exit thresholds and holding limits remain necessary. This is a hypothetical example.</a:t>
            </a:r>
          </a:p>
          <a:p xmlns:a="http://schemas.openxmlformats.org/drawingml/2006/main">
            <a:r>
              <a:t/>
            </a:r>
          </a:p>
          <a:p xmlns:a="http://schemas.openxmlformats.org/drawingml/2006/main">
            <a:r>
              <a:t>VOCABULARY: A hedge offsets a specified exposure. A residual is the part a relationship does not explain. A z-score measures a deviation relative to estimated variation. Correlation describes co-movement and does not establish convergence. Cointegration tests a stationary combination of drifting series. A share-based price hedge differs from a dollar-based return beta.</a:t>
            </a:r>
          </a:p>
          <a:p xmlns:a="http://schemas.openxmlformats.org/drawingml/2006/main">
            <a:r>
              <a:t/>
            </a:r>
          </a:p>
          <a:p xmlns:a="http://schemas.openxmlformats.org/drawingml/2006/main">
            <a:r>
              <a:t>WHY STUDY IT: One baseline extends to sector hedges, factor models and dynamic relationships. Investigate lead-lag separately: an ETF moving first could predict a stock catching up without implying a stable spread. Use volatility forecasts for risk and stability filters to test when the relationship becomes unreliable.</a:t>
            </a:r>
          </a:p>
          <a:p xmlns:a="http://schemas.openxmlformats.org/drawingml/2006/main">
            <a:r>
              <a:t/>
            </a:r>
          </a:p>
          <a:p xmlns:a="http://schemas.openxmlformats.org/drawingml/2006/main">
            <a:r>
              <a:t>FAILURES: The relationship changes, convergence takes too long, costs overwhelm the movement, or only one leg fills. A hedge reduces selected exposure but does not remove all risk.</a:t>
            </a:r>
          </a:p>
          <a:p xmlns:a="http://schemas.openxmlformats.org/drawingml/2006/main">
            <a:r>
              <a:t/>
            </a:r>
          </a:p>
          <a:p xmlns:a="http://schemas.openxmlformats.org/drawingml/2006/main">
            <a:r>
              <a:t>RESEARCH: Avellaneda and Lee use factor and sector residuals with daily data. Intraday adaptation needs new evidence. Source: https://math.nyu.edu/~avellane/AvellanedaLeeStatArb20090616.pdf.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4:30-6:30. Momentum investigates whether a movement continues over a defined horizon. Persistent demand or gradual information adjustment can motivate the hypothesis. A breakout crosses a previously defined boundary and is one possible signal.</a:t>
            </a:r>
          </a:p>
          <a:p xmlns:a="http://schemas.openxmlformats.org/drawingml/2006/main">
            <a:r>
              <a:t/>
            </a:r>
          </a:p>
          <a:p xmlns:a="http://schemas.openxmlformats.org/drawingml/2006/main">
            <a:r>
              <a:t>BASIC EXAMPLE: Record the highest and lowest prices during the completed opening 15 minutes. A later completed observation above the high produces a candidate long, and a move below the low produces a candidate short. Define an entry buffer, size, order policy, stop, time limit and session exit before evaluation. A false breakout crosses the boundary then reverses.</a:t>
            </a:r>
          </a:p>
          <a:p xmlns:a="http://schemas.openxmlformats.org/drawingml/2006/main">
            <a:r>
              <a:t/>
            </a:r>
          </a:p>
          <a:p xmlns:a="http://schemas.openxmlformats.org/drawingml/2006/main">
            <a:r>
              <a:t>RESEARCH BASELINE: Gao and coauthors study whether the return from the previous close through the first half hour predicts the final half hour. The early predictor includes overnight movement. Observing only today's opening half hour is a different experiment. A prepared club adaptation may close before the exact session end and must label that difference.</a:t>
            </a:r>
          </a:p>
          <a:p xmlns:a="http://schemas.openxmlformats.org/drawingml/2006/main">
            <a:r>
              <a:t/>
            </a:r>
          </a:p>
          <a:p xmlns:a="http://schemas.openxmlformats.org/drawingml/2006/main">
            <a:r>
              <a:t>VOCABULARY: Lookback is the past observation window, decision frequency is how often the rule evaluates, and holding period is the time in a position. A 15-minute lookback can support a five-minute holding period. Recent movement and unusual movement relative to volatility differ.</a:t>
            </a:r>
          </a:p>
          <a:p xmlns:a="http://schemas.openxmlformats.org/drawingml/2006/main">
            <a:r>
              <a:t/>
            </a:r>
          </a:p>
          <a:p xmlns:a="http://schemas.openxmlformats.org/drawingml/2006/main">
            <a:r>
              <a:t>FAILURES: Choppy conditions create false entries, trends reverse, costs consume small gains and correlated positions concentrate market exposure. Test volatility normalization, time-of-day comparisons and a predefined regime filter as separate enhancements.</a:t>
            </a:r>
          </a:p>
          <a:p xmlns:a="http://schemas.openxmlformats.org/drawingml/2006/main">
            <a:r>
              <a:t/>
            </a:r>
          </a:p>
          <a:p xmlns:a="http://schemas.openxmlformats.org/drawingml/2006/main">
            <a:r>
              <a:t>SOURCE: https://profiles.wustl.edu/en/publications/market-intraday-momentum/.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6:30-8:30. Market microstructure studies how trading and liquidity produce prices. The team's mandate is whether observed pressure predicts a subsequent move and whether an execution policy can capture value after costs. Short-horizon forecasting defines the task and microstructure gives it an economic focus.</a:t>
            </a:r>
          </a:p>
          <a:p xmlns:a="http://schemas.openxmlformats.org/drawingml/2006/main">
            <a:r>
              <a:t/>
            </a:r>
          </a:p>
          <a:p xmlns:a="http://schemas.openxmlformats.org/drawingml/2006/main">
            <a:r>
              <a:t>BASIC EXAMPLE: Displayed imbalance is bid size minus ask size divided by their sum. Bid size 300 and ask size 100 yield 0.5. Test whether this feature improves a simple forecast of the midpoint's next movement. A positive reading is a proposed predictor, not proof of future gains. Begin with a small statistical model and a cost-aware decision.</a:t>
            </a:r>
          </a:p>
          <a:p xmlns:a="http://schemas.openxmlformats.org/drawingml/2006/main">
            <a:r>
              <a:t/>
            </a:r>
          </a:p>
          <a:p xmlns:a="http://schemas.openxmlformats.org/drawingml/2006/main">
            <a:r>
              <a:t>VOCABULARY: Midpoint averages bid and ask. Spread is ask minus bid. Order-flow imbalance describes changes in prices and sizes over time. Signal decay describes how predictive value changes with delay. Adverse selection means fills can occur just before prices move against the position.</a:t>
            </a:r>
          </a:p>
          <a:p xmlns:a="http://schemas.openxmlformats.org/drawingml/2006/main">
            <a:r>
              <a:t/>
            </a:r>
          </a:p>
          <a:p xmlns:a="http://schemas.openxmlformats.org/drawingml/2006/main">
            <a:r>
              <a:t>THREE EVALUATIONS: Explaining a current price change differs from predicting a future change. A useful forecast then needs executable profits after costs. An accurate prediction of a tiny midpoint rise may still lose crossing the spread.</a:t>
            </a:r>
          </a:p>
          <a:p xmlns:a="http://schemas.openxmlformats.org/drawingml/2006/main">
            <a:r>
              <a:t/>
            </a:r>
          </a:p>
          <a:p xmlns:a="http://schemas.openxmlformats.org/drawingml/2006/main">
            <a:r>
              <a:t>RESEARCH PATH: Add lagged flow, cross-asset features, volatility/liquidity forecasts and regime rules as controlled comparisons. Temporary-pressure reversal belongs here as one hypothesis. Full market making is a later branch with additional fill and inventory questions. Use the platform's supported quote/trade infrastructure and coordinate missing replay support.</a:t>
            </a:r>
          </a:p>
          <a:p xmlns:a="http://schemas.openxmlformats.org/drawingml/2006/main">
            <a:r>
              <a:t/>
            </a:r>
          </a:p>
          <a:p xmlns:a="http://schemas.openxmlformats.org/drawingml/2006/main">
            <a:r>
              <a:t>SOURCES: Gould and Bonart study next-midpoint-move prediction on Nasdaq, a different sample and target from fixed-second IEX forecasts: https://arxiv.org/abs/1512.03492. Cont and coauthors study contemporaneous impact: https://arxiv.org/abs/1011.6402. Cross-asset extension: https://arxiv.org/abs/2112.13213.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8:30-9:00. Introduce the leads and read the predetermined assignments. Members remain in their assigned teams and investigate candidates within their program. The first roster belongs to Team 1 statistical arbitrage, the second to Team 2 momentum, and the third to Team 3 microstructure. Keep the fourth platform group as the owner of common infrastructure.</a:t>
            </a:r>
          </a:p>
          <a:p xmlns:a="http://schemas.openxmlformats.org/drawingml/2006/main">
            <a:r>
              <a:t/>
            </a:r>
          </a:p>
          <a:p xmlns:a="http://schemas.openxmlformats.org/drawingml/2006/main">
            <a:r>
              <a:t>Within each group, assign research, implementation and independent evaluation responsibilities. A fourth member can own analysis or operations. Coding experience does not determine who can contribute to reading papers, designing rules, checking trades or explaining results. Every member should understand the strategy.</a:t>
            </a:r>
          </a:p>
          <a:p xmlns:a="http://schemas.openxmlformats.org/drawingml/2006/main">
            <a:r>
              <a:t/>
            </a:r>
          </a:p>
          <a:p xmlns:a="http://schemas.openxmlformats.org/drawingml/2006/main">
            <a:r>
              <a:t>Fill actual names before presenting. Preserve the editable roster fields and personal introduction fields rather than inventing membership.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9:00-9:30. Today's planned presentation is 28 minutes including the course and brief platform demonstration, with two minutes of buffer. Team work occupies the remaining 30 minutes. If teaching finishes early, begin team work earlier.</a:t>
            </a:r>
          </a:p>
          <a:p xmlns:a="http://schemas.openxmlformats.org/drawingml/2006/main">
            <a:r>
              <a:t/>
            </a:r>
          </a:p>
          <a:p xmlns:a="http://schemas.openxmlformats.org/drawingml/2006/main">
            <a:r>
              <a:t>Regular Tuesdays use about zero to ten minutes for updates, with the remainder for development. The planned commitment is four hours per member each week including the one-hour meeting. Teams assign owners and coordinate roughly three hours of take-home research, implementation and review.</a:t>
            </a:r>
          </a:p>
          <a:p xmlns:a="http://schemas.openxmlformats.org/drawingml/2006/main">
            <a:r>
              <a:t/>
            </a:r>
          </a:p>
          <a:p xmlns:a="http://schemas.openxmlformats.org/drawingml/2006/main">
            <a:r>
              <a:t>Use one prepared machine per team initially. Save detailed installation and Git practice for a workshop. Do not use the lecture to explain MACD or survey technical indicators. Assigned teams investigate the measurements relevant to their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9:30-10:00. Highlight the research deadline, online evaluation target and final presentation. Finalize one baseline specification by the October 27 meeting. Implementation and backtesting target October 27-November 2, followed by fixes and local order-path tests through November 8. Begin reviewed online paper evaluation November 9 when ready.</a:t>
            </a:r>
          </a:p>
          <a:p xmlns:a="http://schemas.openxmlformats.org/drawingml/2006/main">
            <a:r>
              <a:t/>
            </a:r>
          </a:p>
          <a:p xmlns:a="http://schemas.openxmlformats.org/drawingml/2006/main">
            <a:r>
              <a:t>The target November 9-27 paper window is about three calendar weeks. Actual healthy sessions and trades must appear in the report. Rehearse November 24 and update findings after the final evaluation session. Final presentations to SHPE Executive Leadership take place Monday, November 30, 2026.</a:t>
            </a:r>
          </a:p>
          <a:p xmlns:a="http://schemas.openxmlformats.org/drawingml/2006/main">
            <a:r>
              <a:t/>
            </a:r>
          </a:p>
          <a:p xmlns:a="http://schemas.openxmlformats.org/drawingml/2006/main">
            <a:r>
              <a:t>Keep one fixed baseline. Additional variants retain separate identities and comparable windows. Advanced methods and new strategy branches follow a reliable baseline. The platform team prepares common tools while algorithm teams research. Scope is ambitious for beginners, so a missed readiness target must result in an honestly shorter evaluation window.</a:t>
            </a:r>
          </a:p>
          <a:p xmlns:a="http://schemas.openxmlformats.org/drawingml/2006/main">
            <a:r>
              <a:t/>
            </a:r>
          </a:p>
          <a:p xmlns:a="http://schemas.openxmlformats.org/drawingml/2006/main">
            <a:r>
              <a:t>Calendar reference: https://www.nyse.com/trade/hours-calendars.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10:00-11:30. A position is the quantity held or owed. A long benefits from a rise and a short benefits from a fall. A short sale borrows shares and closing it requires buying them back. A flat strategy has no position. Notional is shares times price and differs from the cash or margin reserved.</a:t>
            </a:r>
          </a:p>
          <a:p xmlns:a="http://schemas.openxmlformats.org/drawingml/2006/main">
            <a:r>
              <a:t/>
            </a:r>
          </a:p>
          <a:p xmlns:a="http://schemas.openxmlformats.org/drawingml/2006/main">
            <a:r>
              <a:t>WORKED EXAMPLE: Buy ten shares at $100 and sell at $102 for $20 before costs. Short ten at $100 and buy back at $98 for the same gross profit. Reverse movements produce losses. Short availability and permissions still matter.</a:t>
            </a:r>
          </a:p>
          <a:p xmlns:a="http://schemas.openxmlformats.org/drawingml/2006/main">
            <a:r>
              <a:t/>
            </a:r>
          </a:p>
          <a:p xmlns:a="http://schemas.openxmlformats.org/drawingml/2006/main">
            <a:r>
              <a:t>Return expresses a price change relative to the start. A move from $100 to $101 equals ($101-$100)/$100 = 1%. One basis point equals 0.01 percentage points. A 0.20% move is 20 basis points.</a:t>
            </a:r>
          </a:p>
          <a:p xmlns:a="http://schemas.openxmlformats.org/drawingml/2006/main">
            <a:r>
              <a:t/>
            </a:r>
          </a:p>
          <a:p xmlns:a="http://schemas.openxmlformats.org/drawingml/2006/main">
            <a:r>
              <a:t>Realized P&amp;L comes from closed quantities. Unrealized P&amp;L comes from open quantities and belongs in the equity curve. The equity curve measures the changing account or allocated strategy capital. Liquidity means the ability to trade a quantity promptly at an acceptable cost.</a:t>
            </a:r>
          </a:p>
          <a:p xmlns:a="http://schemas.openxmlformats.org/drawingml/2006/main">
            <a:r>
              <a:t/>
            </a:r>
          </a:p>
          <a:p xmlns:a="http://schemas.openxmlformats.org/drawingml/2006/main">
            <a:r>
              <a:t>Members need these words to specify and review a strategy. Specific indicators belong to their team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11:30-13:00. A strategy is a complete, testable decision process. The hypothesis explains why an observation might predict a subsequent tradable outcome. A feature measures available information. A signal expresses an intended action. Parameters choose windows and thresholds, while filters restrict when an entry is allowed.</a:t>
            </a:r>
          </a:p>
          <a:p xmlns:a="http://schemas.openxmlformats.org/drawingml/2006/main">
            <a:r>
              <a:t/>
            </a:r>
          </a:p>
          <a:p xmlns:a="http://schemas.openxmlformats.org/drawingml/2006/main">
            <a:r>
              <a:t>READ ONE EXAMPLE: After the opening range completes, a later close above its high produces a candidate long. Size stays within the chosen risk and exposure limits. The system submits the specified order and tracks actual fills. It exits at the defined loss, time or session condition. A different parameter is a distinct configuration and must be recorded.</a:t>
            </a:r>
          </a:p>
          <a:p xmlns:a="http://schemas.openxmlformats.org/drawingml/2006/main">
            <a:r>
              <a:t/>
            </a:r>
          </a:p>
          <a:p xmlns:a="http://schemas.openxmlformats.org/drawingml/2006/main">
            <a:r>
              <a:t>The specification also names eligible securities, data inputs, decision frequency, costs, failure behavior and the benchmark. Someone else should implement the rule without guessing. Operational behavior includes stale data, rejected orders, partial fills and restarts. Order acknowledgment alone does not establish a position.</a:t>
            </a:r>
          </a:p>
          <a:p xmlns:a="http://schemas.openxmlformats.org/drawingml/2006/main">
            <a:r>
              <a:t/>
            </a:r>
          </a:p>
          <a:p xmlns:a="http://schemas.openxmlformats.org/drawingml/2006/main">
            <a:r>
              <a:t>EVALUATION: The team must state what result would weaken its hypothesis. One permanent baseline provides a reference for later improvements. Compare one change at a time and record all variants rather than selecting only the winner. Reproducibility includes code version, configuration, date range and execution assumptions.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13:00-14:30. A signal is what the algorithm wants. An order requests a transaction. A fill confirms that a quantity actually traded. Orders can reject, fill partially or wait. Positions follow actual fills.</a:t>
            </a:r>
          </a:p>
          <a:p xmlns:a="http://schemas.openxmlformats.org/drawingml/2006/main">
            <a:r>
              <a:t/>
            </a:r>
          </a:p>
          <a:p xmlns:a="http://schemas.openxmlformats.org/drawingml/2006/main">
            <a:r>
              <a:t>A market order seeks prompt execution without fixing the final price. A limit order specifies a worst acceptable price without guaranteeing execution. The bid is a displayed buying price and the ask a selling price. Their difference is the spread. The midpoint averages them and provides a measurement reference, not a guaranteed fill.</a:t>
            </a:r>
          </a:p>
          <a:p xmlns:a="http://schemas.openxmlformats.org/drawingml/2006/main">
            <a:r>
              <a:t/>
            </a:r>
          </a:p>
          <a:p xmlns:a="http://schemas.openxmlformats.org/drawingml/2006/main">
            <a:r>
              <a:t>EXAMPLE: Bid $100.00 and ask $100.02 produce a $100.01 midpoint. Buying at the ask and immediately selling at the unchanged bid loses two cents per share before other costs. A predicted future midpoint of $100.02 with the same spread gives a future bid of $100.01, so that correct upward prediction still loses one cent on a $100.02 entry.</a:t>
            </a:r>
          </a:p>
          <a:p xmlns:a="http://schemas.openxmlformats.org/drawingml/2006/main">
            <a:r>
              <a:t/>
            </a:r>
          </a:p>
          <a:p xmlns:a="http://schemas.openxmlformats.org/drawingml/2006/main">
            <a:r>
              <a:t>Other costs include applicable fees, slippage relative to the reference price and any short-related costs. A missed limit fill is a real outcome. If executable bid and ask prices already incorporate the spread, do not subtract it again. Teams use the platform's supported fill assumptions and explain their limits.</a:t>
            </a:r>
          </a:p>
          <a:p xmlns:a="http://schemas.openxmlformats.org/drawingml/2006/main">
            <a:r>
              <a:t/>
            </a:r>
          </a:p>
          <a:p xmlns:a="http://schemas.openxmlformats.org/drawingml/2006/main">
            <a:r>
              <a:t>The execution policy includes what happens when an order waits, partially fills or receives a cancel request followed by a late fill. These are shared platform capabilities with strategy-specific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14:30-15:30. An economic hypothesis links an observation with an expected subsequent outcome: persistent demand may produce continuation, or a relative deviation may converge. A named indicator is a measurement rather than evidence of an advantage.</a:t>
            </a:r>
          </a:p>
          <a:p xmlns:a="http://schemas.openxmlformats.org/drawingml/2006/main">
            <a:r>
              <a:t/>
            </a:r>
          </a:p>
          <a:p xmlns:a="http://schemas.openxmlformats.org/drawingml/2006/main">
            <a:r>
              <a:t>An edge is an estimated advantage after costs, supported by evidence and subject to uncertainty. It may disappear as conditions change. Expectancy is average profit per trade. With winning probability p, average win W and average loss magnitude L, expectancy is pW minus (1-p)L when outcomes already include costs.</a:t>
            </a:r>
          </a:p>
          <a:p xmlns:a="http://schemas.openxmlformats.org/drawingml/2006/main">
            <a:r>
              <a:t/>
            </a:r>
          </a:p>
          <a:p xmlns:a="http://schemas.openxmlformats.org/drawingml/2006/main">
            <a:r>
              <a:t>EXAMPLE: Four out of ten trades earn $30 each and six lose $10 each. Total profit is $120-$60=$60, or $6 per trade. Win rate is 40% and profit factor is $120/$60=2. A high win rate can still lose if occasional losses are large.</a:t>
            </a:r>
          </a:p>
          <a:p xmlns:a="http://schemas.openxmlformats.org/drawingml/2006/main">
            <a:r>
              <a:t/>
            </a:r>
          </a:p>
          <a:p xmlns:a="http://schemas.openxmlformats.org/drawingml/2006/main">
            <a:r>
              <a:t>The numbers are hypothetical teaching assumptions. Historic averages are estimates and do not guarantee future outcomes. Teams must explain why the opportunity might recur, identify failure conditions and compare on later observations.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15:30-17:30. Risk management limits consequences when a prediction, relationship or system fails. It operates at individual-trade, security, portfolio and operational levels.</a:t>
            </a:r>
          </a:p>
          <a:p xmlns:a="http://schemas.openxmlformats.org/drawingml/2006/main">
            <a:r>
              <a:t/>
            </a:r>
          </a:p>
          <a:p xmlns:a="http://schemas.openxmlformats.org/drawingml/2006/main">
            <a:r>
              <a:t>EXITS: A stop defines an intended exit after adverse movement. It can use a fixed price or percentage distance, recent volatility, signal invalidation or a trailing threshold. A profit target or convergence condition closes a successful hypothesis. A time stop closes after a maximum duration. A session exit closes before the actual exchange close. Stops do not guarantee a fill price and can be exceeded by gaps or delays.</a:t>
            </a:r>
          </a:p>
          <a:p xmlns:a="http://schemas.openxmlformats.org/drawingml/2006/main">
            <a:r>
              <a:t/>
            </a:r>
          </a:p>
          <a:p xmlns:a="http://schemas.openxmlformats.org/drawingml/2006/main">
            <a:r>
              <a:t>SIZING EXAMPLE: An educational intended-loss budget of $25 and stop distance of $0.50 allow 50 shares by that calculation. A $2,000 notional cap at $100 permits only 20 shares. Apply both and use 20 shares. Intended stop loss is $10 before costs or worse execution. These are examples, not recommended account limits.</a:t>
            </a:r>
          </a:p>
          <a:p xmlns:a="http://schemas.openxmlformats.org/drawingml/2006/main">
            <a:r>
              <a:t/>
            </a:r>
          </a:p>
          <a:p xmlns:a="http://schemas.openxmlformats.org/drawingml/2006/main">
            <a:r>
              <a:t>PORTFOLIO: Cap total gross exposure and concentrated market/sector exposure. Several correlated securities can lose together. In a pair, review both legs, the hedge units and exposure if only one fills. Pending orders also create potential exposure.</a:t>
            </a:r>
          </a:p>
          <a:p xmlns:a="http://schemas.openxmlformats.org/drawingml/2006/main">
            <a:r>
              <a:t/>
            </a:r>
          </a:p>
          <a:p xmlns:a="http://schemas.openxmlformats.org/drawingml/2006/main">
            <a:r>
              <a:t>OPERATIONS: A kill switch blocks further trading after a predefined event. Specify whether it also cancels orders or closes positions. Reconcile after a restart, preserve a recovery procedure and verify end-of-session flat positions and working orders. A signal that says close does not itself complete the exit.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17:30-19:00. Volatility measures the scale of fluctuations and does not tell us direction. Two assets can finish with equal returns but follow different paths. Realized volatility measures past movement and a forecast estimates a future interval from available past information. Use it to normalize signals, size positions or define exits and test the resulting strategy improvement.</a:t>
            </a:r>
          </a:p>
          <a:p xmlns:a="http://schemas.openxmlformats.org/drawingml/2006/main">
            <a:r>
              <a:t/>
            </a:r>
          </a:p>
          <a:p xmlns:a="http://schemas.openxmlformats.org/drawingml/2006/main">
            <a:r>
              <a:t>A regime is an observable condition under which a strategy may behave differently, such as persistent direction, repeated reversal, high volatility or expensive liquidity. A filter might block reversal entries during persistent movement. Choose and evaluate the condition before observing the outcome. A day labeled trending using its future path is not a real-time signal.</a:t>
            </a:r>
          </a:p>
          <a:p xmlns:a="http://schemas.openxmlformats.org/drawingml/2006/main">
            <a:r>
              <a:t/>
            </a:r>
          </a:p>
          <a:p xmlns:a="http://schemas.openxmlformats.org/drawingml/2006/main">
            <a:r>
              <a:t>Market factors describe common influences such as broad-market or sector movement. Beta is estimated sensitivity to a specified factor. Residual movement is the portion the model leaves unexplained. A hedged strategy can still carry unmodeled risk.</a:t>
            </a:r>
          </a:p>
          <a:p xmlns:a="http://schemas.openxmlformats.org/drawingml/2006/main">
            <a:r>
              <a:t/>
            </a:r>
          </a:p>
          <a:p xmlns:a="http://schemas.openxmlformats.org/drawingml/2006/main">
            <a:r>
              <a:t>Time of day also changes the relevant comparison. Each new feature needs a defined role and a baseline comparison. Volatility and regime methods are shared extensions, while teams study their own use cases. Lead-lag mainly connects relative-value and microstructure research.</a:t>
            </a:r>
          </a:p>
          <a:p xmlns:a="http://schemas.openxmlformats.org/drawingml/2006/main">
            <a:r>
              <a:t/>
            </a:r>
          </a:p>
          <a:p xmlns:a="http://schemas.openxmlformats.org/drawingml/2006/main">
            <a:r>
              <a:t>RESEARCH: Intraday volatility forecasting and cross-stock information provide an extension path, not a guarantee of profitable direction forecasts: https://academic.oup.com/jfec/article/22/2/492/7081291.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19:00-21:00. A backtest asks what specified rules would have done on historical observations under stated execution assumptions. Paper trading applies the implementation to incoming observations with simulated brokerage fills. It adds prospective operational experience but does not guarantee real-money fills.</a:t>
            </a:r>
          </a:p>
          <a:p xmlns:a="http://schemas.openxmlformats.org/drawingml/2006/main">
            <a:r>
              <a:t/>
            </a:r>
          </a:p>
          <a:p xmlns:a="http://schemas.openxmlformats.org/drawingml/2006/main">
            <a:r>
              <a:t>EVALUATION SEQUENCE: Use earlier training data for relationships, scaling and model coefficients. Use later validation observations to compare a limited number of choices. Lock the rules before untouched later evaluation. Walk-forward evaluation repeats this sequence while maintaining causality. Record every attempted variant and retain a fixed baseline during paper observation.</a:t>
            </a:r>
          </a:p>
          <a:p xmlns:a="http://schemas.openxmlformats.org/drawingml/2006/main">
            <a:r>
              <a:t/>
            </a:r>
          </a:p>
          <a:p xmlns:a="http://schemas.openxmlformats.org/drawingml/2006/main">
            <a:r>
              <a:t>LOOK-AHEAD: A completed minute bar cannot be used at the start of that minute. Future returns can be labels for training examples but cannot become contemporaneous features. Choose securities and transformations using permitted past information. Overlapping future outcome windows at split boundaries also require care.</a:t>
            </a:r>
          </a:p>
          <a:p xmlns:a="http://schemas.openxmlformats.org/drawingml/2006/main">
            <a:r>
              <a:t/>
            </a:r>
          </a:p>
          <a:p xmlns:a="http://schemas.openxmlformats.org/drawingml/2006/main">
            <a:r>
              <a:t>OVERFITTING: Trying many windows, thresholds, symbols and exits can select historical noise. Repeatedly examining a test period makes it development data. Compare one change at a time and record failed experiments. Current successful securities may also create selection bias in historical research.</a:t>
            </a:r>
          </a:p>
          <a:p xmlns:a="http://schemas.openxmlformats.org/drawingml/2006/main">
            <a:r>
              <a:t/>
            </a:r>
          </a:p>
          <a:p xmlns:a="http://schemas.openxmlformats.org/drawingml/2006/main">
            <a:r>
              <a:t>FILL REALISM: A bar touching a limit does not guarantee a fill. An intrabar stop and target may have unknown order. Supported simulations need documented costs, timing and partial-fill assumptions. Alpaca paper omits important execution effects. A few weeks demonstrate observed behavior and reliability, with substantial uncertainty about durable profitability.</a:t>
            </a:r>
          </a:p>
          <a:p xmlns:a="http://schemas.openxmlformats.org/drawingml/2006/main">
            <a:r>
              <a:t/>
            </a:r>
          </a:p>
          <a:p xmlns:a="http://schemas.openxmlformats.org/drawingml/2006/main">
            <a:r>
              <a:t>SOURCES: https://www.davidhbailey.com/dhbpapers/backtest-prob.pdf; https://docs.alpaca.markets/us/docs/paper-trading.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21:00-23:00. Begin with the equity curve, including costs and open positions. Net P&amp;L is money gained or lost. Return compares it with a clearly stated allocated capital basis. Consistent periods and capital definitions make comparisons meaningful.</a:t>
            </a:r>
          </a:p>
          <a:p xmlns:a="http://schemas.openxmlformats.org/drawingml/2006/main">
            <a:r>
              <a:t/>
            </a:r>
          </a:p>
          <a:p xmlns:a="http://schemas.openxmlformats.org/drawingml/2006/main">
            <a:r>
              <a:t>DRAWDOWN EXAMPLE: Equity rises from $10,000 to $11,000 then falls to $9,900. The decline from the peak is $1,100/$11,000=10%, even though the end is only 1% below starting capital.</a:t>
            </a:r>
          </a:p>
          <a:p xmlns:a="http://schemas.openxmlformats.org/drawingml/2006/main">
            <a:r>
              <a:t/>
            </a:r>
          </a:p>
          <a:p xmlns:a="http://schemas.openxmlformats.org/drawingml/2006/main">
            <a:r>
              <a:t>SHARPE: Average periodic excess return divided by standard deviation of those excess returns. For the usual club convention, excess means strategy return minus a risk-free return on the same time basis. Use comparable daily returns, not independent-trade assumptions. Hypothetically mean daily excess return 0.10% and daily standard deviation 1.00% produce daily Sharpe 0.10. Multiplying by sqrt(252) gives about 1.59 only under relevant annualization assumptions. Dependence and short history make estimates uncertain.</a:t>
            </a:r>
          </a:p>
          <a:p xmlns:a="http://schemas.openxmlformats.org/drawingml/2006/main">
            <a:r>
              <a:t/>
            </a:r>
          </a:p>
          <a:p xmlns:a="http://schemas.openxmlformats.org/drawingml/2006/main">
            <a:r>
              <a:t>SORTINO: Compares return above a chosen target with downside deviation relative to that target. State the target and convention. PROFIT FACTOR: Total winning profits divided by absolute losing losses. With no losses the ratio is undefined. WIN RATE alone omits loss magnitude, while expectancy includes average wins and losses. Report completed trades, holding time, exposure, turnover and costs.</a:t>
            </a:r>
          </a:p>
          <a:p xmlns:a="http://schemas.openxmlformats.org/drawingml/2006/main">
            <a:r>
              <a:t/>
            </a:r>
          </a:p>
          <a:p xmlns:a="http://schemas.openxmlformats.org/drawingml/2006/main">
            <a:r>
              <a:t>BENCHMARKS: Keep a permanent simple strategy, no-trade/cash comparison and market reference such as SPY where appropriate. An intraday hedge and fully invested buy-and-hold have different exposure and windows. Predictive accuracy is separate from trading return. A small correct forecast can lose after costs.</a:t>
            </a:r>
          </a:p>
          <a:p xmlns:a="http://schemas.openxmlformats.org/drawingml/2006/main">
            <a:r>
              <a:t/>
            </a:r>
          </a:p>
          <a:p xmlns:a="http://schemas.openxmlformats.org/drawingml/2006/main">
            <a:r>
              <a:t>LONGER-HISTORY MEASURES: CAGR expresses compounded annual growth and Calmar commonly compares annualized growth with maximum drawdown. Avoid using a short semester sample as a stable annual-growth estimate.</a:t>
            </a:r>
          </a:p>
          <a:p xmlns:a="http://schemas.openxmlformats.org/drawingml/2006/main">
            <a:r>
              <a:t/>
            </a:r>
          </a:p>
          <a:p xmlns:a="http://schemas.openxmlformats.org/drawingml/2006/main">
            <a:r>
              <a:t>SOURCES: https://web.stanford.edu/~wfsharpe/art/sr/SR.htm; https://rpc.cfainstitute.org/research/financial-analysts-journal/2002/the-statistics-of-sharpe-ratios.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23:00-24:00. The shared platform handles market connections, risk, orders, storage and common evaluation tools. Algorithm teams implement exact strategy rules and explain their experiments. Use the team branch and a focused pull request with a versioned configuration and report.</a:t>
            </a:r>
          </a:p>
          <a:p xmlns:a="http://schemas.openxmlformats.org/drawingml/2006/main">
            <a:r>
              <a:t/>
            </a:r>
          </a:p>
          <a:p xmlns:a="http://schemas.openxmlformats.org/drawingml/2006/main">
            <a:r>
              <a:t>WORKFLOW: Write the specification, implement a small baseline, run supported local backtests and inspect trades by hand, verify local simulation and personal Alpaca paper behavior when needed, submit for review, and deploy the reviewed paper version with a monitoring owner. A local simulated execution target differs from Alpaca paper.</a:t>
            </a:r>
          </a:p>
          <a:p xmlns:a="http://schemas.openxmlformats.org/drawingml/2006/main">
            <a:r>
              <a:t/>
            </a:r>
          </a:p>
          <a:p xmlns:a="http://schemas.openxmlformats.org/drawingml/2006/main">
            <a:r>
              <a:t>The strategy interface reads shared state and returns a signal or no action. It must remain fast and non-blocking. Training and larger models belong outside the event loop. Coordinate any Python inference integration with the platform team.</a:t>
            </a:r>
          </a:p>
          <a:p xmlns:a="http://schemas.openxmlformats.org/drawingml/2006/main">
            <a:r>
              <a:t/>
            </a:r>
          </a:p>
          <a:p xmlns:a="http://schemas.openxmlformats.org/drawingml/2006/main">
            <a:r>
              <a:t>The inspected shared backtest factory currently registers pairs_trading. The platform team must add selected types and quote/trade replay capabilities where needed. One prepared team machine is sufficient initially. Every member can contribute to sources, rules, manual verification and results even while coding skills develop.</a:t>
            </a:r>
          </a:p>
          <a:p xmlns:a="http://schemas.openxmlformats.org/drawingml/2006/main">
            <a:r>
              <a:t/>
            </a:r>
          </a:p>
          <a:p xmlns:a="http://schemas.openxmlformats.org/drawingml/2006/main">
            <a:r>
              <a:t>Project references: backend/src/strategies/base/strategy.ts, backend/src/core/backtest/strategyFactory.ts and docs/guides/local-development.md.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24:00-26:00. Use one prepared machine and a known supported pairs dataset. Spend 30 seconds showing the shared strategy contract and a configuration parameter. Spend 60 seconds showing a prepared signal, risk decision, actual order/fill and result. Spend the last 30 seconds showing the saved configuration and why a single parameter change is a distinct experiment.</a:t>
            </a:r>
          </a:p>
          <a:p xmlns:a="http://schemas.openxmlformats.org/drawingml/2006/main">
            <a:r>
              <a:t/>
            </a:r>
          </a:p>
          <a:p xmlns:a="http://schemas.openxmlformats.org/drawingml/2006/main">
            <a:r>
              <a:t>Use screenshots or a recorded fallback immediately if the live demonstration fails. Avoid installation support during the lecture. Show actual outputs rather than invented performance. Do not launch an unreviewed shared-account strategy as a classroom demo.</a:t>
            </a:r>
          </a:p>
          <a:p xmlns:a="http://schemas.openxmlformats.org/drawingml/2006/main">
            <a:r>
              <a:t/>
            </a:r>
          </a:p>
          <a:p xmlns:a="http://schemas.openxmlformats.org/drawingml/2006/main">
            <a:r>
              <a:t>The key codebase vocabulary is strategy rules under strategies, state/risk/execution under core, provider access under adapters, and controls/results under frontend. Members do not need to understand every service today.</a:t>
            </a:r>
          </a:p>
          <a:p xmlns:a="http://schemas.openxmlformats.org/drawingml/2006/main">
            <a:r>
              <a:t/>
            </a:r>
          </a:p>
          <a:p xmlns:a="http://schemas.openxmlformats.org/drawingml/2006/main">
            <a:r>
              <a:t>Keep the same signal-versus-order-versus-fill distinction taught in the course. If showing minute_reversal, identify it as an order-path test rather than a verified profitable algorithm.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26:00-26:30. Each team presents the hypothesis, relevant primary research, exact baseline rules, historical evaluation, monitored paper observations and reflections. Aim for roughly three calendar weeks of online paper activity, while reporting actual healthy dates and trades.</a:t>
            </a:r>
          </a:p>
          <a:p xmlns:a="http://schemas.openxmlformats.org/drawingml/2006/main">
            <a:r>
              <a:t/>
            </a:r>
          </a:p>
          <a:p xmlns:a="http://schemas.openxmlformats.org/drawingml/2006/main">
            <a:r>
              <a:t>Include net returns and costs, drawdown, allocated capital, sample size, benchmark and an equity curve. Label strategy versions and comparison periods. Explain failures, omitted assumptions, uncertainty and justified improvements. A rigorous negative finding contributes to the project.</a:t>
            </a:r>
          </a:p>
          <a:p xmlns:a="http://schemas.openxmlformats.org/drawingml/2006/main">
            <a:r>
              <a:t/>
            </a:r>
          </a:p>
          <a:p xmlns:a="http://schemas.openxmlformats.org/drawingml/2006/main">
            <a:r>
              <a:t>The platform team reports shared testing improvements, reproducibility and operational reliability. Final presentations are Monday, November 30, 2026. Use a dated report rather than relying on the presentation day's trading.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26:30-27:00. WhatsApp carries meeting and event logistics. Discord will hold workflow, research resources and team discussion after setup is complete. GitHub retains code, issues, reviewed changes, configurations and reproducible reports.</a:t>
            </a:r>
          </a:p>
          <a:p xmlns:a="http://schemas.openxmlformats.org/drawingml/2006/main">
            <a:r>
              <a:t/>
            </a:r>
          </a:p>
          <a:p xmlns:a="http://schemas.openxmlformats.org/drawingml/2006/main">
            <a:r>
              <a:t>Share the three team guides from docs/team-guides. Members research within their assigned program and post a concise weekly update naming the experiment, evidence, blocker and next owner. Keep technical decisions linked to a versioned issue or report. Complete Discord setup and distribute its actual invitation before directing members to join.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INTRODUCTION: 27:00-28:00. Explain the activity and next-week deliverable, then use the remaining two minutes as buffer. Teams begin by minute 30 and stay within their assigned research program.</a:t>
            </a:r>
          </a:p>
          <a:p xmlns:a="http://schemas.openxmlformats.org/drawingml/2006/main">
            <a:r>
              <a:t/>
            </a:r>
          </a:p>
          <a:p xmlns:a="http://schemas.openxmlformats.org/drawingml/2006/main">
            <a:r>
              <a:t>MINUTES 30-35: Introductions, experience and one learning goal per member.</a:t>
            </a:r>
          </a:p>
          <a:p xmlns:a="http://schemas.openxmlformats.org/drawingml/2006/main">
            <a:r>
              <a:t>MINUTES 35-39: Assign research, implementation and independent evaluation owners. A fourth person can own analysis or operations.</a:t>
            </a:r>
          </a:p>
          <a:p xmlns:a="http://schemas.openxmlformats.org/drawingml/2006/main">
            <a:r>
              <a:t>MINUTES 39-51: Within the assigned program, draft one baseline hypothesis and one possible enhancement. Describe the mechanism, one primary-source link, available inputs, candidate entry, size, exit, holding period and two failure cases. Work one hypothetical trade by hand. Platform team instead selects one shared blocker, its users and a measurable acceptance test.</a:t>
            </a:r>
          </a:p>
          <a:p xmlns:a="http://schemas.openxmlformats.org/drawingml/2006/main">
            <a:r>
              <a:t>MINUTES 51-57: Choose the first research experiment, task owners and October 20 deliverable. Keep it small enough to execute and review. Finalize the baseline specification by October 27.</a:t>
            </a:r>
          </a:p>
          <a:p xmlns:a="http://schemas.openxmlformats.org/drawingml/2006/main">
            <a:r>
              <a:t>MINUTES 57-60: Four teams each report for 45 seconds: hypothesis or platform priority, first test and main blocker.</a:t>
            </a:r>
          </a:p>
          <a:p xmlns:a="http://schemas.openxmlformats.org/drawingml/2006/main">
            <a:r>
              <a:t/>
            </a:r>
          </a:p>
          <a:p xmlns:a="http://schemas.openxmlformats.org/drawingml/2006/main">
            <a:r>
              <a:t>TAKE-HOME: Bring a primary-source summary, one-page candidate specification, worked example and first comparison plan to October 20. Include what the paper actually tested and how your proposal differs. Teams research indicators that serve their hypotheses rather than adding a catalog of measurements.</a:t>
            </a:r>
          </a:p>
          <a:p xmlns:a="http://schemas.openxmlformats.org/drawingml/2006/main">
            <a:r>
              <a:t/>
            </a:r>
          </a:p>
          <a:p xmlns:a="http://schemas.openxmlformats.org/drawingml/2006/main">
            <a:r>
              <a:t>Keep this slide displayed during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Complete before the proposed November 9 online start. These are acceptance criteria to verify, not a claim that every feature already exists.</a:t>
            </a:r>
          </a:p>
          <a:p xmlns:a="http://schemas.openxmlformats.org/drawingml/2006/main">
            <a:r>
              <a:t/>
            </a:r>
          </a:p>
          <a:p xmlns:a="http://schemas.openxmlformats.org/drawingml/2006/main">
            <a:r>
              <a:t>Exact version/configuration and data feed, reproducible historical report, chronology and cost assumptions, appropriate tests and manual trade review, numerical risk/exposure/loss limits, intraday session-aware exit policy, short feasibility and pair-leg failure behavior. Confirm the endpoint/account is paper-only and respect protected-account and run-lease mechanisms.</a:t>
            </a:r>
          </a:p>
          <a:p xmlns:a="http://schemas.openxmlformats.org/drawingml/2006/main">
            <a:r>
              <a:t/>
            </a:r>
          </a:p>
          <a:p xmlns:a="http://schemas.openxmlformats.org/drawingml/2006/main">
            <a:r>
              <a:t>Exercise the order path with test trades clearly excluded from performance. Verify rejection, partial fills, cancellation, stale data, duplicate intents, lost connections and restart reconciliation. Keep durable journaling, risk checks, reservations and idempotency. Assign a monitoring owner and backup, heartbeat/data-freshness alerts, incident log and a stop/recovery procedure.</a:t>
            </a:r>
          </a:p>
          <a:p xmlns:a="http://schemas.openxmlformats.org/drawingml/2006/main">
            <a:r>
              <a:t/>
            </a:r>
          </a:p>
          <a:p xmlns:a="http://schemas.openxmlformats.org/drawingml/2006/main">
            <a:r>
              <a:t>Freeze the formal baseline and record every configuration change. Experimental variants need separate identities, equivalent comparison windows and account-level limits. Shared symbols or capital can contaminate independent attribution, so use isolated simulated portfolios or documented allocation where required.</a:t>
            </a:r>
          </a:p>
          <a:p xmlns:a="http://schemas.openxmlformats.org/drawingml/2006/main">
            <a:r>
              <a:t/>
            </a:r>
          </a:p>
          <a:p xmlns:a="http://schemas.openxmlformats.org/drawingml/2006/main">
            <a:r>
              <a:t>Paper trading is simulated and omits important real execution effects. Report the actual observation window, healthy sessions and trade sample, along with cost-model limitations. The target November 9–27 contains 14 scheduled sessions, one of which closes early. Continue after the final presentation only with monitoring coverage.</a:t>
            </a:r>
          </a:p>
          <a:p xmlns:a="http://schemas.openxmlformats.org/drawingml/2006/main">
            <a:r>
              <a:t/>
            </a:r>
          </a:p>
          <a:p xmlns:a="http://schemas.openxmlformats.org/drawingml/2006/main">
            <a:r>
              <a:t>SOURCES: https://docs.alpaca.markets/us/docs/paper-trading; https://www.nyse.com/trade/hours-calendars; docs/guides/local-development.md.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ONLY. Primary sources motivate hypotheses rather than guaranteeing profitable implementations. Match each study's sample, frequency, target and costs to the team's proposed experiment.</a:t>
            </a:r>
          </a:p>
          <a:p xmlns:a="http://schemas.openxmlformats.org/drawingml/2006/main">
            <a:r>
              <a:t/>
            </a:r>
          </a:p>
          <a:p xmlns:a="http://schemas.openxmlformats.org/drawingml/2006/main">
            <a:r>
              <a:t>Avellaneda and Lee (2010), Statistical Arbitrage in the US Equities Market. Daily factor/sector residual strategies. https://math.nyu.edu/~avellane/AvellanedaLeeStatArb20090616.pdf</a:t>
            </a:r>
          </a:p>
          <a:p xmlns:a="http://schemas.openxmlformats.org/drawingml/2006/main">
            <a:r>
              <a:t>Gao, Han, Li and Zhou (2018), Market Intraday Momentum. The early predictor includes overnight movement. https://profiles.wustl.edu/en/publications/market-intraday-momentum/</a:t>
            </a:r>
          </a:p>
          <a:p xmlns:a="http://schemas.openxmlformats.org/drawingml/2006/main">
            <a:r>
              <a:t>Gould and Bonart (2016), Queue Imbalance as a One-Tick-Ahead Price Predictor. Nasdaq next-midpoint target, not a net-profit result. https://arxiv.org/abs/1512.03492</a:t>
            </a:r>
          </a:p>
          <a:p xmlns:a="http://schemas.openxmlformats.org/drawingml/2006/main">
            <a:r>
              <a:t>Cont, Kukanov and Stoikov (2014), The Price Impact of Order Book Events. Contemporaneous price impact. https://arxiv.org/abs/1011.6402</a:t>
            </a:r>
          </a:p>
          <a:p xmlns:a="http://schemas.openxmlformats.org/drawingml/2006/main">
            <a:r>
              <a:t>Cont, Cucuringu and Zhang (2023), Cross-Impact of Order Flow Imbalance. Short-lived lagged cross-asset prediction with richer book data. https://arxiv.org/abs/2112.13213</a:t>
            </a:r>
          </a:p>
          <a:p xmlns:a="http://schemas.openxmlformats.org/drawingml/2006/main">
            <a:r>
              <a:t>Zhang and coauthors (2024), Volatility Forecasting with Machine Learning and Intraday Commonality. Risk forecasting, not established direction-trading profit. https://academic.oup.com/jfec/article/22/2/492/7081291</a:t>
            </a:r>
          </a:p>
          <a:p xmlns:a="http://schemas.openxmlformats.org/drawingml/2006/main">
            <a:r>
              <a:t>Sharpe (1994), The Sharpe Ratio. https://web.stanford.edu/~wfsharpe/art/sr/SR.htm</a:t>
            </a:r>
          </a:p>
          <a:p xmlns:a="http://schemas.openxmlformats.org/drawingml/2006/main">
            <a:r>
              <a:t>Lo (2002), The Statistics of Sharpe Ratios. Estimation and annualization limits. https://rpc.cfainstitute.org/research/financial-analysts-journal/2002/the-statistics-of-sharpe-ratios</a:t>
            </a:r>
          </a:p>
          <a:p xmlns:a="http://schemas.openxmlformats.org/drawingml/2006/main">
            <a:r>
              <a:t>Bailey and coauthors, The Probability of Backtest Overfitting. https://www.davidhbailey.com/dhbpapers/backtest-prob.pdf</a:t>
            </a:r>
          </a:p>
          <a:p xmlns:a="http://schemas.openxmlformats.org/drawingml/2006/main">
            <a:r>
              <a:t>Alpaca Market Data FAQ. https://docs.alpaca.markets/us/docs/market-data-faq</a:t>
            </a:r>
          </a:p>
          <a:p xmlns:a="http://schemas.openxmlformats.org/drawingml/2006/main">
            <a:r>
              <a:t>Alpaca Paper Trading. https://docs.alpaca.markets/us/docs/paper-trading</a:t>
            </a:r>
          </a:p>
          <a:p xmlns:a="http://schemas.openxmlformats.org/drawingml/2006/main">
            <a:r>
              <a:t>NYSE hours and calendar. https://www.nyse.com/trade/hours-calendars</a:t>
            </a:r>
          </a:p>
          <a:p xmlns:a="http://schemas.openxmlformats.org/drawingml/2006/main">
            <a:r>
              <a:t/>
            </a:r>
          </a:p>
          <a:p xmlns:a="http://schemas.openxmlformats.org/drawingml/2006/main">
            <a:r>
              <a:t>Project: docs/team-guides, docs/guides/local-development.md, docs/guides/LATENCY_BENCHMARK_AGENT_GUIDE.md and backend/src/strategies/base/strategy.ts.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b40639b32f4d3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5127cab842490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cab6b6a1a641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e7ce03ab174d8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80257af18a4d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05cecd717e24e9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AE7B99-6045-4754-B420-FF3E19254D5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841FF19-E344-4E6D-A446-75CC495ABE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17CFC8E-A0D8-40F8-B773-2042EF658B6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890DEC-5291-4F70-AB80-DF520F76A7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1DA4C14-4FBB-478C-9DBB-92AD278EB1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1741EA-1A2B-461E-98B2-FAFF6255C5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A71C46-A1D5-4C98-BFE5-EE30FC953A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E055ECE-2CFC-475C-8839-9A43B1B2468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5A677F-77D0-4D9C-8C4E-7D8F72950A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D51E8B-0654-40B5-91F3-F3EFD3B2755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f82af4d00244ec" /><Relationship Type="http://schemas.openxmlformats.org/officeDocument/2006/relationships/slideLayout" Target="/ppt/slideLayouts/slideLayout1.xml" Id="R1e58cbe0678847a5" /><Relationship Type="http://schemas.openxmlformats.org/officeDocument/2006/relationships/slideLayout" Target="/ppt/slideLayouts/slideLayout2.xml" Id="Rfc29f937aa8342f8" /><Relationship Type="http://schemas.openxmlformats.org/officeDocument/2006/relationships/slideLayout" Target="/ppt/slideLayouts/slideLayout3.xml" Id="R0527b24758f44641" /><Relationship Type="http://schemas.openxmlformats.org/officeDocument/2006/relationships/slideLayout" Target="/ppt/slideLayouts/slideLayout4.xml" Id="R052b014b8ace4aeb" /><Relationship Type="http://schemas.openxmlformats.org/officeDocument/2006/relationships/slideLayout" Target="/ppt/slideLayouts/slideLayout5.xml" Id="R5fe95f96e6554c68" /><Relationship Type="http://schemas.openxmlformats.org/officeDocument/2006/relationships/slideLayout" Target="/ppt/slideLayouts/slideLayout6.xml" Id="Re831d8d06a3c4f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58cbe0678847a5"/>
    <p:sldLayoutId xmlns:r="http://schemas.openxmlformats.org/officeDocument/2006/relationships" id="2147483650" r:id="Rfc29f937aa8342f8"/>
    <p:sldLayoutId xmlns:r="http://schemas.openxmlformats.org/officeDocument/2006/relationships" id="2147483651" r:id="R0527b24758f44641"/>
    <p:sldLayoutId xmlns:r="http://schemas.openxmlformats.org/officeDocument/2006/relationships" id="2147483652" r:id="R052b014b8ace4aeb"/>
    <p:sldLayoutId xmlns:r="http://schemas.openxmlformats.org/officeDocument/2006/relationships" id="2147483653" r:id="R5fe95f96e6554c68"/>
    <p:sldLayoutId xmlns:r="http://schemas.openxmlformats.org/officeDocument/2006/relationships" id="2147483654" r:id="Re831d8d06a3c4f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6d0565ceb9468a" /><Relationship Type="http://schemas.openxmlformats.org/officeDocument/2006/relationships/notesSlide" Target="/ppt/notesSlides/notesSlide1.xml" Id="Re81a9b9cd7bb44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71a8b8f13540b8" /><Relationship Type="http://schemas.openxmlformats.org/officeDocument/2006/relationships/notesSlide" Target="/ppt/notesSlides/notesSlide2.xml" Id="R118dcef95007475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42f2ca6f6fd4c10" /><Relationship Type="http://schemas.openxmlformats.org/officeDocument/2006/relationships/notesSlide" Target="/ppt/notesSlides/notesSlide3.xml" Id="R4f372541afde44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fad2696fdc14ddf" /><Relationship Type="http://schemas.openxmlformats.org/officeDocument/2006/relationships/notesSlide" Target="/ppt/notesSlides/notesSlide4.xml" Id="Rd6b9a505e1b549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2ceda9f0815488b" /><Relationship Type="http://schemas.openxmlformats.org/officeDocument/2006/relationships/hyperlink" Target="https://math.nyu.edu/~avellane/AvellanedaLeeStatArb20090616.pdf" TargetMode="External" Id="R42c1dfb2404a4682" /><Relationship Type="http://schemas.openxmlformats.org/officeDocument/2006/relationships/notesSlide" Target="/ppt/notesSlides/notesSlide5.xml" Id="R293154ea18fe4d0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d5313e91c04734" /><Relationship Type="http://schemas.openxmlformats.org/officeDocument/2006/relationships/hyperlink" Target="https://profiles.wustl.edu/en/publications/market-intraday-momentum/" TargetMode="External" Id="R8544a69f3db347ad" /><Relationship Type="http://schemas.openxmlformats.org/officeDocument/2006/relationships/notesSlide" Target="/ppt/notesSlides/notesSlide6.xml" Id="Ra701795a6b38407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be6f62c9b0435f" /><Relationship Type="http://schemas.openxmlformats.org/officeDocument/2006/relationships/hyperlink" Target="https://arxiv.org/abs/1512.03492" TargetMode="External" Id="R4dec5bac7f324ee0" /><Relationship Type="http://schemas.openxmlformats.org/officeDocument/2006/relationships/notesSlide" Target="/ppt/notesSlides/notesSlide7.xml" Id="Rccf538a091f2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f718cee89d549b5" /><Relationship Type="http://schemas.openxmlformats.org/officeDocument/2006/relationships/notesSlide" Target="/ppt/notesSlides/notesSlide8.xml" Id="R44aa48bd55d34e3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4ad30e79e0d46bd" /><Relationship Type="http://schemas.openxmlformats.org/officeDocument/2006/relationships/notesSlide" Target="/ppt/notesSlides/notesSlide9.xml" Id="R8ddcad1a750c40e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0735ed3a4914c30" /><Relationship Type="http://schemas.openxmlformats.org/officeDocument/2006/relationships/notesSlide" Target="/ppt/notesSlides/notesSlide10.xml" Id="R6a95e07c9da744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58b53c474346b0" /><Relationship Type="http://schemas.openxmlformats.org/officeDocument/2006/relationships/notesSlide" Target="/ppt/notesSlides/notesSlide11.xml" Id="R595bf7e560944a0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d990ee0bbc4a90" /><Relationship Type="http://schemas.openxmlformats.org/officeDocument/2006/relationships/notesSlide" Target="/ppt/notesSlides/notesSlide12.xml" Id="R362e081ee7524f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d63a811c9ed40ee" /><Relationship Type="http://schemas.openxmlformats.org/officeDocument/2006/relationships/notesSlide" Target="/ppt/notesSlides/notesSlide13.xml" Id="Rd335274f00ad42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5272330392f4a55" /><Relationship Type="http://schemas.openxmlformats.org/officeDocument/2006/relationships/notesSlide" Target="/ppt/notesSlides/notesSlide14.xml" Id="R9f6b8bdb0cae45e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33e6d6b197a473c" /><Relationship Type="http://schemas.openxmlformats.org/officeDocument/2006/relationships/notesSlide" Target="/ppt/notesSlides/notesSlide15.xml" Id="Rdbebb3755130408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a709272bd64530" /><Relationship Type="http://schemas.openxmlformats.org/officeDocument/2006/relationships/notesSlide" Target="/ppt/notesSlides/notesSlide16.xml" Id="R9be143982b9940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8c937397d1e4ed7" /><Relationship Type="http://schemas.openxmlformats.org/officeDocument/2006/relationships/notesSlide" Target="/ppt/notesSlides/notesSlide17.xml" Id="Rbe65bb2140ef4a9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e58d7a3eb984099" /><Relationship Type="http://schemas.openxmlformats.org/officeDocument/2006/relationships/notesSlide" Target="/ppt/notesSlides/notesSlide18.xml" Id="R1b842cbf334842a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ddea0daa9d64aa4" /><Relationship Type="http://schemas.openxmlformats.org/officeDocument/2006/relationships/notesSlide" Target="/ppt/notesSlides/notesSlide19.xml" Id="R3f135864f91846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532035380f34a08" /><Relationship Type="http://schemas.openxmlformats.org/officeDocument/2006/relationships/notesSlide" Target="/ppt/notesSlides/notesSlide20.xml" Id="R2c5cb688609f4efd"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c81d171f11b44b56" /><Relationship Type="http://schemas.openxmlformats.org/officeDocument/2006/relationships/notesSlide" Target="/ppt/notesSlides/notesSlide21.xml" Id="Rb79daad176f743c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74c6943b26148e3" /><Relationship Type="http://schemas.openxmlformats.org/officeDocument/2006/relationships/notesSlide" Target="/ppt/notesSlides/notesSlide22.xml" Id="Rfe460893717143e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97ee78f55d5452a" /><Relationship Type="http://schemas.openxmlformats.org/officeDocument/2006/relationships/notesSlide" Target="/ppt/notesSlides/notesSlide23.xml" Id="Refc5a13b16ab4e6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692d84d9de24fa2" /><Relationship Type="http://schemas.openxmlformats.org/officeDocument/2006/relationships/notesSlide" Target="/ppt/notesSlides/notesSlide24.xml" Id="R404d3740f14c4c4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6df574bb2924459f" /><Relationship Type="http://schemas.openxmlformats.org/officeDocument/2006/relationships/hyperlink" Target="https://math.nyu.edu/~avellane/AvellanedaLeeStatArb20090616.pdf" TargetMode="External" Id="R1610a3755b1b4c07" /><Relationship Type="http://schemas.openxmlformats.org/officeDocument/2006/relationships/hyperlink" Target="https://profiles.wustl.edu/en/publications/market-intraday-momentum/" TargetMode="External" Id="Rdb0a2ec00e594466" /><Relationship Type="http://schemas.openxmlformats.org/officeDocument/2006/relationships/hyperlink" Target="https://arxiv.org/abs/1512.03492" TargetMode="External" Id="Rf3c41dc7874b4d19" /><Relationship Type="http://schemas.openxmlformats.org/officeDocument/2006/relationships/hyperlink" Target="https://arxiv.org/abs/2112.13213" TargetMode="External" Id="R76eb79d57f23434d" /><Relationship Type="http://schemas.openxmlformats.org/officeDocument/2006/relationships/hyperlink" Target="https://academic.oup.com/jfec/article/22/2/492/7081291" TargetMode="External" Id="R3f49641b32ab4790" /><Relationship Type="http://schemas.openxmlformats.org/officeDocument/2006/relationships/hyperlink" Target="https://web.stanford.edu/~wfsharpe/art/sr/SR.htm" TargetMode="External" Id="R9c9ae3a5daa149c2" /><Relationship Type="http://schemas.openxmlformats.org/officeDocument/2006/relationships/hyperlink" Target="https://www.davidhbailey.com/dhbpapers/backtest-prob.pdf" TargetMode="External" Id="R1610b6481f95437f" /><Relationship Type="http://schemas.openxmlformats.org/officeDocument/2006/relationships/hyperlink" Target="https://docs.alpaca.markets/us/docs/market-data-faq" TargetMode="External" Id="Rf9d570aceff847fc" /><Relationship Type="http://schemas.openxmlformats.org/officeDocument/2006/relationships/hyperlink" Target="https://docs.alpaca.markets/us/docs/paper-trading" TargetMode="External" Id="Rb5c24c4809254d55" /><Relationship Type="http://schemas.openxmlformats.org/officeDocument/2006/relationships/notesSlide" Target="/ppt/notesSlides/notesSlide25.xml" Id="R3b372c78b9b847c6" /></Relationships>
</file>

<file path=ppt/slides/slide1.xml><?xml version="1.0" encoding="utf-8"?>
<p:sld xmlns:p="http://schemas.openxmlformats.org/presentationml/2006/main">
  <p:cSld>
    <p:bg>
      <p:bgPr>
        <a:solidFill xmlns:a="http://schemas.openxmlformats.org/drawingml/2006/main">
          <a:srgbClr val="004D73"/>
        </a:solidFill>
      </p:bgPr>
    </p:bg>
    <p:spTree>
      <p:nvGrpSpPr>
        <p:cNvPr id="1" name=""/>
        <p:cNvGrpSpPr/>
        <p:nvPr/>
      </p:nvGrpSpPr>
      <p:grpSpPr>
        <a:xfrm xmlns:a="http://schemas.openxmlformats.org/drawingml/2006/main"/>
      </p:grpSpPr>
      <p:sp>
        <p:nvSpPr>
          <p:cNvPr id="7" name="SHPE CAPITAL">
            <a:extLst xmlns:a="http://schemas.openxmlformats.org/drawingml/2006/main">
              <a:ext uri="{FF2B5EF4-FFF2-40B4-BE49-F238E27FC236}">
                <a16:creationId xmlns:a16="http://schemas.microsoft.com/office/drawing/2014/main" id="{4DBF76CD-E80F-47F1-ADC7-F3BC65E6764D}"/>
              </a:ext>
            </a:extLst>
          </p:cNvPr>
          <p:cNvSpPr>
            <a:spLocks xmlns:a="http://schemas.openxmlformats.org/drawingml/2006/main" noGrp="1"/>
          </p:cNvSpPr>
          <p:nvPr/>
        </p:nvSpPr>
        <p:spPr>
          <a:xfrm xmlns:a="http://schemas.openxmlformats.org/drawingml/2006/main">
            <a:off x="609600" y="6477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1">
                <a:solidFill>
                  <a:srgbClr val="FF874D"/>
                </a:solidFill>
                <a:latin typeface="Arial"/>
                <a:ea typeface="Arial"/>
                <a:cs typeface="Arial"/>
              </a:defRPr>
            </a:defPPr>
          </a:lstStyle>
          <a:p xmlns:a="http://schemas.openxmlformats.org/drawingml/2006/main">
            <a:pPr algn="l">
              <a:buNone/>
              <a:defRPr sz="1950" b="1">
                <a:solidFill>
                  <a:srgbClr val="FF874D"/>
                </a:solidFill>
                <a:latin typeface="Arial"/>
                <a:ea typeface="Arial"/>
                <a:cs typeface="Arial"/>
              </a:defRPr>
            </a:pPr>
            <a:r>
              <a:rPr sz="1950" b="1">
                <a:solidFill>
                  <a:srgbClr val="FF874D"/>
                </a:solidFill>
                <a:latin typeface="Arial"/>
                <a:ea typeface="Arial"/>
                <a:cs typeface="Arial"/>
              </a:rPr>
              <a:t>UF SHPE   SHPE CAPITAL</a:t>
            </a:r>
          </a:p>
        </p:txBody>
      </p:sp>
      <p:sp>
        <p:nvSpPr>
          <p:cNvPr id="2" name="Slide title">
            <a:extLst xmlns:a="http://schemas.openxmlformats.org/drawingml/2006/main">
              <a:ext uri="{FF2B5EF4-FFF2-40B4-BE49-F238E27FC236}">
                <a16:creationId xmlns:a16="http://schemas.microsoft.com/office/drawing/2014/main" id="{5E159583-9EA3-40A3-AE39-A4AD5AFD10EC}"/>
              </a:ext>
            </a:extLst>
          </p:cNvPr>
          <p:cNvSpPr>
            <a:spLocks xmlns:a="http://schemas.openxmlformats.org/drawingml/2006/main" noGrp="1"/>
          </p:cNvSpPr>
          <p:nvPr/>
        </p:nvSpPr>
        <p:spPr>
          <a:xfrm xmlns:a="http://schemas.openxmlformats.org/drawingml/2006/main">
            <a:off x="609600" y="1695450"/>
            <a:ext cx="109728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5250" b="1">
                <a:solidFill>
                  <a:srgbClr val="FFFFFF"/>
                </a:solidFill>
                <a:latin typeface="Arial"/>
                <a:ea typeface="Arial"/>
                <a:cs typeface="Arial"/>
              </a:defRPr>
            </a:defPPr>
          </a:lstStyle>
          <a:p xmlns:a="http://schemas.openxmlformats.org/drawingml/2006/main">
            <a:pPr algn="l">
              <a:buNone/>
              <a:defRPr sz="5250" b="1">
                <a:solidFill>
                  <a:srgbClr val="FFFFFF"/>
                </a:solidFill>
                <a:latin typeface="Arial"/>
                <a:ea typeface="Arial"/>
                <a:cs typeface="Arial"/>
              </a:defRPr>
            </a:pPr>
            <a:r>
              <a:rPr sz="5250" b="1">
                <a:solidFill>
                  <a:srgbClr val="FFFFFF"/>
                </a:solidFill>
                <a:latin typeface="Arial"/>
                <a:ea typeface="Arial"/>
                <a:cs typeface="Arial"/>
              </a:rPr>
              <a:t>Algorithm Team</a:t>
            </a:r>
          </a:p>
          <a:p xmlns:a="http://schemas.openxmlformats.org/drawingml/2006/main">
            <a:pPr algn="l">
              <a:buNone/>
              <a:defRPr sz="5250" b="1">
                <a:solidFill>
                  <a:srgbClr val="FFFFFF"/>
                </a:solidFill>
                <a:latin typeface="Arial"/>
                <a:ea typeface="Arial"/>
                <a:cs typeface="Arial"/>
              </a:defRPr>
            </a:pPr>
            <a:r>
              <a:rPr sz="5250" b="1">
                <a:solidFill>
                  <a:srgbClr val="FFFFFF"/>
                </a:solidFill>
                <a:latin typeface="Arial"/>
                <a:ea typeface="Arial"/>
                <a:cs typeface="Arial"/>
              </a:rPr>
              <a:t>First meeting</a:t>
            </a:r>
          </a:p>
        </p:txBody>
      </p:sp>
      <p:sp>
        <p:nvSpPr>
          <p:cNvPr id="3" name="From a research question to a te">
            <a:extLst xmlns:a="http://schemas.openxmlformats.org/drawingml/2006/main">
              <a:ext uri="{FF2B5EF4-FFF2-40B4-BE49-F238E27FC236}">
                <a16:creationId xmlns:a16="http://schemas.microsoft.com/office/drawing/2014/main" id="{B9F9AD96-16DF-4DF0-8669-EED081CFF617}"/>
              </a:ext>
            </a:extLst>
          </p:cNvPr>
          <p:cNvSpPr>
            <a:spLocks xmlns:a="http://schemas.openxmlformats.org/drawingml/2006/main" noGrp="1"/>
          </p:cNvSpPr>
          <p:nvPr/>
        </p:nvSpPr>
        <p:spPr>
          <a:xfrm xmlns:a="http://schemas.openxmlformats.org/drawingml/2006/main">
            <a:off x="609600" y="375285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400" b="0">
                <a:solidFill>
                  <a:srgbClr val="DCE4ED"/>
                </a:solidFill>
                <a:latin typeface="Arial"/>
                <a:ea typeface="Arial"/>
                <a:cs typeface="Arial"/>
              </a:defRPr>
            </a:defPPr>
          </a:lstStyle>
          <a:p xmlns:a="http://schemas.openxmlformats.org/drawingml/2006/main">
            <a:pPr algn="l">
              <a:buNone/>
              <a:defRPr sz="2400" b="0">
                <a:solidFill>
                  <a:srgbClr val="DCE4ED"/>
                </a:solidFill>
                <a:latin typeface="Arial"/>
                <a:ea typeface="Arial"/>
                <a:cs typeface="Arial"/>
              </a:defRPr>
            </a:pPr>
            <a:r>
              <a:rPr sz="2400" b="0">
                <a:solidFill>
                  <a:srgbClr val="DCE4ED"/>
                </a:solidFill>
                <a:latin typeface="Arial"/>
                <a:ea typeface="Arial"/>
                <a:cs typeface="Arial"/>
              </a:rPr>
              <a:t>Research and development of intraday trading strategies</a:t>
            </a:r>
          </a:p>
        </p:txBody>
      </p:sp>
      <p:sp>
        <p:nvSpPr>
          <p:cNvPr id="4" name="October 13, 2026     60 minutes">
            <a:extLst xmlns:a="http://schemas.openxmlformats.org/drawingml/2006/main">
              <a:ext uri="{FF2B5EF4-FFF2-40B4-BE49-F238E27FC236}">
                <a16:creationId xmlns:a16="http://schemas.microsoft.com/office/drawing/2014/main" id="{89B88864-EFCF-484B-B6A7-16BD91F6CBC0}"/>
              </a:ext>
            </a:extLst>
          </p:cNvPr>
          <p:cNvSpPr>
            <a:spLocks xmlns:a="http://schemas.openxmlformats.org/drawingml/2006/main" noGrp="1"/>
          </p:cNvSpPr>
          <p:nvPr/>
        </p:nvSpPr>
        <p:spPr>
          <a:xfrm xmlns:a="http://schemas.openxmlformats.org/drawingml/2006/main">
            <a:off x="609600" y="46958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FFFF"/>
                </a:solidFill>
                <a:latin typeface="Arial"/>
                <a:ea typeface="Arial"/>
                <a:cs typeface="Arial"/>
              </a:defRPr>
            </a:defPPr>
          </a:lstStyle>
          <a:p xmlns:a="http://schemas.openxmlformats.org/drawingml/2006/main">
            <a:pPr algn="l">
              <a:buNone/>
              <a:defRPr sz="1950" b="0">
                <a:solidFill>
                  <a:srgbClr val="FFFFFF"/>
                </a:solidFill>
                <a:latin typeface="Arial"/>
                <a:ea typeface="Arial"/>
                <a:cs typeface="Arial"/>
              </a:defRPr>
            </a:pPr>
            <a:r>
              <a:rPr sz="1950" b="0">
                <a:solidFill>
                  <a:srgbClr val="FFFFFF"/>
                </a:solidFill>
                <a:latin typeface="Arial"/>
                <a:ea typeface="Arial"/>
                <a:cs typeface="Arial"/>
              </a:rPr>
              <a:t>October 13, 2026     60 minutes</a:t>
            </a:r>
          </a:p>
        </p:txBody>
      </p:sp>
      <p:sp>
        <p:nvSpPr>
          <p:cNvPr id="5" name="Research teams  +  shared tradin">
            <a:extLst xmlns:a="http://schemas.openxmlformats.org/drawingml/2006/main">
              <a:ext uri="{FF2B5EF4-FFF2-40B4-BE49-F238E27FC236}">
                <a16:creationId xmlns:a16="http://schemas.microsoft.com/office/drawing/2014/main" id="{E7FFC121-BB05-4B7F-8D39-14215E83654F}"/>
              </a:ext>
            </a:extLst>
          </p:cNvPr>
          <p:cNvSpPr>
            <a:spLocks xmlns:a="http://schemas.openxmlformats.org/drawingml/2006/main" noGrp="1"/>
          </p:cNvSpPr>
          <p:nvPr/>
        </p:nvSpPr>
        <p:spPr>
          <a:xfrm xmlns:a="http://schemas.openxmlformats.org/drawingml/2006/main">
            <a:off x="609600" y="5267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950" b="0">
                <a:solidFill>
                  <a:srgbClr val="FF874D"/>
                </a:solidFill>
                <a:latin typeface="Arial"/>
                <a:ea typeface="Arial"/>
                <a:cs typeface="Arial"/>
              </a:defRPr>
            </a:defPPr>
          </a:lstStyle>
          <a:p xmlns:a="http://schemas.openxmlformats.org/drawingml/2006/main">
            <a:pPr algn="l">
              <a:buNone/>
              <a:defRPr sz="1950" b="0">
                <a:solidFill>
                  <a:srgbClr val="FF874D"/>
                </a:solidFill>
                <a:latin typeface="Arial"/>
                <a:ea typeface="Arial"/>
                <a:cs typeface="Arial"/>
              </a:defRPr>
            </a:pPr>
            <a:r>
              <a:rPr sz="1950" b="0">
                <a:solidFill>
                  <a:srgbClr val="FF874D"/>
                </a:solidFill>
                <a:latin typeface="Arial"/>
                <a:ea typeface="Arial"/>
                <a:cs typeface="Arial"/>
              </a:rPr>
              <a:t>28-minute introduction and course, then assigned-team work</a:t>
            </a:r>
          </a:p>
        </p:txBody>
      </p:sp>
      <p:sp>
        <p:nvSpPr>
          <p:cNvPr id="6" name="Semester showcase: December 1, 2">
            <a:extLst xmlns:a="http://schemas.openxmlformats.org/drawingml/2006/main">
              <a:ext uri="{FF2B5EF4-FFF2-40B4-BE49-F238E27FC236}">
                <a16:creationId xmlns:a16="http://schemas.microsoft.com/office/drawing/2014/main" id="{C93834AC-DEAC-4F82-97F3-00EE5B1B44CE}"/>
              </a:ext>
            </a:extLst>
          </p:cNvPr>
          <p:cNvSpPr>
            <a:spLocks xmlns:a="http://schemas.openxmlformats.org/drawingml/2006/main" noGrp="1"/>
          </p:cNvSpPr>
          <p:nvPr/>
        </p:nvSpPr>
        <p:spPr>
          <a:xfrm xmlns:a="http://schemas.openxmlformats.org/drawingml/2006/main">
            <a:off x="609600" y="62865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00" b="0">
                <a:solidFill>
                  <a:srgbClr val="DCE4ED"/>
                </a:solidFill>
                <a:latin typeface="Arial"/>
                <a:ea typeface="Arial"/>
                <a:cs typeface="Arial"/>
              </a:defRPr>
            </a:defPPr>
          </a:lstStyle>
          <a:p xmlns:a="http://schemas.openxmlformats.org/drawingml/2006/main">
            <a:pPr algn="l">
              <a:buNone/>
              <a:defRPr sz="1500" b="0">
                <a:solidFill>
                  <a:srgbClr val="DCE4ED"/>
                </a:solidFill>
                <a:latin typeface="Arial"/>
                <a:ea typeface="Arial"/>
                <a:cs typeface="Arial"/>
              </a:defRPr>
            </a:pPr>
            <a:r>
              <a:rPr sz="1500" b="0">
                <a:solidFill>
                  <a:srgbClr val="DCE4ED"/>
                </a:solidFill>
                <a:latin typeface="Arial"/>
                <a:ea typeface="Arial"/>
                <a:cs typeface="Arial"/>
              </a:rPr>
              <a:t>Final presentations: Monday, November 30, 2026</a:t>
            </a:r>
          </a:p>
        </p:txBody>
      </p:sp>
    </p:spTree>
    <p:extLst>
      <p:ext uri="{BB962C8B-B14F-4D97-AF65-F5344CB8AC3E}">
        <p14:creationId xmlns:p14="http://schemas.microsoft.com/office/powerpoint/2010/main" val="9884788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NTRODUCTION">
            <a:extLst xmlns:a="http://schemas.openxmlformats.org/drawingml/2006/main">
              <a:ext uri="{FF2B5EF4-FFF2-40B4-BE49-F238E27FC236}">
                <a16:creationId xmlns:a16="http://schemas.microsoft.com/office/drawing/2014/main" id="{699B8027-CD16-418F-AEC2-645388B8A8EE}"/>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INTRODUCTION</a:t>
            </a:r>
          </a:p>
        </p:txBody>
      </p:sp>
      <p:sp>
        <p:nvSpPr>
          <p:cNvPr id="2" name="Slide title">
            <a:extLst xmlns:a="http://schemas.openxmlformats.org/drawingml/2006/main">
              <a:ext uri="{FF2B5EF4-FFF2-40B4-BE49-F238E27FC236}">
                <a16:creationId xmlns:a16="http://schemas.microsoft.com/office/drawing/2014/main" id="{0C947A55-FC90-4AA9-B6A0-319E872ED0B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About me</a:t>
            </a:r>
          </a:p>
        </p:txBody>
      </p:sp>
      <p:sp>
        <p:nvSpPr>
          <p:cNvPr id="3" name="SHPE CAPITAL    OCTOBER 13, 2026">
            <a:extLst xmlns:a="http://schemas.openxmlformats.org/drawingml/2006/main">
              <a:ext uri="{FF2B5EF4-FFF2-40B4-BE49-F238E27FC236}">
                <a16:creationId xmlns:a16="http://schemas.microsoft.com/office/drawing/2014/main" id="{84A67D96-9DB4-4646-AFA7-47E0FB2AB76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0.5–1.5 min">
            <a:extLst xmlns:a="http://schemas.openxmlformats.org/drawingml/2006/main">
              <a:ext uri="{FF2B5EF4-FFF2-40B4-BE49-F238E27FC236}">
                <a16:creationId xmlns:a16="http://schemas.microsoft.com/office/drawing/2014/main" id="{B16DABC8-D32E-46FC-8F10-4195AC1F894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0:30-1:00</a:t>
            </a:r>
          </a:p>
        </p:txBody>
      </p:sp>
      <p:sp>
        <p:nvSpPr>
          <p:cNvPr id="5" name="2">
            <a:extLst xmlns:a="http://schemas.openxmlformats.org/drawingml/2006/main">
              <a:ext uri="{FF2B5EF4-FFF2-40B4-BE49-F238E27FC236}">
                <a16:creationId xmlns:a16="http://schemas.microsoft.com/office/drawing/2014/main" id="{7332B3D8-654B-4C02-9774-9D0FF96CBC18}"/>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a:t>
            </a:r>
          </a:p>
        </p:txBody>
      </p:sp>
      <p:sp>
        <p:nvSpPr>
          <p:cNvPr id="6" name="[Your name]">
            <a:extLst xmlns:a="http://schemas.openxmlformats.org/drawingml/2006/main">
              <a:ext uri="{FF2B5EF4-FFF2-40B4-BE49-F238E27FC236}">
                <a16:creationId xmlns:a16="http://schemas.microsoft.com/office/drawing/2014/main" id="{E01F8B0A-92C7-4A4F-A6EC-F7771540CA81}"/>
              </a:ext>
            </a:extLst>
          </p:cNvPr>
          <p:cNvSpPr>
            <a:spLocks xmlns:a="http://schemas.openxmlformats.org/drawingml/2006/main" noGrp="1"/>
          </p:cNvSpPr>
          <p:nvPr/>
        </p:nvSpPr>
        <p:spPr>
          <a:xfrm xmlns:a="http://schemas.openxmlformats.org/drawingml/2006/main">
            <a:off x="609600" y="1943100"/>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600" b="1">
                <a:solidFill>
                  <a:srgbClr val="004D73"/>
                </a:solidFill>
                <a:latin typeface="Arial"/>
                <a:ea typeface="Arial"/>
                <a:cs typeface="Arial"/>
              </a:defRPr>
            </a:defPPr>
          </a:lstStyle>
          <a:p xmlns:a="http://schemas.openxmlformats.org/drawingml/2006/main">
            <a:pPr algn="l">
              <a:buNone/>
              <a:defRPr sz="3600" b="1">
                <a:solidFill>
                  <a:srgbClr val="004D73"/>
                </a:solidFill>
                <a:latin typeface="Arial"/>
                <a:ea typeface="Arial"/>
                <a:cs typeface="Arial"/>
              </a:defRPr>
            </a:pPr>
            <a:r>
              <a:rPr sz="3600" b="1">
                <a:solidFill>
                  <a:srgbClr val="004D73"/>
                </a:solidFill>
                <a:latin typeface="Arial"/>
                <a:ea typeface="Arial"/>
                <a:cs typeface="Arial"/>
              </a:rPr>
              <a:t>[Your name]</a:t>
            </a:r>
          </a:p>
        </p:txBody>
      </p:sp>
      <p:sp>
        <p:nvSpPr>
          <p:cNvPr id="7" name="Algorithm Team Lead, SHPE Capital">
            <a:extLst xmlns:a="http://schemas.openxmlformats.org/drawingml/2006/main">
              <a:ext uri="{FF2B5EF4-FFF2-40B4-BE49-F238E27FC236}">
                <a16:creationId xmlns:a16="http://schemas.microsoft.com/office/drawing/2014/main" id="{3920A536-4F21-4AD2-BC98-A4AD5FCAA486}"/>
              </a:ext>
            </a:extLst>
          </p:cNvPr>
          <p:cNvSpPr>
            <a:spLocks xmlns:a="http://schemas.openxmlformats.org/drawingml/2006/main" noGrp="1"/>
          </p:cNvSpPr>
          <p:nvPr/>
        </p:nvSpPr>
        <p:spPr>
          <a:xfrm xmlns:a="http://schemas.openxmlformats.org/drawingml/2006/main">
            <a:off x="609600" y="26860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0">
                <a:solidFill>
                  <a:srgbClr val="182C43"/>
                </a:solidFill>
                <a:latin typeface="Arial"/>
                <a:ea typeface="Arial"/>
                <a:cs typeface="Arial"/>
              </a:defRPr>
            </a:defPPr>
          </a:lstStyle>
          <a:p xmlns:a="http://schemas.openxmlformats.org/drawingml/2006/main">
            <a:pPr algn="l">
              <a:buNone/>
              <a:defRPr sz="2250" b="0">
                <a:solidFill>
                  <a:srgbClr val="182C43"/>
                </a:solidFill>
                <a:latin typeface="Arial"/>
                <a:ea typeface="Arial"/>
                <a:cs typeface="Arial"/>
              </a:defRPr>
            </a:pPr>
            <a:r>
              <a:rPr sz="2250" b="0">
                <a:solidFill>
                  <a:srgbClr val="182C43"/>
                </a:solidFill>
                <a:latin typeface="Arial"/>
                <a:ea typeface="Arial"/>
                <a:cs typeface="Arial"/>
              </a:rPr>
              <a:t>Algorithm Team Lead, SHPE Capital</a:t>
            </a:r>
          </a:p>
        </p:txBody>
      </p:sp>
      <p:graphicFrame>
        <p:nvGraphicFramePr>
          <p:cNvPr id="8" name="">
            <a:extLst xmlns:a="http://schemas.openxmlformats.org/drawingml/2006/main">
              <a:ext uri="{FF2B5EF4-FFF2-40B4-BE49-F238E27FC236}">
                <a16:creationId xmlns:a16="http://schemas.microsoft.com/office/drawing/2014/main" id="{32A49D73-8225-40AF-B75A-099CB118CFFF}"/>
              </a:ext>
            </a:extLst>
          </p:cNvPr>
          <p:cNvGraphicFramePr/>
          <p:nvPr/>
        </p:nvGraphicFramePr>
        <p:xfrm>
          <a:off xmlns:a="http://schemas.openxmlformats.org/drawingml/2006/main" x="609600" y="3495675"/>
          <a:ext xmlns:a="http://schemas.openxmlformats.org/drawingml/2006/main" cx="10972800" cy="2276475"/>
        </p:xfrm>
        <a:graphic xmlns:a="http://schemas.openxmlformats.org/drawingml/2006/main">
          <a:graphicData uri="http://schemas.openxmlformats.org/drawingml/2006/table">
            <a:tbl>
              <a:tblPr firstRow="1" bandRow="0"/>
              <a:tblGrid>
                <a:gridCol w="2914650"/>
                <a:gridCol w="8058150"/>
              </a:tblGrid>
              <a:tr h="569119">
                <a:tc>
                  <a:txBody>
                    <a:bodyPr lIns="95250" tIns="95250" rIns="95250" bIns="95250">
                      <a:noAutofit/>
                    </a:bodyPr>
                    <a:lstStyle/>
                    <a:p>
                      <a:pPr algn="l">
                        <a:buNone/>
                      </a:pPr>
                      <a:r>
                        <a:rPr sz="2025" b="1">
                          <a:solidFill>
                            <a:srgbClr val="FFFFFF"/>
                          </a:solidFill>
                          <a:latin typeface="Arial"/>
                          <a:ea typeface="Arial"/>
                          <a:cs typeface="Arial"/>
                        </a:rPr>
                        <a:t>Background</a:t>
                      </a:r>
                    </a:p>
                  </a:txBody>
                  <a:tcPr marL="91440" marR="91440" marT="45720" marB="45720" anchor="ctr">
                    <a:solidFill>
                      <a:srgbClr val="004D73"/>
                    </a:solidFill>
                  </a:tcPr>
                </a:tc>
                <a:tc>
                  <a:txBody>
                    <a:bodyPr lIns="95250" tIns="95250" rIns="95250" bIns="95250">
                      <a:noAutofit/>
                    </a:bodyPr>
                    <a:lstStyle/>
                    <a:p>
                      <a:pPr algn="l">
                        <a:buNone/>
                      </a:pPr>
                      <a:r>
                        <a:rPr sz="2025" b="1">
                          <a:solidFill>
                            <a:srgbClr val="FFFFFF"/>
                          </a:solidFill>
                          <a:latin typeface="Arial"/>
                          <a:ea typeface="Arial"/>
                          <a:cs typeface="Arial"/>
                        </a:rPr>
                        <a:t>Personal introduction</a:t>
                      </a:r>
                    </a:p>
                  </a:txBody>
                  <a:tcPr marL="91440" marR="91440" marT="45720" marB="45720" anchor="ctr">
                    <a:solidFill>
                      <a:srgbClr val="004D73"/>
                    </a:solidFill>
                  </a:tcPr>
                </a:tc>
              </a:tr>
              <a:tr h="569119">
                <a:tc>
                  <a:txBody>
                    <a:bodyPr lIns="95250" tIns="95250" rIns="95250" bIns="95250">
                      <a:noAutofit/>
                    </a:bodyPr>
                    <a:lstStyle/>
                    <a:p>
                      <a:pPr algn="l">
                        <a:buNone/>
                      </a:pPr>
                      <a:r>
                        <a:rPr sz="2025" b="1">
                          <a:solidFill>
                            <a:srgbClr val="182C43"/>
                          </a:solidFill>
                          <a:latin typeface="Arial"/>
                          <a:ea typeface="Arial"/>
                          <a:cs typeface="Arial"/>
                        </a:rPr>
                        <a:t>Major and year</a:t>
                      </a:r>
                    </a:p>
                  </a:txBody>
                  <a:tcPr marL="91440" marR="91440" marT="45720" marB="45720" anchor="ctr">
                    <a:solidFill>
                      <a:srgbClr val="FFFFFF"/>
                    </a:solidFill>
                  </a:tcPr>
                </a:tc>
                <a:tc>
                  <a:txBody>
                    <a:bodyPr lIns="95250" tIns="95250" rIns="95250" bIns="95250">
                      <a:noAutofit/>
                    </a:bodyPr>
                    <a:lstStyle/>
                    <a:p>
                      <a:pPr algn="l">
                        <a:buNone/>
                      </a:pPr>
                      <a:r>
                        <a:rPr sz="2025" b="0">
                          <a:solidFill>
                            <a:srgbClr val="182C43"/>
                          </a:solidFill>
                          <a:latin typeface="Arial"/>
                          <a:ea typeface="Arial"/>
                          <a:cs typeface="Arial"/>
                        </a:rPr>
                        <a:t>[Your major and year]</a:t>
                      </a:r>
                    </a:p>
                  </a:txBody>
                  <a:tcPr marL="91440" marR="91440" marT="45720" marB="45720" anchor="ctr">
                    <a:solidFill>
                      <a:srgbClr val="FFFFFF"/>
                    </a:solidFill>
                  </a:tcPr>
                </a:tc>
              </a:tr>
              <a:tr h="569119">
                <a:tc>
                  <a:txBody>
                    <a:bodyPr lIns="95250" tIns="95250" rIns="95250" bIns="95250">
                      <a:noAutofit/>
                    </a:bodyPr>
                    <a:lstStyle/>
                    <a:p>
                      <a:pPr algn="l">
                        <a:buNone/>
                      </a:pPr>
                      <a:r>
                        <a:rPr sz="2025" b="1">
                          <a:solidFill>
                            <a:srgbClr val="182C43"/>
                          </a:solidFill>
                          <a:latin typeface="Arial"/>
                          <a:ea typeface="Arial"/>
                          <a:cs typeface="Arial"/>
                        </a:rPr>
                        <a:t>Relevant experience</a:t>
                      </a:r>
                    </a:p>
                  </a:txBody>
                  <a:tcPr marL="91440" marR="91440" marT="45720" marB="45720" anchor="ctr">
                    <a:solidFill>
                      <a:srgbClr val="F1F4F7"/>
                    </a:solidFill>
                  </a:tcPr>
                </a:tc>
                <a:tc>
                  <a:txBody>
                    <a:bodyPr lIns="95250" tIns="95250" rIns="95250" bIns="95250">
                      <a:noAutofit/>
                    </a:bodyPr>
                    <a:lstStyle/>
                    <a:p>
                      <a:pPr algn="l">
                        <a:buNone/>
                      </a:pPr>
                      <a:r>
                        <a:rPr sz="2025" b="0">
                          <a:solidFill>
                            <a:srgbClr val="182C43"/>
                          </a:solidFill>
                          <a:latin typeface="Arial"/>
                          <a:ea typeface="Arial"/>
                          <a:cs typeface="Arial"/>
                        </a:rPr>
                        <a:t>[One project, research interest or technical experience]</a:t>
                      </a:r>
                    </a:p>
                  </a:txBody>
                  <a:tcPr marL="91440" marR="91440" marT="45720" marB="45720" anchor="ctr">
                    <a:solidFill>
                      <a:srgbClr val="F1F4F7"/>
                    </a:solidFill>
                  </a:tcPr>
                </a:tc>
              </a:tr>
              <a:tr h="569119">
                <a:tc>
                  <a:txBody>
                    <a:bodyPr lIns="95250" tIns="95250" rIns="95250" bIns="95250">
                      <a:noAutofit/>
                    </a:bodyPr>
                    <a:lstStyle/>
                    <a:p>
                      <a:pPr algn="l">
                        <a:buNone/>
                      </a:pPr>
                      <a:r>
                        <a:rPr sz="2025" b="1">
                          <a:solidFill>
                            <a:srgbClr val="182C43"/>
                          </a:solidFill>
                          <a:latin typeface="Arial"/>
                          <a:ea typeface="Arial"/>
                          <a:cs typeface="Arial"/>
                        </a:rPr>
                        <a:t>Why this project</a:t>
                      </a:r>
                    </a:p>
                  </a:txBody>
                  <a:tcPr marL="91440" marR="91440" marT="45720" marB="45720" anchor="ctr">
                    <a:solidFill>
                      <a:srgbClr val="FFFFFF"/>
                    </a:solidFill>
                  </a:tcPr>
                </a:tc>
                <a:tc>
                  <a:txBody>
                    <a:bodyPr lIns="95250" tIns="95250" rIns="95250" bIns="95250">
                      <a:noAutofit/>
                    </a:bodyPr>
                    <a:lstStyle/>
                    <a:p>
                      <a:pPr algn="l">
                        <a:buNone/>
                      </a:pPr>
                      <a:r>
                        <a:rPr sz="2025" b="0">
                          <a:solidFill>
                            <a:srgbClr val="182C43"/>
                          </a:solidFill>
                          <a:latin typeface="Arial"/>
                          <a:ea typeface="Arial"/>
                          <a:cs typeface="Arial"/>
                        </a:rPr>
                        <a:t>[What interests you about algorithmic trading]</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4492573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DIVISION">
            <a:extLst xmlns:a="http://schemas.openxmlformats.org/drawingml/2006/main">
              <a:ext uri="{FF2B5EF4-FFF2-40B4-BE49-F238E27FC236}">
                <a16:creationId xmlns:a16="http://schemas.microsoft.com/office/drawing/2014/main" id="{4306F18E-031A-4EC5-9644-F60F17A10E3D}"/>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THE DIVISION</a:t>
            </a:r>
          </a:p>
        </p:txBody>
      </p:sp>
      <p:sp>
        <p:nvSpPr>
          <p:cNvPr id="2" name="Slide title">
            <a:extLst xmlns:a="http://schemas.openxmlformats.org/drawingml/2006/main">
              <a:ext uri="{FF2B5EF4-FFF2-40B4-BE49-F238E27FC236}">
                <a16:creationId xmlns:a16="http://schemas.microsoft.com/office/drawing/2014/main" id="{86C7F65C-DE98-416B-85E6-8A95C5949400}"/>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What is the Algorithm Team?</a:t>
            </a:r>
          </a:p>
        </p:txBody>
      </p:sp>
      <p:sp>
        <p:nvSpPr>
          <p:cNvPr id="3" name="SHPE CAPITAL    OCTOBER 13, 2026">
            <a:extLst xmlns:a="http://schemas.openxmlformats.org/drawingml/2006/main">
              <a:ext uri="{FF2B5EF4-FFF2-40B4-BE49-F238E27FC236}">
                <a16:creationId xmlns:a16="http://schemas.microsoft.com/office/drawing/2014/main" id="{E7B4E2A8-D851-41D8-BF75-D38817EA7071}"/>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3 min">
            <a:extLst xmlns:a="http://schemas.openxmlformats.org/drawingml/2006/main">
              <a:ext uri="{FF2B5EF4-FFF2-40B4-BE49-F238E27FC236}">
                <a16:creationId xmlns:a16="http://schemas.microsoft.com/office/drawing/2014/main" id="{2FA592D3-2817-4EDB-906B-C27294DE0631}"/>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1:00-2:00</a:t>
            </a:r>
          </a:p>
        </p:txBody>
      </p:sp>
      <p:sp>
        <p:nvSpPr>
          <p:cNvPr id="5" name="3">
            <a:extLst xmlns:a="http://schemas.openxmlformats.org/drawingml/2006/main">
              <a:ext uri="{FF2B5EF4-FFF2-40B4-BE49-F238E27FC236}">
                <a16:creationId xmlns:a16="http://schemas.microsoft.com/office/drawing/2014/main" id="{2F1DEFD2-BBFE-4CF5-8F61-616DE739E8F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3</a:t>
            </a:r>
          </a:p>
        </p:txBody>
      </p:sp>
      <p:sp>
        <p:nvSpPr>
          <p:cNvPr id="10" name="SHPE Capital's research and development ">
            <a:extLst xmlns:a="http://schemas.openxmlformats.org/drawingml/2006/main">
              <a:ext uri="{FF2B5EF4-FFF2-40B4-BE49-F238E27FC236}">
                <a16:creationId xmlns:a16="http://schemas.microsoft.com/office/drawing/2014/main" id="{DF51C841-6045-453A-AD9E-92D062B1B678}"/>
              </a:ext>
            </a:extLst>
          </p:cNvPr>
          <p:cNvSpPr>
            <a:spLocks xmlns:a="http://schemas.openxmlformats.org/drawingml/2006/main" noGrp="1"/>
          </p:cNvSpPr>
          <p:nvPr/>
        </p:nvSpPr>
        <p:spPr>
          <a:xfrm xmlns:a="http://schemas.openxmlformats.org/drawingml/2006/main">
            <a:off x="609600" y="180975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004D73"/>
                </a:solidFill>
                <a:latin typeface="Arial"/>
                <a:ea typeface="Arial"/>
                <a:cs typeface="Arial"/>
              </a:defRPr>
            </a:defPPr>
          </a:lstStyle>
          <a:p xmlns:a="http://schemas.openxmlformats.org/drawingml/2006/main">
            <a:pPr algn="l">
              <a:defRPr sz="2550" b="1">
                <a:solidFill>
                  <a:srgbClr val="004D73"/>
                </a:solidFill>
                <a:latin typeface="Arial"/>
                <a:ea typeface="Arial"/>
                <a:cs typeface="Arial"/>
              </a:defRPr>
            </a:pPr>
            <a:r>
              <a:rPr sz="2550" b="1">
                <a:solidFill>
                  <a:srgbClr val="004D73"/>
                </a:solidFill>
                <a:latin typeface="Arial"/>
                <a:ea typeface="Arial"/>
                <a:cs typeface="Arial"/>
              </a:rPr>
              <a:t>SHPE Capital's research and development division for systematic, automated equity trading strategies.</a:t>
            </a:r>
          </a:p>
        </p:txBody>
      </p:sp>
      <p:graphicFrame>
        <p:nvGraphicFramePr>
          <p:cNvPr id="11" name="">
            <a:extLst xmlns:a="http://schemas.openxmlformats.org/drawingml/2006/main">
              <a:ext uri="{FF2B5EF4-FFF2-40B4-BE49-F238E27FC236}">
                <a16:creationId xmlns:a16="http://schemas.microsoft.com/office/drawing/2014/main" id="{49E38A80-AEBB-4928-AC45-1636315DDBA7}"/>
              </a:ext>
            </a:extLst>
          </p:cNvPr>
          <p:cNvGraphicFramePr/>
          <p:nvPr/>
        </p:nvGraphicFramePr>
        <p:xfrm>
          <a:off xmlns:a="http://schemas.openxmlformats.org/drawingml/2006/main" x="609600" y="3219450"/>
          <a:ext xmlns:a="http://schemas.openxmlformats.org/drawingml/2006/main" cx="10972800" cy="2409825"/>
        </p:xfrm>
        <a:graphic xmlns:a="http://schemas.openxmlformats.org/drawingml/2006/main">
          <a:graphicData uri="http://schemas.openxmlformats.org/drawingml/2006/table">
            <a:tbl>
              <a:tblPr firstRow="1" bandRow="0"/>
              <a:tblGrid>
                <a:gridCol w="3381375"/>
                <a:gridCol w="7591425"/>
              </a:tblGrid>
              <a:tr h="602456">
                <a:tc>
                  <a:txBody>
                    <a:bodyPr lIns="95250" tIns="95250" rIns="95250" bIns="95250">
                      <a:noAutofit/>
                    </a:bodyPr>
                    <a:lstStyle/>
                    <a:p>
                      <a:pPr algn="l"/>
                      <a:r>
                        <a:rPr sz="2025" b="1">
                          <a:solidFill>
                            <a:srgbClr val="FFFFFF"/>
                          </a:solidFill>
                          <a:latin typeface="Arial"/>
                          <a:ea typeface="Arial"/>
                          <a:cs typeface="Arial"/>
                        </a:rPr>
                        <a:t>Semester scope</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025" b="1">
                          <a:solidFill>
                            <a:srgbClr val="FFFFFF"/>
                          </a:solidFill>
                          <a:latin typeface="Arial"/>
                          <a:ea typeface="Arial"/>
                          <a:cs typeface="Arial"/>
                        </a:rPr>
                        <a:t>Shared foundation</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02456">
                <a:tc>
                  <a:txBody>
                    <a:bodyPr lIns="95250" tIns="95250" rIns="95250" bIns="95250">
                      <a:noAutofit/>
                    </a:bodyPr>
                    <a:lstStyle/>
                    <a:p>
                      <a:pPr algn="l"/>
                      <a:r>
                        <a:rPr sz="2025" b="1">
                          <a:solidFill>
                            <a:srgbClr val="182C43"/>
                          </a:solidFill>
                          <a:latin typeface="Arial"/>
                          <a:ea typeface="Arial"/>
                          <a:cs typeface="Arial"/>
                        </a:rPr>
                        <a:t>US stocks and ETFs</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Intraday positions with explicit session exits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02456">
                <a:tc>
                  <a:txBody>
                    <a:bodyPr lIns="95250" tIns="95250" rIns="95250" bIns="95250">
                      <a:noAutofit/>
                    </a:bodyPr>
                    <a:lstStyle/>
                    <a:p>
                      <a:pPr algn="l"/>
                      <a:r>
                        <a:rPr sz="2025" b="1">
                          <a:solidFill>
                            <a:srgbClr val="182C43"/>
                          </a:solidFill>
                          <a:latin typeface="Arial"/>
                          <a:ea typeface="Arial"/>
                          <a:cs typeface="Arial"/>
                        </a:rPr>
                        <a:t>Platform data</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Alpaca bars, quotes and executed trades</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602456">
                <a:tc>
                  <a:txBody>
                    <a:bodyPr lIns="95250" tIns="95250" rIns="95250" bIns="95250">
                      <a:noAutofit/>
                    </a:bodyPr>
                    <a:lstStyle/>
                    <a:p>
                      <a:pPr algn="l"/>
                      <a:r>
                        <a:rPr sz="2025" b="1">
                          <a:solidFill>
                            <a:srgbClr val="182C43"/>
                          </a:solidFill>
                          <a:latin typeface="Arial"/>
                          <a:ea typeface="Arial"/>
                          <a:cs typeface="Arial"/>
                        </a:rPr>
                        <a:t>Platform team</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Shared data checks, testing tools and online operations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12" name="Initial feed: free IEX from one exchange">
            <a:extLst xmlns:a="http://schemas.openxmlformats.org/drawingml/2006/main">
              <a:ext uri="{FF2B5EF4-FFF2-40B4-BE49-F238E27FC236}">
                <a16:creationId xmlns:a16="http://schemas.microsoft.com/office/drawing/2014/main" id="{A74509A0-E6D2-4122-AE70-F765E469E230}"/>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Initial feed: free IEX from one exchange. Teams use the platform's supported data.</a:t>
            </a:r>
          </a:p>
        </p:txBody>
      </p:sp>
    </p:spTree>
    <p:extLst>
      <p:ext uri="{BB962C8B-B14F-4D97-AF65-F5344CB8AC3E}">
        <p14:creationId xmlns:p14="http://schemas.microsoft.com/office/powerpoint/2010/main" val="14517946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RESEARCH OBJECTIVE">
            <a:extLst xmlns:a="http://schemas.openxmlformats.org/drawingml/2006/main">
              <a:ext uri="{FF2B5EF4-FFF2-40B4-BE49-F238E27FC236}">
                <a16:creationId xmlns:a16="http://schemas.microsoft.com/office/drawing/2014/main" id="{C86E0AB0-1CCB-4143-8F5A-40FA034BEE5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RESEARCH OBJECTIVE</a:t>
            </a:r>
          </a:p>
        </p:txBody>
      </p:sp>
      <p:sp>
        <p:nvSpPr>
          <p:cNvPr id="2" name="Slide title">
            <a:extLst xmlns:a="http://schemas.openxmlformats.org/drawingml/2006/main">
              <a:ext uri="{FF2B5EF4-FFF2-40B4-BE49-F238E27FC236}">
                <a16:creationId xmlns:a16="http://schemas.microsoft.com/office/drawing/2014/main" id="{68BB59F5-6A6C-4D4A-92F5-7BFE3213739C}"/>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Goals for the semester</a:t>
            </a:r>
          </a:p>
        </p:txBody>
      </p:sp>
      <p:sp>
        <p:nvSpPr>
          <p:cNvPr id="3" name="SHPE CAPITAL    OCTOBER 13, 2026">
            <a:extLst xmlns:a="http://schemas.openxmlformats.org/drawingml/2006/main">
              <a:ext uri="{FF2B5EF4-FFF2-40B4-BE49-F238E27FC236}">
                <a16:creationId xmlns:a16="http://schemas.microsoft.com/office/drawing/2014/main" id="{8521AB8B-8DE5-4CC5-9660-29306E7674CC}"/>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3–4.5 min">
            <a:extLst xmlns:a="http://schemas.openxmlformats.org/drawingml/2006/main">
              <a:ext uri="{FF2B5EF4-FFF2-40B4-BE49-F238E27FC236}">
                <a16:creationId xmlns:a16="http://schemas.microsoft.com/office/drawing/2014/main" id="{542622F5-F880-4B63-8942-C9F98B0F20A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2:00-2:30</a:t>
            </a:r>
          </a:p>
        </p:txBody>
      </p:sp>
      <p:sp>
        <p:nvSpPr>
          <p:cNvPr id="5" name="4">
            <a:extLst xmlns:a="http://schemas.openxmlformats.org/drawingml/2006/main">
              <a:ext uri="{FF2B5EF4-FFF2-40B4-BE49-F238E27FC236}">
                <a16:creationId xmlns:a16="http://schemas.microsoft.com/office/drawing/2014/main" id="{91E065ED-F92D-42B1-A788-D94104E305A0}"/>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4</a:t>
            </a:r>
          </a:p>
        </p:txBody>
      </p:sp>
      <p:sp>
        <p:nvSpPr>
          <p:cNvPr id="10" name="Research, develop and evaluate three int">
            <a:extLst xmlns:a="http://schemas.openxmlformats.org/drawingml/2006/main">
              <a:ext uri="{FF2B5EF4-FFF2-40B4-BE49-F238E27FC236}">
                <a16:creationId xmlns:a16="http://schemas.microsoft.com/office/drawing/2014/main" id="{C6ED5810-F96C-4E72-B988-203FE16310E1}"/>
              </a:ext>
            </a:extLst>
          </p:cNvPr>
          <p:cNvSpPr>
            <a:spLocks xmlns:a="http://schemas.openxmlformats.org/drawingml/2006/main" noGrp="1"/>
          </p:cNvSpPr>
          <p:nvPr/>
        </p:nvSpPr>
        <p:spPr>
          <a:xfrm xmlns:a="http://schemas.openxmlformats.org/drawingml/2006/main">
            <a:off x="609600" y="1724025"/>
            <a:ext cx="109728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550" b="1">
                <a:solidFill>
                  <a:srgbClr val="004D73"/>
                </a:solidFill>
                <a:latin typeface="Arial"/>
                <a:ea typeface="Arial"/>
                <a:cs typeface="Arial"/>
              </a:defRPr>
            </a:defPPr>
          </a:lstStyle>
          <a:p xmlns:a="http://schemas.openxmlformats.org/drawingml/2006/main">
            <a:pPr algn="l">
              <a:defRPr sz="2550" b="1">
                <a:solidFill>
                  <a:srgbClr val="004D73"/>
                </a:solidFill>
                <a:latin typeface="Arial"/>
                <a:ea typeface="Arial"/>
                <a:cs typeface="Arial"/>
              </a:defRPr>
            </a:pPr>
            <a:r>
              <a:rPr sz="2550" b="1">
                <a:solidFill>
                  <a:srgbClr val="004D73"/>
                </a:solidFill>
                <a:latin typeface="Arial"/>
                <a:ea typeface="Arial"/>
                <a:cs typeface="Arial"/>
              </a:rPr>
              <a:t>Research, develop and evaluate three intraday algorithms against defined benchmarks after costs.</a:t>
            </a:r>
          </a:p>
        </p:txBody>
      </p:sp>
      <p:graphicFrame>
        <p:nvGraphicFramePr>
          <p:cNvPr id="11" name="">
            <a:extLst xmlns:a="http://schemas.openxmlformats.org/drawingml/2006/main">
              <a:ext uri="{FF2B5EF4-FFF2-40B4-BE49-F238E27FC236}">
                <a16:creationId xmlns:a16="http://schemas.microsoft.com/office/drawing/2014/main" id="{874321E0-AFBC-4822-92CC-C1E04E744E04}"/>
              </a:ext>
            </a:extLst>
          </p:cNvPr>
          <p:cNvGraphicFramePr/>
          <p:nvPr/>
        </p:nvGraphicFramePr>
        <p:xfrm>
          <a:off xmlns:a="http://schemas.openxmlformats.org/drawingml/2006/main" x="609600" y="3238500"/>
          <a:ext xmlns:a="http://schemas.openxmlformats.org/drawingml/2006/main" cx="10972800" cy="2371725"/>
        </p:xfrm>
        <a:graphic xmlns:a="http://schemas.openxmlformats.org/drawingml/2006/main">
          <a:graphicData uri="http://schemas.openxmlformats.org/drawingml/2006/table">
            <a:tbl>
              <a:tblPr firstRow="1" bandRow="0"/>
              <a:tblGrid>
                <a:gridCol w="3381375"/>
                <a:gridCol w="7591425"/>
              </a:tblGrid>
              <a:tr h="592931">
                <a:tc>
                  <a:txBody>
                    <a:bodyPr lIns="95250" tIns="95250" rIns="95250" bIns="95250">
                      <a:noAutofit/>
                    </a:bodyPr>
                    <a:lstStyle/>
                    <a:p>
                      <a:pPr algn="l"/>
                      <a:r>
                        <a:rPr sz="2025" b="1">
                          <a:solidFill>
                            <a:srgbClr val="FFFFFF"/>
                          </a:solidFill>
                          <a:latin typeface="Arial"/>
                          <a:ea typeface="Arial"/>
                          <a:cs typeface="Arial"/>
                        </a:rPr>
                        <a:t>Research program</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025" b="1">
                          <a:solidFill>
                            <a:srgbClr val="FFFFFF"/>
                          </a:solidFill>
                          <a:latin typeface="Arial"/>
                          <a:ea typeface="Arial"/>
                          <a:cs typeface="Arial"/>
                        </a:rPr>
                        <a:t>Core question</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92931">
                <a:tc>
                  <a:txBody>
                    <a:bodyPr lIns="95250" tIns="95250" rIns="95250" bIns="95250">
                      <a:noAutofit/>
                    </a:bodyPr>
                    <a:lstStyle/>
                    <a:p>
                      <a:pPr algn="l"/>
                      <a:r>
                        <a:rPr sz="2025" b="1">
                          <a:solidFill>
                            <a:srgbClr val="182C43"/>
                          </a:solidFill>
                          <a:latin typeface="Arial"/>
                          <a:ea typeface="Arial"/>
                          <a:cs typeface="Arial"/>
                        </a:rPr>
                        <a:t>Statistical arbitrage</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Will a relative deviation converge?</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592931">
                <a:tc>
                  <a:txBody>
                    <a:bodyPr lIns="95250" tIns="95250" rIns="95250" bIns="95250">
                      <a:noAutofit/>
                    </a:bodyPr>
                    <a:lstStyle/>
                    <a:p>
                      <a:pPr algn="l"/>
                      <a:r>
                        <a:rPr sz="2025" b="1">
                          <a:solidFill>
                            <a:srgbClr val="182C43"/>
                          </a:solidFill>
                          <a:latin typeface="Arial"/>
                          <a:ea typeface="Arial"/>
                          <a:cs typeface="Arial"/>
                        </a:rPr>
                        <a:t>Intraday momentum</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When will an existing move continue?</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592931">
                <a:tc>
                  <a:txBody>
                    <a:bodyPr lIns="95250" tIns="95250" rIns="95250" bIns="95250">
                      <a:noAutofit/>
                    </a:bodyPr>
                    <a:lstStyle/>
                    <a:p>
                      <a:pPr algn="l"/>
                      <a:r>
                        <a:rPr sz="2025" b="1">
                          <a:solidFill>
                            <a:srgbClr val="182C43"/>
                          </a:solidFill>
                          <a:latin typeface="Arial"/>
                          <a:ea typeface="Arial"/>
                          <a:cs typeface="Arial"/>
                        </a:rPr>
                        <a:t>Market microstructure</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Does trading pressure predict the next movement?</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12" name="Final evidence: cited research, backtest">
            <a:extLst xmlns:a="http://schemas.openxmlformats.org/drawingml/2006/main">
              <a:ext uri="{FF2B5EF4-FFF2-40B4-BE49-F238E27FC236}">
                <a16:creationId xmlns:a16="http://schemas.microsoft.com/office/drawing/2014/main" id="{6C303EEA-A51F-46DD-8173-AAB231E64BE2}"/>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Final evidence: cited research, backtests, paper results and reflections.</a:t>
            </a:r>
          </a:p>
        </p:txBody>
      </p:sp>
    </p:spTree>
    <p:extLst>
      <p:ext uri="{BB962C8B-B14F-4D97-AF65-F5344CB8AC3E}">
        <p14:creationId xmlns:p14="http://schemas.microsoft.com/office/powerpoint/2010/main" val="3028616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LGORITHM FAMILY 1">
            <a:extLst xmlns:a="http://schemas.openxmlformats.org/drawingml/2006/main">
              <a:ext uri="{FF2B5EF4-FFF2-40B4-BE49-F238E27FC236}">
                <a16:creationId xmlns:a16="http://schemas.microsoft.com/office/drawing/2014/main" id="{54F1CDEB-B6FF-483F-83CB-508C8BA7DD30}"/>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1</a:t>
            </a:r>
          </a:p>
        </p:txBody>
      </p:sp>
      <p:sp>
        <p:nvSpPr>
          <p:cNvPr id="2" name="Slide title">
            <a:extLst xmlns:a="http://schemas.openxmlformats.org/drawingml/2006/main">
              <a:ext uri="{FF2B5EF4-FFF2-40B4-BE49-F238E27FC236}">
                <a16:creationId xmlns:a16="http://schemas.microsoft.com/office/drawing/2014/main" id="{DDF97A7C-CFF6-4680-8A7E-489FF701135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Statistical arbitrage and relative value</a:t>
            </a:r>
          </a:p>
        </p:txBody>
      </p:sp>
      <p:sp>
        <p:nvSpPr>
          <p:cNvPr id="3" name="SHPE CAPITAL    OCTOBER 13, 2026">
            <a:extLst xmlns:a="http://schemas.openxmlformats.org/drawingml/2006/main">
              <a:ext uri="{FF2B5EF4-FFF2-40B4-BE49-F238E27FC236}">
                <a16:creationId xmlns:a16="http://schemas.microsoft.com/office/drawing/2014/main" id="{6DE03DBE-18E9-4E8B-BD78-A6210C43E321}"/>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4.5–6 min">
            <a:extLst xmlns:a="http://schemas.openxmlformats.org/drawingml/2006/main">
              <a:ext uri="{FF2B5EF4-FFF2-40B4-BE49-F238E27FC236}">
                <a16:creationId xmlns:a16="http://schemas.microsoft.com/office/drawing/2014/main" id="{AF001B5E-678C-4D3E-937E-AC6298BFED1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2:30-4:30</a:t>
            </a:r>
          </a:p>
        </p:txBody>
      </p:sp>
      <p:sp>
        <p:nvSpPr>
          <p:cNvPr id="5" name="5">
            <a:extLst xmlns:a="http://schemas.openxmlformats.org/drawingml/2006/main">
              <a:ext uri="{FF2B5EF4-FFF2-40B4-BE49-F238E27FC236}">
                <a16:creationId xmlns:a16="http://schemas.microsoft.com/office/drawing/2014/main" id="{7F3AB315-4EAB-4221-A013-AD0FADD91E86}"/>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5</a:t>
            </a:r>
          </a:p>
        </p:txBody>
      </p:sp>
      <p:sp>
        <p:nvSpPr>
          <p:cNvPr id="17" name="An unusual relative deviation may narrow">
            <a:extLst xmlns:a="http://schemas.openxmlformats.org/drawingml/2006/main">
              <a:ext uri="{FF2B5EF4-FFF2-40B4-BE49-F238E27FC236}">
                <a16:creationId xmlns:a16="http://schemas.microsoft.com/office/drawing/2014/main" id="{531720A8-EDD8-4F27-B9F2-4AA9C4ED1B2F}"/>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An unusual relative deviation may narrow over time.</a:t>
            </a:r>
          </a:p>
        </p:txBody>
      </p:sp>
      <p:sp>
        <p:nvSpPr>
          <p:cNvPr id="18" name="Basic algorithm">
            <a:extLst xmlns:a="http://schemas.openxmlformats.org/drawingml/2006/main">
              <a:ext uri="{FF2B5EF4-FFF2-40B4-BE49-F238E27FC236}">
                <a16:creationId xmlns:a16="http://schemas.microsoft.com/office/drawing/2014/main" id="{C9DB1897-93A7-416B-8FC4-81A9BC29186A}"/>
              </a:ext>
            </a:extLst>
          </p:cNvPr>
          <p:cNvSpPr>
            <a:spLocks xmlns:a="http://schemas.openxmlformats.org/drawingml/2006/main" noGrp="1"/>
          </p:cNvSpPr>
          <p:nvPr/>
        </p:nvSpPr>
        <p:spPr>
          <a:xfrm xmlns:a="http://schemas.openxmlformats.org/drawingml/2006/main">
            <a:off x="6096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Basic algorithm</a:t>
            </a:r>
          </a:p>
        </p:txBody>
      </p:sp>
      <p:sp>
        <p:nvSpPr>
          <p:cNvPr id="19" name="Trade a stock pair or sector residual to">
            <a:extLst xmlns:a="http://schemas.openxmlformats.org/drawingml/2006/main">
              <a:ext uri="{FF2B5EF4-FFF2-40B4-BE49-F238E27FC236}">
                <a16:creationId xmlns:a16="http://schemas.microsoft.com/office/drawing/2014/main" id="{80C47E3C-6596-4B44-8A73-EBE635566704}"/>
              </a:ext>
            </a:extLst>
          </p:cNvPr>
          <p:cNvSpPr>
            <a:spLocks xmlns:a="http://schemas.openxmlformats.org/drawingml/2006/main" noGrp="1"/>
          </p:cNvSpPr>
          <p:nvPr/>
        </p:nvSpPr>
        <p:spPr>
          <a:xfrm xmlns:a="http://schemas.openxmlformats.org/drawingml/2006/main">
            <a:off x="6096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Trade a stock pair or sector residual toward its usual relationship.</a:t>
            </a:r>
          </a:p>
        </p:txBody>
      </p:sp>
      <p:sp>
        <p:nvSpPr>
          <p:cNvPr id="20" name="Example">
            <a:extLst xmlns:a="http://schemas.openxmlformats.org/drawingml/2006/main">
              <a:ext uri="{FF2B5EF4-FFF2-40B4-BE49-F238E27FC236}">
                <a16:creationId xmlns:a16="http://schemas.microsoft.com/office/drawing/2014/main" id="{C03DFE7D-40B2-4AA7-B855-4D515C4F33E6}"/>
              </a:ext>
            </a:extLst>
          </p:cNvPr>
          <p:cNvSpPr>
            <a:spLocks xmlns:a="http://schemas.openxmlformats.org/drawingml/2006/main" noGrp="1"/>
          </p:cNvSpPr>
          <p:nvPr/>
        </p:nvSpPr>
        <p:spPr>
          <a:xfrm xmlns:a="http://schemas.openxmlformats.org/drawingml/2006/main">
            <a:off x="6096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Example</a:t>
            </a:r>
          </a:p>
        </p:txBody>
      </p:sp>
      <p:sp>
        <p:nvSpPr>
          <p:cNvPr id="21" name="If A becomes unusually high relative to ">
            <a:extLst xmlns:a="http://schemas.openxmlformats.org/drawingml/2006/main">
              <a:ext uri="{FF2B5EF4-FFF2-40B4-BE49-F238E27FC236}">
                <a16:creationId xmlns:a16="http://schemas.microsoft.com/office/drawing/2014/main" id="{C259E4B4-0984-4E4F-B31E-9AF02A6FEB21}"/>
              </a:ext>
            </a:extLst>
          </p:cNvPr>
          <p:cNvSpPr>
            <a:spLocks xmlns:a="http://schemas.openxmlformats.org/drawingml/2006/main" noGrp="1"/>
          </p:cNvSpPr>
          <p:nvPr/>
        </p:nvSpPr>
        <p:spPr>
          <a:xfrm xmlns:a="http://schemas.openxmlformats.org/drawingml/2006/main">
            <a:off x="6096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If A becomes unusually high relative to B, test short A and long B.</a:t>
            </a:r>
          </a:p>
        </p:txBody>
      </p:sp>
      <p:sp>
        <p:nvSpPr>
          <p:cNvPr id="22" name="Measures to research">
            <a:extLst xmlns:a="http://schemas.openxmlformats.org/drawingml/2006/main">
              <a:ext uri="{FF2B5EF4-FFF2-40B4-BE49-F238E27FC236}">
                <a16:creationId xmlns:a16="http://schemas.microsoft.com/office/drawing/2014/main" id="{D348C572-9CA6-45E9-BE38-74D55CAB4FE7}"/>
              </a:ext>
            </a:extLst>
          </p:cNvPr>
          <p:cNvSpPr>
            <a:spLocks xmlns:a="http://schemas.openxmlformats.org/drawingml/2006/main" noGrp="1"/>
          </p:cNvSpPr>
          <p:nvPr/>
        </p:nvSpPr>
        <p:spPr>
          <a:xfrm xmlns:a="http://schemas.openxmlformats.org/drawingml/2006/main">
            <a:off x="62484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Measures to research</a:t>
            </a:r>
          </a:p>
        </p:txBody>
      </p:sp>
      <p:sp>
        <p:nvSpPr>
          <p:cNvPr id="23" name="Residual, hedge ratio and z-score. Later">
            <a:extLst xmlns:a="http://schemas.openxmlformats.org/drawingml/2006/main">
              <a:ext uri="{FF2B5EF4-FFF2-40B4-BE49-F238E27FC236}">
                <a16:creationId xmlns:a16="http://schemas.microsoft.com/office/drawing/2014/main" id="{ECFD89B3-4A5B-426A-8C24-1386A0EAB9F3}"/>
              </a:ext>
            </a:extLst>
          </p:cNvPr>
          <p:cNvSpPr>
            <a:spLocks xmlns:a="http://schemas.openxmlformats.org/drawingml/2006/main" noGrp="1"/>
          </p:cNvSpPr>
          <p:nvPr/>
        </p:nvSpPr>
        <p:spPr>
          <a:xfrm xmlns:a="http://schemas.openxmlformats.org/drawingml/2006/main">
            <a:off x="62484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Residual, hedge ratio and z-score. Later: factors and lead-lag.</a:t>
            </a:r>
          </a:p>
        </p:txBody>
      </p:sp>
      <p:sp>
        <p:nvSpPr>
          <p:cNvPr id="24" name="Failure and improvement">
            <a:extLst xmlns:a="http://schemas.openxmlformats.org/drawingml/2006/main">
              <a:ext uri="{FF2B5EF4-FFF2-40B4-BE49-F238E27FC236}">
                <a16:creationId xmlns:a16="http://schemas.microsoft.com/office/drawing/2014/main" id="{09DA1830-7BDD-49DB-AFEE-83EECE7B89F2}"/>
              </a:ext>
            </a:extLst>
          </p:cNvPr>
          <p:cNvSpPr>
            <a:spLocks xmlns:a="http://schemas.openxmlformats.org/drawingml/2006/main" noGrp="1"/>
          </p:cNvSpPr>
          <p:nvPr/>
        </p:nvSpPr>
        <p:spPr>
          <a:xfrm xmlns:a="http://schemas.openxmlformats.org/drawingml/2006/main">
            <a:off x="62484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Failure and improvement</a:t>
            </a:r>
          </a:p>
        </p:txBody>
      </p:sp>
      <p:sp>
        <p:nvSpPr>
          <p:cNvPr id="25" name="Relationships can break. Test residual v">
            <a:extLst xmlns:a="http://schemas.openxmlformats.org/drawingml/2006/main">
              <a:ext uri="{FF2B5EF4-FFF2-40B4-BE49-F238E27FC236}">
                <a16:creationId xmlns:a16="http://schemas.microsoft.com/office/drawing/2014/main" id="{38C174FB-6F4B-4776-A6EE-5079E6A203FC}"/>
              </a:ext>
            </a:extLst>
          </p:cNvPr>
          <p:cNvSpPr>
            <a:spLocks xmlns:a="http://schemas.openxmlformats.org/drawingml/2006/main" noGrp="1"/>
          </p:cNvSpPr>
          <p:nvPr/>
        </p:nvSpPr>
        <p:spPr>
          <a:xfrm xmlns:a="http://schemas.openxmlformats.org/drawingml/2006/main">
            <a:off x="62484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Relationships can break. Test residual volatility and stability filters.</a:t>
            </a:r>
          </a:p>
        </p:txBody>
      </p:sp>
      <p:sp>
        <p:nvSpPr>
          <p:cNvPr id="26" name="">
            <a:extLst xmlns:a="http://schemas.openxmlformats.org/drawingml/2006/main">
              <a:ext uri="{FF2B5EF4-FFF2-40B4-BE49-F238E27FC236}">
                <a16:creationId xmlns:a16="http://schemas.microsoft.com/office/drawing/2014/main" id="{D8F7AF12-2D64-474A-A47E-DC29458F258C}"/>
              </a:ext>
            </a:extLst>
          </p:cNvPr>
          <p:cNvSpPr>
            <a:spLocks xmlns:a="http://schemas.openxmlformats.org/drawingml/2006/main" noGrp="1"/>
          </p:cNvSpPr>
          <p:nvPr/>
        </p:nvSpPr>
        <p:spPr>
          <a:xfrm xmlns:a="http://schemas.openxmlformats.org/drawingml/2006/main">
            <a:off x="609600" y="58674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004D73"/>
                </a:solidFill>
                <a:latin typeface="Arial"/>
                <a:ea typeface="Arial"/>
                <a:cs typeface="Arial"/>
              </a:defRPr>
            </a:defPPr>
          </a:lstStyle>
          <a:p xmlns:a="http://schemas.openxmlformats.org/drawingml/2006/main">
            <a:pPr algn="l">
              <a:defRPr sz="1725" b="0">
                <a:solidFill>
                  <a:srgbClr val="004D73"/>
                </a:solidFill>
                <a:latin typeface="Arial"/>
                <a:ea typeface="Arial"/>
                <a:cs typeface="Arial"/>
              </a:defRPr>
            </a:pPr>
            <a:r>
              <a:rPr sz="1725" u="sng">
                <a:solidFill>
                  <a:srgbClr val="004D73"/>
                </a:solidFill>
                <a:latin typeface="Arial"/>
                <a:ea typeface="Arial"/>
                <a:cs typeface="Arial"/>
                <a:hlinkClick xmlns:r="http://schemas.openxmlformats.org/officeDocument/2006/relationships" r:id="R42c1dfb2404a4682"/>
              </a:rPr>
              <a:t>Research: Avellaneda and Lee (2010), Statistical Arbitrage</a:t>
            </a:r>
          </a:p>
        </p:txBody>
      </p:sp>
    </p:spTree>
    <p:extLst>
      <p:ext uri="{BB962C8B-B14F-4D97-AF65-F5344CB8AC3E}">
        <p14:creationId xmlns:p14="http://schemas.microsoft.com/office/powerpoint/2010/main" val="17348567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LGORITHM FAMILY 2">
            <a:extLst xmlns:a="http://schemas.openxmlformats.org/drawingml/2006/main">
              <a:ext uri="{FF2B5EF4-FFF2-40B4-BE49-F238E27FC236}">
                <a16:creationId xmlns:a16="http://schemas.microsoft.com/office/drawing/2014/main" id="{0B4F5293-B68A-4E37-B60B-CA02DED9D9E4}"/>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2</a:t>
            </a:r>
          </a:p>
        </p:txBody>
      </p:sp>
      <p:sp>
        <p:nvSpPr>
          <p:cNvPr id="2" name="Slide title">
            <a:extLst xmlns:a="http://schemas.openxmlformats.org/drawingml/2006/main">
              <a:ext uri="{FF2B5EF4-FFF2-40B4-BE49-F238E27FC236}">
                <a16:creationId xmlns:a16="http://schemas.microsoft.com/office/drawing/2014/main" id="{C21128D5-18A5-49A0-AA73-118463BA0C5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Intraday momentum and market regimes</a:t>
            </a:r>
          </a:p>
        </p:txBody>
      </p:sp>
      <p:sp>
        <p:nvSpPr>
          <p:cNvPr id="3" name="SHPE CAPITAL    OCTOBER 13, 2026">
            <a:extLst xmlns:a="http://schemas.openxmlformats.org/drawingml/2006/main">
              <a:ext uri="{FF2B5EF4-FFF2-40B4-BE49-F238E27FC236}">
                <a16:creationId xmlns:a16="http://schemas.microsoft.com/office/drawing/2014/main" id="{94ABAC91-DAA3-4D44-AF8B-1600C668D7BA}"/>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6–7.5 min">
            <a:extLst xmlns:a="http://schemas.openxmlformats.org/drawingml/2006/main">
              <a:ext uri="{FF2B5EF4-FFF2-40B4-BE49-F238E27FC236}">
                <a16:creationId xmlns:a16="http://schemas.microsoft.com/office/drawing/2014/main" id="{78450C1D-F407-47C5-B54B-D458F77E747C}"/>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4:30-6:30</a:t>
            </a:r>
          </a:p>
        </p:txBody>
      </p:sp>
      <p:sp>
        <p:nvSpPr>
          <p:cNvPr id="5" name="6">
            <a:extLst xmlns:a="http://schemas.openxmlformats.org/drawingml/2006/main">
              <a:ext uri="{FF2B5EF4-FFF2-40B4-BE49-F238E27FC236}">
                <a16:creationId xmlns:a16="http://schemas.microsoft.com/office/drawing/2014/main" id="{0E4DEB17-E377-4EDB-93E8-98CC63EC174A}"/>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6</a:t>
            </a:r>
          </a:p>
        </p:txBody>
      </p:sp>
      <p:sp>
        <p:nvSpPr>
          <p:cNvPr id="17" name="Past movement may predict continuation u">
            <a:extLst xmlns:a="http://schemas.openxmlformats.org/drawingml/2006/main">
              <a:ext uri="{FF2B5EF4-FFF2-40B4-BE49-F238E27FC236}">
                <a16:creationId xmlns:a16="http://schemas.microsoft.com/office/drawing/2014/main" id="{BB4DE33F-49C0-4D97-9591-7B6DB01CC5BD}"/>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Past movement may predict continuation under specific conditions.</a:t>
            </a:r>
          </a:p>
        </p:txBody>
      </p:sp>
      <p:sp>
        <p:nvSpPr>
          <p:cNvPr id="18" name="Basic algorithms">
            <a:extLst xmlns:a="http://schemas.openxmlformats.org/drawingml/2006/main">
              <a:ext uri="{FF2B5EF4-FFF2-40B4-BE49-F238E27FC236}">
                <a16:creationId xmlns:a16="http://schemas.microsoft.com/office/drawing/2014/main" id="{E2A8333A-AE56-467D-A7AF-096738FB2738}"/>
              </a:ext>
            </a:extLst>
          </p:cNvPr>
          <p:cNvSpPr>
            <a:spLocks xmlns:a="http://schemas.openxmlformats.org/drawingml/2006/main" noGrp="1"/>
          </p:cNvSpPr>
          <p:nvPr/>
        </p:nvSpPr>
        <p:spPr>
          <a:xfrm xmlns:a="http://schemas.openxmlformats.org/drawingml/2006/main">
            <a:off x="6096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Basic algorithms</a:t>
            </a:r>
          </a:p>
        </p:txBody>
      </p:sp>
      <p:sp>
        <p:nvSpPr>
          <p:cNvPr id="19" name="Opening-range breakout or a defined earl">
            <a:extLst xmlns:a="http://schemas.openxmlformats.org/drawingml/2006/main">
              <a:ext uri="{FF2B5EF4-FFF2-40B4-BE49-F238E27FC236}">
                <a16:creationId xmlns:a16="http://schemas.microsoft.com/office/drawing/2014/main" id="{4BE57FD3-65B5-4044-BEB7-70D00202A02B}"/>
              </a:ext>
            </a:extLst>
          </p:cNvPr>
          <p:cNvSpPr>
            <a:spLocks xmlns:a="http://schemas.openxmlformats.org/drawingml/2006/main" noGrp="1"/>
          </p:cNvSpPr>
          <p:nvPr/>
        </p:nvSpPr>
        <p:spPr>
          <a:xfrm xmlns:a="http://schemas.openxmlformats.org/drawingml/2006/main">
            <a:off x="6096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Opening-range breakout or a defined early-to-late-session rule.</a:t>
            </a:r>
          </a:p>
        </p:txBody>
      </p:sp>
      <p:sp>
        <p:nvSpPr>
          <p:cNvPr id="20" name="Example">
            <a:extLst xmlns:a="http://schemas.openxmlformats.org/drawingml/2006/main">
              <a:ext uri="{FF2B5EF4-FFF2-40B4-BE49-F238E27FC236}">
                <a16:creationId xmlns:a16="http://schemas.microsoft.com/office/drawing/2014/main" id="{D57B9CDD-0346-4CD9-9AC2-9E4C71BB3635}"/>
              </a:ext>
            </a:extLst>
          </p:cNvPr>
          <p:cNvSpPr>
            <a:spLocks xmlns:a="http://schemas.openxmlformats.org/drawingml/2006/main" noGrp="1"/>
          </p:cNvSpPr>
          <p:nvPr/>
        </p:nvSpPr>
        <p:spPr>
          <a:xfrm xmlns:a="http://schemas.openxmlformats.org/drawingml/2006/main">
            <a:off x="6096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Example</a:t>
            </a:r>
          </a:p>
        </p:txBody>
      </p:sp>
      <p:sp>
        <p:nvSpPr>
          <p:cNvPr id="21" name="A later move above the completed opening">
            <a:extLst xmlns:a="http://schemas.openxmlformats.org/drawingml/2006/main">
              <a:ext uri="{FF2B5EF4-FFF2-40B4-BE49-F238E27FC236}">
                <a16:creationId xmlns:a16="http://schemas.microsoft.com/office/drawing/2014/main" id="{D97C71EB-1BDC-4967-879C-25BC56BAAF79}"/>
              </a:ext>
            </a:extLst>
          </p:cNvPr>
          <p:cNvSpPr>
            <a:spLocks xmlns:a="http://schemas.openxmlformats.org/drawingml/2006/main" noGrp="1"/>
          </p:cNvSpPr>
          <p:nvPr/>
        </p:nvSpPr>
        <p:spPr>
          <a:xfrm xmlns:a="http://schemas.openxmlformats.org/drawingml/2006/main">
            <a:off x="6096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A later move above the completed opening high triggers a candidate long.</a:t>
            </a:r>
          </a:p>
        </p:txBody>
      </p:sp>
      <p:sp>
        <p:nvSpPr>
          <p:cNvPr id="22" name="Measures to research">
            <a:extLst xmlns:a="http://schemas.openxmlformats.org/drawingml/2006/main">
              <a:ext uri="{FF2B5EF4-FFF2-40B4-BE49-F238E27FC236}">
                <a16:creationId xmlns:a16="http://schemas.microsoft.com/office/drawing/2014/main" id="{89E2AFDD-40B8-4A00-BBD5-4BFD1846DABF}"/>
              </a:ext>
            </a:extLst>
          </p:cNvPr>
          <p:cNvSpPr>
            <a:spLocks xmlns:a="http://schemas.openxmlformats.org/drawingml/2006/main" noGrp="1"/>
          </p:cNvSpPr>
          <p:nvPr/>
        </p:nvSpPr>
        <p:spPr>
          <a:xfrm xmlns:a="http://schemas.openxmlformats.org/drawingml/2006/main">
            <a:off x="62484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Measures to research</a:t>
            </a:r>
          </a:p>
        </p:txBody>
      </p:sp>
      <p:sp>
        <p:nvSpPr>
          <p:cNvPr id="23" name="Trailing return, opening range, volatili">
            <a:extLst xmlns:a="http://schemas.openxmlformats.org/drawingml/2006/main">
              <a:ext uri="{FF2B5EF4-FFF2-40B4-BE49-F238E27FC236}">
                <a16:creationId xmlns:a16="http://schemas.microsoft.com/office/drawing/2014/main" id="{E7774203-3B5C-4CA5-BF07-F3321EF00C9A}"/>
              </a:ext>
            </a:extLst>
          </p:cNvPr>
          <p:cNvSpPr>
            <a:spLocks xmlns:a="http://schemas.openxmlformats.org/drawingml/2006/main" noGrp="1"/>
          </p:cNvSpPr>
          <p:nvPr/>
        </p:nvSpPr>
        <p:spPr>
          <a:xfrm xmlns:a="http://schemas.openxmlformats.org/drawingml/2006/main">
            <a:off x="62484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Trailing return, opening range, volatility and time of day.</a:t>
            </a:r>
          </a:p>
        </p:txBody>
      </p:sp>
      <p:sp>
        <p:nvSpPr>
          <p:cNvPr id="24" name="Failure and improvement">
            <a:extLst xmlns:a="http://schemas.openxmlformats.org/drawingml/2006/main">
              <a:ext uri="{FF2B5EF4-FFF2-40B4-BE49-F238E27FC236}">
                <a16:creationId xmlns:a16="http://schemas.microsoft.com/office/drawing/2014/main" id="{FA8CE619-2E59-46D8-9487-7AE57E56364E}"/>
              </a:ext>
            </a:extLst>
          </p:cNvPr>
          <p:cNvSpPr>
            <a:spLocks xmlns:a="http://schemas.openxmlformats.org/drawingml/2006/main" noGrp="1"/>
          </p:cNvSpPr>
          <p:nvPr/>
        </p:nvSpPr>
        <p:spPr>
          <a:xfrm xmlns:a="http://schemas.openxmlformats.org/drawingml/2006/main">
            <a:off x="62484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Failure and improvement</a:t>
            </a:r>
          </a:p>
        </p:txBody>
      </p:sp>
      <p:sp>
        <p:nvSpPr>
          <p:cNvPr id="25" name="False breakouts and reversals. Test vola">
            <a:extLst xmlns:a="http://schemas.openxmlformats.org/drawingml/2006/main">
              <a:ext uri="{FF2B5EF4-FFF2-40B4-BE49-F238E27FC236}">
                <a16:creationId xmlns:a16="http://schemas.microsoft.com/office/drawing/2014/main" id="{F4D92A1D-40D3-43BE-B8FF-E01E1F3F46B5}"/>
              </a:ext>
            </a:extLst>
          </p:cNvPr>
          <p:cNvSpPr>
            <a:spLocks xmlns:a="http://schemas.openxmlformats.org/drawingml/2006/main" noGrp="1"/>
          </p:cNvSpPr>
          <p:nvPr/>
        </p:nvSpPr>
        <p:spPr>
          <a:xfrm xmlns:a="http://schemas.openxmlformats.org/drawingml/2006/main">
            <a:off x="62484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False breakouts and reversals. Test volatility and regime conditioning.</a:t>
            </a:r>
          </a:p>
        </p:txBody>
      </p:sp>
      <p:sp>
        <p:nvSpPr>
          <p:cNvPr id="26" name="">
            <a:extLst xmlns:a="http://schemas.openxmlformats.org/drawingml/2006/main">
              <a:ext uri="{FF2B5EF4-FFF2-40B4-BE49-F238E27FC236}">
                <a16:creationId xmlns:a16="http://schemas.microsoft.com/office/drawing/2014/main" id="{BE572930-5146-4BDB-AF65-BED8B1AA41FD}"/>
              </a:ext>
            </a:extLst>
          </p:cNvPr>
          <p:cNvSpPr>
            <a:spLocks xmlns:a="http://schemas.openxmlformats.org/drawingml/2006/main" noGrp="1"/>
          </p:cNvSpPr>
          <p:nvPr/>
        </p:nvSpPr>
        <p:spPr>
          <a:xfrm xmlns:a="http://schemas.openxmlformats.org/drawingml/2006/main">
            <a:off x="609600" y="58674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004D73"/>
                </a:solidFill>
                <a:latin typeface="Arial"/>
                <a:ea typeface="Arial"/>
                <a:cs typeface="Arial"/>
              </a:defRPr>
            </a:defPPr>
          </a:lstStyle>
          <a:p xmlns:a="http://schemas.openxmlformats.org/drawingml/2006/main">
            <a:pPr algn="l">
              <a:defRPr sz="1725" b="0">
                <a:solidFill>
                  <a:srgbClr val="004D73"/>
                </a:solidFill>
                <a:latin typeface="Arial"/>
                <a:ea typeface="Arial"/>
                <a:cs typeface="Arial"/>
              </a:defRPr>
            </a:pPr>
            <a:r>
              <a:rPr sz="1725" u="sng">
                <a:solidFill>
                  <a:srgbClr val="004D73"/>
                </a:solidFill>
                <a:latin typeface="Arial"/>
                <a:ea typeface="Arial"/>
                <a:cs typeface="Arial"/>
                <a:hlinkClick xmlns:r="http://schemas.openxmlformats.org/officeDocument/2006/relationships" r:id="R8544a69f3db347ad"/>
              </a:rPr>
              <a:t>Research: Gao et al. (2018), Market intraday momentum</a:t>
            </a:r>
          </a:p>
        </p:txBody>
      </p:sp>
    </p:spTree>
    <p:extLst>
      <p:ext uri="{BB962C8B-B14F-4D97-AF65-F5344CB8AC3E}">
        <p14:creationId xmlns:p14="http://schemas.microsoft.com/office/powerpoint/2010/main" val="15324795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ALGORITHM FAMILY 3">
            <a:extLst xmlns:a="http://schemas.openxmlformats.org/drawingml/2006/main">
              <a:ext uri="{FF2B5EF4-FFF2-40B4-BE49-F238E27FC236}">
                <a16:creationId xmlns:a16="http://schemas.microsoft.com/office/drawing/2014/main" id="{B4AD76B4-F666-4CFD-BA81-15D5FA2345C2}"/>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3</a:t>
            </a:r>
          </a:p>
        </p:txBody>
      </p:sp>
      <p:sp>
        <p:nvSpPr>
          <p:cNvPr id="2" name="Slide title">
            <a:extLst xmlns:a="http://schemas.openxmlformats.org/drawingml/2006/main">
              <a:ext uri="{FF2B5EF4-FFF2-40B4-BE49-F238E27FC236}">
                <a16:creationId xmlns:a16="http://schemas.microsoft.com/office/drawing/2014/main" id="{B630AD90-3EDF-428F-877B-78D87D15039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Market microstructure and short-horizon signals</a:t>
            </a:r>
          </a:p>
        </p:txBody>
      </p:sp>
      <p:sp>
        <p:nvSpPr>
          <p:cNvPr id="3" name="SHPE CAPITAL    OCTOBER 13, 2026">
            <a:extLst xmlns:a="http://schemas.openxmlformats.org/drawingml/2006/main">
              <a:ext uri="{FF2B5EF4-FFF2-40B4-BE49-F238E27FC236}">
                <a16:creationId xmlns:a16="http://schemas.microsoft.com/office/drawing/2014/main" id="{5DE3D06E-B93E-4363-B612-3401AD8D16B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7.5–9 min">
            <a:extLst xmlns:a="http://schemas.openxmlformats.org/drawingml/2006/main">
              <a:ext uri="{FF2B5EF4-FFF2-40B4-BE49-F238E27FC236}">
                <a16:creationId xmlns:a16="http://schemas.microsoft.com/office/drawing/2014/main" id="{95AD79BD-DD22-43E1-9847-95ED8EFADAC5}"/>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6:30-8:30</a:t>
            </a:r>
          </a:p>
        </p:txBody>
      </p:sp>
      <p:sp>
        <p:nvSpPr>
          <p:cNvPr id="5" name="7">
            <a:extLst xmlns:a="http://schemas.openxmlformats.org/drawingml/2006/main">
              <a:ext uri="{FF2B5EF4-FFF2-40B4-BE49-F238E27FC236}">
                <a16:creationId xmlns:a16="http://schemas.microsoft.com/office/drawing/2014/main" id="{391D4BA0-A008-4C34-9ECD-39744192AE29}"/>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7</a:t>
            </a:r>
          </a:p>
        </p:txBody>
      </p:sp>
      <p:sp>
        <p:nvSpPr>
          <p:cNvPr id="17" name="Trading pressure and liquidity may help ">
            <a:extLst xmlns:a="http://schemas.openxmlformats.org/drawingml/2006/main">
              <a:ext uri="{FF2B5EF4-FFF2-40B4-BE49-F238E27FC236}">
                <a16:creationId xmlns:a16="http://schemas.microsoft.com/office/drawing/2014/main" id="{2CF0DA35-66BA-4391-9BC1-19A5BE613EA4}"/>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Trading pressure and liquidity may help predict the next movement.</a:t>
            </a:r>
          </a:p>
        </p:txBody>
      </p:sp>
      <p:sp>
        <p:nvSpPr>
          <p:cNvPr id="18" name="Basic algorithm">
            <a:extLst xmlns:a="http://schemas.openxmlformats.org/drawingml/2006/main">
              <a:ext uri="{FF2B5EF4-FFF2-40B4-BE49-F238E27FC236}">
                <a16:creationId xmlns:a16="http://schemas.microsoft.com/office/drawing/2014/main" id="{00972EC5-DD3B-4C2F-98FD-CAF807A41CBF}"/>
              </a:ext>
            </a:extLst>
          </p:cNvPr>
          <p:cNvSpPr>
            <a:spLocks xmlns:a="http://schemas.openxmlformats.org/drawingml/2006/main" noGrp="1"/>
          </p:cNvSpPr>
          <p:nvPr/>
        </p:nvSpPr>
        <p:spPr>
          <a:xfrm xmlns:a="http://schemas.openxmlformats.org/drawingml/2006/main">
            <a:off x="6096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Basic algorithm</a:t>
            </a:r>
          </a:p>
        </p:txBody>
      </p:sp>
      <p:sp>
        <p:nvSpPr>
          <p:cNvPr id="19" name="Use displayed imbalance or lagged order ">
            <a:extLst xmlns:a="http://schemas.openxmlformats.org/drawingml/2006/main">
              <a:ext uri="{FF2B5EF4-FFF2-40B4-BE49-F238E27FC236}">
                <a16:creationId xmlns:a16="http://schemas.microsoft.com/office/drawing/2014/main" id="{8ECB8272-4295-4972-AA32-B21FB14C929F}"/>
              </a:ext>
            </a:extLst>
          </p:cNvPr>
          <p:cNvSpPr>
            <a:spLocks xmlns:a="http://schemas.openxmlformats.org/drawingml/2006/main" noGrp="1"/>
          </p:cNvSpPr>
          <p:nvPr/>
        </p:nvSpPr>
        <p:spPr>
          <a:xfrm xmlns:a="http://schemas.openxmlformats.org/drawingml/2006/main">
            <a:off x="6096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Use displayed imbalance or lagged order flow in a simple forecast.</a:t>
            </a:r>
          </a:p>
        </p:txBody>
      </p:sp>
      <p:sp>
        <p:nvSpPr>
          <p:cNvPr id="20" name="Example">
            <a:extLst xmlns:a="http://schemas.openxmlformats.org/drawingml/2006/main">
              <a:ext uri="{FF2B5EF4-FFF2-40B4-BE49-F238E27FC236}">
                <a16:creationId xmlns:a16="http://schemas.microsoft.com/office/drawing/2014/main" id="{BE22DB51-B054-43F9-8316-58938F6EEA16}"/>
              </a:ext>
            </a:extLst>
          </p:cNvPr>
          <p:cNvSpPr>
            <a:spLocks xmlns:a="http://schemas.openxmlformats.org/drawingml/2006/main" noGrp="1"/>
          </p:cNvSpPr>
          <p:nvPr/>
        </p:nvSpPr>
        <p:spPr>
          <a:xfrm xmlns:a="http://schemas.openxmlformats.org/drawingml/2006/main">
            <a:off x="6096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Example</a:t>
            </a:r>
          </a:p>
        </p:txBody>
      </p:sp>
      <p:sp>
        <p:nvSpPr>
          <p:cNvPr id="21" name="Test whether larger bid size predicts a ">
            <a:extLst xmlns:a="http://schemas.openxmlformats.org/drawingml/2006/main">
              <a:ext uri="{FF2B5EF4-FFF2-40B4-BE49-F238E27FC236}">
                <a16:creationId xmlns:a16="http://schemas.microsoft.com/office/drawing/2014/main" id="{28724757-5D0F-4871-954D-FF0771E829F2}"/>
              </a:ext>
            </a:extLst>
          </p:cNvPr>
          <p:cNvSpPr>
            <a:spLocks xmlns:a="http://schemas.openxmlformats.org/drawingml/2006/main" noGrp="1"/>
          </p:cNvSpPr>
          <p:nvPr/>
        </p:nvSpPr>
        <p:spPr>
          <a:xfrm xmlns:a="http://schemas.openxmlformats.org/drawingml/2006/main">
            <a:off x="6096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Test whether larger bid size predicts a subsequent midpoint rise.</a:t>
            </a:r>
          </a:p>
        </p:txBody>
      </p:sp>
      <p:sp>
        <p:nvSpPr>
          <p:cNvPr id="22" name="Measures to research">
            <a:extLst xmlns:a="http://schemas.openxmlformats.org/drawingml/2006/main">
              <a:ext uri="{FF2B5EF4-FFF2-40B4-BE49-F238E27FC236}">
                <a16:creationId xmlns:a16="http://schemas.microsoft.com/office/drawing/2014/main" id="{2EA0706C-3DD0-46EF-BA59-5030EBCC257B}"/>
              </a:ext>
            </a:extLst>
          </p:cNvPr>
          <p:cNvSpPr>
            <a:spLocks xmlns:a="http://schemas.openxmlformats.org/drawingml/2006/main" noGrp="1"/>
          </p:cNvSpPr>
          <p:nvPr/>
        </p:nvSpPr>
        <p:spPr>
          <a:xfrm xmlns:a="http://schemas.openxmlformats.org/drawingml/2006/main">
            <a:off x="62484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Measures to research</a:t>
            </a:r>
          </a:p>
        </p:txBody>
      </p:sp>
      <p:sp>
        <p:nvSpPr>
          <p:cNvPr id="23" name="Spread, imbalance, order flow and signal">
            <a:extLst xmlns:a="http://schemas.openxmlformats.org/drawingml/2006/main">
              <a:ext uri="{FF2B5EF4-FFF2-40B4-BE49-F238E27FC236}">
                <a16:creationId xmlns:a16="http://schemas.microsoft.com/office/drawing/2014/main" id="{310E6EEC-F827-4DB5-9EF5-87D8D61D3C65}"/>
              </a:ext>
            </a:extLst>
          </p:cNvPr>
          <p:cNvSpPr>
            <a:spLocks xmlns:a="http://schemas.openxmlformats.org/drawingml/2006/main" noGrp="1"/>
          </p:cNvSpPr>
          <p:nvPr/>
        </p:nvSpPr>
        <p:spPr>
          <a:xfrm xmlns:a="http://schemas.openxmlformats.org/drawingml/2006/main">
            <a:off x="62484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Spread, imbalance, order flow and signal decay.</a:t>
            </a:r>
          </a:p>
        </p:txBody>
      </p:sp>
      <p:sp>
        <p:nvSpPr>
          <p:cNvPr id="24" name="Failure and improvement">
            <a:extLst xmlns:a="http://schemas.openxmlformats.org/drawingml/2006/main">
              <a:ext uri="{FF2B5EF4-FFF2-40B4-BE49-F238E27FC236}">
                <a16:creationId xmlns:a16="http://schemas.microsoft.com/office/drawing/2014/main" id="{26BBC774-6A97-492B-AC52-64A02309D162}"/>
              </a:ext>
            </a:extLst>
          </p:cNvPr>
          <p:cNvSpPr>
            <a:spLocks xmlns:a="http://schemas.openxmlformats.org/drawingml/2006/main" noGrp="1"/>
          </p:cNvSpPr>
          <p:nvPr/>
        </p:nvSpPr>
        <p:spPr>
          <a:xfrm xmlns:a="http://schemas.openxmlformats.org/drawingml/2006/main">
            <a:off x="62484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Failure and improvement</a:t>
            </a:r>
          </a:p>
        </p:txBody>
      </p:sp>
      <p:sp>
        <p:nvSpPr>
          <p:cNvPr id="25" name="Costs can exceed the predicted move. Tes">
            <a:extLst xmlns:a="http://schemas.openxmlformats.org/drawingml/2006/main">
              <a:ext uri="{FF2B5EF4-FFF2-40B4-BE49-F238E27FC236}">
                <a16:creationId xmlns:a16="http://schemas.microsoft.com/office/drawing/2014/main" id="{4221CC3E-2922-4B09-BEE9-2D6656CCBE89}"/>
              </a:ext>
            </a:extLst>
          </p:cNvPr>
          <p:cNvSpPr>
            <a:spLocks xmlns:a="http://schemas.openxmlformats.org/drawingml/2006/main" noGrp="1"/>
          </p:cNvSpPr>
          <p:nvPr/>
        </p:nvSpPr>
        <p:spPr>
          <a:xfrm xmlns:a="http://schemas.openxmlformats.org/drawingml/2006/main">
            <a:off x="62484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Costs can exceed the predicted move. Test liquidity regimes and delays.</a:t>
            </a:r>
          </a:p>
        </p:txBody>
      </p:sp>
      <p:sp>
        <p:nvSpPr>
          <p:cNvPr id="26" name="">
            <a:extLst xmlns:a="http://schemas.openxmlformats.org/drawingml/2006/main">
              <a:ext uri="{FF2B5EF4-FFF2-40B4-BE49-F238E27FC236}">
                <a16:creationId xmlns:a16="http://schemas.microsoft.com/office/drawing/2014/main" id="{4203630B-0ADB-4A8C-8386-AC27E34DAFD6}"/>
              </a:ext>
            </a:extLst>
          </p:cNvPr>
          <p:cNvSpPr>
            <a:spLocks xmlns:a="http://schemas.openxmlformats.org/drawingml/2006/main" noGrp="1"/>
          </p:cNvSpPr>
          <p:nvPr/>
        </p:nvSpPr>
        <p:spPr>
          <a:xfrm xmlns:a="http://schemas.openxmlformats.org/drawingml/2006/main">
            <a:off x="609600" y="58674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725" b="0">
                <a:solidFill>
                  <a:srgbClr val="004D73"/>
                </a:solidFill>
                <a:latin typeface="Arial"/>
                <a:ea typeface="Arial"/>
                <a:cs typeface="Arial"/>
              </a:defRPr>
            </a:defPPr>
          </a:lstStyle>
          <a:p xmlns:a="http://schemas.openxmlformats.org/drawingml/2006/main">
            <a:pPr algn="l">
              <a:defRPr sz="1725" b="0">
                <a:solidFill>
                  <a:srgbClr val="004D73"/>
                </a:solidFill>
                <a:latin typeface="Arial"/>
                <a:ea typeface="Arial"/>
                <a:cs typeface="Arial"/>
              </a:defRPr>
            </a:pPr>
            <a:r>
              <a:rPr sz="1725" u="sng">
                <a:solidFill>
                  <a:srgbClr val="004D73"/>
                </a:solidFill>
                <a:latin typeface="Arial"/>
                <a:ea typeface="Arial"/>
                <a:cs typeface="Arial"/>
                <a:hlinkClick xmlns:r="http://schemas.openxmlformats.org/officeDocument/2006/relationships" r:id="R4dec5bac7f324ee0"/>
              </a:rPr>
              <a:t>Research: Gould and Bonart (2016), Queue Imbalance</a:t>
            </a:r>
          </a:p>
        </p:txBody>
      </p:sp>
    </p:spTree>
    <p:extLst>
      <p:ext uri="{BB962C8B-B14F-4D97-AF65-F5344CB8AC3E}">
        <p14:creationId xmlns:p14="http://schemas.microsoft.com/office/powerpoint/2010/main" val="10870405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AM INTRODUCTIONS">
            <a:extLst xmlns:a="http://schemas.openxmlformats.org/drawingml/2006/main">
              <a:ext uri="{FF2B5EF4-FFF2-40B4-BE49-F238E27FC236}">
                <a16:creationId xmlns:a16="http://schemas.microsoft.com/office/drawing/2014/main" id="{D15229A1-7142-438F-A9CF-45191529BB1A}"/>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ASSIGNED RESEARCH TEAMS</a:t>
            </a:r>
          </a:p>
        </p:txBody>
      </p:sp>
      <p:sp>
        <p:nvSpPr>
          <p:cNvPr id="2" name="Slide title">
            <a:extLst xmlns:a="http://schemas.openxmlformats.org/drawingml/2006/main">
              <a:ext uri="{FF2B5EF4-FFF2-40B4-BE49-F238E27FC236}">
                <a16:creationId xmlns:a16="http://schemas.microsoft.com/office/drawing/2014/main" id="{84737907-8ABC-4A01-A630-37B56FAF15A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Team structure and assignments</a:t>
            </a:r>
          </a:p>
        </p:txBody>
      </p:sp>
      <p:sp>
        <p:nvSpPr>
          <p:cNvPr id="3" name="SHPE CAPITAL    OCTOBER 13, 2026">
            <a:extLst xmlns:a="http://schemas.openxmlformats.org/drawingml/2006/main">
              <a:ext uri="{FF2B5EF4-FFF2-40B4-BE49-F238E27FC236}">
                <a16:creationId xmlns:a16="http://schemas.microsoft.com/office/drawing/2014/main" id="{B27ECC1A-5D2E-4798-A5FD-10BE3DAAF5B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9–11 min">
            <a:extLst xmlns:a="http://schemas.openxmlformats.org/drawingml/2006/main">
              <a:ext uri="{FF2B5EF4-FFF2-40B4-BE49-F238E27FC236}">
                <a16:creationId xmlns:a16="http://schemas.microsoft.com/office/drawing/2014/main" id="{FFF7C49E-D006-46BD-82E0-F07CEC6C846F}"/>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8:30-9:00</a:t>
            </a:r>
          </a:p>
        </p:txBody>
      </p:sp>
      <p:sp>
        <p:nvSpPr>
          <p:cNvPr id="5" name="8">
            <a:extLst xmlns:a="http://schemas.openxmlformats.org/drawingml/2006/main">
              <a:ext uri="{FF2B5EF4-FFF2-40B4-BE49-F238E27FC236}">
                <a16:creationId xmlns:a16="http://schemas.microsoft.com/office/drawing/2014/main" id="{E82E0767-33ED-44F1-B7AF-FAE121C3335B}"/>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8</a:t>
            </a:r>
          </a:p>
        </p:txBody>
      </p:sp>
      <p:sp>
        <p:nvSpPr>
          <p:cNvPr id="6" name="Three algorithm teams, supported by">
            <a:extLst xmlns:a="http://schemas.openxmlformats.org/drawingml/2006/main">
              <a:ext uri="{FF2B5EF4-FFF2-40B4-BE49-F238E27FC236}">
                <a16:creationId xmlns:a16="http://schemas.microsoft.com/office/drawing/2014/main" id="{D62C89AF-1419-4E33-A6AF-7D303A3ABE89}"/>
              </a:ext>
            </a:extLst>
          </p:cNvPr>
          <p:cNvSpPr>
            <a:spLocks xmlns:a="http://schemas.openxmlformats.org/drawingml/2006/main" noGrp="1"/>
          </p:cNvSpPr>
          <p:nvPr/>
        </p:nvSpPr>
        <p:spPr>
          <a:xfrm xmlns:a="http://schemas.openxmlformats.org/drawingml/2006/main">
            <a:off x="609600" y="143827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buNone/>
              <a:defRPr sz="2100" b="0">
                <a:solidFill>
                  <a:srgbClr val="556272"/>
                </a:solidFill>
                <a:latin typeface="Arial"/>
                <a:ea typeface="Arial"/>
                <a:cs typeface="Arial"/>
              </a:defRPr>
            </a:pPr>
            <a:r>
              <a:rPr sz="2100" b="0">
                <a:solidFill>
                  <a:srgbClr val="556272"/>
                </a:solidFill>
                <a:latin typeface="Arial"/>
                <a:ea typeface="Arial"/>
                <a:cs typeface="Arial"/>
              </a:rPr>
              <a:t>Three algorithm teams, supported by a shared platform team.</a:t>
            </a:r>
          </a:p>
        </p:txBody>
      </p:sp>
      <p:sp>
        <p:nvSpPr>
          <p:cNvPr id="7" name="Editable team roster 1">
            <a:extLst xmlns:a="http://schemas.openxmlformats.org/drawingml/2006/main">
              <a:ext uri="{FF2B5EF4-FFF2-40B4-BE49-F238E27FC236}">
                <a16:creationId xmlns:a16="http://schemas.microsoft.com/office/drawing/2014/main" id="{4F76B9B5-7C1A-478E-890C-15D36BDA9784}"/>
              </a:ext>
            </a:extLst>
          </p:cNvPr>
          <p:cNvSpPr>
            <a:spLocks xmlns:a="http://schemas.openxmlformats.org/drawingml/2006/main" noGrp="1"/>
          </p:cNvSpPr>
          <p:nvPr/>
        </p:nvSpPr>
        <p:spPr>
          <a:xfrm xmlns:a="http://schemas.openxmlformats.org/drawingml/2006/main">
            <a:off x="6096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04D73"/>
            </a:solidFill>
            <a:prstDash val="solid"/>
          </a:ln>
        </p:spPr>
      </p:sp>
      <p:sp>
        <p:nvSpPr>
          <p:cNvPr id="8" name="Momentum">
            <a:extLst xmlns:a="http://schemas.openxmlformats.org/drawingml/2006/main">
              <a:ext uri="{FF2B5EF4-FFF2-40B4-BE49-F238E27FC236}">
                <a16:creationId xmlns:a16="http://schemas.microsoft.com/office/drawing/2014/main" id="{E8FC0F20-371B-414F-ADC2-0985BC62E183}"/>
              </a:ext>
            </a:extLst>
          </p:cNvPr>
          <p:cNvSpPr>
            <a:spLocks xmlns:a="http://schemas.openxmlformats.org/drawingml/2006/main" noGrp="1"/>
          </p:cNvSpPr>
          <p:nvPr/>
        </p:nvSpPr>
        <p:spPr>
          <a:xfrm xmlns:a="http://schemas.openxmlformats.org/drawingml/2006/main">
            <a:off x="7620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Statistical</a:t>
            </a:r>
          </a:p>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arbitrage</a:t>
            </a:r>
          </a:p>
        </p:txBody>
      </p:sp>
      <p:sp>
        <p:nvSpPr>
          <p:cNvPr id="9" name="Lead: [Name]">
            <a:extLst xmlns:a="http://schemas.openxmlformats.org/drawingml/2006/main">
              <a:ext uri="{FF2B5EF4-FFF2-40B4-BE49-F238E27FC236}">
                <a16:creationId xmlns:a16="http://schemas.microsoft.com/office/drawing/2014/main" id="{B81FA65F-E692-40D0-B42C-DB67863341A4}"/>
              </a:ext>
            </a:extLst>
          </p:cNvPr>
          <p:cNvSpPr>
            <a:spLocks xmlns:a="http://schemas.openxmlformats.org/drawingml/2006/main" noGrp="1"/>
          </p:cNvSpPr>
          <p:nvPr/>
        </p:nvSpPr>
        <p:spPr>
          <a:xfrm xmlns:a="http://schemas.openxmlformats.org/drawingml/2006/main">
            <a:off x="7620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10" name="[Member name]&#10;[Member name]&#10;[Member">
            <a:extLst xmlns:a="http://schemas.openxmlformats.org/drawingml/2006/main">
              <a:ext uri="{FF2B5EF4-FFF2-40B4-BE49-F238E27FC236}">
                <a16:creationId xmlns:a16="http://schemas.microsoft.com/office/drawing/2014/main" id="{45E44227-8696-4C21-BCCF-943EC4D7B38F}"/>
              </a:ext>
            </a:extLst>
          </p:cNvPr>
          <p:cNvSpPr>
            <a:spLocks xmlns:a="http://schemas.openxmlformats.org/drawingml/2006/main" noGrp="1"/>
          </p:cNvSpPr>
          <p:nvPr/>
        </p:nvSpPr>
        <p:spPr>
          <a:xfrm xmlns:a="http://schemas.openxmlformats.org/drawingml/2006/main">
            <a:off x="7620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11" name="Editable team roster 2">
            <a:extLst xmlns:a="http://schemas.openxmlformats.org/drawingml/2006/main">
              <a:ext uri="{FF2B5EF4-FFF2-40B4-BE49-F238E27FC236}">
                <a16:creationId xmlns:a16="http://schemas.microsoft.com/office/drawing/2014/main" id="{B473224C-1C03-4B33-B6AE-85FC790491CD}"/>
              </a:ext>
            </a:extLst>
          </p:cNvPr>
          <p:cNvSpPr>
            <a:spLocks xmlns:a="http://schemas.openxmlformats.org/drawingml/2006/main" noGrp="1"/>
          </p:cNvSpPr>
          <p:nvPr/>
        </p:nvSpPr>
        <p:spPr>
          <a:xfrm xmlns:a="http://schemas.openxmlformats.org/drawingml/2006/main">
            <a:off x="34290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04D73"/>
            </a:solidFill>
            <a:prstDash val="solid"/>
          </a:ln>
        </p:spPr>
      </p:sp>
      <p:sp>
        <p:nvSpPr>
          <p:cNvPr id="12" name="Relative value">
            <a:extLst xmlns:a="http://schemas.openxmlformats.org/drawingml/2006/main">
              <a:ext uri="{FF2B5EF4-FFF2-40B4-BE49-F238E27FC236}">
                <a16:creationId xmlns:a16="http://schemas.microsoft.com/office/drawing/2014/main" id="{3672E658-A366-40AA-9B95-3F14D58D64FA}"/>
              </a:ext>
            </a:extLst>
          </p:cNvPr>
          <p:cNvSpPr>
            <a:spLocks xmlns:a="http://schemas.openxmlformats.org/drawingml/2006/main" noGrp="1"/>
          </p:cNvSpPr>
          <p:nvPr/>
        </p:nvSpPr>
        <p:spPr>
          <a:xfrm xmlns:a="http://schemas.openxmlformats.org/drawingml/2006/main">
            <a:off x="35814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Intraday</a:t>
            </a:r>
          </a:p>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momentum</a:t>
            </a:r>
          </a:p>
        </p:txBody>
      </p:sp>
      <p:sp>
        <p:nvSpPr>
          <p:cNvPr id="13" name="Lead: [Name]">
            <a:extLst xmlns:a="http://schemas.openxmlformats.org/drawingml/2006/main">
              <a:ext uri="{FF2B5EF4-FFF2-40B4-BE49-F238E27FC236}">
                <a16:creationId xmlns:a16="http://schemas.microsoft.com/office/drawing/2014/main" id="{F36D2F98-0A0E-434B-A335-75965787CA13}"/>
              </a:ext>
            </a:extLst>
          </p:cNvPr>
          <p:cNvSpPr>
            <a:spLocks xmlns:a="http://schemas.openxmlformats.org/drawingml/2006/main" noGrp="1"/>
          </p:cNvSpPr>
          <p:nvPr/>
        </p:nvSpPr>
        <p:spPr>
          <a:xfrm xmlns:a="http://schemas.openxmlformats.org/drawingml/2006/main">
            <a:off x="35814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14" name="[Member name]&#10;[Member name]&#10;[Member">
            <a:extLst xmlns:a="http://schemas.openxmlformats.org/drawingml/2006/main">
              <a:ext uri="{FF2B5EF4-FFF2-40B4-BE49-F238E27FC236}">
                <a16:creationId xmlns:a16="http://schemas.microsoft.com/office/drawing/2014/main" id="{D4517693-4C95-4F50-955E-A4B8CDAFAB3F}"/>
              </a:ext>
            </a:extLst>
          </p:cNvPr>
          <p:cNvSpPr>
            <a:spLocks xmlns:a="http://schemas.openxmlformats.org/drawingml/2006/main" noGrp="1"/>
          </p:cNvSpPr>
          <p:nvPr/>
        </p:nvSpPr>
        <p:spPr>
          <a:xfrm xmlns:a="http://schemas.openxmlformats.org/drawingml/2006/main">
            <a:off x="35814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15" name="Editable team roster 3">
            <a:extLst xmlns:a="http://schemas.openxmlformats.org/drawingml/2006/main">
              <a:ext uri="{FF2B5EF4-FFF2-40B4-BE49-F238E27FC236}">
                <a16:creationId xmlns:a16="http://schemas.microsoft.com/office/drawing/2014/main" id="{739F63D0-F7FC-4967-9340-80C6006A8BFB}"/>
              </a:ext>
            </a:extLst>
          </p:cNvPr>
          <p:cNvSpPr>
            <a:spLocks xmlns:a="http://schemas.openxmlformats.org/drawingml/2006/main" noGrp="1"/>
          </p:cNvSpPr>
          <p:nvPr/>
        </p:nvSpPr>
        <p:spPr>
          <a:xfrm xmlns:a="http://schemas.openxmlformats.org/drawingml/2006/main">
            <a:off x="62484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004D73"/>
            </a:solidFill>
            <a:prstDash val="solid"/>
          </a:ln>
        </p:spPr>
      </p:sp>
      <p:sp>
        <p:nvSpPr>
          <p:cNvPr id="16" name="Short-term reversal">
            <a:extLst xmlns:a="http://schemas.openxmlformats.org/drawingml/2006/main">
              <a:ext uri="{FF2B5EF4-FFF2-40B4-BE49-F238E27FC236}">
                <a16:creationId xmlns:a16="http://schemas.microsoft.com/office/drawing/2014/main" id="{0C98BD06-6FCC-499D-A69B-F1403F367C6E}"/>
              </a:ext>
            </a:extLst>
          </p:cNvPr>
          <p:cNvSpPr>
            <a:spLocks xmlns:a="http://schemas.openxmlformats.org/drawingml/2006/main" noGrp="1"/>
          </p:cNvSpPr>
          <p:nvPr/>
        </p:nvSpPr>
        <p:spPr>
          <a:xfrm xmlns:a="http://schemas.openxmlformats.org/drawingml/2006/main">
            <a:off x="64008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Market</a:t>
            </a:r>
          </a:p>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microstructure</a:t>
            </a:r>
          </a:p>
        </p:txBody>
      </p:sp>
      <p:sp>
        <p:nvSpPr>
          <p:cNvPr id="17" name="Lead: [Name]">
            <a:extLst xmlns:a="http://schemas.openxmlformats.org/drawingml/2006/main">
              <a:ext uri="{FF2B5EF4-FFF2-40B4-BE49-F238E27FC236}">
                <a16:creationId xmlns:a16="http://schemas.microsoft.com/office/drawing/2014/main" id="{BD821F84-73BE-4C56-978E-216B2C4DC895}"/>
              </a:ext>
            </a:extLst>
          </p:cNvPr>
          <p:cNvSpPr>
            <a:spLocks xmlns:a="http://schemas.openxmlformats.org/drawingml/2006/main" noGrp="1"/>
          </p:cNvSpPr>
          <p:nvPr/>
        </p:nvSpPr>
        <p:spPr>
          <a:xfrm xmlns:a="http://schemas.openxmlformats.org/drawingml/2006/main">
            <a:off x="64008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18" name="[Member name]&#10;[Member name]&#10;[Member">
            <a:extLst xmlns:a="http://schemas.openxmlformats.org/drawingml/2006/main">
              <a:ext uri="{FF2B5EF4-FFF2-40B4-BE49-F238E27FC236}">
                <a16:creationId xmlns:a16="http://schemas.microsoft.com/office/drawing/2014/main" id="{9C419A52-C8C4-49A2-83F2-BB7A165C56AC}"/>
              </a:ext>
            </a:extLst>
          </p:cNvPr>
          <p:cNvSpPr>
            <a:spLocks xmlns:a="http://schemas.openxmlformats.org/drawingml/2006/main" noGrp="1"/>
          </p:cNvSpPr>
          <p:nvPr/>
        </p:nvSpPr>
        <p:spPr>
          <a:xfrm xmlns:a="http://schemas.openxmlformats.org/drawingml/2006/main">
            <a:off x="64008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19" name="Editable team roster 4">
            <a:extLst xmlns:a="http://schemas.openxmlformats.org/drawingml/2006/main">
              <a:ext uri="{FF2B5EF4-FFF2-40B4-BE49-F238E27FC236}">
                <a16:creationId xmlns:a16="http://schemas.microsoft.com/office/drawing/2014/main" id="{E69717B5-2625-4794-BE7F-4D10D947AF43}"/>
              </a:ext>
            </a:extLst>
          </p:cNvPr>
          <p:cNvSpPr>
            <a:spLocks xmlns:a="http://schemas.openxmlformats.org/drawingml/2006/main" noGrp="1"/>
          </p:cNvSpPr>
          <p:nvPr/>
        </p:nvSpPr>
        <p:spPr>
          <a:xfrm xmlns:a="http://schemas.openxmlformats.org/drawingml/2006/main">
            <a:off x="9067800" y="2305050"/>
            <a:ext cx="2514600" cy="2514600"/>
          </a:xfrm>
          <a:prstGeom xmlns:a="http://schemas.openxmlformats.org/drawingml/2006/main" prst="rect">
            <a:avLst/>
          </a:prstGeom>
          <a:solidFill xmlns:a="http://schemas.openxmlformats.org/drawingml/2006/main">
            <a:srgbClr val="FFFFFF"/>
          </a:solidFill>
          <a:ln xmlns:a="http://schemas.openxmlformats.org/drawingml/2006/main" w="19050">
            <a:solidFill>
              <a:srgbClr val="FF5400"/>
            </a:solidFill>
            <a:prstDash val="solid"/>
          </a:ln>
        </p:spPr>
      </p:sp>
      <p:sp>
        <p:nvSpPr>
          <p:cNvPr id="20" name="Platform">
            <a:extLst xmlns:a="http://schemas.openxmlformats.org/drawingml/2006/main">
              <a:ext uri="{FF2B5EF4-FFF2-40B4-BE49-F238E27FC236}">
                <a16:creationId xmlns:a16="http://schemas.microsoft.com/office/drawing/2014/main" id="{7EBB6B24-29DF-4241-94B5-1766C8D28D57}"/>
              </a:ext>
            </a:extLst>
          </p:cNvPr>
          <p:cNvSpPr>
            <a:spLocks xmlns:a="http://schemas.openxmlformats.org/drawingml/2006/main" noGrp="1"/>
          </p:cNvSpPr>
          <p:nvPr/>
        </p:nvSpPr>
        <p:spPr>
          <a:xfrm xmlns:a="http://schemas.openxmlformats.org/drawingml/2006/main">
            <a:off x="9220200" y="2466975"/>
            <a:ext cx="2209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Platform</a:t>
            </a:r>
          </a:p>
        </p:txBody>
      </p:sp>
      <p:sp>
        <p:nvSpPr>
          <p:cNvPr id="21" name="Lead: [Name]">
            <a:extLst xmlns:a="http://schemas.openxmlformats.org/drawingml/2006/main">
              <a:ext uri="{FF2B5EF4-FFF2-40B4-BE49-F238E27FC236}">
                <a16:creationId xmlns:a16="http://schemas.microsoft.com/office/drawing/2014/main" id="{191CFF16-3021-425D-88BF-7EA16E9B3DCB}"/>
              </a:ext>
            </a:extLst>
          </p:cNvPr>
          <p:cNvSpPr>
            <a:spLocks xmlns:a="http://schemas.openxmlformats.org/drawingml/2006/main" noGrp="1"/>
          </p:cNvSpPr>
          <p:nvPr/>
        </p:nvSpPr>
        <p:spPr>
          <a:xfrm xmlns:a="http://schemas.openxmlformats.org/drawingml/2006/main">
            <a:off x="9220200" y="3219450"/>
            <a:ext cx="2209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75" b="1">
                <a:solidFill>
                  <a:srgbClr val="182C43"/>
                </a:solidFill>
                <a:latin typeface="Arial"/>
                <a:ea typeface="Arial"/>
                <a:cs typeface="Arial"/>
              </a:defRPr>
            </a:defPPr>
          </a:lstStyle>
          <a:p xmlns:a="http://schemas.openxmlformats.org/drawingml/2006/main">
            <a:pPr algn="l">
              <a:buNone/>
              <a:defRPr sz="1875" b="1">
                <a:solidFill>
                  <a:srgbClr val="182C43"/>
                </a:solidFill>
                <a:latin typeface="Arial"/>
                <a:ea typeface="Arial"/>
                <a:cs typeface="Arial"/>
              </a:defRPr>
            </a:pPr>
            <a:r>
              <a:rPr sz="1875" b="1">
                <a:solidFill>
                  <a:srgbClr val="182C43"/>
                </a:solidFill>
                <a:latin typeface="Arial"/>
                <a:ea typeface="Arial"/>
                <a:cs typeface="Arial"/>
              </a:rPr>
              <a:t>Lead: [Name]</a:t>
            </a:r>
          </a:p>
        </p:txBody>
      </p:sp>
      <p:sp>
        <p:nvSpPr>
          <p:cNvPr id="22" name="[Member name]&#10;[Member name]&#10;[Member">
            <a:extLst xmlns:a="http://schemas.openxmlformats.org/drawingml/2006/main">
              <a:ext uri="{FF2B5EF4-FFF2-40B4-BE49-F238E27FC236}">
                <a16:creationId xmlns:a16="http://schemas.microsoft.com/office/drawing/2014/main" id="{2E772C7A-FE0D-4417-B360-A793F4B37C59}"/>
              </a:ext>
            </a:extLst>
          </p:cNvPr>
          <p:cNvSpPr>
            <a:spLocks xmlns:a="http://schemas.openxmlformats.org/drawingml/2006/main" noGrp="1"/>
          </p:cNvSpPr>
          <p:nvPr/>
        </p:nvSpPr>
        <p:spPr>
          <a:xfrm xmlns:a="http://schemas.openxmlformats.org/drawingml/2006/main">
            <a:off x="9220200" y="3705225"/>
            <a:ext cx="2209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182C43"/>
                </a:solidFill>
                <a:latin typeface="Arial"/>
                <a:ea typeface="Arial"/>
                <a:cs typeface="Arial"/>
              </a:defRPr>
            </a:defPPr>
          </a:lstStyle>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a:p xmlns:a="http://schemas.openxmlformats.org/drawingml/2006/main">
            <a:pPr algn="l">
              <a:buNone/>
              <a:defRPr sz="1800" b="0">
                <a:solidFill>
                  <a:srgbClr val="182C43"/>
                </a:solidFill>
                <a:latin typeface="Arial"/>
                <a:ea typeface="Arial"/>
                <a:cs typeface="Arial"/>
              </a:defRPr>
            </a:pPr>
            <a:r>
              <a:rPr sz="1800" b="0">
                <a:solidFill>
                  <a:srgbClr val="182C43"/>
                </a:solidFill>
                <a:latin typeface="Arial"/>
                <a:ea typeface="Arial"/>
                <a:cs typeface="Arial"/>
              </a:rPr>
              <a:t>[Member name]</a:t>
            </a:r>
          </a:p>
        </p:txBody>
      </p:sp>
      <p:sp>
        <p:nvSpPr>
          <p:cNvPr id="23" name="Platform focus: shared testing, dat">
            <a:extLst xmlns:a="http://schemas.openxmlformats.org/drawingml/2006/main">
              <a:ext uri="{FF2B5EF4-FFF2-40B4-BE49-F238E27FC236}">
                <a16:creationId xmlns:a16="http://schemas.microsoft.com/office/drawing/2014/main" id="{E57A913B-A106-4940-AC7B-6A91591C58FD}"/>
              </a:ext>
            </a:extLst>
          </p:cNvPr>
          <p:cNvSpPr>
            <a:spLocks xmlns:a="http://schemas.openxmlformats.org/drawingml/2006/main" noGrp="1"/>
          </p:cNvSpPr>
          <p:nvPr/>
        </p:nvSpPr>
        <p:spPr>
          <a:xfrm xmlns:a="http://schemas.openxmlformats.org/drawingml/2006/main">
            <a:off x="609600" y="517207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025" b="1">
                <a:solidFill>
                  <a:srgbClr val="004D73"/>
                </a:solidFill>
                <a:latin typeface="Arial"/>
                <a:ea typeface="Arial"/>
                <a:cs typeface="Arial"/>
              </a:defRPr>
            </a:defPPr>
          </a:lstStyle>
          <a:p xmlns:a="http://schemas.openxmlformats.org/drawingml/2006/main">
            <a:pPr algn="l">
              <a:buNone/>
              <a:defRPr sz="2025" b="1">
                <a:solidFill>
                  <a:srgbClr val="004D73"/>
                </a:solidFill>
                <a:latin typeface="Arial"/>
                <a:ea typeface="Arial"/>
                <a:cs typeface="Arial"/>
              </a:defRPr>
            </a:pPr>
            <a:r>
              <a:rPr sz="2025" b="1">
                <a:solidFill>
                  <a:srgbClr val="004D73"/>
                </a:solidFill>
                <a:latin typeface="Arial"/>
                <a:ea typeface="Arial"/>
                <a:cs typeface="Arial"/>
              </a:rPr>
              <a:t>Platform focus: shared testing, data, deployment and monitoring.</a:t>
            </a:r>
          </a:p>
        </p:txBody>
      </p:sp>
      <p:sp>
        <p:nvSpPr>
          <p:cNvPr id="24" name="Assignments are flexible. Discuss i">
            <a:extLst xmlns:a="http://schemas.openxmlformats.org/drawingml/2006/main">
              <a:ext uri="{FF2B5EF4-FFF2-40B4-BE49-F238E27FC236}">
                <a16:creationId xmlns:a16="http://schemas.microsoft.com/office/drawing/2014/main" id="{9B273A22-83E8-4EFF-832C-222C64A05642}"/>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Members research within their assigned team. Each person owns a concrete task.</a:t>
            </a:r>
          </a:p>
        </p:txBody>
      </p:sp>
    </p:spTree>
    <p:extLst>
      <p:ext uri="{BB962C8B-B14F-4D97-AF65-F5344CB8AC3E}">
        <p14:creationId xmlns:p14="http://schemas.microsoft.com/office/powerpoint/2010/main" val="210706836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OW WE WORK">
            <a:extLst xmlns:a="http://schemas.openxmlformats.org/drawingml/2006/main">
              <a:ext uri="{FF2B5EF4-FFF2-40B4-BE49-F238E27FC236}">
                <a16:creationId xmlns:a16="http://schemas.microsoft.com/office/drawing/2014/main" id="{AD595948-829B-4B35-806B-B1579C04D218}"/>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HOW WE WORK</a:t>
            </a:r>
          </a:p>
        </p:txBody>
      </p:sp>
      <p:sp>
        <p:nvSpPr>
          <p:cNvPr id="2" name="Slide title">
            <a:extLst xmlns:a="http://schemas.openxmlformats.org/drawingml/2006/main">
              <a:ext uri="{FF2B5EF4-FFF2-40B4-BE49-F238E27FC236}">
                <a16:creationId xmlns:a16="http://schemas.microsoft.com/office/drawing/2014/main" id="{87888C4F-FD8F-4AA6-972E-1143B3F4D1D1}"/>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Meeting structure and weekly commitment</a:t>
            </a:r>
          </a:p>
        </p:txBody>
      </p:sp>
      <p:sp>
        <p:nvSpPr>
          <p:cNvPr id="3" name="SHPE CAPITAL    OCTOBER 13, 2026">
            <a:extLst xmlns:a="http://schemas.openxmlformats.org/drawingml/2006/main">
              <a:ext uri="{FF2B5EF4-FFF2-40B4-BE49-F238E27FC236}">
                <a16:creationId xmlns:a16="http://schemas.microsoft.com/office/drawing/2014/main" id="{78065BDC-F2DA-463D-B10A-117FEBAC6F75}"/>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1–12 min">
            <a:extLst xmlns:a="http://schemas.openxmlformats.org/drawingml/2006/main">
              <a:ext uri="{FF2B5EF4-FFF2-40B4-BE49-F238E27FC236}">
                <a16:creationId xmlns:a16="http://schemas.microsoft.com/office/drawing/2014/main" id="{22A3B63E-DF6A-4C2B-BB1F-5EABB8BA160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9:00-9:30</a:t>
            </a:r>
          </a:p>
        </p:txBody>
      </p:sp>
      <p:sp>
        <p:nvSpPr>
          <p:cNvPr id="5" name="9">
            <a:extLst xmlns:a="http://schemas.openxmlformats.org/drawingml/2006/main">
              <a:ext uri="{FF2B5EF4-FFF2-40B4-BE49-F238E27FC236}">
                <a16:creationId xmlns:a16="http://schemas.microsoft.com/office/drawing/2014/main" id="{68F631C2-89E9-4E29-BEF2-B4EFB97E4325}"/>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9</a:t>
            </a:r>
          </a:p>
        </p:txBody>
      </p:sp>
      <p:graphicFrame>
        <p:nvGraphicFramePr>
          <p:cNvPr id="6" name="">
            <a:extLst xmlns:a="http://schemas.openxmlformats.org/drawingml/2006/main">
              <a:ext uri="{FF2B5EF4-FFF2-40B4-BE49-F238E27FC236}">
                <a16:creationId xmlns:a16="http://schemas.microsoft.com/office/drawing/2014/main" id="{918E43D5-D2D0-49CA-9F4B-AFE1E525608D}"/>
              </a:ext>
            </a:extLst>
          </p:cNvPr>
          <p:cNvGraphicFramePr/>
          <p:nvPr/>
        </p:nvGraphicFramePr>
        <p:xfrm>
          <a:off xmlns:a="http://schemas.openxmlformats.org/drawingml/2006/main" x="609600" y="1943100"/>
          <a:ext xmlns:a="http://schemas.openxmlformats.org/drawingml/2006/main" cx="10972800" cy="2190750"/>
        </p:xfrm>
        <a:graphic xmlns:a="http://schemas.openxmlformats.org/drawingml/2006/main">
          <a:graphicData uri="http://schemas.openxmlformats.org/drawingml/2006/table">
            <a:tbl>
              <a:tblPr firstRow="1" bandRow="0"/>
              <a:tblGrid>
                <a:gridCol w="3876675"/>
                <a:gridCol w="7096125"/>
              </a:tblGrid>
              <a:tr h="730250">
                <a:tc>
                  <a:txBody>
                    <a:bodyPr lIns="95250" tIns="95250" rIns="95250" bIns="95250">
                      <a:noAutofit/>
                    </a:bodyPr>
                    <a:lstStyle/>
                    <a:p>
                      <a:pPr algn="l">
                        <a:buNone/>
                      </a:pPr>
                      <a:r>
                        <a:rPr sz="2100" b="1">
                          <a:solidFill>
                            <a:srgbClr val="FFFFFF"/>
                          </a:solidFill>
                          <a:latin typeface="Arial"/>
                          <a:ea typeface="Arial"/>
                          <a:cs typeface="Arial"/>
                        </a:rPr>
                        <a:t>Regular 60-minute meeting</a:t>
                      </a:r>
                    </a:p>
                  </a:txBody>
                  <a:tcPr marL="91440" marR="91440" marT="45720" marB="45720" anchor="ctr">
                    <a:solidFill>
                      <a:srgbClr val="004D73"/>
                    </a:solidFill>
                  </a:tcPr>
                </a:tc>
                <a:tc>
                  <a:txBody>
                    <a:bodyPr lIns="95250" tIns="95250" rIns="95250" bIns="95250">
                      <a:noAutofit/>
                    </a:bodyPr>
                    <a:lstStyle/>
                    <a:p>
                      <a:pPr algn="l">
                        <a:buNone/>
                      </a:pPr>
                      <a:r>
                        <a:rPr sz="2100" b="1">
                          <a:solidFill>
                            <a:srgbClr val="FFFFFF"/>
                          </a:solidFill>
                          <a:latin typeface="Arial"/>
                          <a:ea typeface="Arial"/>
                          <a:cs typeface="Arial"/>
                        </a:rPr>
                        <a:t>Focus</a:t>
                      </a:r>
                    </a:p>
                  </a:txBody>
                  <a:tcPr marL="91440" marR="91440" marT="45720" marB="45720" anchor="ctr">
                    <a:solidFill>
                      <a:srgbClr val="004D73"/>
                    </a:solidFill>
                  </a:tcPr>
                </a:tc>
              </a:tr>
              <a:tr h="730250">
                <a:tc>
                  <a:txBody>
                    <a:bodyPr lIns="95250" tIns="95250" rIns="95250" bIns="95250">
                      <a:noAutofit/>
                    </a:bodyPr>
                    <a:lstStyle/>
                    <a:p>
                      <a:pPr algn="l">
                        <a:buNone/>
                      </a:pPr>
                      <a:r>
                        <a:rPr sz="2100" b="1">
                          <a:solidFill>
                            <a:srgbClr val="182C43"/>
                          </a:solidFill>
                          <a:latin typeface="Arial"/>
                          <a:ea typeface="Arial"/>
                          <a:cs typeface="Arial"/>
                        </a:rPr>
                        <a:t>First 0–10 minutes</a:t>
                      </a:r>
                    </a:p>
                  </a:txBody>
                  <a:tcPr marL="91440" marR="91440" marT="45720" marB="45720" anchor="ctr">
                    <a:solidFill>
                      <a:srgbClr val="FFFFFF"/>
                    </a:solidFill>
                  </a:tcPr>
                </a:tc>
                <a:tc>
                  <a:txBody>
                    <a:bodyPr lIns="95250" tIns="95250" rIns="95250" bIns="95250">
                      <a:noAutofit/>
                    </a:bodyPr>
                    <a:lstStyle/>
                    <a:p>
                      <a:pPr algn="l">
                        <a:buNone/>
                      </a:pPr>
                      <a:r>
                        <a:rPr sz="2100" b="0">
                          <a:solidFill>
                            <a:srgbClr val="182C43"/>
                          </a:solidFill>
                          <a:latin typeface="Arial"/>
                          <a:ea typeface="Arial"/>
                          <a:cs typeface="Arial"/>
                        </a:rPr>
                        <a:t>Announcements, progress updates and short idea presentations</a:t>
                      </a:r>
                    </a:p>
                  </a:txBody>
                  <a:tcPr marL="91440" marR="91440" marT="45720" marB="45720" anchor="ctr">
                    <a:solidFill>
                      <a:srgbClr val="FFFFFF"/>
                    </a:solidFill>
                  </a:tcPr>
                </a:tc>
              </a:tr>
              <a:tr h="730250">
                <a:tc>
                  <a:txBody>
                    <a:bodyPr lIns="95250" tIns="95250" rIns="95250" bIns="95250">
                      <a:noAutofit/>
                    </a:bodyPr>
                    <a:lstStyle/>
                    <a:p>
                      <a:pPr algn="l">
                        <a:buNone/>
                      </a:pPr>
                      <a:r>
                        <a:rPr sz="2100" b="1">
                          <a:solidFill>
                            <a:srgbClr val="182C43"/>
                          </a:solidFill>
                          <a:latin typeface="Arial"/>
                          <a:ea typeface="Arial"/>
                          <a:cs typeface="Arial"/>
                        </a:rPr>
                        <a:t>Remaining 50 minutes</a:t>
                      </a:r>
                    </a:p>
                  </a:txBody>
                  <a:tcPr marL="91440" marR="91440" marT="45720" marB="45720" anchor="ctr">
                    <a:solidFill>
                      <a:srgbClr val="F1F4F7"/>
                    </a:solidFill>
                  </a:tcPr>
                </a:tc>
                <a:tc>
                  <a:txBody>
                    <a:bodyPr lIns="95250" tIns="95250" rIns="95250" bIns="95250">
                      <a:noAutofit/>
                    </a:bodyPr>
                    <a:lstStyle/>
                    <a:p>
                      <a:pPr algn="l">
                        <a:buNone/>
                      </a:pPr>
                      <a:r>
                        <a:rPr sz="2100" b="0">
                          <a:solidFill>
                            <a:srgbClr val="182C43"/>
                          </a:solidFill>
                          <a:latin typeface="Arial"/>
                          <a:ea typeface="Arial"/>
                          <a:cs typeface="Arial"/>
                        </a:rPr>
                        <a:t>Dedicated team research, implementation and testing</a:t>
                      </a:r>
                    </a:p>
                  </a:txBody>
                  <a:tcPr marL="91440" marR="91440" marT="45720" marB="45720" anchor="ctr">
                    <a:solidFill>
                      <a:srgbClr val="F1F4F7"/>
                    </a:solidFill>
                  </a:tcPr>
                </a:tc>
              </a:tr>
            </a:tbl>
          </a:graphicData>
        </a:graphic>
      </p:graphicFrame>
      <p:sp>
        <p:nvSpPr>
          <p:cNvPr id="7" name="About 4 hours per member each week">
            <a:extLst xmlns:a="http://schemas.openxmlformats.org/drawingml/2006/main">
              <a:ext uri="{FF2B5EF4-FFF2-40B4-BE49-F238E27FC236}">
                <a16:creationId xmlns:a16="http://schemas.microsoft.com/office/drawing/2014/main" id="{8F7A0A9C-EEE0-4AB9-B0F5-A3664F1FB340}"/>
              </a:ext>
            </a:extLst>
          </p:cNvPr>
          <p:cNvSpPr>
            <a:spLocks xmlns:a="http://schemas.openxmlformats.org/drawingml/2006/main" noGrp="1"/>
          </p:cNvSpPr>
          <p:nvPr/>
        </p:nvSpPr>
        <p:spPr>
          <a:xfrm xmlns:a="http://schemas.openxmlformats.org/drawingml/2006/main">
            <a:off x="609600" y="455295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625" b="1">
                <a:solidFill>
                  <a:srgbClr val="004D73"/>
                </a:solidFill>
                <a:latin typeface="Arial"/>
                <a:ea typeface="Arial"/>
                <a:cs typeface="Arial"/>
              </a:defRPr>
            </a:defPPr>
          </a:lstStyle>
          <a:p xmlns:a="http://schemas.openxmlformats.org/drawingml/2006/main">
            <a:pPr algn="l">
              <a:buNone/>
              <a:defRPr sz="2625" b="1">
                <a:solidFill>
                  <a:srgbClr val="004D73"/>
                </a:solidFill>
                <a:latin typeface="Arial"/>
                <a:ea typeface="Arial"/>
                <a:cs typeface="Arial"/>
              </a:defRPr>
            </a:pPr>
            <a:r>
              <a:rPr sz="2625" b="1">
                <a:solidFill>
                  <a:srgbClr val="004D73"/>
                </a:solidFill>
                <a:latin typeface="Arial"/>
                <a:ea typeface="Arial"/>
                <a:cs typeface="Arial"/>
              </a:rPr>
              <a:t>About 4 hours per member each week</a:t>
            </a:r>
          </a:p>
        </p:txBody>
      </p:sp>
      <p:sp>
        <p:nvSpPr>
          <p:cNvPr id="8" name="1 hour in the meeting, plus about 3">
            <a:extLst xmlns:a="http://schemas.openxmlformats.org/drawingml/2006/main">
              <a:ext uri="{FF2B5EF4-FFF2-40B4-BE49-F238E27FC236}">
                <a16:creationId xmlns:a16="http://schemas.microsoft.com/office/drawing/2014/main" id="{DFE57CC9-0D11-4835-8D80-99FD00C9FB93}"/>
              </a:ext>
            </a:extLst>
          </p:cNvPr>
          <p:cNvSpPr>
            <a:spLocks xmlns:a="http://schemas.openxmlformats.org/drawingml/2006/main" noGrp="1"/>
          </p:cNvSpPr>
          <p:nvPr/>
        </p:nvSpPr>
        <p:spPr>
          <a:xfrm xmlns:a="http://schemas.openxmlformats.org/drawingml/2006/main">
            <a:off x="609600" y="516255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75" b="0">
                <a:solidFill>
                  <a:srgbClr val="182C43"/>
                </a:solidFill>
                <a:latin typeface="Arial"/>
                <a:ea typeface="Arial"/>
                <a:cs typeface="Arial"/>
              </a:defRPr>
            </a:defPPr>
          </a:lstStyle>
          <a:p xmlns:a="http://schemas.openxmlformats.org/drawingml/2006/main">
            <a:pPr algn="l">
              <a:buNone/>
              <a:defRPr sz="2175" b="0">
                <a:solidFill>
                  <a:srgbClr val="182C43"/>
                </a:solidFill>
                <a:latin typeface="Arial"/>
                <a:ea typeface="Arial"/>
                <a:cs typeface="Arial"/>
              </a:defRPr>
            </a:pPr>
            <a:r>
              <a:rPr sz="2175" b="0">
                <a:solidFill>
                  <a:srgbClr val="182C43"/>
                </a:solidFill>
                <a:latin typeface="Arial"/>
                <a:ea typeface="Arial"/>
                <a:cs typeface="Arial"/>
              </a:rPr>
              <a:t>1 hour in the meeting, plus about 3 hours outside the meeting.</a:t>
            </a:r>
          </a:p>
        </p:txBody>
      </p:sp>
      <p:sp>
        <p:nvSpPr>
          <p:cNvPr id="9" name="Today: 30 minutes of introduction a">
            <a:extLst xmlns:a="http://schemas.openxmlformats.org/drawingml/2006/main">
              <a:ext uri="{FF2B5EF4-FFF2-40B4-BE49-F238E27FC236}">
                <a16:creationId xmlns:a16="http://schemas.microsoft.com/office/drawing/2014/main" id="{39E371E3-7FA6-4385-8EDB-C6F35932C7E9}"/>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Today: 28 minutes of presentation, 2 minutes of buffer, then 30 minutes of team work.</a:t>
            </a:r>
          </a:p>
        </p:txBody>
      </p:sp>
    </p:spTree>
    <p:extLst>
      <p:ext uri="{BB962C8B-B14F-4D97-AF65-F5344CB8AC3E}">
        <p14:creationId xmlns:p14="http://schemas.microsoft.com/office/powerpoint/2010/main" val="62605675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MESTER MILESTONES">
            <a:extLst xmlns:a="http://schemas.openxmlformats.org/drawingml/2006/main">
              <a:ext uri="{FF2B5EF4-FFF2-40B4-BE49-F238E27FC236}">
                <a16:creationId xmlns:a16="http://schemas.microsoft.com/office/drawing/2014/main" id="{6C13A1A1-BB64-4B7D-ABDC-126F5DC0B478}"/>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SEMESTER MILESTONES</a:t>
            </a:r>
          </a:p>
        </p:txBody>
      </p:sp>
      <p:sp>
        <p:nvSpPr>
          <p:cNvPr id="2" name="Slide title">
            <a:extLst xmlns:a="http://schemas.openxmlformats.org/drawingml/2006/main">
              <a:ext uri="{FF2B5EF4-FFF2-40B4-BE49-F238E27FC236}">
                <a16:creationId xmlns:a16="http://schemas.microsoft.com/office/drawing/2014/main" id="{888707FA-A17B-4215-B56F-92875CDF65F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Roadmap to November 30</a:t>
            </a:r>
          </a:p>
        </p:txBody>
      </p:sp>
      <p:sp>
        <p:nvSpPr>
          <p:cNvPr id="3" name="SHPE CAPITAL    OCTOBER 13, 2026">
            <a:extLst xmlns:a="http://schemas.openxmlformats.org/drawingml/2006/main">
              <a:ext uri="{FF2B5EF4-FFF2-40B4-BE49-F238E27FC236}">
                <a16:creationId xmlns:a16="http://schemas.microsoft.com/office/drawing/2014/main" id="{9412791E-348F-4279-99C7-71F6BC49CE17}"/>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2–14 min">
            <a:extLst xmlns:a="http://schemas.openxmlformats.org/drawingml/2006/main">
              <a:ext uri="{FF2B5EF4-FFF2-40B4-BE49-F238E27FC236}">
                <a16:creationId xmlns:a16="http://schemas.microsoft.com/office/drawing/2014/main" id="{B0E8EE38-B352-41E1-A7A8-2387E8BCFCC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9:30-10:00</a:t>
            </a:r>
          </a:p>
        </p:txBody>
      </p:sp>
      <p:sp>
        <p:nvSpPr>
          <p:cNvPr id="5" name="10">
            <a:extLst xmlns:a="http://schemas.openxmlformats.org/drawingml/2006/main">
              <a:ext uri="{FF2B5EF4-FFF2-40B4-BE49-F238E27FC236}">
                <a16:creationId xmlns:a16="http://schemas.microsoft.com/office/drawing/2014/main" id="{5916BD69-648E-4D11-AAE0-B5407FD27110}"/>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10</a:t>
            </a:r>
          </a:p>
        </p:txBody>
      </p:sp>
      <p:graphicFrame>
        <p:nvGraphicFramePr>
          <p:cNvPr id="6" name="">
            <a:extLst xmlns:a="http://schemas.openxmlformats.org/drawingml/2006/main">
              <a:ext uri="{FF2B5EF4-FFF2-40B4-BE49-F238E27FC236}">
                <a16:creationId xmlns:a16="http://schemas.microsoft.com/office/drawing/2014/main" id="{28597E89-62AB-4998-8403-AA4426DD4560}"/>
              </a:ext>
            </a:extLst>
          </p:cNvPr>
          <p:cNvGraphicFramePr/>
          <p:nvPr/>
        </p:nvGraphicFramePr>
        <p:xfrm>
          <a:off xmlns:a="http://schemas.openxmlformats.org/drawingml/2006/main" x="609600" y="1695450"/>
          <a:ext xmlns:a="http://schemas.openxmlformats.org/drawingml/2006/main" cx="10972800" cy="3943350"/>
        </p:xfrm>
        <a:graphic xmlns:a="http://schemas.openxmlformats.org/drawingml/2006/main">
          <a:graphicData uri="http://schemas.openxmlformats.org/drawingml/2006/table">
            <a:tbl>
              <a:tblPr firstRow="1" bandRow="0"/>
              <a:tblGrid>
                <a:gridCol w="3286125"/>
                <a:gridCol w="2162175"/>
                <a:gridCol w="5524500"/>
              </a:tblGrid>
              <a:tr h="563336">
                <a:tc>
                  <a:txBody>
                    <a:bodyPr lIns="95250" tIns="95250" rIns="95250" bIns="95250">
                      <a:noAutofit/>
                    </a:bodyPr>
                    <a:lstStyle/>
                    <a:p>
                      <a:pPr algn="l">
                        <a:buNone/>
                      </a:pPr>
                      <a:r>
                        <a:rPr sz="1800" b="1">
                          <a:solidFill>
                            <a:srgbClr val="FFFFFF"/>
                          </a:solidFill>
                          <a:latin typeface="Arial"/>
                          <a:ea typeface="Arial"/>
                          <a:cs typeface="Arial"/>
                        </a:rPr>
                        <a:t>Phase</a:t>
                      </a:r>
                    </a:p>
                  </a:txBody>
                  <a:tcPr marL="91440" marR="91440" marT="45720" marB="45720" anchor="ctr">
                    <a:solidFill>
                      <a:srgbClr val="004D73"/>
                    </a:solidFill>
                  </a:tcPr>
                </a:tc>
                <a:tc>
                  <a:txBody>
                    <a:bodyPr lIns="95250" tIns="95250" rIns="95250" bIns="95250">
                      <a:noAutofit/>
                    </a:bodyPr>
                    <a:lstStyle/>
                    <a:p>
                      <a:pPr algn="l">
                        <a:buNone/>
                      </a:pPr>
                      <a:r>
                        <a:rPr sz="1800" b="1">
                          <a:solidFill>
                            <a:srgbClr val="FFFFFF"/>
                          </a:solidFill>
                          <a:latin typeface="Arial"/>
                          <a:ea typeface="Arial"/>
                          <a:cs typeface="Arial"/>
                        </a:rPr>
                        <a:t>Dates</a:t>
                      </a:r>
                    </a:p>
                  </a:txBody>
                  <a:tcPr marL="91440" marR="91440" marT="45720" marB="45720" anchor="ctr">
                    <a:solidFill>
                      <a:srgbClr val="004D73"/>
                    </a:solidFill>
                  </a:tcPr>
                </a:tc>
                <a:tc>
                  <a:txBody>
                    <a:bodyPr lIns="95250" tIns="95250" rIns="95250" bIns="95250">
                      <a:noAutofit/>
                    </a:bodyPr>
                    <a:lstStyle/>
                    <a:p>
                      <a:pPr algn="l">
                        <a:buNone/>
                      </a:pPr>
                      <a:r>
                        <a:rPr sz="1800" b="1">
                          <a:solidFill>
                            <a:srgbClr val="FFFFFF"/>
                          </a:solidFill>
                          <a:latin typeface="Arial"/>
                          <a:ea typeface="Arial"/>
                          <a:cs typeface="Arial"/>
                        </a:rPr>
                        <a:t>Deliverable</a:t>
                      </a:r>
                    </a:p>
                  </a:txBody>
                  <a:tcPr marL="91440" marR="91440" marT="45720" marB="45720" anchor="ctr">
                    <a:solidFill>
                      <a:srgbClr val="004D73"/>
                    </a:solidFill>
                  </a:tcPr>
                </a:tc>
              </a:tr>
              <a:tr h="563336">
                <a:tc>
                  <a:txBody>
                    <a:bodyPr lIns="95250" tIns="95250" rIns="95250" bIns="95250">
                      <a:noAutofit/>
                    </a:bodyPr>
                    <a:lstStyle/>
                    <a:p>
                      <a:pPr algn="l">
                        <a:buNone/>
                      </a:pPr>
                      <a:r>
                        <a:rPr sz="1800" b="1">
                          <a:solidFill>
                            <a:srgbClr val="182C43"/>
                          </a:solidFill>
                          <a:latin typeface="Arial"/>
                          <a:ea typeface="Arial"/>
                          <a:cs typeface="Arial"/>
                        </a:rPr>
                        <a:t>Research: 2 weeks</a:t>
                      </a:r>
                    </a:p>
                  </a:txBody>
                  <a:tcPr marL="91440" marR="91440" marT="45720" marB="45720" anchor="ctr">
                    <a:solidFill>
                      <a:srgbClr val="FFFFFF"/>
                    </a:solidFill>
                  </a:tcPr>
                </a:tc>
                <a:tc>
                  <a:txBody>
                    <a:bodyPr lIns="95250" tIns="95250" rIns="95250" bIns="95250">
                      <a:noAutofit/>
                    </a:bodyPr>
                    <a:lstStyle/>
                    <a:p>
                      <a:pPr algn="l">
                        <a:buNone/>
                      </a:pPr>
                      <a:r>
                        <a:rPr sz="1800" b="0">
                          <a:solidFill>
                            <a:srgbClr val="182C43"/>
                          </a:solidFill>
                          <a:latin typeface="Arial"/>
                          <a:ea typeface="Arial"/>
                          <a:cs typeface="Arial"/>
                        </a:rPr>
                        <a:t>Oct 13–26</a:t>
                      </a:r>
                    </a:p>
                  </a:txBody>
                  <a:tcPr marL="91440" marR="91440" marT="45720" marB="45720" anchor="ctr">
                    <a:solidFill>
                      <a:srgbClr val="FFFFFF"/>
                    </a:solidFill>
                  </a:tcPr>
                </a:tc>
                <a:tc>
                  <a:txBody>
                    <a:bodyPr lIns="95250" tIns="95250" rIns="95250" bIns="95250">
                      <a:noAutofit/>
                    </a:bodyPr>
                    <a:lstStyle/>
                    <a:p>
                      <a:pPr algn="l">
                        <a:buNone/>
                      </a:pPr>
                      <a:r>
                        <a:rPr sz="1800" b="0">
                          <a:solidFill>
                            <a:srgbClr val="182C43"/>
                          </a:solidFill>
                          <a:latin typeface="Arial"/>
                          <a:ea typeface="Arial"/>
                          <a:cs typeface="Arial"/>
                        </a:rPr>
                        <a:t>Chosen idea, cited evidence and exact rules</a:t>
                      </a:r>
                    </a:p>
                  </a:txBody>
                  <a:tcPr marL="91440" marR="91440" marT="45720" marB="45720" anchor="ctr">
                    <a:solidFill>
                      <a:srgbClr val="FFFFFF"/>
                    </a:solidFill>
                  </a:tcPr>
                </a:tc>
              </a:tr>
              <a:tr h="563336">
                <a:tc>
                  <a:txBody>
                    <a:bodyPr lIns="95250" tIns="95250" rIns="95250" bIns="95250">
                      <a:noAutofit/>
                    </a:bodyPr>
                    <a:lstStyle/>
                    <a:p>
                      <a:pPr algn="l">
                        <a:buNone/>
                      </a:pPr>
                      <a:r>
                        <a:rPr sz="1800" b="1">
                          <a:solidFill>
                            <a:srgbClr val="182C43"/>
                          </a:solidFill>
                          <a:latin typeface="Arial"/>
                          <a:ea typeface="Arial"/>
                          <a:cs typeface="Arial"/>
                        </a:rPr>
                        <a:t>Build and backtest: 1 week</a:t>
                      </a:r>
                    </a:p>
                  </a:txBody>
                  <a:tcPr marL="91440" marR="91440" marT="45720" marB="45720" anchor="ctr">
                    <a:solidFill>
                      <a:srgbClr val="F1F4F7"/>
                    </a:solidFill>
                  </a:tcPr>
                </a:tc>
                <a:tc>
                  <a:txBody>
                    <a:bodyPr lIns="95250" tIns="95250" rIns="95250" bIns="95250">
                      <a:noAutofit/>
                    </a:bodyPr>
                    <a:lstStyle/>
                    <a:p>
                      <a:pPr algn="l">
                        <a:buNone/>
                      </a:pPr>
                      <a:r>
                        <a:rPr sz="1800" b="0">
                          <a:solidFill>
                            <a:srgbClr val="182C43"/>
                          </a:solidFill>
                          <a:latin typeface="Arial"/>
                          <a:ea typeface="Arial"/>
                          <a:cs typeface="Arial"/>
                        </a:rPr>
                        <a:t>Oct 27–Nov 2</a:t>
                      </a:r>
                    </a:p>
                  </a:txBody>
                  <a:tcPr marL="91440" marR="91440" marT="45720" marB="45720" anchor="ctr">
                    <a:solidFill>
                      <a:srgbClr val="F1F4F7"/>
                    </a:solidFill>
                  </a:tcPr>
                </a:tc>
                <a:tc>
                  <a:txBody>
                    <a:bodyPr lIns="95250" tIns="95250" rIns="95250" bIns="95250">
                      <a:noAutofit/>
                    </a:bodyPr>
                    <a:lstStyle/>
                    <a:p>
                      <a:pPr algn="l">
                        <a:buNone/>
                      </a:pPr>
                      <a:r>
                        <a:rPr sz="1800" b="0">
                          <a:solidFill>
                            <a:srgbClr val="182C43"/>
                          </a:solidFill>
                          <a:latin typeface="Arial"/>
                          <a:ea typeface="Arial"/>
                          <a:cs typeface="Arial"/>
                        </a:rPr>
                        <a:t>Working baseline and historical report</a:t>
                      </a:r>
                    </a:p>
                  </a:txBody>
                  <a:tcPr marL="91440" marR="91440" marT="45720" marB="45720" anchor="ctr">
                    <a:solidFill>
                      <a:srgbClr val="F1F4F7"/>
                    </a:solidFill>
                  </a:tcPr>
                </a:tc>
              </a:tr>
              <a:tr h="563336">
                <a:tc>
                  <a:txBody>
                    <a:bodyPr lIns="95250" tIns="95250" rIns="95250" bIns="95250">
                      <a:noAutofit/>
                    </a:bodyPr>
                    <a:lstStyle/>
                    <a:p>
                      <a:pPr algn="l">
                        <a:buNone/>
                      </a:pPr>
                      <a:r>
                        <a:rPr sz="1800" b="1">
                          <a:solidFill>
                            <a:srgbClr val="182C43"/>
                          </a:solidFill>
                          <a:latin typeface="Arial"/>
                          <a:ea typeface="Arial"/>
                          <a:cs typeface="Arial"/>
                        </a:rPr>
                        <a:t>Refine and test: about 1 week</a:t>
                      </a:r>
                    </a:p>
                  </a:txBody>
                  <a:tcPr marL="91440" marR="91440" marT="45720" marB="45720" anchor="ctr">
                    <a:solidFill>
                      <a:srgbClr val="FFFFFF"/>
                    </a:solidFill>
                  </a:tcPr>
                </a:tc>
                <a:tc>
                  <a:txBody>
                    <a:bodyPr lIns="95250" tIns="95250" rIns="95250" bIns="95250">
                      <a:noAutofit/>
                    </a:bodyPr>
                    <a:lstStyle/>
                    <a:p>
                      <a:pPr algn="l">
                        <a:buNone/>
                      </a:pPr>
                      <a:r>
                        <a:rPr sz="1800" b="0">
                          <a:solidFill>
                            <a:srgbClr val="182C43"/>
                          </a:solidFill>
                          <a:latin typeface="Arial"/>
                          <a:ea typeface="Arial"/>
                          <a:cs typeface="Arial"/>
                        </a:rPr>
                        <a:t>Nov 3–8</a:t>
                      </a:r>
                    </a:p>
                  </a:txBody>
                  <a:tcPr marL="91440" marR="91440" marT="45720" marB="45720" anchor="ctr">
                    <a:solidFill>
                      <a:srgbClr val="FFFFFF"/>
                    </a:solidFill>
                  </a:tcPr>
                </a:tc>
                <a:tc>
                  <a:txBody>
                    <a:bodyPr lIns="95250" tIns="95250" rIns="95250" bIns="95250">
                      <a:noAutofit/>
                    </a:bodyPr>
                    <a:lstStyle/>
                    <a:p>
                      <a:pPr algn="l">
                        <a:buNone/>
                      </a:pPr>
                      <a:r>
                        <a:rPr sz="1800" b="0">
                          <a:solidFill>
                            <a:srgbClr val="182C43"/>
                          </a:solidFill>
                          <a:latin typeface="Arial"/>
                          <a:ea typeface="Arial"/>
                          <a:cs typeface="Arial"/>
                        </a:rPr>
                        <a:t>Bug fixes, local paper tests and readiness review</a:t>
                      </a:r>
                    </a:p>
                  </a:txBody>
                  <a:tcPr marL="91440" marR="91440" marT="45720" marB="45720" anchor="ctr">
                    <a:solidFill>
                      <a:srgbClr val="FFFFFF"/>
                    </a:solidFill>
                  </a:tcPr>
                </a:tc>
              </a:tr>
              <a:tr h="563336">
                <a:tc>
                  <a:txBody>
                    <a:bodyPr lIns="95250" tIns="95250" rIns="95250" bIns="95250">
                      <a:noAutofit/>
                    </a:bodyPr>
                    <a:lstStyle/>
                    <a:p>
                      <a:pPr algn="l">
                        <a:buNone/>
                      </a:pPr>
                      <a:r>
                        <a:rPr sz="1800" b="1">
                          <a:solidFill>
                            <a:srgbClr val="182C43"/>
                          </a:solidFill>
                          <a:latin typeface="Arial"/>
                          <a:ea typeface="Arial"/>
                          <a:cs typeface="Arial"/>
                        </a:rPr>
                        <a:t>Online paper: about 3 weeks</a:t>
                      </a:r>
                    </a:p>
                  </a:txBody>
                  <a:tcPr marL="91440" marR="91440" marT="45720" marB="45720" anchor="ctr">
                    <a:solidFill>
                      <a:srgbClr val="F1F4F7"/>
                    </a:solidFill>
                  </a:tcPr>
                </a:tc>
                <a:tc>
                  <a:txBody>
                    <a:bodyPr lIns="95250" tIns="95250" rIns="95250" bIns="95250">
                      <a:noAutofit/>
                    </a:bodyPr>
                    <a:lstStyle/>
                    <a:p>
                      <a:pPr algn="l">
                        <a:buNone/>
                      </a:pPr>
                      <a:r>
                        <a:rPr sz="1800" b="0">
                          <a:solidFill>
                            <a:srgbClr val="182C43"/>
                          </a:solidFill>
                          <a:latin typeface="Arial"/>
                          <a:ea typeface="Arial"/>
                          <a:cs typeface="Arial"/>
                        </a:rPr>
                        <a:t>Nov 9–27</a:t>
                      </a:r>
                    </a:p>
                  </a:txBody>
                  <a:tcPr marL="91440" marR="91440" marT="45720" marB="45720" anchor="ctr">
                    <a:solidFill>
                      <a:srgbClr val="F1F4F7"/>
                    </a:solidFill>
                  </a:tcPr>
                </a:tc>
                <a:tc>
                  <a:txBody>
                    <a:bodyPr lIns="95250" tIns="95250" rIns="95250" bIns="95250">
                      <a:noAutofit/>
                    </a:bodyPr>
                    <a:lstStyle/>
                    <a:p>
                      <a:pPr algn="l">
                        <a:buNone/>
                      </a:pPr>
                      <a:r>
                        <a:rPr sz="1800" b="0">
                          <a:solidFill>
                            <a:srgbClr val="182C43"/>
                          </a:solidFill>
                          <a:latin typeface="Arial"/>
                          <a:ea typeface="Arial"/>
                          <a:cs typeface="Arial"/>
                        </a:rPr>
                        <a:t>Fixed baseline, monitored results and version comparisons</a:t>
                      </a:r>
                    </a:p>
                  </a:txBody>
                  <a:tcPr marL="91440" marR="91440" marT="45720" marB="45720" anchor="ctr">
                    <a:solidFill>
                      <a:srgbClr val="F1F4F7"/>
                    </a:solidFill>
                  </a:tcPr>
                </a:tc>
              </a:tr>
              <a:tr h="563336">
                <a:tc>
                  <a:txBody>
                    <a:bodyPr lIns="95250" tIns="95250" rIns="95250" bIns="95250">
                      <a:noAutofit/>
                    </a:bodyPr>
                    <a:lstStyle/>
                    <a:p>
                      <a:pPr algn="l">
                        <a:buNone/>
                      </a:pPr>
                      <a:r>
                        <a:rPr sz="1800" b="1">
                          <a:solidFill>
                            <a:srgbClr val="182C43"/>
                          </a:solidFill>
                          <a:latin typeface="Arial"/>
                          <a:ea typeface="Arial"/>
                          <a:cs typeface="Arial"/>
                        </a:rPr>
                        <a:t>Rehearsal</a:t>
                      </a:r>
                    </a:p>
                  </a:txBody>
                  <a:tcPr marL="91440" marR="91440" marT="45720" marB="45720" anchor="ctr">
                    <a:solidFill>
                      <a:srgbClr val="FFFFFF"/>
                    </a:solidFill>
                  </a:tcPr>
                </a:tc>
                <a:tc>
                  <a:txBody>
                    <a:bodyPr lIns="95250" tIns="95250" rIns="95250" bIns="95250">
                      <a:noAutofit/>
                    </a:bodyPr>
                    <a:lstStyle/>
                    <a:p>
                      <a:pPr algn="l">
                        <a:buNone/>
                      </a:pPr>
                      <a:r>
                        <a:rPr sz="1800" b="0">
                          <a:solidFill>
                            <a:srgbClr val="182C43"/>
                          </a:solidFill>
                          <a:latin typeface="Arial"/>
                          <a:ea typeface="Arial"/>
                          <a:cs typeface="Arial"/>
                        </a:rPr>
                        <a:t>Nov 24</a:t>
                      </a:r>
                    </a:p>
                  </a:txBody>
                  <a:tcPr marL="91440" marR="91440" marT="45720" marB="45720" anchor="ctr">
                    <a:solidFill>
                      <a:srgbClr val="FFFFFF"/>
                    </a:solidFill>
                  </a:tcPr>
                </a:tc>
                <a:tc>
                  <a:txBody>
                    <a:bodyPr lIns="95250" tIns="95250" rIns="95250" bIns="95250">
                      <a:noAutofit/>
                    </a:bodyPr>
                    <a:lstStyle/>
                    <a:p>
                      <a:pPr algn="l">
                        <a:buNone/>
                      </a:pPr>
                      <a:r>
                        <a:rPr sz="1800" b="0">
                          <a:solidFill>
                            <a:srgbClr val="182C43"/>
                          </a:solidFill>
                          <a:latin typeface="Arial"/>
                          <a:ea typeface="Arial"/>
                          <a:cs typeface="Arial"/>
                        </a:rPr>
                        <a:t>Draft slides, findings and limitations</a:t>
                      </a:r>
                    </a:p>
                  </a:txBody>
                  <a:tcPr marL="91440" marR="91440" marT="45720" marB="45720" anchor="ctr">
                    <a:solidFill>
                      <a:srgbClr val="FFFFFF"/>
                    </a:solidFill>
                  </a:tcPr>
                </a:tc>
              </a:tr>
              <a:tr h="563336">
                <a:tc>
                  <a:txBody>
                    <a:bodyPr lIns="95250" tIns="95250" rIns="95250" bIns="95250">
                      <a:noAutofit/>
                    </a:bodyPr>
                    <a:lstStyle/>
                    <a:p>
                      <a:pPr algn="l">
                        <a:buNone/>
                      </a:pPr>
                      <a:r>
                        <a:rPr sz="1800" b="1">
                          <a:solidFill>
                            <a:srgbClr val="182C43"/>
                          </a:solidFill>
                          <a:latin typeface="Arial"/>
                          <a:ea typeface="Arial"/>
                          <a:cs typeface="Arial"/>
                        </a:rPr>
                        <a:t>Final presentations</a:t>
                      </a:r>
                    </a:p>
                  </a:txBody>
                  <a:tcPr marL="91440" marR="91440" marT="45720" marB="45720" anchor="ctr">
                    <a:solidFill>
                      <a:srgbClr val="F1F4F7"/>
                    </a:solidFill>
                  </a:tcPr>
                </a:tc>
                <a:tc>
                  <a:txBody>
                    <a:bodyPr lIns="95250" tIns="95250" rIns="95250" bIns="95250">
                      <a:noAutofit/>
                    </a:bodyPr>
                    <a:lstStyle/>
                    <a:p>
                      <a:pPr algn="l">
                        <a:buNone/>
                      </a:pPr>
                      <a:r>
                        <a:rPr sz="1800" b="0">
                          <a:solidFill>
                            <a:srgbClr val="182C43"/>
                          </a:solidFill>
                          <a:latin typeface="Arial"/>
                          <a:ea typeface="Arial"/>
                          <a:cs typeface="Arial"/>
                        </a:rPr>
                        <a:t>Mon, Nov 30</a:t>
                      </a:r>
                    </a:p>
                  </a:txBody>
                  <a:tcPr marL="91440" marR="91440" marT="45720" marB="45720" anchor="ctr">
                    <a:solidFill>
                      <a:srgbClr val="F1F4F7"/>
                    </a:solidFill>
                  </a:tcPr>
                </a:tc>
                <a:tc>
                  <a:txBody>
                    <a:bodyPr lIns="95250" tIns="95250" rIns="95250" bIns="95250">
                      <a:noAutofit/>
                    </a:bodyPr>
                    <a:lstStyle/>
                    <a:p>
                      <a:pPr algn="l">
                        <a:buNone/>
                      </a:pPr>
                      <a:r>
                        <a:rPr sz="1800" b="0">
                          <a:solidFill>
                            <a:srgbClr val="182C43"/>
                          </a:solidFill>
                          <a:latin typeface="Arial"/>
                          <a:ea typeface="Arial"/>
                          <a:cs typeface="Arial"/>
                        </a:rPr>
                        <a:t>Presentation to SHPE Executive Leadership</a:t>
                      </a:r>
                    </a:p>
                  </a:txBody>
                  <a:tcPr marL="91440" marR="91440" marT="45720" marB="45720" anchor="ctr">
                    <a:solidFill>
                      <a:srgbClr val="F1F4F7"/>
                    </a:solidFill>
                  </a:tcPr>
                </a:tc>
              </a:tr>
            </a:tbl>
          </a:graphicData>
        </a:graphic>
      </p:graphicFrame>
      <p:sp>
        <p:nvSpPr>
          <p:cNvPr id="7" name="Bonus work: new strategy types and ">
            <a:extLst xmlns:a="http://schemas.openxmlformats.org/drawingml/2006/main">
              <a:ext uri="{FF2B5EF4-FFF2-40B4-BE49-F238E27FC236}">
                <a16:creationId xmlns:a16="http://schemas.microsoft.com/office/drawing/2014/main" id="{F620F7D0-67AF-4C58-A8CF-0B11411B5740}"/>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Bonus work: new strategy types and improvements after the baseline is stable.</a:t>
            </a:r>
          </a:p>
        </p:txBody>
      </p:sp>
    </p:spTree>
    <p:extLst>
      <p:ext uri="{BB962C8B-B14F-4D97-AF65-F5344CB8AC3E}">
        <p14:creationId xmlns:p14="http://schemas.microsoft.com/office/powerpoint/2010/main" val="5644060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XPERIMENT DESIGN">
            <a:extLst xmlns:a="http://schemas.openxmlformats.org/drawingml/2006/main">
              <a:ext uri="{FF2B5EF4-FFF2-40B4-BE49-F238E27FC236}">
                <a16:creationId xmlns:a16="http://schemas.microsoft.com/office/drawing/2014/main" id="{E3C95128-3DC2-41FD-A424-3755278AD3CF}"/>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6FD3F2C3-4ECC-4050-BD5F-5C0A80865B8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Trading vocabulary and price movements</a:t>
            </a:r>
          </a:p>
        </p:txBody>
      </p:sp>
      <p:sp>
        <p:nvSpPr>
          <p:cNvPr id="3" name="SHPE CAPITAL    OCTOBER 13, 2026">
            <a:extLst xmlns:a="http://schemas.openxmlformats.org/drawingml/2006/main">
              <a:ext uri="{FF2B5EF4-FFF2-40B4-BE49-F238E27FC236}">
                <a16:creationId xmlns:a16="http://schemas.microsoft.com/office/drawing/2014/main" id="{A4C69DA0-71CC-4E0F-9E17-D74952CA825C}"/>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4–15 min">
            <a:extLst xmlns:a="http://schemas.openxmlformats.org/drawingml/2006/main">
              <a:ext uri="{FF2B5EF4-FFF2-40B4-BE49-F238E27FC236}">
                <a16:creationId xmlns:a16="http://schemas.microsoft.com/office/drawing/2014/main" id="{6AEC7092-BF50-484B-82F1-F1F10947E3F0}"/>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10:00-11:30</a:t>
            </a:r>
          </a:p>
        </p:txBody>
      </p:sp>
      <p:sp>
        <p:nvSpPr>
          <p:cNvPr id="5" name="11">
            <a:extLst xmlns:a="http://schemas.openxmlformats.org/drawingml/2006/main">
              <a:ext uri="{FF2B5EF4-FFF2-40B4-BE49-F238E27FC236}">
                <a16:creationId xmlns:a16="http://schemas.microsoft.com/office/drawing/2014/main" id="{35AE613E-5186-4017-8433-BFBD8B1244E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11</a:t>
            </a:r>
          </a:p>
        </p:txBody>
      </p:sp>
      <p:sp>
        <p:nvSpPr>
          <p:cNvPr id="11" name="A strategy manages positions through a c">
            <a:extLst xmlns:a="http://schemas.openxmlformats.org/drawingml/2006/main">
              <a:ext uri="{FF2B5EF4-FFF2-40B4-BE49-F238E27FC236}">
                <a16:creationId xmlns:a16="http://schemas.microsoft.com/office/drawing/2014/main" id="{153077BE-D803-40C1-8EEB-CA207BD437ED}"/>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A strategy manages positions through a changing sequence of prices.</a:t>
            </a:r>
          </a:p>
        </p:txBody>
      </p:sp>
      <p:graphicFrame>
        <p:nvGraphicFramePr>
          <p:cNvPr id="12" name="">
            <a:extLst xmlns:a="http://schemas.openxmlformats.org/drawingml/2006/main">
              <a:ext uri="{FF2B5EF4-FFF2-40B4-BE49-F238E27FC236}">
                <a16:creationId xmlns:a16="http://schemas.microsoft.com/office/drawing/2014/main" id="{1FFCAA38-BAD1-429E-9EE5-DB0818452DD3}"/>
              </a:ext>
            </a:extLst>
          </p:cNvPr>
          <p:cNvGraphicFramePr/>
          <p:nvPr/>
        </p:nvGraphicFramePr>
        <p:xfrm>
          <a:off xmlns:a="http://schemas.openxmlformats.org/drawingml/2006/main" x="609600" y="2238375"/>
          <a:ext xmlns:a="http://schemas.openxmlformats.org/drawingml/2006/main" cx="10972800" cy="3105150"/>
        </p:xfrm>
        <a:graphic xmlns:a="http://schemas.openxmlformats.org/drawingml/2006/main">
          <a:graphicData uri="http://schemas.openxmlformats.org/drawingml/2006/table">
            <a:tbl>
              <a:tblPr firstRow="1" bandRow="0"/>
              <a:tblGrid>
                <a:gridCol w="3333750"/>
                <a:gridCol w="7639050"/>
              </a:tblGrid>
              <a:tr h="621030">
                <a:tc>
                  <a:txBody>
                    <a:bodyPr lIns="95250" tIns="95250" rIns="95250" bIns="95250">
                      <a:noAutofit/>
                    </a:bodyPr>
                    <a:lstStyle/>
                    <a:p>
                      <a:pPr algn="l"/>
                      <a:r>
                        <a:rPr sz="2100" b="1">
                          <a:solidFill>
                            <a:srgbClr val="FFFFFF"/>
                          </a:solidFill>
                          <a:latin typeface="Arial"/>
                          <a:ea typeface="Arial"/>
                          <a:cs typeface="Arial"/>
                        </a:rPr>
                        <a:t>Term</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100" b="1">
                          <a:solidFill>
                            <a:srgbClr val="FFFFFF"/>
                          </a:solidFill>
                          <a:latin typeface="Arial"/>
                          <a:ea typeface="Arial"/>
                          <a:cs typeface="Arial"/>
                        </a:rPr>
                        <a:t>Plain meaning</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21030">
                <a:tc>
                  <a:txBody>
                    <a:bodyPr lIns="95250" tIns="95250" rIns="95250" bIns="95250">
                      <a:noAutofit/>
                    </a:bodyPr>
                    <a:lstStyle/>
                    <a:p>
                      <a:pPr algn="l"/>
                      <a:r>
                        <a:rPr sz="2100" b="1">
                          <a:solidFill>
                            <a:srgbClr val="182C43"/>
                          </a:solidFill>
                          <a:latin typeface="Arial"/>
                          <a:ea typeface="Arial"/>
                          <a:cs typeface="Arial"/>
                        </a:rPr>
                        <a:t>Long / short / flat</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100" b="0">
                          <a:solidFill>
                            <a:srgbClr val="182C43"/>
                          </a:solidFill>
                          <a:latin typeface="Arial"/>
                          <a:ea typeface="Arial"/>
                          <a:cs typeface="Arial"/>
                        </a:rPr>
                        <a:t>Benefit from a rise / benefit from a fall / no position</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21030">
                <a:tc>
                  <a:txBody>
                    <a:bodyPr lIns="95250" tIns="95250" rIns="95250" bIns="95250">
                      <a:noAutofit/>
                    </a:bodyPr>
                    <a:lstStyle/>
                    <a:p>
                      <a:pPr algn="l"/>
                      <a:r>
                        <a:rPr sz="2100" b="1">
                          <a:solidFill>
                            <a:srgbClr val="182C43"/>
                          </a:solidFill>
                          <a:latin typeface="Arial"/>
                          <a:ea typeface="Arial"/>
                          <a:cs typeface="Arial"/>
                        </a:rPr>
                        <a:t>Position and notional</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100" b="0">
                          <a:solidFill>
                            <a:srgbClr val="182C43"/>
                          </a:solidFill>
                          <a:latin typeface="Arial"/>
                          <a:ea typeface="Arial"/>
                          <a:cs typeface="Arial"/>
                        </a:rPr>
                        <a:t>Shares held or owed, and shares multiplied by price</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621030">
                <a:tc>
                  <a:txBody>
                    <a:bodyPr lIns="95250" tIns="95250" rIns="95250" bIns="95250">
                      <a:noAutofit/>
                    </a:bodyPr>
                    <a:lstStyle/>
                    <a:p>
                      <a:pPr algn="l"/>
                      <a:r>
                        <a:rPr sz="2100" b="1">
                          <a:solidFill>
                            <a:srgbClr val="182C43"/>
                          </a:solidFill>
                          <a:latin typeface="Arial"/>
                          <a:ea typeface="Arial"/>
                          <a:cs typeface="Arial"/>
                        </a:rPr>
                        <a:t>Return</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100" b="0">
                          <a:solidFill>
                            <a:srgbClr val="182C43"/>
                          </a:solidFill>
                          <a:latin typeface="Arial"/>
                          <a:ea typeface="Arial"/>
                          <a:cs typeface="Arial"/>
                        </a:rPr>
                        <a:t>Price change relative to the starting price</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21030">
                <a:tc>
                  <a:txBody>
                    <a:bodyPr lIns="95250" tIns="95250" rIns="95250" bIns="95250">
                      <a:noAutofit/>
                    </a:bodyPr>
                    <a:lstStyle/>
                    <a:p>
                      <a:pPr algn="l"/>
                      <a:r>
                        <a:rPr sz="2100" b="1">
                          <a:solidFill>
                            <a:srgbClr val="182C43"/>
                          </a:solidFill>
                          <a:latin typeface="Arial"/>
                          <a:ea typeface="Arial"/>
                          <a:cs typeface="Arial"/>
                        </a:rPr>
                        <a:t>P&amp;L and equity curve</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100" b="0">
                          <a:solidFill>
                            <a:srgbClr val="182C43"/>
                          </a:solidFill>
                          <a:latin typeface="Arial"/>
                          <a:ea typeface="Arial"/>
                          <a:cs typeface="Arial"/>
                        </a:rPr>
                        <a:t>Profit or loss, and capital tracked over time</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13" name="Example: 10 shares bought at $100 and so">
            <a:extLst xmlns:a="http://schemas.openxmlformats.org/drawingml/2006/main">
              <a:ext uri="{FF2B5EF4-FFF2-40B4-BE49-F238E27FC236}">
                <a16:creationId xmlns:a16="http://schemas.microsoft.com/office/drawing/2014/main" id="{E72104CE-4AA8-4CA9-A724-111796902FB3}"/>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Example: 10 shares bought at $100 and sold at $102 earn $20 before costs.</a:t>
            </a:r>
          </a:p>
        </p:txBody>
      </p:sp>
    </p:spTree>
    <p:extLst>
      <p:ext uri="{BB962C8B-B14F-4D97-AF65-F5344CB8AC3E}">
        <p14:creationId xmlns:p14="http://schemas.microsoft.com/office/powerpoint/2010/main" val="111632730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RESEARCH STANDARDS">
            <a:extLst xmlns:a="http://schemas.openxmlformats.org/drawingml/2006/main">
              <a:ext uri="{FF2B5EF4-FFF2-40B4-BE49-F238E27FC236}">
                <a16:creationId xmlns:a16="http://schemas.microsoft.com/office/drawing/2014/main" id="{F821CD8E-E36F-4141-A572-DF6A7F4405CE}"/>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35A0707E-F46E-4808-BB20-19B7DFBCDE47}"/>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The complete strategy</a:t>
            </a:r>
          </a:p>
        </p:txBody>
      </p:sp>
      <p:sp>
        <p:nvSpPr>
          <p:cNvPr id="3" name="SHPE CAPITAL    OCTOBER 13, 2026">
            <a:extLst xmlns:a="http://schemas.openxmlformats.org/drawingml/2006/main">
              <a:ext uri="{FF2B5EF4-FFF2-40B4-BE49-F238E27FC236}">
                <a16:creationId xmlns:a16="http://schemas.microsoft.com/office/drawing/2014/main" id="{0E09F071-67D8-4BCF-BF97-D32A0A4E9248}"/>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17 min">
            <a:extLst xmlns:a="http://schemas.openxmlformats.org/drawingml/2006/main">
              <a:ext uri="{FF2B5EF4-FFF2-40B4-BE49-F238E27FC236}">
                <a16:creationId xmlns:a16="http://schemas.microsoft.com/office/drawing/2014/main" id="{49758EA8-F924-4FD9-8575-4FA1F1A70EB2}"/>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11:30-13:00</a:t>
            </a:r>
          </a:p>
        </p:txBody>
      </p:sp>
      <p:sp>
        <p:nvSpPr>
          <p:cNvPr id="5" name="12">
            <a:extLst xmlns:a="http://schemas.openxmlformats.org/drawingml/2006/main">
              <a:ext uri="{FF2B5EF4-FFF2-40B4-BE49-F238E27FC236}">
                <a16:creationId xmlns:a16="http://schemas.microsoft.com/office/drawing/2014/main" id="{0B307E98-FD23-461C-9D0E-7D4024C37AB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12</a:t>
            </a:r>
          </a:p>
        </p:txBody>
      </p:sp>
      <p:sp>
        <p:nvSpPr>
          <p:cNvPr id="23" name="A hypothesis becomes a position only thr">
            <a:extLst xmlns:a="http://schemas.openxmlformats.org/drawingml/2006/main">
              <a:ext uri="{FF2B5EF4-FFF2-40B4-BE49-F238E27FC236}">
                <a16:creationId xmlns:a16="http://schemas.microsoft.com/office/drawing/2014/main" id="{8029D5D6-AE9E-4ECA-8F03-3164CE0F5199}"/>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A hypothesis becomes a position only through explicit decisions.</a:t>
            </a:r>
          </a:p>
        </p:txBody>
      </p:sp>
      <p:graphicFrame>
        <p:nvGraphicFramePr>
          <p:cNvPr id="24" name="">
            <a:extLst xmlns:a="http://schemas.openxmlformats.org/drawingml/2006/main">
              <a:ext uri="{FF2B5EF4-FFF2-40B4-BE49-F238E27FC236}">
                <a16:creationId xmlns:a16="http://schemas.microsoft.com/office/drawing/2014/main" id="{CFC91FD5-0DB2-4A95-84C2-0A9591D08FF3}"/>
              </a:ext>
            </a:extLst>
          </p:cNvPr>
          <p:cNvGraphicFramePr/>
          <p:nvPr/>
        </p:nvGraphicFramePr>
        <p:xfrm>
          <a:off xmlns:a="http://schemas.openxmlformats.org/drawingml/2006/main" x="609600" y="2133600"/>
          <a:ext xmlns:a="http://schemas.openxmlformats.org/drawingml/2006/main" cx="10972800" cy="3429000"/>
        </p:xfrm>
        <a:graphic xmlns:a="http://schemas.openxmlformats.org/drawingml/2006/main">
          <a:graphicData uri="http://schemas.openxmlformats.org/drawingml/2006/table">
            <a:tbl>
              <a:tblPr firstRow="1" bandRow="0"/>
              <a:tblGrid>
                <a:gridCol w="3333750"/>
                <a:gridCol w="7639050"/>
              </a:tblGrid>
              <a:tr h="571500">
                <a:tc>
                  <a:txBody>
                    <a:bodyPr lIns="95250" tIns="95250" rIns="95250" bIns="95250">
                      <a:noAutofit/>
                    </a:bodyPr>
                    <a:lstStyle/>
                    <a:p>
                      <a:pPr algn="l"/>
                      <a:r>
                        <a:rPr sz="2025" b="1">
                          <a:solidFill>
                            <a:srgbClr val="FFFFFF"/>
                          </a:solidFill>
                          <a:latin typeface="Arial"/>
                          <a:ea typeface="Arial"/>
                          <a:cs typeface="Arial"/>
                        </a:rPr>
                        <a:t>Component</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025" b="1">
                          <a:solidFill>
                            <a:srgbClr val="FFFFFF"/>
                          </a:solidFill>
                          <a:latin typeface="Arial"/>
                          <a:ea typeface="Arial"/>
                          <a:cs typeface="Arial"/>
                        </a:rPr>
                        <a:t>Question to answer</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71500">
                <a:tc>
                  <a:txBody>
                    <a:bodyPr lIns="95250" tIns="95250" rIns="95250" bIns="95250">
                      <a:noAutofit/>
                    </a:bodyPr>
                    <a:lstStyle/>
                    <a:p>
                      <a:pPr algn="l"/>
                      <a:r>
                        <a:rPr sz="2025" b="1">
                          <a:solidFill>
                            <a:srgbClr val="182C43"/>
                          </a:solidFill>
                          <a:latin typeface="Arial"/>
                          <a:ea typeface="Arial"/>
                          <a:cs typeface="Arial"/>
                        </a:rPr>
                        <a:t>Hypothesis and inputs</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Why might this work, and what can we observe?</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571500">
                <a:tc>
                  <a:txBody>
                    <a:bodyPr lIns="95250" tIns="95250" rIns="95250" bIns="95250">
                      <a:noAutofit/>
                    </a:bodyPr>
                    <a:lstStyle/>
                    <a:p>
                      <a:pPr algn="l"/>
                      <a:r>
                        <a:rPr sz="2025" b="1">
                          <a:solidFill>
                            <a:srgbClr val="182C43"/>
                          </a:solidFill>
                          <a:latin typeface="Arial"/>
                          <a:ea typeface="Arial"/>
                          <a:cs typeface="Arial"/>
                        </a:rPr>
                        <a:t>Signal and entry</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What exact condition justifies a trade?</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571500">
                <a:tc>
                  <a:txBody>
                    <a:bodyPr lIns="95250" tIns="95250" rIns="95250" bIns="95250">
                      <a:noAutofit/>
                    </a:bodyPr>
                    <a:lstStyle/>
                    <a:p>
                      <a:pPr algn="l"/>
                      <a:r>
                        <a:rPr sz="2025" b="1">
                          <a:solidFill>
                            <a:srgbClr val="182C43"/>
                          </a:solidFill>
                          <a:latin typeface="Arial"/>
                          <a:ea typeface="Arial"/>
                          <a:cs typeface="Arial"/>
                        </a:rPr>
                        <a:t>Size and execution</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How much do we trade, and how do orders fill?</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571500">
                <a:tc>
                  <a:txBody>
                    <a:bodyPr lIns="95250" tIns="95250" rIns="95250" bIns="95250">
                      <a:noAutofit/>
                    </a:bodyPr>
                    <a:lstStyle/>
                    <a:p>
                      <a:pPr algn="l"/>
                      <a:r>
                        <a:rPr sz="2025" b="1">
                          <a:solidFill>
                            <a:srgbClr val="182C43"/>
                          </a:solidFill>
                          <a:latin typeface="Arial"/>
                          <a:ea typeface="Arial"/>
                          <a:cs typeface="Arial"/>
                        </a:rPr>
                        <a:t>Exits and risk</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What closes the trade or stops further trading?</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571500">
                <a:tc>
                  <a:txBody>
                    <a:bodyPr lIns="95250" tIns="95250" rIns="95250" bIns="95250">
                      <a:noAutofit/>
                    </a:bodyPr>
                    <a:lstStyle/>
                    <a:p>
                      <a:pPr algn="l"/>
                      <a:r>
                        <a:rPr sz="2025" b="1">
                          <a:solidFill>
                            <a:srgbClr val="182C43"/>
                          </a:solidFill>
                          <a:latin typeface="Arial"/>
                          <a:ea typeface="Arial"/>
                          <a:cs typeface="Arial"/>
                        </a:rPr>
                        <a:t>Evaluation</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Which benchmark and evidence judge the result?</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25" name="Parameters set thresholds. Filters restr">
            <a:extLst xmlns:a="http://schemas.openxmlformats.org/drawingml/2006/main">
              <a:ext uri="{FF2B5EF4-FFF2-40B4-BE49-F238E27FC236}">
                <a16:creationId xmlns:a16="http://schemas.microsoft.com/office/drawing/2014/main" id="{01B343F0-94BB-4005-906A-C089CAC66634}"/>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Parameters set thresholds. Filters restrict entries. Every version retains its rules.</a:t>
            </a:r>
          </a:p>
        </p:txBody>
      </p:sp>
    </p:spTree>
    <p:extLst>
      <p:ext uri="{BB962C8B-B14F-4D97-AF65-F5344CB8AC3E}">
        <p14:creationId xmlns:p14="http://schemas.microsoft.com/office/powerpoint/2010/main" val="17056197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HARED COURSE">
            <a:extLst xmlns:a="http://schemas.openxmlformats.org/drawingml/2006/main">
              <a:ext uri="{FF2B5EF4-FFF2-40B4-BE49-F238E27FC236}">
                <a16:creationId xmlns:a16="http://schemas.microsoft.com/office/drawing/2014/main" id="{00F3081A-A957-4B77-A4D0-A1AF86EA5CF4}"/>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381F2190-981F-4C05-8E70-CDBC96223566}"/>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defRPr sz="3450" b="1">
                <a:solidFill>
                  <a:srgbClr val="004D73"/>
                </a:solidFill>
                <a:latin typeface="Arial"/>
                <a:ea typeface="Arial"/>
                <a:cs typeface="Arial"/>
              </a:defRPr>
            </a:pPr>
            <a:r>
              <a:rPr sz="3450" b="1">
                <a:solidFill>
                  <a:srgbClr val="004D73"/>
                </a:solidFill>
                <a:latin typeface="Arial"/>
                <a:ea typeface="Arial"/>
                <a:cs typeface="Arial"/>
              </a:rPr>
              <a:t>Signals orders fills and trading costs</a:t>
            </a:r>
          </a:p>
        </p:txBody>
      </p:sp>
      <p:sp>
        <p:nvSpPr>
          <p:cNvPr id="3" name="SHPE CAPITAL    OCTOBER 13, 2026">
            <a:extLst xmlns:a="http://schemas.openxmlformats.org/drawingml/2006/main">
              <a:ext uri="{FF2B5EF4-FFF2-40B4-BE49-F238E27FC236}">
                <a16:creationId xmlns:a16="http://schemas.microsoft.com/office/drawing/2014/main" id="{776ACD19-E066-41BE-9A97-6C056E80B679}"/>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3:00-14:30">
            <a:extLst xmlns:a="http://schemas.openxmlformats.org/drawingml/2006/main">
              <a:ext uri="{FF2B5EF4-FFF2-40B4-BE49-F238E27FC236}">
                <a16:creationId xmlns:a16="http://schemas.microsoft.com/office/drawing/2014/main" id="{754DADFE-211B-4E9C-A2B5-293BCFAA9E2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13:00-14:30</a:t>
            </a:r>
          </a:p>
        </p:txBody>
      </p:sp>
      <p:sp>
        <p:nvSpPr>
          <p:cNvPr id="5" name="0">
            <a:extLst xmlns:a="http://schemas.openxmlformats.org/drawingml/2006/main">
              <a:ext uri="{FF2B5EF4-FFF2-40B4-BE49-F238E27FC236}">
                <a16:creationId xmlns:a16="http://schemas.microsoft.com/office/drawing/2014/main" id="{09EF13AD-F5BB-42E5-B5EA-6005FF1E65CE}"/>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13</a:t>
            </a:r>
          </a:p>
        </p:txBody>
      </p:sp>
      <p:sp>
        <p:nvSpPr>
          <p:cNvPr id="6" name="A prediction must lead to an executable ">
            <a:extLst xmlns:a="http://schemas.openxmlformats.org/drawingml/2006/main">
              <a:ext uri="{FF2B5EF4-FFF2-40B4-BE49-F238E27FC236}">
                <a16:creationId xmlns:a16="http://schemas.microsoft.com/office/drawing/2014/main" id="{6C2008EE-BC40-4E05-8F83-57EF7714FE65}"/>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A prediction must lead to an executable gain after costs.</a:t>
            </a:r>
          </a:p>
        </p:txBody>
      </p:sp>
      <p:sp>
        <p:nvSpPr>
          <p:cNvPr id="7" name="Signal, order and fill">
            <a:extLst xmlns:a="http://schemas.openxmlformats.org/drawingml/2006/main">
              <a:ext uri="{FF2B5EF4-FFF2-40B4-BE49-F238E27FC236}">
                <a16:creationId xmlns:a16="http://schemas.microsoft.com/office/drawing/2014/main" id="{19CF5937-F6E0-4EFF-B820-D3F9BF37E055}"/>
              </a:ext>
            </a:extLst>
          </p:cNvPr>
          <p:cNvSpPr>
            <a:spLocks xmlns:a="http://schemas.openxmlformats.org/drawingml/2006/main" noGrp="1"/>
          </p:cNvSpPr>
          <p:nvPr/>
        </p:nvSpPr>
        <p:spPr>
          <a:xfrm xmlns:a="http://schemas.openxmlformats.org/drawingml/2006/main">
            <a:off x="6096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Signal, order and fill</a:t>
            </a:r>
          </a:p>
        </p:txBody>
      </p:sp>
      <p:sp>
        <p:nvSpPr>
          <p:cNvPr id="8" name="Intention, transaction request and confi">
            <a:extLst xmlns:a="http://schemas.openxmlformats.org/drawingml/2006/main">
              <a:ext uri="{FF2B5EF4-FFF2-40B4-BE49-F238E27FC236}">
                <a16:creationId xmlns:a16="http://schemas.microsoft.com/office/drawing/2014/main" id="{08F42EEB-23C8-4D84-888B-FE34AA6CC378}"/>
              </a:ext>
            </a:extLst>
          </p:cNvPr>
          <p:cNvSpPr>
            <a:spLocks xmlns:a="http://schemas.openxmlformats.org/drawingml/2006/main" noGrp="1"/>
          </p:cNvSpPr>
          <p:nvPr/>
        </p:nvSpPr>
        <p:spPr>
          <a:xfrm xmlns:a="http://schemas.openxmlformats.org/drawingml/2006/main">
            <a:off x="6096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Intention, transaction request and confirmed execution.</a:t>
            </a:r>
          </a:p>
        </p:txBody>
      </p:sp>
      <p:sp>
        <p:nvSpPr>
          <p:cNvPr id="9" name="Market order">
            <a:extLst xmlns:a="http://schemas.openxmlformats.org/drawingml/2006/main">
              <a:ext uri="{FF2B5EF4-FFF2-40B4-BE49-F238E27FC236}">
                <a16:creationId xmlns:a16="http://schemas.microsoft.com/office/drawing/2014/main" id="{CAC5FAC5-D9C5-45FB-8C1D-9247AD058741}"/>
              </a:ext>
            </a:extLst>
          </p:cNvPr>
          <p:cNvSpPr>
            <a:spLocks xmlns:a="http://schemas.openxmlformats.org/drawingml/2006/main" noGrp="1"/>
          </p:cNvSpPr>
          <p:nvPr/>
        </p:nvSpPr>
        <p:spPr>
          <a:xfrm xmlns:a="http://schemas.openxmlformats.org/drawingml/2006/main">
            <a:off x="6096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Market order</a:t>
            </a:r>
          </a:p>
        </p:txBody>
      </p:sp>
      <p:sp>
        <p:nvSpPr>
          <p:cNvPr id="10" name="Seeks prompt execution. The final price ">
            <a:extLst xmlns:a="http://schemas.openxmlformats.org/drawingml/2006/main">
              <a:ext uri="{FF2B5EF4-FFF2-40B4-BE49-F238E27FC236}">
                <a16:creationId xmlns:a16="http://schemas.microsoft.com/office/drawing/2014/main" id="{78EF7CFB-B1B3-42DD-B55A-77601A6F4756}"/>
              </a:ext>
            </a:extLst>
          </p:cNvPr>
          <p:cNvSpPr>
            <a:spLocks xmlns:a="http://schemas.openxmlformats.org/drawingml/2006/main" noGrp="1"/>
          </p:cNvSpPr>
          <p:nvPr/>
        </p:nvSpPr>
        <p:spPr>
          <a:xfrm xmlns:a="http://schemas.openxmlformats.org/drawingml/2006/main">
            <a:off x="6096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Seeks prompt execution. The final price can vary.</a:t>
            </a:r>
          </a:p>
        </p:txBody>
      </p:sp>
      <p:sp>
        <p:nvSpPr>
          <p:cNvPr id="11" name="Bid, ask and spread">
            <a:extLst xmlns:a="http://schemas.openxmlformats.org/drawingml/2006/main">
              <a:ext uri="{FF2B5EF4-FFF2-40B4-BE49-F238E27FC236}">
                <a16:creationId xmlns:a16="http://schemas.microsoft.com/office/drawing/2014/main" id="{21F1D6B2-3B12-4A68-A57D-1DC1D5DCFBC6}"/>
              </a:ext>
            </a:extLst>
          </p:cNvPr>
          <p:cNvSpPr>
            <a:spLocks xmlns:a="http://schemas.openxmlformats.org/drawingml/2006/main" noGrp="1"/>
          </p:cNvSpPr>
          <p:nvPr/>
        </p:nvSpPr>
        <p:spPr>
          <a:xfrm xmlns:a="http://schemas.openxmlformats.org/drawingml/2006/main">
            <a:off x="6248400" y="226695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Bid, ask and spread</a:t>
            </a:r>
          </a:p>
        </p:txBody>
      </p:sp>
      <p:sp>
        <p:nvSpPr>
          <p:cNvPr id="12" name="Buying and selling offers. Their gap is ">
            <a:extLst xmlns:a="http://schemas.openxmlformats.org/drawingml/2006/main">
              <a:ext uri="{FF2B5EF4-FFF2-40B4-BE49-F238E27FC236}">
                <a16:creationId xmlns:a16="http://schemas.microsoft.com/office/drawing/2014/main" id="{EE76FC2A-8199-4603-80F3-380FE465AD05}"/>
              </a:ext>
            </a:extLst>
          </p:cNvPr>
          <p:cNvSpPr>
            <a:spLocks xmlns:a="http://schemas.openxmlformats.org/drawingml/2006/main" noGrp="1"/>
          </p:cNvSpPr>
          <p:nvPr/>
        </p:nvSpPr>
        <p:spPr>
          <a:xfrm xmlns:a="http://schemas.openxmlformats.org/drawingml/2006/main">
            <a:off x="6248400" y="266700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Buying and selling offers. Their gap is a trading cost.</a:t>
            </a:r>
          </a:p>
        </p:txBody>
      </p:sp>
      <p:sp>
        <p:nvSpPr>
          <p:cNvPr id="13" name="Limit order">
            <a:extLst xmlns:a="http://schemas.openxmlformats.org/drawingml/2006/main">
              <a:ext uri="{FF2B5EF4-FFF2-40B4-BE49-F238E27FC236}">
                <a16:creationId xmlns:a16="http://schemas.microsoft.com/office/drawing/2014/main" id="{A1EEEA4F-EC40-4F93-AB89-C569120A7AE5}"/>
              </a:ext>
            </a:extLst>
          </p:cNvPr>
          <p:cNvSpPr>
            <a:spLocks xmlns:a="http://schemas.openxmlformats.org/drawingml/2006/main" noGrp="1"/>
          </p:cNvSpPr>
          <p:nvPr/>
        </p:nvSpPr>
        <p:spPr>
          <a:xfrm xmlns:a="http://schemas.openxmlformats.org/drawingml/2006/main">
            <a:off x="6248400" y="3924300"/>
            <a:ext cx="5257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FF5400"/>
                </a:solidFill>
                <a:latin typeface="Arial"/>
                <a:ea typeface="Arial"/>
                <a:cs typeface="Arial"/>
              </a:defRPr>
            </a:defPPr>
          </a:lstStyle>
          <a:p xmlns:a="http://schemas.openxmlformats.org/drawingml/2006/main">
            <a:pPr algn="l">
              <a:defRPr sz="2100" b="1">
                <a:solidFill>
                  <a:srgbClr val="FF5400"/>
                </a:solidFill>
                <a:latin typeface="Arial"/>
                <a:ea typeface="Arial"/>
                <a:cs typeface="Arial"/>
              </a:defRPr>
            </a:pPr>
            <a:r>
              <a:rPr sz="2100" b="1">
                <a:solidFill>
                  <a:srgbClr val="FF5400"/>
                </a:solidFill>
                <a:latin typeface="Arial"/>
                <a:ea typeface="Arial"/>
                <a:cs typeface="Arial"/>
              </a:rPr>
              <a:t>Limit order</a:t>
            </a:r>
          </a:p>
        </p:txBody>
      </p:sp>
      <p:sp>
        <p:nvSpPr>
          <p:cNvPr id="14" name="Sets a worst acceptable price. The order">
            <a:extLst xmlns:a="http://schemas.openxmlformats.org/drawingml/2006/main">
              <a:ext uri="{FF2B5EF4-FFF2-40B4-BE49-F238E27FC236}">
                <a16:creationId xmlns:a16="http://schemas.microsoft.com/office/drawing/2014/main" id="{02E2359C-2773-4AFB-B480-FA66C8DBAF8D}"/>
              </a:ext>
            </a:extLst>
          </p:cNvPr>
          <p:cNvSpPr>
            <a:spLocks xmlns:a="http://schemas.openxmlformats.org/drawingml/2006/main" noGrp="1"/>
          </p:cNvSpPr>
          <p:nvPr/>
        </p:nvSpPr>
        <p:spPr>
          <a:xfrm xmlns:a="http://schemas.openxmlformats.org/drawingml/2006/main">
            <a:off x="6248400" y="4324350"/>
            <a:ext cx="52578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182C43"/>
                </a:solidFill>
                <a:latin typeface="Arial"/>
                <a:ea typeface="Arial"/>
                <a:cs typeface="Arial"/>
              </a:defRPr>
            </a:defPPr>
          </a:lstStyle>
          <a:p xmlns:a="http://schemas.openxmlformats.org/drawingml/2006/main">
            <a:pPr algn="l">
              <a:defRPr sz="2100" b="0">
                <a:solidFill>
                  <a:srgbClr val="182C43"/>
                </a:solidFill>
                <a:latin typeface="Arial"/>
                <a:ea typeface="Arial"/>
                <a:cs typeface="Arial"/>
              </a:defRPr>
            </a:pPr>
            <a:r>
              <a:rPr sz="2100" b="0">
                <a:solidFill>
                  <a:srgbClr val="182C43"/>
                </a:solidFill>
                <a:latin typeface="Arial"/>
                <a:ea typeface="Arial"/>
                <a:cs typeface="Arial"/>
              </a:rPr>
              <a:t>Sets a worst acceptable price. The order may never fill.</a:t>
            </a:r>
          </a:p>
        </p:txBody>
      </p:sp>
      <p:sp>
        <p:nvSpPr>
          <p:cNvPr id="15" name="Bid $100.00 / ask $100.02: an immediate ">
            <a:extLst xmlns:a="http://schemas.openxmlformats.org/drawingml/2006/main">
              <a:ext uri="{FF2B5EF4-FFF2-40B4-BE49-F238E27FC236}">
                <a16:creationId xmlns:a16="http://schemas.microsoft.com/office/drawing/2014/main" id="{A1F78F97-59ED-4CDE-9077-163DD9B8BAC8}"/>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Bid $100.00 / ask $100.02: an immediate buy then sell loses $0.02 per share.</a:t>
            </a:r>
          </a:p>
        </p:txBody>
      </p:sp>
    </p:spTree>
    <p:extLst>
      <p:ext uri="{BB962C8B-B14F-4D97-AF65-F5344CB8AC3E}">
        <p14:creationId xmlns:p14="http://schemas.microsoft.com/office/powerpoint/2010/main" val="36080910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HARED COURSE">
            <a:extLst xmlns:a="http://schemas.openxmlformats.org/drawingml/2006/main">
              <a:ext uri="{FF2B5EF4-FFF2-40B4-BE49-F238E27FC236}">
                <a16:creationId xmlns:a16="http://schemas.microsoft.com/office/drawing/2014/main" id="{2D5E9BC0-BF94-4D09-9F1B-E52356A3FDAD}"/>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CD593438-57AC-4066-8A7A-C8603C64B454}"/>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defRPr sz="3450" b="1">
                <a:solidFill>
                  <a:srgbClr val="004D73"/>
                </a:solidFill>
                <a:latin typeface="Arial"/>
                <a:ea typeface="Arial"/>
                <a:cs typeface="Arial"/>
              </a:defRPr>
            </a:pPr>
            <a:r>
              <a:rPr sz="3450" b="1">
                <a:solidFill>
                  <a:srgbClr val="004D73"/>
                </a:solidFill>
                <a:latin typeface="Arial"/>
                <a:ea typeface="Arial"/>
                <a:cs typeface="Arial"/>
              </a:rPr>
              <a:t>Hypotheses edge and expectancy</a:t>
            </a:r>
          </a:p>
        </p:txBody>
      </p:sp>
      <p:sp>
        <p:nvSpPr>
          <p:cNvPr id="3" name="SHPE CAPITAL    OCTOBER 13, 2026">
            <a:extLst xmlns:a="http://schemas.openxmlformats.org/drawingml/2006/main">
              <a:ext uri="{FF2B5EF4-FFF2-40B4-BE49-F238E27FC236}">
                <a16:creationId xmlns:a16="http://schemas.microsoft.com/office/drawing/2014/main" id="{F97A119F-57AE-4420-B9C8-17A3B3D67FD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4:30-15:30">
            <a:extLst xmlns:a="http://schemas.openxmlformats.org/drawingml/2006/main">
              <a:ext uri="{FF2B5EF4-FFF2-40B4-BE49-F238E27FC236}">
                <a16:creationId xmlns:a16="http://schemas.microsoft.com/office/drawing/2014/main" id="{C593989E-4012-4A26-9D58-69193F538724}"/>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14:30-15:30</a:t>
            </a:r>
          </a:p>
        </p:txBody>
      </p:sp>
      <p:sp>
        <p:nvSpPr>
          <p:cNvPr id="5" name="0">
            <a:extLst xmlns:a="http://schemas.openxmlformats.org/drawingml/2006/main">
              <a:ext uri="{FF2B5EF4-FFF2-40B4-BE49-F238E27FC236}">
                <a16:creationId xmlns:a16="http://schemas.microsoft.com/office/drawing/2014/main" id="{A978D3CB-0AE3-4912-8080-CB699F4A1E0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14</a:t>
            </a:r>
          </a:p>
        </p:txBody>
      </p:sp>
      <p:sp>
        <p:nvSpPr>
          <p:cNvPr id="6" name="An edge is an estimated advantage that s">
            <a:extLst xmlns:a="http://schemas.openxmlformats.org/drawingml/2006/main">
              <a:ext uri="{FF2B5EF4-FFF2-40B4-BE49-F238E27FC236}">
                <a16:creationId xmlns:a16="http://schemas.microsoft.com/office/drawing/2014/main" id="{A2C25367-AC2A-4D08-A097-906CD82B27B6}"/>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An edge is an estimated advantage that survives costs and risk.</a:t>
            </a:r>
          </a:p>
        </p:txBody>
      </p:sp>
      <p:graphicFrame>
        <p:nvGraphicFramePr>
          <p:cNvPr id="7" name="">
            <a:extLst xmlns:a="http://schemas.openxmlformats.org/drawingml/2006/main">
              <a:ext uri="{FF2B5EF4-FFF2-40B4-BE49-F238E27FC236}">
                <a16:creationId xmlns:a16="http://schemas.microsoft.com/office/drawing/2014/main" id="{7450C976-601E-4660-A1AF-B95254FFF95B}"/>
              </a:ext>
            </a:extLst>
          </p:cNvPr>
          <p:cNvGraphicFramePr/>
          <p:nvPr/>
        </p:nvGraphicFramePr>
        <p:xfrm>
          <a:off xmlns:a="http://schemas.openxmlformats.org/drawingml/2006/main" x="609600" y="2247900"/>
          <a:ext xmlns:a="http://schemas.openxmlformats.org/drawingml/2006/main" cx="10972800" cy="1943100"/>
        </p:xfrm>
        <a:graphic xmlns:a="http://schemas.openxmlformats.org/drawingml/2006/main">
          <a:graphicData uri="http://schemas.openxmlformats.org/drawingml/2006/table">
            <a:tbl>
              <a:tblPr firstRow="1" bandRow="0"/>
              <a:tblGrid>
                <a:gridCol w="4857750"/>
                <a:gridCol w="2476500"/>
                <a:gridCol w="3638550"/>
              </a:tblGrid>
              <a:tr h="647700">
                <a:tc>
                  <a:txBody>
                    <a:bodyPr lIns="95250" tIns="95250" rIns="95250" bIns="95250">
                      <a:noAutofit/>
                    </a:bodyPr>
                    <a:lstStyle/>
                    <a:p>
                      <a:pPr algn="l"/>
                      <a:r>
                        <a:rPr sz="2250" b="1">
                          <a:solidFill>
                            <a:srgbClr val="FFFFFF"/>
                          </a:solidFill>
                          <a:latin typeface="Arial"/>
                          <a:ea typeface="Arial"/>
                          <a:cs typeface="Arial"/>
                        </a:rPr>
                        <a:t>Hypothetical outcome</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250" b="1">
                          <a:solidFill>
                            <a:srgbClr val="FFFFFF"/>
                          </a:solidFill>
                          <a:latin typeface="Arial"/>
                          <a:ea typeface="Arial"/>
                          <a:cs typeface="Arial"/>
                        </a:rPr>
                        <a:t>Frequency</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250" b="1">
                          <a:solidFill>
                            <a:srgbClr val="FFFFFF"/>
                          </a:solidFill>
                          <a:latin typeface="Arial"/>
                          <a:ea typeface="Arial"/>
                          <a:cs typeface="Arial"/>
                        </a:rPr>
                        <a:t>Net result per trade</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47700">
                <a:tc>
                  <a:txBody>
                    <a:bodyPr lIns="95250" tIns="95250" rIns="95250" bIns="95250">
                      <a:noAutofit/>
                    </a:bodyPr>
                    <a:lstStyle/>
                    <a:p>
                      <a:pPr algn="l"/>
                      <a:r>
                        <a:rPr sz="2250" b="1">
                          <a:solidFill>
                            <a:srgbClr val="182C43"/>
                          </a:solidFill>
                          <a:latin typeface="Arial"/>
                          <a:ea typeface="Arial"/>
                          <a:cs typeface="Arial"/>
                        </a:rPr>
                        <a:t>Winning trade</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250" b="0">
                          <a:solidFill>
                            <a:srgbClr val="182C43"/>
                          </a:solidFill>
                          <a:latin typeface="Arial"/>
                          <a:ea typeface="Arial"/>
                          <a:cs typeface="Arial"/>
                        </a:rPr>
                        <a:t>40%</a:t>
                      </a:r>
                    </a:p>
                  </a:txBody>
                  <a:tcPr marL="91440" marR="91440" marT="45720" marB="45720" anchor="ctr">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250" b="0">
                          <a:solidFill>
                            <a:srgbClr val="182C43"/>
                          </a:solidFill>
                          <a:latin typeface="Arial"/>
                          <a:ea typeface="Arial"/>
                          <a:cs typeface="Arial"/>
                        </a:rPr>
                        <a:t>$30</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47700">
                <a:tc>
                  <a:txBody>
                    <a:bodyPr lIns="95250" tIns="95250" rIns="95250" bIns="95250">
                      <a:noAutofit/>
                    </a:bodyPr>
                    <a:lstStyle/>
                    <a:p>
                      <a:pPr algn="l"/>
                      <a:r>
                        <a:rPr sz="2250" b="1">
                          <a:solidFill>
                            <a:srgbClr val="182C43"/>
                          </a:solidFill>
                          <a:latin typeface="Arial"/>
                          <a:ea typeface="Arial"/>
                          <a:cs typeface="Arial"/>
                        </a:rPr>
                        <a:t>Losing trade</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250" b="0">
                          <a:solidFill>
                            <a:srgbClr val="182C43"/>
                          </a:solidFill>
                          <a:latin typeface="Arial"/>
                          <a:ea typeface="Arial"/>
                          <a:cs typeface="Arial"/>
                        </a:rPr>
                        <a:t>60%</a:t>
                      </a:r>
                    </a:p>
                  </a:txBody>
                  <a:tcPr marL="91440" marR="91440" marT="45720" marB="45720" anchor="ctr">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250" b="0">
                          <a:solidFill>
                            <a:srgbClr val="182C43"/>
                          </a:solidFill>
                          <a:latin typeface="Arial"/>
                          <a:ea typeface="Arial"/>
                          <a:cs typeface="Arial"/>
                        </a:rPr>
                        <a:t>-$10</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8" name="0.40 x $30 - 0.60 x $10 = $6 per trade">
            <a:extLst xmlns:a="http://schemas.openxmlformats.org/drawingml/2006/main">
              <a:ext uri="{FF2B5EF4-FFF2-40B4-BE49-F238E27FC236}">
                <a16:creationId xmlns:a16="http://schemas.microsoft.com/office/drawing/2014/main" id="{1710BA41-E31B-45CA-8453-62867C1ECB5B}"/>
              </a:ext>
            </a:extLst>
          </p:cNvPr>
          <p:cNvSpPr>
            <a:spLocks xmlns:a="http://schemas.openxmlformats.org/drawingml/2006/main" noGrp="1"/>
          </p:cNvSpPr>
          <p:nvPr/>
        </p:nvSpPr>
        <p:spPr>
          <a:xfrm xmlns:a="http://schemas.openxmlformats.org/drawingml/2006/main">
            <a:off x="609600" y="455295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850" b="1">
                <a:solidFill>
                  <a:srgbClr val="004D73"/>
                </a:solidFill>
                <a:latin typeface="Arial"/>
                <a:ea typeface="Arial"/>
                <a:cs typeface="Arial"/>
              </a:defRPr>
            </a:defPPr>
          </a:lstStyle>
          <a:p xmlns:a="http://schemas.openxmlformats.org/drawingml/2006/main">
            <a:pPr algn="l">
              <a:defRPr sz="2850" b="1">
                <a:solidFill>
                  <a:srgbClr val="004D73"/>
                </a:solidFill>
                <a:latin typeface="Arial"/>
                <a:ea typeface="Arial"/>
                <a:cs typeface="Arial"/>
              </a:defRPr>
            </a:pPr>
            <a:r>
              <a:rPr sz="2850" b="1">
                <a:solidFill>
                  <a:srgbClr val="004D73"/>
                </a:solidFill>
                <a:latin typeface="Arial"/>
                <a:ea typeface="Arial"/>
                <a:cs typeface="Arial"/>
              </a:rPr>
              <a:t>0.40 x $30 - 0.60 x $10 = $6 per trade</a:t>
            </a:r>
          </a:p>
        </p:txBody>
      </p:sp>
      <p:sp>
        <p:nvSpPr>
          <p:cNvPr id="9" name="Win rate needs the size of wins and loss">
            <a:extLst xmlns:a="http://schemas.openxmlformats.org/drawingml/2006/main">
              <a:ext uri="{FF2B5EF4-FFF2-40B4-BE49-F238E27FC236}">
                <a16:creationId xmlns:a16="http://schemas.microsoft.com/office/drawing/2014/main" id="{67F87234-14DB-4B05-BED3-7C728C3286B5}"/>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Win rate needs the size of wins and losses. Historical expectancy remains uncertain.</a:t>
            </a:r>
          </a:p>
        </p:txBody>
      </p:sp>
    </p:spTree>
    <p:extLst>
      <p:ext uri="{BB962C8B-B14F-4D97-AF65-F5344CB8AC3E}">
        <p14:creationId xmlns:p14="http://schemas.microsoft.com/office/powerpoint/2010/main" val="3050060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ARED COURSE">
            <a:extLst xmlns:a="http://schemas.openxmlformats.org/drawingml/2006/main">
              <a:ext uri="{FF2B5EF4-FFF2-40B4-BE49-F238E27FC236}">
                <a16:creationId xmlns:a16="http://schemas.microsoft.com/office/drawing/2014/main" id="{5CAF42E5-AB18-4FC9-835F-B389F9498354}"/>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108D8A5E-4D17-4409-A311-27A571F82D8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defRPr sz="3450" b="1">
                <a:solidFill>
                  <a:srgbClr val="004D73"/>
                </a:solidFill>
                <a:latin typeface="Arial"/>
                <a:ea typeface="Arial"/>
                <a:cs typeface="Arial"/>
              </a:defRPr>
            </a:pPr>
            <a:r>
              <a:rPr sz="3450" b="1">
                <a:solidFill>
                  <a:srgbClr val="004D73"/>
                </a:solidFill>
                <a:latin typeface="Arial"/>
                <a:ea typeface="Arial"/>
                <a:cs typeface="Arial"/>
              </a:rPr>
              <a:t>Risk management and position sizing</a:t>
            </a:r>
          </a:p>
        </p:txBody>
      </p:sp>
      <p:sp>
        <p:nvSpPr>
          <p:cNvPr id="3" name="SHPE CAPITAL    OCTOBER 13, 2026">
            <a:extLst xmlns:a="http://schemas.openxmlformats.org/drawingml/2006/main">
              <a:ext uri="{FF2B5EF4-FFF2-40B4-BE49-F238E27FC236}">
                <a16:creationId xmlns:a16="http://schemas.microsoft.com/office/drawing/2014/main" id="{71DE4260-25A1-48F6-8ADD-4A4FFDA76C72}"/>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5:30-17:30">
            <a:extLst xmlns:a="http://schemas.openxmlformats.org/drawingml/2006/main">
              <a:ext uri="{FF2B5EF4-FFF2-40B4-BE49-F238E27FC236}">
                <a16:creationId xmlns:a16="http://schemas.microsoft.com/office/drawing/2014/main" id="{63134180-E438-4A5C-8E8A-F552D00B2FA4}"/>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15:30-17:30</a:t>
            </a:r>
          </a:p>
        </p:txBody>
      </p:sp>
      <p:sp>
        <p:nvSpPr>
          <p:cNvPr id="5" name="0">
            <a:extLst xmlns:a="http://schemas.openxmlformats.org/drawingml/2006/main">
              <a:ext uri="{FF2B5EF4-FFF2-40B4-BE49-F238E27FC236}">
                <a16:creationId xmlns:a16="http://schemas.microsoft.com/office/drawing/2014/main" id="{629FBEB0-4589-4B5F-B2E6-179C57F9409B}"/>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15</a:t>
            </a:r>
          </a:p>
        </p:txBody>
      </p:sp>
      <p:sp>
        <p:nvSpPr>
          <p:cNvPr id="6" name="Size controls the impact of being wrong.">
            <a:extLst xmlns:a="http://schemas.openxmlformats.org/drawingml/2006/main">
              <a:ext uri="{FF2B5EF4-FFF2-40B4-BE49-F238E27FC236}">
                <a16:creationId xmlns:a16="http://schemas.microsoft.com/office/drawing/2014/main" id="{53CAAB16-9019-4D67-9D3A-0CA3963E0723}"/>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Size controls the impact of being wrong. Exits define the response.</a:t>
            </a:r>
          </a:p>
        </p:txBody>
      </p:sp>
      <p:graphicFrame>
        <p:nvGraphicFramePr>
          <p:cNvPr id="7" name="">
            <a:extLst xmlns:a="http://schemas.openxmlformats.org/drawingml/2006/main">
              <a:ext uri="{FF2B5EF4-FFF2-40B4-BE49-F238E27FC236}">
                <a16:creationId xmlns:a16="http://schemas.microsoft.com/office/drawing/2014/main" id="{69792592-6A44-48F4-950C-D91B2937AF34}"/>
              </a:ext>
            </a:extLst>
          </p:cNvPr>
          <p:cNvGraphicFramePr/>
          <p:nvPr/>
        </p:nvGraphicFramePr>
        <p:xfrm>
          <a:off xmlns:a="http://schemas.openxmlformats.org/drawingml/2006/main" x="609600" y="2114550"/>
          <a:ext xmlns:a="http://schemas.openxmlformats.org/drawingml/2006/main" cx="10972800" cy="3000375"/>
        </p:xfrm>
        <a:graphic xmlns:a="http://schemas.openxmlformats.org/drawingml/2006/main">
          <a:graphicData uri="http://schemas.openxmlformats.org/drawingml/2006/table">
            <a:tbl>
              <a:tblPr firstRow="1" bandRow="0"/>
              <a:tblGrid>
                <a:gridCol w="3333750"/>
                <a:gridCol w="7639050"/>
              </a:tblGrid>
              <a:tr h="600075">
                <a:tc>
                  <a:txBody>
                    <a:bodyPr lIns="95250" tIns="95250" rIns="95250" bIns="95250">
                      <a:noAutofit/>
                    </a:bodyPr>
                    <a:lstStyle/>
                    <a:p>
                      <a:pPr algn="l"/>
                      <a:r>
                        <a:rPr sz="2025" b="1">
                          <a:solidFill>
                            <a:srgbClr val="FFFFFF"/>
                          </a:solidFill>
                          <a:latin typeface="Arial"/>
                          <a:ea typeface="Arial"/>
                          <a:cs typeface="Arial"/>
                        </a:rPr>
                        <a:t>Control</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025" b="1">
                          <a:solidFill>
                            <a:srgbClr val="FFFFFF"/>
                          </a:solidFill>
                          <a:latin typeface="Arial"/>
                          <a:ea typeface="Arial"/>
                          <a:cs typeface="Arial"/>
                        </a:rPr>
                        <a:t>Purpose</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00075">
                <a:tc>
                  <a:txBody>
                    <a:bodyPr lIns="95250" tIns="95250" rIns="95250" bIns="95250">
                      <a:noAutofit/>
                    </a:bodyPr>
                    <a:lstStyle/>
                    <a:p>
                      <a:pPr algn="l"/>
                      <a:r>
                        <a:rPr sz="2025" b="1">
                          <a:solidFill>
                            <a:srgbClr val="182C43"/>
                          </a:solidFill>
                          <a:latin typeface="Arial"/>
                          <a:ea typeface="Arial"/>
                          <a:cs typeface="Arial"/>
                        </a:rPr>
                        <a:t>Trade exits</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Loss stop, profit or convergence exit, time limit and session exit</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00075">
                <a:tc>
                  <a:txBody>
                    <a:bodyPr lIns="95250" tIns="95250" rIns="95250" bIns="95250">
                      <a:noAutofit/>
                    </a:bodyPr>
                    <a:lstStyle/>
                    <a:p>
                      <a:pPr algn="l"/>
                      <a:r>
                        <a:rPr sz="2025" b="1">
                          <a:solidFill>
                            <a:srgbClr val="182C43"/>
                          </a:solidFill>
                          <a:latin typeface="Arial"/>
                          <a:ea typeface="Arial"/>
                          <a:cs typeface="Arial"/>
                        </a:rPr>
                        <a:t>Position limits</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Bound shares, notional and pending-order exposure</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600075">
                <a:tc>
                  <a:txBody>
                    <a:bodyPr lIns="95250" tIns="95250" rIns="95250" bIns="95250">
                      <a:noAutofit/>
                    </a:bodyPr>
                    <a:lstStyle/>
                    <a:p>
                      <a:pPr algn="l"/>
                      <a:r>
                        <a:rPr sz="2025" b="1">
                          <a:solidFill>
                            <a:srgbClr val="182C43"/>
                          </a:solidFill>
                          <a:latin typeface="Arial"/>
                          <a:ea typeface="Arial"/>
                          <a:cs typeface="Arial"/>
                        </a:rPr>
                        <a:t>Portfolio limits</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Bound total exposure, concentration and losses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00075">
                <a:tc>
                  <a:txBody>
                    <a:bodyPr lIns="95250" tIns="95250" rIns="95250" bIns="95250">
                      <a:noAutofit/>
                    </a:bodyPr>
                    <a:lstStyle/>
                    <a:p>
                      <a:pPr algn="l"/>
                      <a:r>
                        <a:rPr sz="2025" b="1">
                          <a:solidFill>
                            <a:srgbClr val="182C43"/>
                          </a:solidFill>
                          <a:latin typeface="Arial"/>
                          <a:ea typeface="Arial"/>
                          <a:cs typeface="Arial"/>
                        </a:rPr>
                        <a:t>Operational controls</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Define stopping, recovery and position reconciliation</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8" name="Example: $25 loss budget / $0.50 stop = ">
            <a:extLst xmlns:a="http://schemas.openxmlformats.org/drawingml/2006/main">
              <a:ext uri="{FF2B5EF4-FFF2-40B4-BE49-F238E27FC236}">
                <a16:creationId xmlns:a16="http://schemas.microsoft.com/office/drawing/2014/main" id="{F65DC4EB-F654-4E07-A68F-5C59A32EDCA9}"/>
              </a:ext>
            </a:extLst>
          </p:cNvPr>
          <p:cNvSpPr>
            <a:spLocks xmlns:a="http://schemas.openxmlformats.org/drawingml/2006/main" noGrp="1"/>
          </p:cNvSpPr>
          <p:nvPr/>
        </p:nvSpPr>
        <p:spPr>
          <a:xfrm xmlns:a="http://schemas.openxmlformats.org/drawingml/2006/main">
            <a:off x="609600" y="530542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04D73"/>
                </a:solidFill>
                <a:latin typeface="Arial"/>
                <a:ea typeface="Arial"/>
                <a:cs typeface="Arial"/>
              </a:defRPr>
            </a:defPPr>
          </a:lstStyle>
          <a:p xmlns:a="http://schemas.openxmlformats.org/drawingml/2006/main">
            <a:pPr algn="l">
              <a:defRPr sz="2100" b="1">
                <a:solidFill>
                  <a:srgbClr val="004D73"/>
                </a:solidFill>
                <a:latin typeface="Arial"/>
                <a:ea typeface="Arial"/>
                <a:cs typeface="Arial"/>
              </a:defRPr>
            </a:pPr>
            <a:r>
              <a:rPr sz="2100" b="1">
                <a:solidFill>
                  <a:srgbClr val="004D73"/>
                </a:solidFill>
                <a:latin typeface="Arial"/>
                <a:ea typeface="Arial"/>
                <a:cs typeface="Arial"/>
              </a:rPr>
              <a:t>Example: $25 loss budget / $0.50 stop = 50 shares.</a:t>
            </a:r>
          </a:p>
          <a:p xmlns:a="http://schemas.openxmlformats.org/drawingml/2006/main">
            <a:pPr algn="l">
              <a:defRPr sz="2100" b="1">
                <a:solidFill>
                  <a:srgbClr val="004D73"/>
                </a:solidFill>
                <a:latin typeface="Arial"/>
                <a:ea typeface="Arial"/>
                <a:cs typeface="Arial"/>
              </a:defRPr>
            </a:pPr>
            <a:r>
              <a:rPr sz="2100" b="1">
                <a:solidFill>
                  <a:srgbClr val="004D73"/>
                </a:solidFill>
                <a:latin typeface="Arial"/>
                <a:ea typeface="Arial"/>
                <a:cs typeface="Arial"/>
              </a:rPr>
              <a:t>A $2,000 cap at $100 permits 20 shares, so use 20.</a:t>
            </a:r>
          </a:p>
        </p:txBody>
      </p:sp>
    </p:spTree>
    <p:extLst>
      <p:ext uri="{BB962C8B-B14F-4D97-AF65-F5344CB8AC3E}">
        <p14:creationId xmlns:p14="http://schemas.microsoft.com/office/powerpoint/2010/main" val="18534496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HARED COURSE">
            <a:extLst xmlns:a="http://schemas.openxmlformats.org/drawingml/2006/main">
              <a:ext uri="{FF2B5EF4-FFF2-40B4-BE49-F238E27FC236}">
                <a16:creationId xmlns:a16="http://schemas.microsoft.com/office/drawing/2014/main" id="{ECE22C77-3D78-4D54-A151-3681D25B91C5}"/>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AE10E455-62E4-40A4-8129-7A1D6435450E}"/>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defRPr sz="3450" b="1">
                <a:solidFill>
                  <a:srgbClr val="004D73"/>
                </a:solidFill>
                <a:latin typeface="Arial"/>
                <a:ea typeface="Arial"/>
                <a:cs typeface="Arial"/>
              </a:defRPr>
            </a:pPr>
            <a:r>
              <a:rPr sz="3450" b="1">
                <a:solidFill>
                  <a:srgbClr val="004D73"/>
                </a:solidFill>
                <a:latin typeface="Arial"/>
                <a:ea typeface="Arial"/>
                <a:cs typeface="Arial"/>
              </a:rPr>
              <a:t>Volatility regimes and market factors</a:t>
            </a:r>
          </a:p>
        </p:txBody>
      </p:sp>
      <p:sp>
        <p:nvSpPr>
          <p:cNvPr id="3" name="SHPE CAPITAL    OCTOBER 13, 2026">
            <a:extLst xmlns:a="http://schemas.openxmlformats.org/drawingml/2006/main">
              <a:ext uri="{FF2B5EF4-FFF2-40B4-BE49-F238E27FC236}">
                <a16:creationId xmlns:a16="http://schemas.microsoft.com/office/drawing/2014/main" id="{71FE4826-4FBB-48F0-B3A2-BBB90CC5DECA}"/>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7:30-19:00">
            <a:extLst xmlns:a="http://schemas.openxmlformats.org/drawingml/2006/main">
              <a:ext uri="{FF2B5EF4-FFF2-40B4-BE49-F238E27FC236}">
                <a16:creationId xmlns:a16="http://schemas.microsoft.com/office/drawing/2014/main" id="{8F314266-F61E-46C6-BAF3-39F06F5544BD}"/>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17:30-19:00</a:t>
            </a:r>
          </a:p>
        </p:txBody>
      </p:sp>
      <p:sp>
        <p:nvSpPr>
          <p:cNvPr id="5" name="0">
            <a:extLst xmlns:a="http://schemas.openxmlformats.org/drawingml/2006/main">
              <a:ext uri="{FF2B5EF4-FFF2-40B4-BE49-F238E27FC236}">
                <a16:creationId xmlns:a16="http://schemas.microsoft.com/office/drawing/2014/main" id="{9561A9A3-A3A5-48D0-8D3F-7860EF5442E2}"/>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16</a:t>
            </a:r>
          </a:p>
        </p:txBody>
      </p:sp>
      <p:graphicFrame>
        <p:nvGraphicFramePr>
          <p:cNvPr id="6" name="">
            <a:extLst xmlns:a="http://schemas.openxmlformats.org/drawingml/2006/main">
              <a:ext uri="{FF2B5EF4-FFF2-40B4-BE49-F238E27FC236}">
                <a16:creationId xmlns:a16="http://schemas.microsoft.com/office/drawing/2014/main" id="{14182D20-3B3B-47FE-8DF1-F7CAB479687A}"/>
              </a:ext>
            </a:extLst>
          </p:cNvPr>
          <p:cNvGraphicFramePr/>
          <p:nvPr/>
        </p:nvGraphicFramePr>
        <p:xfrm>
          <a:off xmlns:a="http://schemas.openxmlformats.org/drawingml/2006/main" x="609600" y="1981200"/>
          <a:ext xmlns:a="http://schemas.openxmlformats.org/drawingml/2006/main" cx="10972800" cy="3333750"/>
        </p:xfrm>
        <a:graphic xmlns:a="http://schemas.openxmlformats.org/drawingml/2006/main">
          <a:graphicData uri="http://schemas.openxmlformats.org/drawingml/2006/table">
            <a:tbl>
              <a:tblPr firstRow="1" bandRow="0"/>
              <a:tblGrid>
                <a:gridCol w="2238375"/>
                <a:gridCol w="4124325"/>
                <a:gridCol w="4610100"/>
              </a:tblGrid>
              <a:tr h="666750">
                <a:tc>
                  <a:txBody>
                    <a:bodyPr lIns="95250" tIns="95250" rIns="95250" bIns="95250">
                      <a:noAutofit/>
                    </a:bodyPr>
                    <a:lstStyle/>
                    <a:p>
                      <a:pPr algn="l"/>
                      <a:r>
                        <a:rPr sz="1950" b="1">
                          <a:solidFill>
                            <a:srgbClr val="FFFFFF"/>
                          </a:solidFill>
                          <a:latin typeface="Arial"/>
                          <a:ea typeface="Arial"/>
                          <a:cs typeface="Arial"/>
                        </a:rPr>
                        <a:t>Concept</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1950" b="1">
                          <a:solidFill>
                            <a:srgbClr val="FFFFFF"/>
                          </a:solidFill>
                          <a:latin typeface="Arial"/>
                          <a:ea typeface="Arial"/>
                          <a:cs typeface="Arial"/>
                        </a:rPr>
                        <a:t>Meaning</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1950" b="1">
                          <a:solidFill>
                            <a:srgbClr val="FFFFFF"/>
                          </a:solidFill>
                          <a:latin typeface="Arial"/>
                          <a:ea typeface="Arial"/>
                          <a:cs typeface="Arial"/>
                        </a:rPr>
                        <a:t>Possible role</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66750">
                <a:tc>
                  <a:txBody>
                    <a:bodyPr lIns="95250" tIns="95250" rIns="95250" bIns="95250">
                      <a:noAutofit/>
                    </a:bodyPr>
                    <a:lstStyle/>
                    <a:p>
                      <a:pPr algn="l"/>
                      <a:r>
                        <a:rPr sz="1950" b="1">
                          <a:solidFill>
                            <a:srgbClr val="182C43"/>
                          </a:solidFill>
                          <a:latin typeface="Arial"/>
                          <a:ea typeface="Arial"/>
                          <a:cs typeface="Arial"/>
                        </a:rPr>
                        <a:t>Volatility</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1950" b="0">
                          <a:solidFill>
                            <a:srgbClr val="182C43"/>
                          </a:solidFill>
                          <a:latin typeface="Arial"/>
                          <a:ea typeface="Arial"/>
                          <a:cs typeface="Arial"/>
                        </a:rPr>
                        <a:t>Scale of fluctuations</a:t>
                      </a:r>
                    </a:p>
                  </a:txBody>
                  <a:tcPr marL="91440" marR="91440" marT="45720" marB="45720" anchor="ctr">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1950" b="0">
                          <a:solidFill>
                            <a:srgbClr val="182C43"/>
                          </a:solidFill>
                          <a:latin typeface="Arial"/>
                          <a:ea typeface="Arial"/>
                          <a:cs typeface="Arial"/>
                        </a:rPr>
                        <a:t>Normalize a move or adjust size</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66750">
                <a:tc>
                  <a:txBody>
                    <a:bodyPr lIns="95250" tIns="95250" rIns="95250" bIns="95250">
                      <a:noAutofit/>
                    </a:bodyPr>
                    <a:lstStyle/>
                    <a:p>
                      <a:pPr algn="l"/>
                      <a:r>
                        <a:rPr sz="1950" b="1">
                          <a:solidFill>
                            <a:srgbClr val="182C43"/>
                          </a:solidFill>
                          <a:latin typeface="Arial"/>
                          <a:ea typeface="Arial"/>
                          <a:cs typeface="Arial"/>
                        </a:rPr>
                        <a:t>Regime</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1950" b="0">
                          <a:solidFill>
                            <a:srgbClr val="182C43"/>
                          </a:solidFill>
                          <a:latin typeface="Arial"/>
                          <a:ea typeface="Arial"/>
                          <a:cs typeface="Arial"/>
                        </a:rPr>
                        <a:t>Currently observed market condition</a:t>
                      </a:r>
                    </a:p>
                  </a:txBody>
                  <a:tcPr marL="91440" marR="91440" marT="45720" marB="45720" anchor="ctr">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1950" b="0">
                          <a:solidFill>
                            <a:srgbClr val="182C43"/>
                          </a:solidFill>
                          <a:latin typeface="Arial"/>
                          <a:ea typeface="Arial"/>
                          <a:cs typeface="Arial"/>
                        </a:rPr>
                        <a:t>Restrict entries under a tested rule</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666750">
                <a:tc>
                  <a:txBody>
                    <a:bodyPr lIns="95250" tIns="95250" rIns="95250" bIns="95250">
                      <a:noAutofit/>
                    </a:bodyPr>
                    <a:lstStyle/>
                    <a:p>
                      <a:pPr algn="l"/>
                      <a:r>
                        <a:rPr sz="1950" b="1">
                          <a:solidFill>
                            <a:srgbClr val="182C43"/>
                          </a:solidFill>
                          <a:latin typeface="Arial"/>
                          <a:ea typeface="Arial"/>
                          <a:cs typeface="Arial"/>
                        </a:rPr>
                        <a:t>Market factor</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1950" b="0">
                          <a:solidFill>
                            <a:srgbClr val="182C43"/>
                          </a:solidFill>
                          <a:latin typeface="Arial"/>
                          <a:ea typeface="Arial"/>
                          <a:cs typeface="Arial"/>
                        </a:rPr>
                        <a:t>Shared market or sector influence</a:t>
                      </a:r>
                    </a:p>
                  </a:txBody>
                  <a:tcPr marL="91440" marR="91440" marT="45720" marB="45720" anchor="ctr">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1950" b="0">
                          <a:solidFill>
                            <a:srgbClr val="182C43"/>
                          </a:solidFill>
                          <a:latin typeface="Arial"/>
                          <a:ea typeface="Arial"/>
                          <a:cs typeface="Arial"/>
                        </a:rPr>
                        <a:t>Measure common exposure and hedge it</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66750">
                <a:tc>
                  <a:txBody>
                    <a:bodyPr lIns="95250" tIns="95250" rIns="95250" bIns="95250">
                      <a:noAutofit/>
                    </a:bodyPr>
                    <a:lstStyle/>
                    <a:p>
                      <a:pPr algn="l"/>
                      <a:r>
                        <a:rPr sz="1950" b="1">
                          <a:solidFill>
                            <a:srgbClr val="182C43"/>
                          </a:solidFill>
                          <a:latin typeface="Arial"/>
                          <a:ea typeface="Arial"/>
                          <a:cs typeface="Arial"/>
                        </a:rPr>
                        <a:t>Time of day</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1950" b="0">
                          <a:solidFill>
                            <a:srgbClr val="182C43"/>
                          </a:solidFill>
                          <a:latin typeface="Arial"/>
                          <a:ea typeface="Arial"/>
                          <a:cs typeface="Arial"/>
                        </a:rPr>
                        <a:t>Location within the trading session</a:t>
                      </a:r>
                    </a:p>
                  </a:txBody>
                  <a:tcPr marL="91440" marR="91440" marT="45720" marB="45720" anchor="ctr">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1950" b="0">
                          <a:solidFill>
                            <a:srgbClr val="182C43"/>
                          </a:solidFill>
                          <a:latin typeface="Arial"/>
                          <a:ea typeface="Arial"/>
                          <a:cs typeface="Arial"/>
                        </a:rPr>
                        <a:t>Compare like-for-like conditions</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7" name="One baseline, one justified enhancement ">
            <a:extLst xmlns:a="http://schemas.openxmlformats.org/drawingml/2006/main">
              <a:ext uri="{FF2B5EF4-FFF2-40B4-BE49-F238E27FC236}">
                <a16:creationId xmlns:a16="http://schemas.microsoft.com/office/drawing/2014/main" id="{BBFC1D92-A54C-4D94-A631-3E90E806A8B8}"/>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One baseline, one justified enhancement at a time.</a:t>
            </a:r>
          </a:p>
        </p:txBody>
      </p:sp>
    </p:spTree>
    <p:extLst>
      <p:ext uri="{BB962C8B-B14F-4D97-AF65-F5344CB8AC3E}">
        <p14:creationId xmlns:p14="http://schemas.microsoft.com/office/powerpoint/2010/main" val="207596084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ARED COURSE">
            <a:extLst xmlns:a="http://schemas.openxmlformats.org/drawingml/2006/main">
              <a:ext uri="{FF2B5EF4-FFF2-40B4-BE49-F238E27FC236}">
                <a16:creationId xmlns:a16="http://schemas.microsoft.com/office/drawing/2014/main" id="{E4EA2173-993C-4E29-B628-258B60F2140C}"/>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DACB4525-2A3A-4F73-953F-359EBA297B1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defRPr sz="3450" b="1">
                <a:solidFill>
                  <a:srgbClr val="004D73"/>
                </a:solidFill>
                <a:latin typeface="Arial"/>
                <a:ea typeface="Arial"/>
                <a:cs typeface="Arial"/>
              </a:defRPr>
            </a:pPr>
            <a:r>
              <a:rPr sz="3450" b="1">
                <a:solidFill>
                  <a:srgbClr val="004D73"/>
                </a:solidFill>
                <a:latin typeface="Arial"/>
                <a:ea typeface="Arial"/>
                <a:cs typeface="Arial"/>
              </a:rPr>
              <a:t>Backtesting paper trading and overfitting</a:t>
            </a:r>
          </a:p>
        </p:txBody>
      </p:sp>
      <p:sp>
        <p:nvSpPr>
          <p:cNvPr id="3" name="SHPE CAPITAL    OCTOBER 13, 2026">
            <a:extLst xmlns:a="http://schemas.openxmlformats.org/drawingml/2006/main">
              <a:ext uri="{FF2B5EF4-FFF2-40B4-BE49-F238E27FC236}">
                <a16:creationId xmlns:a16="http://schemas.microsoft.com/office/drawing/2014/main" id="{32DB54E5-CE7F-4724-9F22-6AF1D0B9CDF9}"/>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9:00-21:00">
            <a:extLst xmlns:a="http://schemas.openxmlformats.org/drawingml/2006/main">
              <a:ext uri="{FF2B5EF4-FFF2-40B4-BE49-F238E27FC236}">
                <a16:creationId xmlns:a16="http://schemas.microsoft.com/office/drawing/2014/main" id="{4AE43EAD-52AA-48EF-AC6D-D73261453760}"/>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19:00-21:00</a:t>
            </a:r>
          </a:p>
        </p:txBody>
      </p:sp>
      <p:sp>
        <p:nvSpPr>
          <p:cNvPr id="5" name="0">
            <a:extLst xmlns:a="http://schemas.openxmlformats.org/drawingml/2006/main">
              <a:ext uri="{FF2B5EF4-FFF2-40B4-BE49-F238E27FC236}">
                <a16:creationId xmlns:a16="http://schemas.microsoft.com/office/drawing/2014/main" id="{8BBCF6E3-494A-4C43-A3DF-0724FCAF287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17</a:t>
            </a:r>
          </a:p>
        </p:txBody>
      </p:sp>
      <p:sp>
        <p:nvSpPr>
          <p:cNvPr id="6" name="Historical simulation and prospective pa">
            <a:extLst xmlns:a="http://schemas.openxmlformats.org/drawingml/2006/main">
              <a:ext uri="{FF2B5EF4-FFF2-40B4-BE49-F238E27FC236}">
                <a16:creationId xmlns:a16="http://schemas.microsoft.com/office/drawing/2014/main" id="{D7EAB52D-BF2F-41B6-85F7-0AEF7E8FD5D7}"/>
              </a:ext>
            </a:extLst>
          </p:cNvPr>
          <p:cNvSpPr>
            <a:spLocks xmlns:a="http://schemas.openxmlformats.org/drawingml/2006/main" noGrp="1"/>
          </p:cNvSpPr>
          <p:nvPr/>
        </p:nvSpPr>
        <p:spPr>
          <a:xfrm xmlns:a="http://schemas.openxmlformats.org/drawingml/2006/main">
            <a:off x="609600" y="14382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0">
                <a:solidFill>
                  <a:srgbClr val="556272"/>
                </a:solidFill>
                <a:latin typeface="Arial"/>
                <a:ea typeface="Arial"/>
                <a:cs typeface="Arial"/>
              </a:defRPr>
            </a:defPPr>
          </a:lstStyle>
          <a:p xmlns:a="http://schemas.openxmlformats.org/drawingml/2006/main">
            <a:pPr algn="l">
              <a:defRPr sz="2100" b="0">
                <a:solidFill>
                  <a:srgbClr val="556272"/>
                </a:solidFill>
                <a:latin typeface="Arial"/>
                <a:ea typeface="Arial"/>
                <a:cs typeface="Arial"/>
              </a:defRPr>
            </a:pPr>
            <a:r>
              <a:rPr sz="2100" b="0">
                <a:solidFill>
                  <a:srgbClr val="556272"/>
                </a:solidFill>
                <a:latin typeface="Arial"/>
                <a:ea typeface="Arial"/>
                <a:cs typeface="Arial"/>
              </a:rPr>
              <a:t>Historical simulation and prospective paper observation answer different questions.</a:t>
            </a:r>
          </a:p>
        </p:txBody>
      </p:sp>
      <p:graphicFrame>
        <p:nvGraphicFramePr>
          <p:cNvPr id="7" name="">
            <a:extLst xmlns:a="http://schemas.openxmlformats.org/drawingml/2006/main">
              <a:ext uri="{FF2B5EF4-FFF2-40B4-BE49-F238E27FC236}">
                <a16:creationId xmlns:a16="http://schemas.microsoft.com/office/drawing/2014/main" id="{0DBC9DB1-8570-44D7-AF14-7870A0445FF6}"/>
              </a:ext>
            </a:extLst>
          </p:cNvPr>
          <p:cNvGraphicFramePr/>
          <p:nvPr/>
        </p:nvGraphicFramePr>
        <p:xfrm>
          <a:off xmlns:a="http://schemas.openxmlformats.org/drawingml/2006/main" x="609600" y="2219325"/>
          <a:ext xmlns:a="http://schemas.openxmlformats.org/drawingml/2006/main" cx="10972800" cy="2933700"/>
        </p:xfrm>
        <a:graphic xmlns:a="http://schemas.openxmlformats.org/drawingml/2006/main">
          <a:graphicData uri="http://schemas.openxmlformats.org/drawingml/2006/table">
            <a:tbl>
              <a:tblPr firstRow="1" bandRow="0"/>
              <a:tblGrid>
                <a:gridCol w="3333750"/>
                <a:gridCol w="7639050"/>
              </a:tblGrid>
              <a:tr h="586740">
                <a:tc>
                  <a:txBody>
                    <a:bodyPr lIns="95250" tIns="95250" rIns="95250" bIns="95250">
                      <a:noAutofit/>
                    </a:bodyPr>
                    <a:lstStyle/>
                    <a:p>
                      <a:pPr algn="l"/>
                      <a:r>
                        <a:rPr sz="2025" b="1">
                          <a:solidFill>
                            <a:srgbClr val="FFFFFF"/>
                          </a:solidFill>
                          <a:latin typeface="Arial"/>
                          <a:ea typeface="Arial"/>
                          <a:cs typeface="Arial"/>
                        </a:rPr>
                        <a:t>Stage</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025" b="1">
                          <a:solidFill>
                            <a:srgbClr val="FFFFFF"/>
                          </a:solidFill>
                          <a:latin typeface="Arial"/>
                          <a:ea typeface="Arial"/>
                          <a:cs typeface="Arial"/>
                        </a:rPr>
                        <a:t>Purpose</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586740">
                <a:tc>
                  <a:txBody>
                    <a:bodyPr lIns="95250" tIns="95250" rIns="95250" bIns="95250">
                      <a:noAutofit/>
                    </a:bodyPr>
                    <a:lstStyle/>
                    <a:p>
                      <a:pPr algn="l"/>
                      <a:r>
                        <a:rPr sz="2025" b="1">
                          <a:solidFill>
                            <a:srgbClr val="182C43"/>
                          </a:solidFill>
                          <a:latin typeface="Arial"/>
                          <a:ea typeface="Arial"/>
                          <a:cs typeface="Arial"/>
                        </a:rPr>
                        <a:t>Training</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Estimate relationships or fit a model on earlier observations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586740">
                <a:tc>
                  <a:txBody>
                    <a:bodyPr lIns="95250" tIns="95250" rIns="95250" bIns="95250">
                      <a:noAutofit/>
                    </a:bodyPr>
                    <a:lstStyle/>
                    <a:p>
                      <a:pPr algn="l"/>
                      <a:r>
                        <a:rPr sz="2025" b="1">
                          <a:solidFill>
                            <a:srgbClr val="182C43"/>
                          </a:solidFill>
                          <a:latin typeface="Arial"/>
                          <a:ea typeface="Arial"/>
                          <a:cs typeface="Arial"/>
                        </a:rPr>
                        <a:t>Validation</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Compare a small predefined set of choices</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586740">
                <a:tc>
                  <a:txBody>
                    <a:bodyPr lIns="95250" tIns="95250" rIns="95250" bIns="95250">
                      <a:noAutofit/>
                    </a:bodyPr>
                    <a:lstStyle/>
                    <a:p>
                      <a:pPr algn="l"/>
                      <a:r>
                        <a:rPr sz="2025" b="1">
                          <a:solidFill>
                            <a:srgbClr val="182C43"/>
                          </a:solidFill>
                          <a:latin typeface="Arial"/>
                          <a:ea typeface="Arial"/>
                          <a:cs typeface="Arial"/>
                        </a:rPr>
                        <a:t>Untouched test</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Evaluate locked rules on later observations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586740">
                <a:tc>
                  <a:txBody>
                    <a:bodyPr lIns="95250" tIns="95250" rIns="95250" bIns="95250">
                      <a:noAutofit/>
                    </a:bodyPr>
                    <a:lstStyle/>
                    <a:p>
                      <a:pPr algn="l"/>
                      <a:r>
                        <a:rPr sz="2025" b="1">
                          <a:solidFill>
                            <a:srgbClr val="182C43"/>
                          </a:solidFill>
                          <a:latin typeface="Arial"/>
                          <a:ea typeface="Arial"/>
                          <a:cs typeface="Arial"/>
                        </a:rPr>
                        <a:t>Online paper</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Observe behavior, execution handling and monitoring</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bl>
          </a:graphicData>
        </a:graphic>
      </p:graphicFrame>
      <p:sp>
        <p:nvSpPr>
          <p:cNvPr id="8" name="Common errors: future information, repea">
            <a:extLst xmlns:a="http://schemas.openxmlformats.org/drawingml/2006/main">
              <a:ext uri="{FF2B5EF4-FFF2-40B4-BE49-F238E27FC236}">
                <a16:creationId xmlns:a16="http://schemas.microsoft.com/office/drawing/2014/main" id="{AFF081F8-54B0-4CF0-8C95-EB18CB861A9E}"/>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Common errors: future information, repeated tuning and unrealistic fills.</a:t>
            </a:r>
          </a:p>
        </p:txBody>
      </p:sp>
    </p:spTree>
    <p:extLst>
      <p:ext uri="{BB962C8B-B14F-4D97-AF65-F5344CB8AC3E}">
        <p14:creationId xmlns:p14="http://schemas.microsoft.com/office/powerpoint/2010/main" val="152643497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HARED COURSE">
            <a:extLst xmlns:a="http://schemas.openxmlformats.org/drawingml/2006/main">
              <a:ext uri="{FF2B5EF4-FFF2-40B4-BE49-F238E27FC236}">
                <a16:creationId xmlns:a16="http://schemas.microsoft.com/office/drawing/2014/main" id="{65FB1BF0-498E-44D7-84E9-86F868DBA7F6}"/>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defRPr sz="1350" b="1">
                <a:solidFill>
                  <a:srgbClr val="FF5400"/>
                </a:solidFill>
                <a:latin typeface="Arial"/>
                <a:ea typeface="Arial"/>
                <a:cs typeface="Arial"/>
              </a:defRPr>
            </a:pPr>
            <a:r>
              <a:rPr sz="1350" b="1">
                <a:solidFill>
                  <a:srgbClr val="FF5400"/>
                </a:solidFill>
                <a:latin typeface="Arial"/>
                <a:ea typeface="Arial"/>
                <a:cs typeface="Arial"/>
              </a:rPr>
              <a:t>SHARED COURSE</a:t>
            </a:r>
          </a:p>
        </p:txBody>
      </p:sp>
      <p:sp>
        <p:nvSpPr>
          <p:cNvPr id="2" name="Slide title">
            <a:extLst xmlns:a="http://schemas.openxmlformats.org/drawingml/2006/main">
              <a:ext uri="{FF2B5EF4-FFF2-40B4-BE49-F238E27FC236}">
                <a16:creationId xmlns:a16="http://schemas.microsoft.com/office/drawing/2014/main" id="{83E723F4-5C41-438C-8A07-6C3006BE1B5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defRPr sz="3450" b="1">
                <a:solidFill>
                  <a:srgbClr val="004D73"/>
                </a:solidFill>
                <a:latin typeface="Arial"/>
                <a:ea typeface="Arial"/>
                <a:cs typeface="Arial"/>
              </a:defRPr>
            </a:pPr>
            <a:r>
              <a:rPr sz="3450" b="1">
                <a:solidFill>
                  <a:srgbClr val="004D73"/>
                </a:solidFill>
                <a:latin typeface="Arial"/>
                <a:ea typeface="Arial"/>
                <a:cs typeface="Arial"/>
              </a:rPr>
              <a:t>Performance measures and benchmarks</a:t>
            </a:r>
          </a:p>
        </p:txBody>
      </p:sp>
      <p:sp>
        <p:nvSpPr>
          <p:cNvPr id="3" name="SHPE CAPITAL    OCTOBER 13, 2026">
            <a:extLst xmlns:a="http://schemas.openxmlformats.org/drawingml/2006/main">
              <a:ext uri="{FF2B5EF4-FFF2-40B4-BE49-F238E27FC236}">
                <a16:creationId xmlns:a16="http://schemas.microsoft.com/office/drawing/2014/main" id="{5701AC3A-C06B-459B-9B5A-191DA5568D8E}"/>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1:00-23:00">
            <a:extLst xmlns:a="http://schemas.openxmlformats.org/drawingml/2006/main">
              <a:ext uri="{FF2B5EF4-FFF2-40B4-BE49-F238E27FC236}">
                <a16:creationId xmlns:a16="http://schemas.microsoft.com/office/drawing/2014/main" id="{76502EBB-6D32-43D9-B823-B71404F7DDF1}"/>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21:00-23:00</a:t>
            </a:r>
          </a:p>
        </p:txBody>
      </p:sp>
      <p:sp>
        <p:nvSpPr>
          <p:cNvPr id="5" name="0">
            <a:extLst xmlns:a="http://schemas.openxmlformats.org/drawingml/2006/main">
              <a:ext uri="{FF2B5EF4-FFF2-40B4-BE49-F238E27FC236}">
                <a16:creationId xmlns:a16="http://schemas.microsoft.com/office/drawing/2014/main" id="{4D0F18DA-F3DC-48B4-B3D0-51C7963FC636}"/>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defRPr sz="1200" b="0">
                <a:solidFill>
                  <a:srgbClr val="556272"/>
                </a:solidFill>
                <a:latin typeface="Arial"/>
                <a:ea typeface="Arial"/>
                <a:cs typeface="Arial"/>
              </a:defRPr>
            </a:pPr>
            <a:r>
              <a:rPr sz="1200" b="0">
                <a:solidFill>
                  <a:srgbClr val="556272"/>
                </a:solidFill>
                <a:latin typeface="Arial"/>
                <a:ea typeface="Arial"/>
                <a:cs typeface="Arial"/>
              </a:rPr>
              <a:t>18</a:t>
            </a:r>
          </a:p>
        </p:txBody>
      </p:sp>
      <p:graphicFrame>
        <p:nvGraphicFramePr>
          <p:cNvPr id="6" name="">
            <a:extLst xmlns:a="http://schemas.openxmlformats.org/drawingml/2006/main">
              <a:ext uri="{FF2B5EF4-FFF2-40B4-BE49-F238E27FC236}">
                <a16:creationId xmlns:a16="http://schemas.microsoft.com/office/drawing/2014/main" id="{5DB2CCF8-E9D9-49B7-AECA-101F294761DC}"/>
              </a:ext>
            </a:extLst>
          </p:cNvPr>
          <p:cNvGraphicFramePr/>
          <p:nvPr/>
        </p:nvGraphicFramePr>
        <p:xfrm>
          <a:off xmlns:a="http://schemas.openxmlformats.org/drawingml/2006/main" x="609600" y="1781175"/>
          <a:ext xmlns:a="http://schemas.openxmlformats.org/drawingml/2006/main" cx="10972800" cy="3733800"/>
        </p:xfrm>
        <a:graphic xmlns:a="http://schemas.openxmlformats.org/drawingml/2006/main">
          <a:graphicData uri="http://schemas.openxmlformats.org/drawingml/2006/table">
            <a:tbl>
              <a:tblPr firstRow="1" bandRow="0"/>
              <a:tblGrid>
                <a:gridCol w="3333750"/>
                <a:gridCol w="7639050"/>
              </a:tblGrid>
              <a:tr h="622300">
                <a:tc>
                  <a:txBody>
                    <a:bodyPr lIns="95250" tIns="95250" rIns="95250" bIns="95250">
                      <a:noAutofit/>
                    </a:bodyPr>
                    <a:lstStyle/>
                    <a:p>
                      <a:pPr algn="l"/>
                      <a:r>
                        <a:rPr sz="2025" b="1">
                          <a:solidFill>
                            <a:srgbClr val="FFFFFF"/>
                          </a:solidFill>
                          <a:latin typeface="Arial"/>
                          <a:ea typeface="Arial"/>
                          <a:cs typeface="Arial"/>
                        </a:rPr>
                        <a:t>Measure</a:t>
                      </a:r>
                    </a:p>
                  </a:txBody>
                  <a:tcPr marL="91440" marR="91440" marT="45720" marB="45720" anchor="ctr">
                    <a:lnL w="6668">
                      <a:solidFill>
                        <a:srgbClr val="D9E0E7"/>
                      </a:solidFill>
                      <a:prstDash val="solid"/>
                    </a:lnL>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c>
                  <a:txBody>
                    <a:bodyPr lIns="95250" tIns="95250" rIns="95250" bIns="95250">
                      <a:noAutofit/>
                    </a:bodyPr>
                    <a:lstStyle/>
                    <a:p>
                      <a:pPr algn="l"/>
                      <a:r>
                        <a:rPr sz="2025" b="1">
                          <a:solidFill>
                            <a:srgbClr val="FFFFFF"/>
                          </a:solidFill>
                          <a:latin typeface="Arial"/>
                          <a:ea typeface="Arial"/>
                          <a:cs typeface="Arial"/>
                        </a:rPr>
                        <a:t>Interpretation</a:t>
                      </a:r>
                    </a:p>
                  </a:txBody>
                  <a:tcPr marL="91440" marR="91440" marT="45720" marB="45720" anchor="ctr">
                    <a:lnR w="6668">
                      <a:solidFill>
                        <a:srgbClr val="D9E0E7"/>
                      </a:solidFill>
                      <a:prstDash val="solid"/>
                    </a:lnR>
                    <a:lnT w="6668">
                      <a:solidFill>
                        <a:srgbClr val="D9E0E7"/>
                      </a:solidFill>
                      <a:prstDash val="solid"/>
                    </a:lnT>
                    <a:lnB w="6668">
                      <a:solidFill>
                        <a:srgbClr val="D9E0E7"/>
                      </a:solidFill>
                      <a:prstDash val="solid"/>
                    </a:lnB>
                    <a:solidFill>
                      <a:srgbClr val="004D73"/>
                    </a:solidFill>
                  </a:tcPr>
                </a:tc>
              </a:tr>
              <a:tr h="622300">
                <a:tc>
                  <a:txBody>
                    <a:bodyPr lIns="95250" tIns="95250" rIns="95250" bIns="95250">
                      <a:noAutofit/>
                    </a:bodyPr>
                    <a:lstStyle/>
                    <a:p>
                      <a:pPr algn="l"/>
                      <a:r>
                        <a:rPr sz="2025" b="1">
                          <a:solidFill>
                            <a:srgbClr val="182C43"/>
                          </a:solidFill>
                          <a:latin typeface="Arial"/>
                          <a:ea typeface="Arial"/>
                          <a:cs typeface="Arial"/>
                        </a:rPr>
                        <a:t>Net P&amp;L and return</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Gain after costs relative to stated capital</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22300">
                <a:tc>
                  <a:txBody>
                    <a:bodyPr lIns="95250" tIns="95250" rIns="95250" bIns="95250">
                      <a:noAutofit/>
                    </a:bodyPr>
                    <a:lstStyle/>
                    <a:p>
                      <a:pPr algn="l"/>
                      <a:r>
                        <a:rPr sz="2025" b="1">
                          <a:solidFill>
                            <a:srgbClr val="182C43"/>
                          </a:solidFill>
                          <a:latin typeface="Arial"/>
                          <a:ea typeface="Arial"/>
                          <a:cs typeface="Arial"/>
                        </a:rPr>
                        <a:t>Maximum drawdown</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Largest decline from a prior equity peak</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622300">
                <a:tc>
                  <a:txBody>
                    <a:bodyPr lIns="95250" tIns="95250" rIns="95250" bIns="95250">
                      <a:noAutofit/>
                    </a:bodyPr>
                    <a:lstStyle/>
                    <a:p>
                      <a:pPr algn="l"/>
                      <a:r>
                        <a:rPr sz="2025" b="1">
                          <a:solidFill>
                            <a:srgbClr val="182C43"/>
                          </a:solidFill>
                          <a:latin typeface="Arial"/>
                          <a:ea typeface="Arial"/>
                          <a:cs typeface="Arial"/>
                        </a:rPr>
                        <a:t>Sharpe ratio</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Average excess return / variability of excess returns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r h="622300">
                <a:tc>
                  <a:txBody>
                    <a:bodyPr lIns="95250" tIns="95250" rIns="95250" bIns="95250">
                      <a:noAutofit/>
                    </a:bodyPr>
                    <a:lstStyle/>
                    <a:p>
                      <a:pPr algn="l"/>
                      <a:r>
                        <a:rPr sz="2025" b="1">
                          <a:solidFill>
                            <a:srgbClr val="182C43"/>
                          </a:solidFill>
                          <a:latin typeface="Arial"/>
                          <a:ea typeface="Arial"/>
                          <a:cs typeface="Arial"/>
                        </a:rPr>
                        <a:t>Sortino ratio</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1F4F7"/>
                    </a:solidFill>
                  </a:tcPr>
                </a:tc>
                <a:tc>
                  <a:txBody>
                    <a:bodyPr lIns="95250" tIns="95250" rIns="95250" bIns="95250">
                      <a:noAutofit/>
                    </a:bodyPr>
                    <a:lstStyle/>
                    <a:p>
                      <a:pPr algn="l"/>
                      <a:r>
                        <a:rPr sz="2025" b="0">
                          <a:solidFill>
                            <a:srgbClr val="182C43"/>
                          </a:solidFill>
                          <a:latin typeface="Arial"/>
                          <a:ea typeface="Arial"/>
                          <a:cs typeface="Arial"/>
                        </a:rPr>
                        <a:t>Return above a target relative to downside deviation</a:t>
                      </a:r>
                    </a:p>
                  </a:txBody>
                  <a:tcPr marL="91440" marR="91440" marT="45720" marB="45720" anchor="ctr">
                    <a:lnR w="6668">
                      <a:solidFill>
                        <a:srgbClr val="D9E0E7"/>
                      </a:solidFill>
                      <a:prstDash val="solid"/>
                    </a:lnR>
                    <a:lnB w="6668">
                      <a:solidFill>
                        <a:srgbClr val="D9E0E7"/>
                      </a:solidFill>
                      <a:prstDash val="solid"/>
                    </a:lnB>
                    <a:solidFill>
                      <a:srgbClr val="F1F4F7"/>
                    </a:solidFill>
                  </a:tcPr>
                </a:tc>
              </a:tr>
              <a:tr h="622300">
                <a:tc>
                  <a:txBody>
                    <a:bodyPr lIns="95250" tIns="95250" rIns="95250" bIns="95250">
                      <a:noAutofit/>
                    </a:bodyPr>
                    <a:lstStyle/>
                    <a:p>
                      <a:pPr algn="l"/>
                      <a:r>
                        <a:rPr sz="2025" b="1">
                          <a:solidFill>
                            <a:srgbClr val="182C43"/>
                          </a:solidFill>
                          <a:latin typeface="Arial"/>
                          <a:ea typeface="Arial"/>
                          <a:cs typeface="Arial"/>
                        </a:rPr>
                        <a:t>Profit factor</a:t>
                      </a:r>
                    </a:p>
                  </a:txBody>
                  <a:tcPr marL="91440" marR="91440" marT="45720" marB="45720" anchor="ctr">
                    <a:lnL w="6668">
                      <a:solidFill>
                        <a:srgbClr val="D9E0E7"/>
                      </a:solidFill>
                      <a:prstDash val="solid"/>
                    </a:lnL>
                    <a:lnR w="6668">
                      <a:solidFill>
                        <a:srgbClr val="D9E0E7"/>
                      </a:solidFill>
                      <a:prstDash val="solid"/>
                    </a:lnR>
                    <a:lnB w="6668">
                      <a:solidFill>
                        <a:srgbClr val="D9E0E7"/>
                      </a:solidFill>
                      <a:prstDash val="solid"/>
                    </a:lnB>
                    <a:solidFill>
                      <a:srgbClr val="FFFFFF"/>
                    </a:solidFill>
                  </a:tcPr>
                </a:tc>
                <a:tc>
                  <a:txBody>
                    <a:bodyPr lIns="95250" tIns="95250" rIns="95250" bIns="95250">
                      <a:noAutofit/>
                    </a:bodyPr>
                    <a:lstStyle/>
                    <a:p>
                      <a:pPr algn="l"/>
                      <a:r>
                        <a:rPr sz="2025" b="0">
                          <a:solidFill>
                            <a:srgbClr val="182C43"/>
                          </a:solidFill>
                          <a:latin typeface="Arial"/>
                          <a:ea typeface="Arial"/>
                          <a:cs typeface="Arial"/>
                        </a:rPr>
                        <a:t>Winning profits / absolute losing losses</a:t>
                      </a:r>
                    </a:p>
                  </a:txBody>
                  <a:tcPr marL="91440" marR="91440" marT="45720" marB="45720" anchor="ctr">
                    <a:lnR w="6668">
                      <a:solidFill>
                        <a:srgbClr val="D9E0E7"/>
                      </a:solidFill>
                      <a:prstDash val="solid"/>
                    </a:lnR>
                    <a:lnB w="6668">
                      <a:solidFill>
                        <a:srgbClr val="D9E0E7"/>
                      </a:solidFill>
                      <a:prstDash val="solid"/>
                    </a:lnB>
                    <a:solidFill>
                      <a:srgbClr val="FFFFFF"/>
                    </a:solidFill>
                  </a:tcPr>
                </a:tc>
              </a:tr>
            </a:tbl>
          </a:graphicData>
        </a:graphic>
      </p:graphicFrame>
      <p:sp>
        <p:nvSpPr>
          <p:cNvPr id="7" name="Also report trade count, win/loss sizes,">
            <a:extLst xmlns:a="http://schemas.openxmlformats.org/drawingml/2006/main">
              <a:ext uri="{FF2B5EF4-FFF2-40B4-BE49-F238E27FC236}">
                <a16:creationId xmlns:a16="http://schemas.microsoft.com/office/drawing/2014/main" id="{42862827-152A-41C1-A6EE-545D4E3E5AD5}"/>
              </a:ext>
            </a:extLst>
          </p:cNvPr>
          <p:cNvSpPr>
            <a:spLocks xmlns:a="http://schemas.openxmlformats.org/drawingml/2006/main" noGrp="1"/>
          </p:cNvSpPr>
          <p:nvPr/>
        </p:nvSpPr>
        <p:spPr>
          <a:xfrm xmlns:a="http://schemas.openxmlformats.org/drawingml/2006/main">
            <a:off x="609600" y="59055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defRPr sz="1800" b="1">
                <a:solidFill>
                  <a:srgbClr val="004D73"/>
                </a:solidFill>
                <a:latin typeface="Arial"/>
                <a:ea typeface="Arial"/>
                <a:cs typeface="Arial"/>
              </a:defRPr>
            </a:pPr>
            <a:r>
              <a:rPr sz="1800" b="1">
                <a:solidFill>
                  <a:srgbClr val="004D73"/>
                </a:solidFill>
                <a:latin typeface="Arial"/>
                <a:ea typeface="Arial"/>
                <a:cs typeface="Arial"/>
              </a:rPr>
              <a:t>Also report trade count, win/loss sizes, exposure and a suitable baseline.</a:t>
            </a:r>
          </a:p>
        </p:txBody>
      </p:sp>
    </p:spTree>
    <p:extLst>
      <p:ext uri="{BB962C8B-B14F-4D97-AF65-F5344CB8AC3E}">
        <p14:creationId xmlns:p14="http://schemas.microsoft.com/office/powerpoint/2010/main" val="66425626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OCAL DEVELOPMENT">
            <a:extLst xmlns:a="http://schemas.openxmlformats.org/drawingml/2006/main">
              <a:ext uri="{FF2B5EF4-FFF2-40B4-BE49-F238E27FC236}">
                <a16:creationId xmlns:a16="http://schemas.microsoft.com/office/drawing/2014/main" id="{90110215-5144-4325-9256-9F55F2100BFF}"/>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LOCAL DEVELOPMENT</a:t>
            </a:r>
          </a:p>
        </p:txBody>
      </p:sp>
      <p:sp>
        <p:nvSpPr>
          <p:cNvPr id="2" name="Slide title">
            <a:extLst xmlns:a="http://schemas.openxmlformats.org/drawingml/2006/main">
              <a:ext uri="{FF2B5EF4-FFF2-40B4-BE49-F238E27FC236}">
                <a16:creationId xmlns:a16="http://schemas.microsoft.com/office/drawing/2014/main" id="{1F00842C-5621-4111-9240-807437432FA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Coding and implementation workflow</a:t>
            </a:r>
          </a:p>
        </p:txBody>
      </p:sp>
      <p:sp>
        <p:nvSpPr>
          <p:cNvPr id="3" name="SHPE CAPITAL    OCTOBER 13, 2026">
            <a:extLst xmlns:a="http://schemas.openxmlformats.org/drawingml/2006/main">
              <a:ext uri="{FF2B5EF4-FFF2-40B4-BE49-F238E27FC236}">
                <a16:creationId xmlns:a16="http://schemas.microsoft.com/office/drawing/2014/main" id="{B73DEC15-6222-4520-BE18-96C54BC66C1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17–20 min">
            <a:extLst xmlns:a="http://schemas.openxmlformats.org/drawingml/2006/main">
              <a:ext uri="{FF2B5EF4-FFF2-40B4-BE49-F238E27FC236}">
                <a16:creationId xmlns:a16="http://schemas.microsoft.com/office/drawing/2014/main" id="{FAC1504C-31A8-4BEE-B51E-3BDA2116B0D8}"/>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23:00-24:00</a:t>
            </a:r>
          </a:p>
        </p:txBody>
      </p:sp>
      <p:sp>
        <p:nvSpPr>
          <p:cNvPr id="5" name="13">
            <a:extLst xmlns:a="http://schemas.openxmlformats.org/drawingml/2006/main">
              <a:ext uri="{FF2B5EF4-FFF2-40B4-BE49-F238E27FC236}">
                <a16:creationId xmlns:a16="http://schemas.microsoft.com/office/drawing/2014/main" id="{C28A02AB-007D-407E-B955-C893CEC64921}"/>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19</a:t>
            </a:r>
          </a:p>
        </p:txBody>
      </p:sp>
      <p:graphicFrame>
        <p:nvGraphicFramePr>
          <p:cNvPr id="6" name="">
            <a:extLst xmlns:a="http://schemas.openxmlformats.org/drawingml/2006/main">
              <a:ext uri="{FF2B5EF4-FFF2-40B4-BE49-F238E27FC236}">
                <a16:creationId xmlns:a16="http://schemas.microsoft.com/office/drawing/2014/main" id="{84A903F7-8B3B-4C8A-97D7-D2531FCA5E72}"/>
              </a:ext>
            </a:extLst>
          </p:cNvPr>
          <p:cNvGraphicFramePr/>
          <p:nvPr/>
        </p:nvGraphicFramePr>
        <p:xfrm>
          <a:off xmlns:a="http://schemas.openxmlformats.org/drawingml/2006/main" x="609600" y="1771650"/>
          <a:ext xmlns:a="http://schemas.openxmlformats.org/drawingml/2006/main" cx="10972800" cy="3933825"/>
        </p:xfrm>
        <a:graphic xmlns:a="http://schemas.openxmlformats.org/drawingml/2006/main">
          <a:graphicData uri="http://schemas.openxmlformats.org/drawingml/2006/table">
            <a:tbl>
              <a:tblPr firstRow="1" bandRow="0"/>
              <a:tblGrid>
                <a:gridCol w="3352800"/>
                <a:gridCol w="7620000"/>
              </a:tblGrid>
              <a:tr h="561975">
                <a:tc>
                  <a:txBody>
                    <a:bodyPr lIns="95250" tIns="95250" rIns="95250" bIns="95250">
                      <a:noAutofit/>
                    </a:bodyPr>
                    <a:lstStyle/>
                    <a:p>
                      <a:pPr algn="l">
                        <a:buNone/>
                      </a:pPr>
                      <a:r>
                        <a:rPr sz="1950" b="1">
                          <a:solidFill>
                            <a:srgbClr val="FFFFFF"/>
                          </a:solidFill>
                          <a:latin typeface="Arial"/>
                          <a:ea typeface="Arial"/>
                          <a:cs typeface="Arial"/>
                        </a:rPr>
                        <a:t>Step</a:t>
                      </a:r>
                    </a:p>
                  </a:txBody>
                  <a:tcPr marL="91440" marR="91440" marT="45720" marB="45720" anchor="ctr">
                    <a:solidFill>
                      <a:srgbClr val="004D73"/>
                    </a:solidFill>
                  </a:tcPr>
                </a:tc>
                <a:tc>
                  <a:txBody>
                    <a:bodyPr lIns="95250" tIns="95250" rIns="95250" bIns="95250">
                      <a:noAutofit/>
                    </a:bodyPr>
                    <a:lstStyle/>
                    <a:p>
                      <a:pPr algn="l">
                        <a:buNone/>
                      </a:pPr>
                      <a:r>
                        <a:rPr sz="1950" b="1">
                          <a:solidFill>
                            <a:srgbClr val="FFFFFF"/>
                          </a:solidFill>
                          <a:latin typeface="Arial"/>
                          <a:ea typeface="Arial"/>
                          <a:cs typeface="Arial"/>
                        </a:rPr>
                        <a:t>What the team does</a:t>
                      </a:r>
                    </a:p>
                  </a:txBody>
                  <a:tcPr marL="91440" marR="91440" marT="45720" marB="45720" anchor="ctr">
                    <a:solidFill>
                      <a:srgbClr val="004D73"/>
                    </a:solidFill>
                  </a:tcPr>
                </a:tc>
              </a:tr>
              <a:tr h="561975">
                <a:tc>
                  <a:txBody>
                    <a:bodyPr lIns="95250" tIns="95250" rIns="95250" bIns="95250">
                      <a:noAutofit/>
                    </a:bodyPr>
                    <a:lstStyle/>
                    <a:p>
                      <a:pPr algn="l">
                        <a:buNone/>
                      </a:pPr>
                      <a:r>
                        <a:rPr sz="1950" b="1">
                          <a:solidFill>
                            <a:srgbClr val="182C43"/>
                          </a:solidFill>
                          <a:latin typeface="Arial"/>
                          <a:ea typeface="Arial"/>
                          <a:cs typeface="Arial"/>
                        </a:rPr>
                        <a:t>1. Git and baseline</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Create a team branch and write exact strategy rules</a:t>
                      </a:r>
                    </a:p>
                  </a:txBody>
                  <a:tcPr marL="91440" marR="91440" marT="45720" marB="45720" anchor="ctr">
                    <a:solidFill>
                      <a:srgbClr val="FFFFFF"/>
                    </a:solidFill>
                  </a:tcPr>
                </a:tc>
              </a:tr>
              <a:tr h="561975">
                <a:tc>
                  <a:txBody>
                    <a:bodyPr lIns="95250" tIns="95250" rIns="95250" bIns="95250">
                      <a:noAutofit/>
                    </a:bodyPr>
                    <a:lstStyle/>
                    <a:p>
                      <a:pPr algn="l">
                        <a:buNone/>
                      </a:pPr>
                      <a:r>
                        <a:rPr sz="1950" b="1">
                          <a:solidFill>
                            <a:srgbClr val="182C43"/>
                          </a:solidFill>
                          <a:latin typeface="Arial"/>
                          <a:ea typeface="Arial"/>
                          <a:cs typeface="Arial"/>
                        </a:rPr>
                        <a:t>2. Implementation</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Build the baseline with configuration and risk controls</a:t>
                      </a:r>
                    </a:p>
                  </a:txBody>
                  <a:tcPr marL="91440" marR="91440" marT="45720" marB="45720" anchor="ctr">
                    <a:solidFill>
                      <a:srgbClr val="F1F4F7"/>
                    </a:solidFill>
                  </a:tcPr>
                </a:tc>
              </a:tr>
              <a:tr h="561975">
                <a:tc>
                  <a:txBody>
                    <a:bodyPr lIns="95250" tIns="95250" rIns="95250" bIns="95250">
                      <a:noAutofit/>
                    </a:bodyPr>
                    <a:lstStyle/>
                    <a:p>
                      <a:pPr algn="l">
                        <a:buNone/>
                      </a:pPr>
                      <a:r>
                        <a:rPr sz="1950" b="1">
                          <a:solidFill>
                            <a:srgbClr val="182C43"/>
                          </a:solidFill>
                          <a:latin typeface="Arial"/>
                          <a:ea typeface="Arial"/>
                          <a:cs typeface="Arial"/>
                        </a:rPr>
                        <a:t>3. Local backtest</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Run fixed data and inspect performance and individual trades</a:t>
                      </a:r>
                    </a:p>
                  </a:txBody>
                  <a:tcPr marL="91440" marR="91440" marT="45720" marB="45720" anchor="ctr">
                    <a:solidFill>
                      <a:srgbClr val="FFFFFF"/>
                    </a:solidFill>
                  </a:tcPr>
                </a:tc>
              </a:tr>
              <a:tr h="561975">
                <a:tc>
                  <a:txBody>
                    <a:bodyPr lIns="95250" tIns="95250" rIns="95250" bIns="95250">
                      <a:noAutofit/>
                    </a:bodyPr>
                    <a:lstStyle/>
                    <a:p>
                      <a:pPr algn="l">
                        <a:buNone/>
                      </a:pPr>
                      <a:r>
                        <a:rPr sz="1950" b="1">
                          <a:solidFill>
                            <a:srgbClr val="182C43"/>
                          </a:solidFill>
                          <a:latin typeface="Arial"/>
                          <a:ea typeface="Arial"/>
                          <a:cs typeface="Arial"/>
                        </a:rPr>
                        <a:t>4. Local simulation / paper</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Verify order behavior, limits, exits and recovery</a:t>
                      </a:r>
                    </a:p>
                  </a:txBody>
                  <a:tcPr marL="91440" marR="91440" marT="45720" marB="45720" anchor="ctr">
                    <a:solidFill>
                      <a:srgbClr val="F1F4F7"/>
                    </a:solidFill>
                  </a:tcPr>
                </a:tc>
              </a:tr>
              <a:tr h="561975">
                <a:tc>
                  <a:txBody>
                    <a:bodyPr lIns="95250" tIns="95250" rIns="95250" bIns="95250">
                      <a:noAutofit/>
                    </a:bodyPr>
                    <a:lstStyle/>
                    <a:p>
                      <a:pPr algn="l">
                        <a:buNone/>
                      </a:pPr>
                      <a:r>
                        <a:rPr sz="1950" b="1">
                          <a:solidFill>
                            <a:srgbClr val="182C43"/>
                          </a:solidFill>
                          <a:latin typeface="Arial"/>
                          <a:ea typeface="Arial"/>
                          <a:cs typeface="Arial"/>
                        </a:rPr>
                        <a:t>5. GitHub and review</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Push the branch, attach results and open a pull request</a:t>
                      </a:r>
                    </a:p>
                  </a:txBody>
                  <a:tcPr marL="91440" marR="91440" marT="45720" marB="45720" anchor="ctr">
                    <a:solidFill>
                      <a:srgbClr val="FFFFFF"/>
                    </a:solidFill>
                  </a:tcPr>
                </a:tc>
              </a:tr>
              <a:tr h="561975">
                <a:tc>
                  <a:txBody>
                    <a:bodyPr lIns="95250" tIns="95250" rIns="95250" bIns="95250">
                      <a:noAutofit/>
                    </a:bodyPr>
                    <a:lstStyle/>
                    <a:p>
                      <a:pPr algn="l">
                        <a:buNone/>
                      </a:pPr>
                      <a:r>
                        <a:rPr sz="1950" b="1">
                          <a:solidFill>
                            <a:srgbClr val="182C43"/>
                          </a:solidFill>
                          <a:latin typeface="Arial"/>
                          <a:ea typeface="Arial"/>
                          <a:cs typeface="Arial"/>
                        </a:rPr>
                        <a:t>6. Online paper</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Deploy the reviewed version with monitoring and an owner</a:t>
                      </a:r>
                    </a:p>
                  </a:txBody>
                  <a:tcPr marL="91440" marR="91440" marT="45720" marB="45720" anchor="ctr">
                    <a:solidFill>
                      <a:srgbClr val="F1F4F7"/>
                    </a:solidFill>
                  </a:tcPr>
                </a:tc>
              </a:tr>
            </a:tbl>
          </a:graphicData>
        </a:graphic>
      </p:graphicFrame>
      <p:sp>
        <p:nvSpPr>
          <p:cNvPr id="7" name="Current backtest factory: pairs tra">
            <a:extLst xmlns:a="http://schemas.openxmlformats.org/drawingml/2006/main">
              <a:ext uri="{FF2B5EF4-FFF2-40B4-BE49-F238E27FC236}">
                <a16:creationId xmlns:a16="http://schemas.microsoft.com/office/drawing/2014/main" id="{ACC22E03-44BA-4172-BBB5-3C822FD4367A}"/>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One reproducible baseline first. Platform support covers common testing and operations.</a:t>
            </a:r>
          </a:p>
        </p:txBody>
      </p:sp>
    </p:spTree>
    <p:extLst>
      <p:ext uri="{BB962C8B-B14F-4D97-AF65-F5344CB8AC3E}">
        <p14:creationId xmlns:p14="http://schemas.microsoft.com/office/powerpoint/2010/main" val="112261729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CODEBASE OVERVIEW">
            <a:extLst xmlns:a="http://schemas.openxmlformats.org/drawingml/2006/main">
              <a:ext uri="{FF2B5EF4-FFF2-40B4-BE49-F238E27FC236}">
                <a16:creationId xmlns:a16="http://schemas.microsoft.com/office/drawing/2014/main" id="{36BEF7D6-E0E0-449F-8FDC-D18888EFBB8A}"/>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CODEBASE OVERVIEW</a:t>
            </a:r>
          </a:p>
        </p:txBody>
      </p:sp>
      <p:sp>
        <p:nvSpPr>
          <p:cNvPr id="2" name="Slide title">
            <a:extLst xmlns:a="http://schemas.openxmlformats.org/drawingml/2006/main">
              <a:ext uri="{FF2B5EF4-FFF2-40B4-BE49-F238E27FC236}">
                <a16:creationId xmlns:a16="http://schemas.microsoft.com/office/drawing/2014/main" id="{2F1EA85B-0E94-4E0A-8B38-CCC072F6788A}"/>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The platform demonstration</a:t>
            </a:r>
          </a:p>
        </p:txBody>
      </p:sp>
      <p:sp>
        <p:nvSpPr>
          <p:cNvPr id="3" name="SHPE CAPITAL    OCTOBER 13, 2026">
            <a:extLst xmlns:a="http://schemas.openxmlformats.org/drawingml/2006/main">
              <a:ext uri="{FF2B5EF4-FFF2-40B4-BE49-F238E27FC236}">
                <a16:creationId xmlns:a16="http://schemas.microsoft.com/office/drawing/2014/main" id="{372DFDAB-CE22-49DC-A580-DA17C2AC7A6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0–27 min">
            <a:extLst xmlns:a="http://schemas.openxmlformats.org/drawingml/2006/main">
              <a:ext uri="{FF2B5EF4-FFF2-40B4-BE49-F238E27FC236}">
                <a16:creationId xmlns:a16="http://schemas.microsoft.com/office/drawing/2014/main" id="{E1F110D1-7BC2-421C-B789-D813D0997E2B}"/>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24:00-26:00</a:t>
            </a:r>
          </a:p>
        </p:txBody>
      </p:sp>
      <p:sp>
        <p:nvSpPr>
          <p:cNvPr id="5" name="14">
            <a:extLst xmlns:a="http://schemas.openxmlformats.org/drawingml/2006/main">
              <a:ext uri="{FF2B5EF4-FFF2-40B4-BE49-F238E27FC236}">
                <a16:creationId xmlns:a16="http://schemas.microsoft.com/office/drawing/2014/main" id="{F49DE1B1-C576-4577-AA6F-D76FDF21A98C}"/>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20</a:t>
            </a:r>
          </a:p>
        </p:txBody>
      </p:sp>
      <p:graphicFrame>
        <p:nvGraphicFramePr>
          <p:cNvPr id="6" name="">
            <a:extLst xmlns:a="http://schemas.openxmlformats.org/drawingml/2006/main">
              <a:ext uri="{FF2B5EF4-FFF2-40B4-BE49-F238E27FC236}">
                <a16:creationId xmlns:a16="http://schemas.microsoft.com/office/drawing/2014/main" id="{F703FED7-C12C-4AEE-88B6-E0F717924EAD}"/>
              </a:ext>
            </a:extLst>
          </p:cNvPr>
          <p:cNvGraphicFramePr/>
          <p:nvPr/>
        </p:nvGraphicFramePr>
        <p:xfrm>
          <a:off xmlns:a="http://schemas.openxmlformats.org/drawingml/2006/main" x="609600" y="1952625"/>
          <a:ext xmlns:a="http://schemas.openxmlformats.org/drawingml/2006/main" cx="10972800" cy="3267075"/>
        </p:xfrm>
        <a:graphic xmlns:a="http://schemas.openxmlformats.org/drawingml/2006/main">
          <a:graphicData uri="http://schemas.openxmlformats.org/drawingml/2006/table">
            <a:tbl>
              <a:tblPr firstRow="1" bandRow="0"/>
              <a:tblGrid>
                <a:gridCol w="4314825"/>
                <a:gridCol w="6657975"/>
              </a:tblGrid>
              <a:tr h="653415">
                <a:tc>
                  <a:txBody>
                    <a:bodyPr lIns="95250" tIns="95250" rIns="95250" bIns="95250">
                      <a:noAutofit/>
                    </a:bodyPr>
                    <a:lstStyle/>
                    <a:p>
                      <a:pPr algn="l">
                        <a:buNone/>
                      </a:pPr>
                      <a:r>
                        <a:rPr sz="2025" b="1">
                          <a:solidFill>
                            <a:srgbClr val="FFFFFF"/>
                          </a:solidFill>
                          <a:latin typeface="Arial"/>
                          <a:ea typeface="Arial"/>
                          <a:cs typeface="Arial"/>
                        </a:rPr>
                        <a:t>Location</a:t>
                      </a:r>
                    </a:p>
                  </a:txBody>
                  <a:tcPr marL="91440" marR="91440" marT="45720" marB="45720" anchor="ctr">
                    <a:solidFill>
                      <a:srgbClr val="004D73"/>
                    </a:solidFill>
                  </a:tcPr>
                </a:tc>
                <a:tc>
                  <a:txBody>
                    <a:bodyPr lIns="95250" tIns="95250" rIns="95250" bIns="95250">
                      <a:noAutofit/>
                    </a:bodyPr>
                    <a:lstStyle/>
                    <a:p>
                      <a:pPr algn="l">
                        <a:buNone/>
                      </a:pPr>
                      <a:r>
                        <a:rPr sz="2025" b="1">
                          <a:solidFill>
                            <a:srgbClr val="FFFFFF"/>
                          </a:solidFill>
                          <a:latin typeface="Arial"/>
                          <a:ea typeface="Arial"/>
                          <a:cs typeface="Arial"/>
                        </a:rPr>
                        <a:t>What to notice</a:t>
                      </a:r>
                    </a:p>
                  </a:txBody>
                  <a:tcPr marL="91440" marR="91440" marT="45720" marB="45720" anchor="ctr">
                    <a:solidFill>
                      <a:srgbClr val="004D73"/>
                    </a:solidFill>
                  </a:tcPr>
                </a:tc>
              </a:tr>
              <a:tr h="653415">
                <a:tc>
                  <a:txBody>
                    <a:bodyPr lIns="95250" tIns="95250" rIns="95250" bIns="95250">
                      <a:noAutofit/>
                    </a:bodyPr>
                    <a:lstStyle/>
                    <a:p>
                      <a:pPr algn="l">
                        <a:buNone/>
                      </a:pPr>
                      <a:r>
                        <a:rPr sz="2025" b="1">
                          <a:solidFill>
                            <a:srgbClr val="182C43"/>
                          </a:solidFill>
                          <a:latin typeface="Arial"/>
                          <a:ea typeface="Arial"/>
                          <a:cs typeface="Arial"/>
                        </a:rPr>
                        <a:t>backend/src/strategies/</a:t>
                      </a:r>
                    </a:p>
                  </a:txBody>
                  <a:tcPr marL="91440" marR="91440" marT="45720" marB="45720" anchor="ctr">
                    <a:solidFill>
                      <a:srgbClr val="FFFFFF"/>
                    </a:solidFill>
                  </a:tcPr>
                </a:tc>
                <a:tc>
                  <a:txBody>
                    <a:bodyPr lIns="95250" tIns="95250" rIns="95250" bIns="95250">
                      <a:noAutofit/>
                    </a:bodyPr>
                    <a:lstStyle/>
                    <a:p>
                      <a:pPr algn="l">
                        <a:buNone/>
                      </a:pPr>
                      <a:r>
                        <a:rPr sz="2025" b="0">
                          <a:solidFill>
                            <a:srgbClr val="182C43"/>
                          </a:solidFill>
                          <a:latin typeface="Arial"/>
                          <a:ea typeface="Arial"/>
                          <a:cs typeface="Arial"/>
                        </a:rPr>
                        <a:t>Strategy rules, configuration and the shared interface</a:t>
                      </a:r>
                    </a:p>
                  </a:txBody>
                  <a:tcPr marL="91440" marR="91440" marT="45720" marB="45720" anchor="ctr">
                    <a:solidFill>
                      <a:srgbClr val="FFFFFF"/>
                    </a:solidFill>
                  </a:tcPr>
                </a:tc>
              </a:tr>
              <a:tr h="653415">
                <a:tc>
                  <a:txBody>
                    <a:bodyPr lIns="95250" tIns="95250" rIns="95250" bIns="95250">
                      <a:noAutofit/>
                    </a:bodyPr>
                    <a:lstStyle/>
                    <a:p>
                      <a:pPr algn="l">
                        <a:buNone/>
                      </a:pPr>
                      <a:r>
                        <a:rPr sz="2025" b="1">
                          <a:solidFill>
                            <a:srgbClr val="182C43"/>
                          </a:solidFill>
                          <a:latin typeface="Arial"/>
                          <a:ea typeface="Arial"/>
                          <a:cs typeface="Arial"/>
                        </a:rPr>
                        <a:t>backend/src/core/</a:t>
                      </a:r>
                    </a:p>
                  </a:txBody>
                  <a:tcPr marL="91440" marR="91440" marT="45720" marB="45720" anchor="ctr">
                    <a:solidFill>
                      <a:srgbClr val="F1F4F7"/>
                    </a:solidFill>
                  </a:tcPr>
                </a:tc>
                <a:tc>
                  <a:txBody>
                    <a:bodyPr lIns="95250" tIns="95250" rIns="95250" bIns="95250">
                      <a:noAutofit/>
                    </a:bodyPr>
                    <a:lstStyle/>
                    <a:p>
                      <a:pPr algn="l">
                        <a:buNone/>
                      </a:pPr>
                      <a:r>
                        <a:rPr sz="2025" b="0">
                          <a:solidFill>
                            <a:srgbClr val="182C43"/>
                          </a:solidFill>
                          <a:latin typeface="Arial"/>
                          <a:ea typeface="Arial"/>
                          <a:cs typeface="Arial"/>
                        </a:rPr>
                        <a:t>State, risk checks, execution and testing</a:t>
                      </a:r>
                    </a:p>
                  </a:txBody>
                  <a:tcPr marL="91440" marR="91440" marT="45720" marB="45720" anchor="ctr">
                    <a:solidFill>
                      <a:srgbClr val="F1F4F7"/>
                    </a:solidFill>
                  </a:tcPr>
                </a:tc>
              </a:tr>
              <a:tr h="653415">
                <a:tc>
                  <a:txBody>
                    <a:bodyPr lIns="95250" tIns="95250" rIns="95250" bIns="95250">
                      <a:noAutofit/>
                    </a:bodyPr>
                    <a:lstStyle/>
                    <a:p>
                      <a:pPr algn="l">
                        <a:buNone/>
                      </a:pPr>
                      <a:r>
                        <a:rPr sz="2025" b="1">
                          <a:solidFill>
                            <a:srgbClr val="182C43"/>
                          </a:solidFill>
                          <a:latin typeface="Arial"/>
                          <a:ea typeface="Arial"/>
                          <a:cs typeface="Arial"/>
                        </a:rPr>
                        <a:t>backend/src/adapters/</a:t>
                      </a:r>
                    </a:p>
                  </a:txBody>
                  <a:tcPr marL="91440" marR="91440" marT="45720" marB="45720" anchor="ctr">
                    <a:solidFill>
                      <a:srgbClr val="FFFFFF"/>
                    </a:solidFill>
                  </a:tcPr>
                </a:tc>
                <a:tc>
                  <a:txBody>
                    <a:bodyPr lIns="95250" tIns="95250" rIns="95250" bIns="95250">
                      <a:noAutofit/>
                    </a:bodyPr>
                    <a:lstStyle/>
                    <a:p>
                      <a:pPr algn="l">
                        <a:buNone/>
                      </a:pPr>
                      <a:r>
                        <a:rPr sz="2025" b="0">
                          <a:solidFill>
                            <a:srgbClr val="182C43"/>
                          </a:solidFill>
                          <a:latin typeface="Arial"/>
                          <a:ea typeface="Arial"/>
                          <a:cs typeface="Arial"/>
                        </a:rPr>
                        <a:t>Market data, broker access and storage</a:t>
                      </a:r>
                    </a:p>
                  </a:txBody>
                  <a:tcPr marL="91440" marR="91440" marT="45720" marB="45720" anchor="ctr">
                    <a:solidFill>
                      <a:srgbClr val="FFFFFF"/>
                    </a:solidFill>
                  </a:tcPr>
                </a:tc>
              </a:tr>
              <a:tr h="653415">
                <a:tc>
                  <a:txBody>
                    <a:bodyPr lIns="95250" tIns="95250" rIns="95250" bIns="95250">
                      <a:noAutofit/>
                    </a:bodyPr>
                    <a:lstStyle/>
                    <a:p>
                      <a:pPr algn="l">
                        <a:buNone/>
                      </a:pPr>
                      <a:r>
                        <a:rPr sz="2025" b="1">
                          <a:solidFill>
                            <a:srgbClr val="182C43"/>
                          </a:solidFill>
                          <a:latin typeface="Arial"/>
                          <a:ea typeface="Arial"/>
                          <a:cs typeface="Arial"/>
                        </a:rPr>
                        <a:t>frontend/</a:t>
                      </a:r>
                    </a:p>
                  </a:txBody>
                  <a:tcPr marL="91440" marR="91440" marT="45720" marB="45720" anchor="ctr">
                    <a:solidFill>
                      <a:srgbClr val="F1F4F7"/>
                    </a:solidFill>
                  </a:tcPr>
                </a:tc>
                <a:tc>
                  <a:txBody>
                    <a:bodyPr lIns="95250" tIns="95250" rIns="95250" bIns="95250">
                      <a:noAutofit/>
                    </a:bodyPr>
                    <a:lstStyle/>
                    <a:p>
                      <a:pPr algn="l">
                        <a:buNone/>
                      </a:pPr>
                      <a:r>
                        <a:rPr sz="2025" b="0">
                          <a:solidFill>
                            <a:srgbClr val="182C43"/>
                          </a:solidFill>
                          <a:latin typeface="Arial"/>
                          <a:ea typeface="Arial"/>
                          <a:cs typeface="Arial"/>
                        </a:rPr>
                        <a:t>Strategy controls and result views</a:t>
                      </a:r>
                    </a:p>
                  </a:txBody>
                  <a:tcPr marL="91440" marR="91440" marT="45720" marB="45720" anchor="ctr">
                    <a:solidFill>
                      <a:srgbClr val="F1F4F7"/>
                    </a:solidFill>
                  </a:tcPr>
                </a:tc>
              </a:tr>
            </a:tbl>
          </a:graphicData>
        </a:graphic>
      </p:graphicFrame>
      <p:sp>
        <p:nvSpPr>
          <p:cNvPr id="7" name="Demo: one strategy, one signal, the">
            <a:extLst xmlns:a="http://schemas.openxmlformats.org/drawingml/2006/main">
              <a:ext uri="{FF2B5EF4-FFF2-40B4-BE49-F238E27FC236}">
                <a16:creationId xmlns:a16="http://schemas.microsoft.com/office/drawing/2014/main" id="{2CADF0A4-BF35-4E0E-AF0E-15D5816B156E}"/>
              </a:ext>
            </a:extLst>
          </p:cNvPr>
          <p:cNvSpPr>
            <a:spLocks xmlns:a="http://schemas.openxmlformats.org/drawingml/2006/main" noGrp="1"/>
          </p:cNvSpPr>
          <p:nvPr/>
        </p:nvSpPr>
        <p:spPr>
          <a:xfrm xmlns:a="http://schemas.openxmlformats.org/drawingml/2006/main">
            <a:off x="609600" y="560070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100" b="1">
                <a:solidFill>
                  <a:srgbClr val="004D73"/>
                </a:solidFill>
                <a:latin typeface="Arial"/>
                <a:ea typeface="Arial"/>
                <a:cs typeface="Arial"/>
              </a:defRPr>
            </a:defPPr>
          </a:lstStyle>
          <a:p xmlns:a="http://schemas.openxmlformats.org/drawingml/2006/main">
            <a:pPr algn="l">
              <a:buNone/>
              <a:defRPr sz="2100" b="1">
                <a:solidFill>
                  <a:srgbClr val="004D73"/>
                </a:solidFill>
                <a:latin typeface="Arial"/>
                <a:ea typeface="Arial"/>
                <a:cs typeface="Arial"/>
              </a:defRPr>
            </a:pPr>
            <a:r>
              <a:rPr sz="2100" b="1">
                <a:solidFill>
                  <a:srgbClr val="004D73"/>
                </a:solidFill>
                <a:latin typeface="Arial"/>
                <a:ea typeface="Arial"/>
                <a:cs typeface="Arial"/>
              </a:rPr>
              <a:t>Demo: one strategy, one signal, the risk decision, an order and the result.</a:t>
            </a:r>
          </a:p>
        </p:txBody>
      </p:sp>
    </p:spTree>
    <p:extLst>
      <p:ext uri="{BB962C8B-B14F-4D97-AF65-F5344CB8AC3E}">
        <p14:creationId xmlns:p14="http://schemas.microsoft.com/office/powerpoint/2010/main" val="96850002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MONDAY, NOVEMBER 30">
            <a:extLst xmlns:a="http://schemas.openxmlformats.org/drawingml/2006/main">
              <a:ext uri="{FF2B5EF4-FFF2-40B4-BE49-F238E27FC236}">
                <a16:creationId xmlns:a16="http://schemas.microsoft.com/office/drawing/2014/main" id="{D958492D-D15E-4270-B9C4-6588C7B10A4B}"/>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MONDAY, NOVEMBER 30</a:t>
            </a:r>
          </a:p>
        </p:txBody>
      </p:sp>
      <p:sp>
        <p:nvSpPr>
          <p:cNvPr id="2" name="Slide title">
            <a:extLst xmlns:a="http://schemas.openxmlformats.org/drawingml/2006/main">
              <a:ext uri="{FF2B5EF4-FFF2-40B4-BE49-F238E27FC236}">
                <a16:creationId xmlns:a16="http://schemas.microsoft.com/office/drawing/2014/main" id="{F7A91891-A9F6-48E4-A335-31B3DCAA7D35}"/>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Final presentations to SHPE leadership</a:t>
            </a:r>
          </a:p>
        </p:txBody>
      </p:sp>
      <p:sp>
        <p:nvSpPr>
          <p:cNvPr id="3" name="SHPE CAPITAL    OCTOBER 13, 2026">
            <a:extLst xmlns:a="http://schemas.openxmlformats.org/drawingml/2006/main">
              <a:ext uri="{FF2B5EF4-FFF2-40B4-BE49-F238E27FC236}">
                <a16:creationId xmlns:a16="http://schemas.microsoft.com/office/drawing/2014/main" id="{95B2FE66-BC0E-485B-98B6-4B174D6DEE69}"/>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7–28 min">
            <a:extLst xmlns:a="http://schemas.openxmlformats.org/drawingml/2006/main">
              <a:ext uri="{FF2B5EF4-FFF2-40B4-BE49-F238E27FC236}">
                <a16:creationId xmlns:a16="http://schemas.microsoft.com/office/drawing/2014/main" id="{C35C2CD6-2327-4EAC-82D2-FE359DD709FA}"/>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26:00-26:30</a:t>
            </a:r>
          </a:p>
        </p:txBody>
      </p:sp>
      <p:sp>
        <p:nvSpPr>
          <p:cNvPr id="5" name="15">
            <a:extLst xmlns:a="http://schemas.openxmlformats.org/drawingml/2006/main">
              <a:ext uri="{FF2B5EF4-FFF2-40B4-BE49-F238E27FC236}">
                <a16:creationId xmlns:a16="http://schemas.microsoft.com/office/drawing/2014/main" id="{DD64872C-91EC-4CC7-B3BA-CD51FFB30914}"/>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21</a:t>
            </a:r>
          </a:p>
        </p:txBody>
      </p:sp>
      <p:graphicFrame>
        <p:nvGraphicFramePr>
          <p:cNvPr id="6" name="">
            <a:extLst xmlns:a="http://schemas.openxmlformats.org/drawingml/2006/main">
              <a:ext uri="{FF2B5EF4-FFF2-40B4-BE49-F238E27FC236}">
                <a16:creationId xmlns:a16="http://schemas.microsoft.com/office/drawing/2014/main" id="{4EE32153-80CB-4D57-90D5-D9B2F0794C1E}"/>
              </a:ext>
            </a:extLst>
          </p:cNvPr>
          <p:cNvGraphicFramePr/>
          <p:nvPr/>
        </p:nvGraphicFramePr>
        <p:xfrm>
          <a:off xmlns:a="http://schemas.openxmlformats.org/drawingml/2006/main" x="609600" y="2000250"/>
          <a:ext xmlns:a="http://schemas.openxmlformats.org/drawingml/2006/main" cx="10972800" cy="3238500"/>
        </p:xfrm>
        <a:graphic xmlns:a="http://schemas.openxmlformats.org/drawingml/2006/main">
          <a:graphicData uri="http://schemas.openxmlformats.org/drawingml/2006/table">
            <a:tbl>
              <a:tblPr firstRow="1" bandRow="0"/>
              <a:tblGrid>
                <a:gridCol w="3590925"/>
                <a:gridCol w="7381875"/>
              </a:tblGrid>
              <a:tr h="647700">
                <a:tc>
                  <a:txBody>
                    <a:bodyPr lIns="95250" tIns="95250" rIns="95250" bIns="95250">
                      <a:noAutofit/>
                    </a:bodyPr>
                    <a:lstStyle/>
                    <a:p>
                      <a:pPr algn="l">
                        <a:buNone/>
                      </a:pPr>
                      <a:r>
                        <a:rPr sz="2025" b="1">
                          <a:solidFill>
                            <a:srgbClr val="FFFFFF"/>
                          </a:solidFill>
                          <a:latin typeface="Arial"/>
                          <a:ea typeface="Arial"/>
                          <a:cs typeface="Arial"/>
                        </a:rPr>
                        <a:t>Presentation part</a:t>
                      </a:r>
                    </a:p>
                  </a:txBody>
                  <a:tcPr marL="91440" marR="91440" marT="45720" marB="45720" anchor="ctr">
                    <a:solidFill>
                      <a:srgbClr val="004D73"/>
                    </a:solidFill>
                  </a:tcPr>
                </a:tc>
                <a:tc>
                  <a:txBody>
                    <a:bodyPr lIns="95250" tIns="95250" rIns="95250" bIns="95250">
                      <a:noAutofit/>
                    </a:bodyPr>
                    <a:lstStyle/>
                    <a:p>
                      <a:pPr algn="l">
                        <a:buNone/>
                      </a:pPr>
                      <a:r>
                        <a:rPr sz="2025" b="1">
                          <a:solidFill>
                            <a:srgbClr val="FFFFFF"/>
                          </a:solidFill>
                          <a:latin typeface="Arial"/>
                          <a:ea typeface="Arial"/>
                          <a:cs typeface="Arial"/>
                        </a:rPr>
                        <a:t>Evidence to bring</a:t>
                      </a:r>
                    </a:p>
                  </a:txBody>
                  <a:tcPr marL="91440" marR="91440" marT="45720" marB="45720" anchor="ctr">
                    <a:solidFill>
                      <a:srgbClr val="004D73"/>
                    </a:solidFill>
                  </a:tcPr>
                </a:tc>
              </a:tr>
              <a:tr h="647700">
                <a:tc>
                  <a:txBody>
                    <a:bodyPr lIns="95250" tIns="95250" rIns="95250" bIns="95250">
                      <a:noAutofit/>
                    </a:bodyPr>
                    <a:lstStyle/>
                    <a:p>
                      <a:pPr algn="l">
                        <a:buNone/>
                      </a:pPr>
                      <a:r>
                        <a:rPr sz="2025" b="1">
                          <a:solidFill>
                            <a:srgbClr val="182C43"/>
                          </a:solidFill>
                          <a:latin typeface="Arial"/>
                          <a:ea typeface="Arial"/>
                          <a:cs typeface="Arial"/>
                        </a:rPr>
                        <a:t>Idea and cited research</a:t>
                      </a:r>
                    </a:p>
                  </a:txBody>
                  <a:tcPr marL="91440" marR="91440" marT="45720" marB="45720" anchor="ctr">
                    <a:solidFill>
                      <a:srgbClr val="FFFFFF"/>
                    </a:solidFill>
                  </a:tcPr>
                </a:tc>
                <a:tc>
                  <a:txBody>
                    <a:bodyPr lIns="95250" tIns="95250" rIns="95250" bIns="95250">
                      <a:noAutofit/>
                    </a:bodyPr>
                    <a:lstStyle/>
                    <a:p>
                      <a:pPr algn="l">
                        <a:buNone/>
                      </a:pPr>
                      <a:r>
                        <a:rPr sz="2025" b="0">
                          <a:solidFill>
                            <a:srgbClr val="182C43"/>
                          </a:solidFill>
                          <a:latin typeface="Arial"/>
                          <a:ea typeface="Arial"/>
                          <a:cs typeface="Arial"/>
                        </a:rPr>
                        <a:t>Mechanism, sources and exact trading rules</a:t>
                      </a:r>
                    </a:p>
                  </a:txBody>
                  <a:tcPr marL="91440" marR="91440" marT="45720" marB="45720" anchor="ctr">
                    <a:solidFill>
                      <a:srgbClr val="FFFFFF"/>
                    </a:solidFill>
                  </a:tcPr>
                </a:tc>
              </a:tr>
              <a:tr h="647700">
                <a:tc>
                  <a:txBody>
                    <a:bodyPr lIns="95250" tIns="95250" rIns="95250" bIns="95250">
                      <a:noAutofit/>
                    </a:bodyPr>
                    <a:lstStyle/>
                    <a:p>
                      <a:pPr algn="l">
                        <a:buNone/>
                      </a:pPr>
                      <a:r>
                        <a:rPr sz="2025" b="1">
                          <a:solidFill>
                            <a:srgbClr val="182C43"/>
                          </a:solidFill>
                          <a:latin typeface="Arial"/>
                          <a:ea typeface="Arial"/>
                          <a:cs typeface="Arial"/>
                        </a:rPr>
                        <a:t>Backtest performance</a:t>
                      </a:r>
                    </a:p>
                  </a:txBody>
                  <a:tcPr marL="91440" marR="91440" marT="45720" marB="45720" anchor="ctr">
                    <a:solidFill>
                      <a:srgbClr val="F1F4F7"/>
                    </a:solidFill>
                  </a:tcPr>
                </a:tc>
                <a:tc>
                  <a:txBody>
                    <a:bodyPr lIns="95250" tIns="95250" rIns="95250" bIns="95250">
                      <a:noAutofit/>
                    </a:bodyPr>
                    <a:lstStyle/>
                    <a:p>
                      <a:pPr algn="l">
                        <a:buNone/>
                      </a:pPr>
                      <a:r>
                        <a:rPr sz="2025" b="0">
                          <a:solidFill>
                            <a:srgbClr val="182C43"/>
                          </a:solidFill>
                          <a:latin typeface="Arial"/>
                          <a:ea typeface="Arial"/>
                          <a:cs typeface="Arial"/>
                        </a:rPr>
                        <a:t>Net results, drawdown, baseline and sample period</a:t>
                      </a:r>
                    </a:p>
                  </a:txBody>
                  <a:tcPr marL="91440" marR="91440" marT="45720" marB="45720" anchor="ctr">
                    <a:solidFill>
                      <a:srgbClr val="F1F4F7"/>
                    </a:solidFill>
                  </a:tcPr>
                </a:tc>
              </a:tr>
              <a:tr h="647700">
                <a:tc>
                  <a:txBody>
                    <a:bodyPr lIns="95250" tIns="95250" rIns="95250" bIns="95250">
                      <a:noAutofit/>
                    </a:bodyPr>
                    <a:lstStyle/>
                    <a:p>
                      <a:pPr algn="l">
                        <a:buNone/>
                      </a:pPr>
                      <a:r>
                        <a:rPr sz="2025" b="1">
                          <a:solidFill>
                            <a:srgbClr val="182C43"/>
                          </a:solidFill>
                          <a:latin typeface="Arial"/>
                          <a:ea typeface="Arial"/>
                          <a:cs typeface="Arial"/>
                        </a:rPr>
                        <a:t>Online paper performance</a:t>
                      </a:r>
                    </a:p>
                  </a:txBody>
                  <a:tcPr marL="91440" marR="91440" marT="45720" marB="45720" anchor="ctr">
                    <a:solidFill>
                      <a:srgbClr val="FFFFFF"/>
                    </a:solidFill>
                  </a:tcPr>
                </a:tc>
                <a:tc>
                  <a:txBody>
                    <a:bodyPr lIns="95250" tIns="95250" rIns="95250" bIns="95250">
                      <a:noAutofit/>
                    </a:bodyPr>
                    <a:lstStyle/>
                    <a:p>
                      <a:pPr algn="l">
                        <a:buNone/>
                      </a:pPr>
                      <a:r>
                        <a:rPr sz="2025" b="0">
                          <a:solidFill>
                            <a:srgbClr val="182C43"/>
                          </a:solidFill>
                          <a:latin typeface="Arial"/>
                          <a:ea typeface="Arial"/>
                          <a:cs typeface="Arial"/>
                        </a:rPr>
                        <a:t>Dates, versions, trades, healthy sessions and incidents</a:t>
                      </a:r>
                    </a:p>
                  </a:txBody>
                  <a:tcPr marL="91440" marR="91440" marT="45720" marB="45720" anchor="ctr">
                    <a:solidFill>
                      <a:srgbClr val="FFFFFF"/>
                    </a:solidFill>
                  </a:tcPr>
                </a:tc>
              </a:tr>
              <a:tr h="647700">
                <a:tc>
                  <a:txBody>
                    <a:bodyPr lIns="95250" tIns="95250" rIns="95250" bIns="95250">
                      <a:noAutofit/>
                    </a:bodyPr>
                    <a:lstStyle/>
                    <a:p>
                      <a:pPr algn="l">
                        <a:buNone/>
                      </a:pPr>
                      <a:r>
                        <a:rPr sz="2025" b="1">
                          <a:solidFill>
                            <a:srgbClr val="182C43"/>
                          </a:solidFill>
                          <a:latin typeface="Arial"/>
                          <a:ea typeface="Arial"/>
                          <a:cs typeface="Arial"/>
                        </a:rPr>
                        <a:t>Reflection and next steps</a:t>
                      </a:r>
                    </a:p>
                  </a:txBody>
                  <a:tcPr marL="91440" marR="91440" marT="45720" marB="45720" anchor="ctr">
                    <a:solidFill>
                      <a:srgbClr val="F1F4F7"/>
                    </a:solidFill>
                  </a:tcPr>
                </a:tc>
                <a:tc>
                  <a:txBody>
                    <a:bodyPr lIns="95250" tIns="95250" rIns="95250" bIns="95250">
                      <a:noAutofit/>
                    </a:bodyPr>
                    <a:lstStyle/>
                    <a:p>
                      <a:pPr algn="l">
                        <a:buNone/>
                      </a:pPr>
                      <a:r>
                        <a:rPr sz="2025" b="0">
                          <a:solidFill>
                            <a:srgbClr val="182C43"/>
                          </a:solidFill>
                          <a:latin typeface="Arial"/>
                          <a:ea typeface="Arial"/>
                          <a:cs typeface="Arial"/>
                        </a:rPr>
                        <a:t>Limitations, failed ideas and justified improvements</a:t>
                      </a:r>
                    </a:p>
                  </a:txBody>
                  <a:tcPr marL="91440" marR="91440" marT="45720" marB="45720" anchor="ctr">
                    <a:solidFill>
                      <a:srgbClr val="F1F4F7"/>
                    </a:solidFill>
                  </a:tcPr>
                </a:tc>
              </a:tr>
            </a:tbl>
          </a:graphicData>
        </a:graphic>
      </p:graphicFrame>
      <p:sp>
        <p:nvSpPr>
          <p:cNvPr id="7" name="Platform team: testing improvements">
            <a:extLst xmlns:a="http://schemas.openxmlformats.org/drawingml/2006/main">
              <a:ext uri="{FF2B5EF4-FFF2-40B4-BE49-F238E27FC236}">
                <a16:creationId xmlns:a16="http://schemas.microsoft.com/office/drawing/2014/main" id="{57BD0BCC-7748-4F9D-8970-88796F0120A4}"/>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Platform team: testing improvements, engineering evidence and online reliability.</a:t>
            </a:r>
          </a:p>
        </p:txBody>
      </p:sp>
    </p:spTree>
    <p:extLst>
      <p:ext uri="{BB962C8B-B14F-4D97-AF65-F5344CB8AC3E}">
        <p14:creationId xmlns:p14="http://schemas.microsoft.com/office/powerpoint/2010/main" val="4139355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AM COORDINATION">
            <a:extLst xmlns:a="http://schemas.openxmlformats.org/drawingml/2006/main">
              <a:ext uri="{FF2B5EF4-FFF2-40B4-BE49-F238E27FC236}">
                <a16:creationId xmlns:a16="http://schemas.microsoft.com/office/drawing/2014/main" id="{724F16FD-C5E9-4514-877A-5A6F2518209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TEAM COORDINATION</a:t>
            </a:r>
          </a:p>
        </p:txBody>
      </p:sp>
      <p:sp>
        <p:nvSpPr>
          <p:cNvPr id="2" name="Slide title">
            <a:extLst xmlns:a="http://schemas.openxmlformats.org/drawingml/2006/main">
              <a:ext uri="{FF2B5EF4-FFF2-40B4-BE49-F238E27FC236}">
                <a16:creationId xmlns:a16="http://schemas.microsoft.com/office/drawing/2014/main" id="{EB864528-3715-44BB-B6F4-208ECC3C9B2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Communication and project resources</a:t>
            </a:r>
          </a:p>
        </p:txBody>
      </p:sp>
      <p:sp>
        <p:nvSpPr>
          <p:cNvPr id="3" name="SHPE CAPITAL    OCTOBER 13, 2026">
            <a:extLst xmlns:a="http://schemas.openxmlformats.org/drawingml/2006/main">
              <a:ext uri="{FF2B5EF4-FFF2-40B4-BE49-F238E27FC236}">
                <a16:creationId xmlns:a16="http://schemas.microsoft.com/office/drawing/2014/main" id="{38BCCD84-5E70-41EA-802A-8635296B2ED6}"/>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28–29 min">
            <a:extLst xmlns:a="http://schemas.openxmlformats.org/drawingml/2006/main">
              <a:ext uri="{FF2B5EF4-FFF2-40B4-BE49-F238E27FC236}">
                <a16:creationId xmlns:a16="http://schemas.microsoft.com/office/drawing/2014/main" id="{7234C1EF-79C0-4810-90DC-310E37824D54}"/>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26:30-27:00</a:t>
            </a:r>
          </a:p>
        </p:txBody>
      </p:sp>
      <p:sp>
        <p:nvSpPr>
          <p:cNvPr id="5" name="16">
            <a:extLst xmlns:a="http://schemas.openxmlformats.org/drawingml/2006/main">
              <a:ext uri="{FF2B5EF4-FFF2-40B4-BE49-F238E27FC236}">
                <a16:creationId xmlns:a16="http://schemas.microsoft.com/office/drawing/2014/main" id="{C27C0640-C77A-4641-859B-1673D8812F67}"/>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22</a:t>
            </a:r>
          </a:p>
        </p:txBody>
      </p:sp>
      <p:graphicFrame>
        <p:nvGraphicFramePr>
          <p:cNvPr id="6" name="">
            <a:extLst xmlns:a="http://schemas.openxmlformats.org/drawingml/2006/main">
              <a:ext uri="{FF2B5EF4-FFF2-40B4-BE49-F238E27FC236}">
                <a16:creationId xmlns:a16="http://schemas.microsoft.com/office/drawing/2014/main" id="{FAB33BFC-0713-41F7-A797-65F2547C88C7}"/>
              </a:ext>
            </a:extLst>
          </p:cNvPr>
          <p:cNvGraphicFramePr/>
          <p:nvPr/>
        </p:nvGraphicFramePr>
        <p:xfrm>
          <a:off xmlns:a="http://schemas.openxmlformats.org/drawingml/2006/main" x="609600" y="2133600"/>
          <a:ext xmlns:a="http://schemas.openxmlformats.org/drawingml/2006/main" cx="10972800" cy="2600325"/>
        </p:xfrm>
        <a:graphic xmlns:a="http://schemas.openxmlformats.org/drawingml/2006/main">
          <a:graphicData uri="http://schemas.openxmlformats.org/drawingml/2006/table">
            <a:tbl>
              <a:tblPr firstRow="1" bandRow="0"/>
              <a:tblGrid>
                <a:gridCol w="3581400"/>
                <a:gridCol w="7391400"/>
              </a:tblGrid>
              <a:tr h="650081">
                <a:tc>
                  <a:txBody>
                    <a:bodyPr lIns="95250" tIns="95250" rIns="95250" bIns="95250">
                      <a:noAutofit/>
                    </a:bodyPr>
                    <a:lstStyle/>
                    <a:p>
                      <a:pPr algn="l">
                        <a:buNone/>
                      </a:pPr>
                      <a:r>
                        <a:rPr sz="2100" b="1">
                          <a:solidFill>
                            <a:srgbClr val="FFFFFF"/>
                          </a:solidFill>
                          <a:latin typeface="Arial"/>
                          <a:ea typeface="Arial"/>
                          <a:cs typeface="Arial"/>
                        </a:rPr>
                        <a:t>Channel</a:t>
                      </a:r>
                    </a:p>
                  </a:txBody>
                  <a:tcPr marL="91440" marR="91440" marT="45720" marB="45720" anchor="ctr">
                    <a:solidFill>
                      <a:srgbClr val="004D73"/>
                    </a:solidFill>
                  </a:tcPr>
                </a:tc>
                <a:tc>
                  <a:txBody>
                    <a:bodyPr lIns="95250" tIns="95250" rIns="95250" bIns="95250">
                      <a:noAutofit/>
                    </a:bodyPr>
                    <a:lstStyle/>
                    <a:p>
                      <a:pPr algn="l">
                        <a:buNone/>
                      </a:pPr>
                      <a:r>
                        <a:rPr sz="2100" b="1">
                          <a:solidFill>
                            <a:srgbClr val="FFFFFF"/>
                          </a:solidFill>
                          <a:latin typeface="Arial"/>
                          <a:ea typeface="Arial"/>
                          <a:cs typeface="Arial"/>
                        </a:rPr>
                        <a:t>Purpose</a:t>
                      </a:r>
                    </a:p>
                  </a:txBody>
                  <a:tcPr marL="91440" marR="91440" marT="45720" marB="45720" anchor="ctr">
                    <a:solidFill>
                      <a:srgbClr val="004D73"/>
                    </a:solidFill>
                  </a:tcPr>
                </a:tc>
              </a:tr>
              <a:tr h="650081">
                <a:tc>
                  <a:txBody>
                    <a:bodyPr lIns="95250" tIns="95250" rIns="95250" bIns="95250">
                      <a:noAutofit/>
                    </a:bodyPr>
                    <a:lstStyle/>
                    <a:p>
                      <a:pPr algn="l">
                        <a:buNone/>
                      </a:pPr>
                      <a:r>
                        <a:rPr sz="2100" b="1">
                          <a:solidFill>
                            <a:srgbClr val="182C43"/>
                          </a:solidFill>
                          <a:latin typeface="Arial"/>
                          <a:ea typeface="Arial"/>
                          <a:cs typeface="Arial"/>
                        </a:rPr>
                        <a:t>WhatsApp group</a:t>
                      </a:r>
                    </a:p>
                  </a:txBody>
                  <a:tcPr marL="91440" marR="91440" marT="45720" marB="45720" anchor="ctr">
                    <a:solidFill>
                      <a:srgbClr val="FFFFFF"/>
                    </a:solidFill>
                  </a:tcPr>
                </a:tc>
                <a:tc>
                  <a:txBody>
                    <a:bodyPr lIns="95250" tIns="95250" rIns="95250" bIns="95250">
                      <a:noAutofit/>
                    </a:bodyPr>
                    <a:lstStyle/>
                    <a:p>
                      <a:pPr algn="l">
                        <a:buNone/>
                      </a:pPr>
                      <a:r>
                        <a:rPr sz="2100" b="0">
                          <a:solidFill>
                            <a:srgbClr val="182C43"/>
                          </a:solidFill>
                          <a:latin typeface="Arial"/>
                          <a:ea typeface="Arial"/>
                          <a:cs typeface="Arial"/>
                        </a:rPr>
                        <a:t>Event details, meeting announcements and schedule changes</a:t>
                      </a:r>
                    </a:p>
                  </a:txBody>
                  <a:tcPr marL="91440" marR="91440" marT="45720" marB="45720" anchor="ctr">
                    <a:solidFill>
                      <a:srgbClr val="FFFFFF"/>
                    </a:solidFill>
                  </a:tcPr>
                </a:tc>
              </a:tr>
              <a:tr h="650081">
                <a:tc>
                  <a:txBody>
                    <a:bodyPr lIns="95250" tIns="95250" rIns="95250" bIns="95250">
                      <a:noAutofit/>
                    </a:bodyPr>
                    <a:lstStyle/>
                    <a:p>
                      <a:pPr algn="l">
                        <a:buNone/>
                      </a:pPr>
                      <a:r>
                        <a:rPr sz="2100" b="1">
                          <a:solidFill>
                            <a:srgbClr val="182C43"/>
                          </a:solidFill>
                          <a:latin typeface="Arial"/>
                          <a:ea typeface="Arial"/>
                          <a:cs typeface="Arial"/>
                        </a:rPr>
                        <a:t>Discord: setup pending</a:t>
                      </a:r>
                    </a:p>
                  </a:txBody>
                  <a:tcPr marL="91440" marR="91440" marT="45720" marB="45720" anchor="ctr">
                    <a:solidFill>
                      <a:srgbClr val="F1F4F7"/>
                    </a:solidFill>
                  </a:tcPr>
                </a:tc>
                <a:tc>
                  <a:txBody>
                    <a:bodyPr lIns="95250" tIns="95250" rIns="95250" bIns="95250">
                      <a:noAutofit/>
                    </a:bodyPr>
                    <a:lstStyle/>
                    <a:p>
                      <a:pPr algn="l">
                        <a:buNone/>
                      </a:pPr>
                      <a:r>
                        <a:rPr sz="2100" b="0">
                          <a:solidFill>
                            <a:srgbClr val="182C43"/>
                          </a:solidFill>
                          <a:latin typeface="Arial"/>
                          <a:ea typeface="Arial"/>
                          <a:cs typeface="Arial"/>
                        </a:rPr>
                        <a:t>Workflow, research resources, team discussion and support</a:t>
                      </a:r>
                    </a:p>
                  </a:txBody>
                  <a:tcPr marL="91440" marR="91440" marT="45720" marB="45720" anchor="ctr">
                    <a:solidFill>
                      <a:srgbClr val="F1F4F7"/>
                    </a:solidFill>
                  </a:tcPr>
                </a:tc>
              </a:tr>
              <a:tr h="650081">
                <a:tc>
                  <a:txBody>
                    <a:bodyPr lIns="95250" tIns="95250" rIns="95250" bIns="95250">
                      <a:noAutofit/>
                    </a:bodyPr>
                    <a:lstStyle/>
                    <a:p>
                      <a:pPr algn="l">
                        <a:buNone/>
                      </a:pPr>
                      <a:r>
                        <a:rPr sz="2100" b="1">
                          <a:solidFill>
                            <a:srgbClr val="182C43"/>
                          </a:solidFill>
                          <a:latin typeface="Arial"/>
                          <a:ea typeface="Arial"/>
                          <a:cs typeface="Arial"/>
                        </a:rPr>
                        <a:t>GitHub</a:t>
                      </a:r>
                    </a:p>
                  </a:txBody>
                  <a:tcPr marL="91440" marR="91440" marT="45720" marB="45720" anchor="ctr">
                    <a:solidFill>
                      <a:srgbClr val="FFFFFF"/>
                    </a:solidFill>
                  </a:tcPr>
                </a:tc>
                <a:tc>
                  <a:txBody>
                    <a:bodyPr lIns="95250" tIns="95250" rIns="95250" bIns="95250">
                      <a:noAutofit/>
                    </a:bodyPr>
                    <a:lstStyle/>
                    <a:p>
                      <a:pPr algn="l">
                        <a:buNone/>
                      </a:pPr>
                      <a:r>
                        <a:rPr sz="2100" b="0">
                          <a:solidFill>
                            <a:srgbClr val="182C43"/>
                          </a:solidFill>
                          <a:latin typeface="Arial"/>
                          <a:ea typeface="Arial"/>
                          <a:cs typeface="Arial"/>
                        </a:rPr>
                        <a:t>Code, issues, pull requests, configurations and experiment reports</a:t>
                      </a:r>
                    </a:p>
                  </a:txBody>
                  <a:tcPr marL="91440" marR="91440" marT="45720" marB="45720" anchor="ctr">
                    <a:solidFill>
                      <a:srgbClr val="FFFFFF"/>
                    </a:solidFill>
                  </a:tcPr>
                </a:tc>
              </a:tr>
            </a:tbl>
          </a:graphicData>
        </a:graphic>
      </p:graphicFrame>
      <p:sp>
        <p:nvSpPr>
          <p:cNvPr id="7" name="Next coordination task: finish Disc">
            <a:extLst xmlns:a="http://schemas.openxmlformats.org/drawingml/2006/main">
              <a:ext uri="{FF2B5EF4-FFF2-40B4-BE49-F238E27FC236}">
                <a16:creationId xmlns:a16="http://schemas.microsoft.com/office/drawing/2014/main" id="{69FDEBE8-7CBE-44BB-9160-E56143804F14}"/>
              </a:ext>
            </a:extLst>
          </p:cNvPr>
          <p:cNvSpPr>
            <a:spLocks xmlns:a="http://schemas.openxmlformats.org/drawingml/2006/main" noGrp="1"/>
          </p:cNvSpPr>
          <p:nvPr/>
        </p:nvSpPr>
        <p:spPr>
          <a:xfrm xmlns:a="http://schemas.openxmlformats.org/drawingml/2006/main">
            <a:off x="609600" y="52292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2250" b="1">
                <a:solidFill>
                  <a:srgbClr val="004D73"/>
                </a:solidFill>
                <a:latin typeface="Arial"/>
                <a:ea typeface="Arial"/>
                <a:cs typeface="Arial"/>
              </a:defRPr>
            </a:defPPr>
          </a:lstStyle>
          <a:p xmlns:a="http://schemas.openxmlformats.org/drawingml/2006/main">
            <a:pPr algn="l">
              <a:buNone/>
              <a:defRPr sz="2250" b="1">
                <a:solidFill>
                  <a:srgbClr val="004D73"/>
                </a:solidFill>
                <a:latin typeface="Arial"/>
                <a:ea typeface="Arial"/>
                <a:cs typeface="Arial"/>
              </a:defRPr>
            </a:pPr>
            <a:r>
              <a:rPr sz="2250" b="1">
                <a:solidFill>
                  <a:srgbClr val="004D73"/>
                </a:solidFill>
                <a:latin typeface="Arial"/>
                <a:ea typeface="Arial"/>
                <a:cs typeface="Arial"/>
              </a:rPr>
              <a:t>Next coordination task: finish Discord setup and share the invitation.</a:t>
            </a:r>
          </a:p>
        </p:txBody>
      </p:sp>
    </p:spTree>
    <p:extLst>
      <p:ext uri="{BB962C8B-B14F-4D97-AF65-F5344CB8AC3E}">
        <p14:creationId xmlns:p14="http://schemas.microsoft.com/office/powerpoint/2010/main" val="183358811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DICATED TEAM TIME">
            <a:extLst xmlns:a="http://schemas.openxmlformats.org/drawingml/2006/main">
              <a:ext uri="{FF2B5EF4-FFF2-40B4-BE49-F238E27FC236}">
                <a16:creationId xmlns:a16="http://schemas.microsoft.com/office/drawing/2014/main" id="{8E347836-74A2-46BD-AA31-DED5017092D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DEDICATED TEAM TIME</a:t>
            </a:r>
          </a:p>
        </p:txBody>
      </p:sp>
      <p:sp>
        <p:nvSpPr>
          <p:cNvPr id="2" name="Slide title">
            <a:extLst xmlns:a="http://schemas.openxmlformats.org/drawingml/2006/main">
              <a:ext uri="{FF2B5EF4-FFF2-40B4-BE49-F238E27FC236}">
                <a16:creationId xmlns:a16="http://schemas.microsoft.com/office/drawing/2014/main" id="{42B79201-D609-4488-8C11-6B0A68E0F392}"/>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Assigned-team research and first experiment</a:t>
            </a:r>
          </a:p>
        </p:txBody>
      </p:sp>
      <p:sp>
        <p:nvSpPr>
          <p:cNvPr id="3" name="SHPE CAPITAL    OCTOBER 13, 2026">
            <a:extLst xmlns:a="http://schemas.openxmlformats.org/drawingml/2006/main">
              <a:ext uri="{FF2B5EF4-FFF2-40B4-BE49-F238E27FC236}">
                <a16:creationId xmlns:a16="http://schemas.microsoft.com/office/drawing/2014/main" id="{70EF110A-69FD-4582-97D9-DC848358F8B0}"/>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30–60 min">
            <a:extLst xmlns:a="http://schemas.openxmlformats.org/drawingml/2006/main">
              <a:ext uri="{FF2B5EF4-FFF2-40B4-BE49-F238E27FC236}">
                <a16:creationId xmlns:a16="http://schemas.microsoft.com/office/drawing/2014/main" id="{AFB9507F-73E0-4FBB-AEB1-22BE33F19101}"/>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30:00-60:00</a:t>
            </a:r>
          </a:p>
        </p:txBody>
      </p:sp>
      <p:sp>
        <p:nvSpPr>
          <p:cNvPr id="5" name="17">
            <a:extLst xmlns:a="http://schemas.openxmlformats.org/drawingml/2006/main">
              <a:ext uri="{FF2B5EF4-FFF2-40B4-BE49-F238E27FC236}">
                <a16:creationId xmlns:a16="http://schemas.microsoft.com/office/drawing/2014/main" id="{44BB0FC1-681A-46B7-B957-49CD728F5D0E}"/>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23</a:t>
            </a:r>
          </a:p>
        </p:txBody>
      </p:sp>
      <p:graphicFrame>
        <p:nvGraphicFramePr>
          <p:cNvPr id="6" name="">
            <a:extLst xmlns:a="http://schemas.openxmlformats.org/drawingml/2006/main">
              <a:ext uri="{FF2B5EF4-FFF2-40B4-BE49-F238E27FC236}">
                <a16:creationId xmlns:a16="http://schemas.microsoft.com/office/drawing/2014/main" id="{483A13B3-DEBF-47ED-8A7C-B8F02B19272F}"/>
              </a:ext>
            </a:extLst>
          </p:cNvPr>
          <p:cNvGraphicFramePr/>
          <p:nvPr/>
        </p:nvGraphicFramePr>
        <p:xfrm>
          <a:off xmlns:a="http://schemas.openxmlformats.org/drawingml/2006/main" x="609600" y="1885950"/>
          <a:ext xmlns:a="http://schemas.openxmlformats.org/drawingml/2006/main" cx="10972800" cy="3676650"/>
        </p:xfrm>
        <a:graphic xmlns:a="http://schemas.openxmlformats.org/drawingml/2006/main">
          <a:graphicData uri="http://schemas.openxmlformats.org/drawingml/2006/table">
            <a:tbl>
              <a:tblPr firstRow="1" bandRow="0"/>
              <a:tblGrid>
                <a:gridCol w="1857375"/>
                <a:gridCol w="3600450"/>
                <a:gridCol w="5514975"/>
              </a:tblGrid>
              <a:tr h="612775">
                <a:tc>
                  <a:txBody>
                    <a:bodyPr lIns="95250" tIns="95250" rIns="95250" bIns="95250">
                      <a:noAutofit/>
                    </a:bodyPr>
                    <a:lstStyle/>
                    <a:p>
                      <a:pPr algn="l">
                        <a:buNone/>
                      </a:pPr>
                      <a:r>
                        <a:rPr sz="1950" b="1">
                          <a:solidFill>
                            <a:srgbClr val="FFFFFF"/>
                          </a:solidFill>
                          <a:latin typeface="Arial"/>
                          <a:ea typeface="Arial"/>
                          <a:cs typeface="Arial"/>
                        </a:rPr>
                        <a:t>Time</a:t>
                      </a:r>
                    </a:p>
                  </a:txBody>
                  <a:tcPr marL="91440" marR="91440" marT="45720" marB="45720" anchor="ctr">
                    <a:solidFill>
                      <a:srgbClr val="004D73"/>
                    </a:solidFill>
                  </a:tcPr>
                </a:tc>
                <a:tc>
                  <a:txBody>
                    <a:bodyPr lIns="95250" tIns="95250" rIns="95250" bIns="95250">
                      <a:noAutofit/>
                    </a:bodyPr>
                    <a:lstStyle/>
                    <a:p>
                      <a:pPr algn="l">
                        <a:buNone/>
                      </a:pPr>
                      <a:r>
                        <a:rPr sz="1950" b="1">
                          <a:solidFill>
                            <a:srgbClr val="FFFFFF"/>
                          </a:solidFill>
                          <a:latin typeface="Arial"/>
                          <a:ea typeface="Arial"/>
                          <a:cs typeface="Arial"/>
                        </a:rPr>
                        <a:t>Activity</a:t>
                      </a:r>
                    </a:p>
                  </a:txBody>
                  <a:tcPr marL="91440" marR="91440" marT="45720" marB="45720" anchor="ctr">
                    <a:solidFill>
                      <a:srgbClr val="004D73"/>
                    </a:solidFill>
                  </a:tcPr>
                </a:tc>
                <a:tc>
                  <a:txBody>
                    <a:bodyPr lIns="95250" tIns="95250" rIns="95250" bIns="95250">
                      <a:noAutofit/>
                    </a:bodyPr>
                    <a:lstStyle/>
                    <a:p>
                      <a:pPr algn="l">
                        <a:buNone/>
                      </a:pPr>
                      <a:r>
                        <a:rPr sz="1950" b="1">
                          <a:solidFill>
                            <a:srgbClr val="FFFFFF"/>
                          </a:solidFill>
                          <a:latin typeface="Arial"/>
                          <a:ea typeface="Arial"/>
                          <a:cs typeface="Arial"/>
                        </a:rPr>
                        <a:t>Output</a:t>
                      </a:r>
                    </a:p>
                  </a:txBody>
                  <a:tcPr marL="91440" marR="91440" marT="45720" marB="45720" anchor="ctr">
                    <a:solidFill>
                      <a:srgbClr val="004D73"/>
                    </a:solidFill>
                  </a:tcPr>
                </a:tc>
              </a:tr>
              <a:tr h="612775">
                <a:tc>
                  <a:txBody>
                    <a:bodyPr lIns="95250" tIns="95250" rIns="95250" bIns="95250">
                      <a:noAutofit/>
                    </a:bodyPr>
                    <a:lstStyle/>
                    <a:p>
                      <a:pPr algn="l">
                        <a:buNone/>
                      </a:pPr>
                      <a:r>
                        <a:rPr sz="1950" b="1">
                          <a:solidFill>
                            <a:srgbClr val="182C43"/>
                          </a:solidFill>
                          <a:latin typeface="Arial"/>
                          <a:ea typeface="Arial"/>
                          <a:cs typeface="Arial"/>
                        </a:rPr>
                        <a:t>5 minutes</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Introductions and interests</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Members, experience and learning goals</a:t>
                      </a:r>
                    </a:p>
                  </a:txBody>
                  <a:tcPr marL="91440" marR="91440" marT="45720" marB="45720" anchor="ctr">
                    <a:solidFill>
                      <a:srgbClr val="FFFFFF"/>
                    </a:solidFill>
                  </a:tcPr>
                </a:tc>
              </a:tr>
              <a:tr h="612775">
                <a:tc>
                  <a:txBody>
                    <a:bodyPr lIns="95250" tIns="95250" rIns="95250" bIns="95250">
                      <a:noAutofit/>
                    </a:bodyPr>
                    <a:lstStyle/>
                    <a:p>
                      <a:pPr algn="l">
                        <a:buNone/>
                      </a:pPr>
                      <a:r>
                        <a:rPr sz="1950" b="1">
                          <a:solidFill>
                            <a:srgbClr val="182C43"/>
                          </a:solidFill>
                          <a:latin typeface="Arial"/>
                          <a:ea typeface="Arial"/>
                          <a:cs typeface="Arial"/>
                        </a:rPr>
                        <a:t>4 minutes</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Team roles</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Research, implementation and validation owners</a:t>
                      </a:r>
                    </a:p>
                  </a:txBody>
                  <a:tcPr marL="91440" marR="91440" marT="45720" marB="45720" anchor="ctr">
                    <a:solidFill>
                      <a:srgbClr val="F1F4F7"/>
                    </a:solidFill>
                  </a:tcPr>
                </a:tc>
              </a:tr>
              <a:tr h="612775">
                <a:tc>
                  <a:txBody>
                    <a:bodyPr lIns="95250" tIns="95250" rIns="95250" bIns="95250">
                      <a:noAutofit/>
                    </a:bodyPr>
                    <a:lstStyle/>
                    <a:p>
                      <a:pPr algn="l">
                        <a:buNone/>
                      </a:pPr>
                      <a:r>
                        <a:rPr sz="1950" b="1">
                          <a:solidFill>
                            <a:srgbClr val="182C43"/>
                          </a:solidFill>
                          <a:latin typeface="Arial"/>
                          <a:ea typeface="Arial"/>
                          <a:cs typeface="Arial"/>
                        </a:rPr>
                        <a:t>12 minutes</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Assigned research program</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Baseline hypothesis, one enhancement and failure cases</a:t>
                      </a:r>
                    </a:p>
                  </a:txBody>
                  <a:tcPr marL="91440" marR="91440" marT="45720" marB="45720" anchor="ctr">
                    <a:solidFill>
                      <a:srgbClr val="FFFFFF"/>
                    </a:solidFill>
                  </a:tcPr>
                </a:tc>
              </a:tr>
              <a:tr h="612775">
                <a:tc>
                  <a:txBody>
                    <a:bodyPr lIns="95250" tIns="95250" rIns="95250" bIns="95250">
                      <a:noAutofit/>
                    </a:bodyPr>
                    <a:lstStyle/>
                    <a:p>
                      <a:pPr algn="l">
                        <a:buNone/>
                      </a:pPr>
                      <a:r>
                        <a:rPr sz="1950" b="1">
                          <a:solidFill>
                            <a:srgbClr val="182C43"/>
                          </a:solidFill>
                          <a:latin typeface="Arial"/>
                          <a:ea typeface="Arial"/>
                          <a:cs typeface="Arial"/>
                        </a:rPr>
                        <a:t>6 minutes</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First research experiment</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Owners, next-week deliverable and blockers</a:t>
                      </a:r>
                    </a:p>
                  </a:txBody>
                  <a:tcPr marL="91440" marR="91440" marT="45720" marB="45720" anchor="ctr">
                    <a:solidFill>
                      <a:srgbClr val="F1F4F7"/>
                    </a:solidFill>
                  </a:tcPr>
                </a:tc>
              </a:tr>
              <a:tr h="612775">
                <a:tc>
                  <a:txBody>
                    <a:bodyPr lIns="95250" tIns="95250" rIns="95250" bIns="95250">
                      <a:noAutofit/>
                    </a:bodyPr>
                    <a:lstStyle/>
                    <a:p>
                      <a:pPr algn="l">
                        <a:buNone/>
                      </a:pPr>
                      <a:r>
                        <a:rPr sz="1950" b="1">
                          <a:solidFill>
                            <a:srgbClr val="182C43"/>
                          </a:solidFill>
                          <a:latin typeface="Arial"/>
                          <a:ea typeface="Arial"/>
                          <a:cs typeface="Arial"/>
                        </a:rPr>
                        <a:t>3 minutes</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Four report-outs</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45 seconds per team</a:t>
                      </a:r>
                    </a:p>
                  </a:txBody>
                  <a:tcPr marL="91440" marR="91440" marT="45720" marB="45720" anchor="ctr">
                    <a:solidFill>
                      <a:srgbClr val="FFFFFF"/>
                    </a:solidFill>
                  </a:tcPr>
                </a:tc>
              </a:tr>
            </a:tbl>
          </a:graphicData>
        </a:graphic>
      </p:graphicFrame>
      <p:sp>
        <p:nvSpPr>
          <p:cNvPr id="7" name="Next meeting, October 20: source su">
            <a:extLst xmlns:a="http://schemas.openxmlformats.org/drawingml/2006/main">
              <a:ext uri="{FF2B5EF4-FFF2-40B4-BE49-F238E27FC236}">
                <a16:creationId xmlns:a16="http://schemas.microsoft.com/office/drawing/2014/main" id="{1475B099-1DDF-48EC-9371-5DD49E74835B}"/>
              </a:ext>
            </a:extLst>
          </p:cNvPr>
          <p:cNvSpPr>
            <a:spLocks xmlns:a="http://schemas.openxmlformats.org/drawingml/2006/main" noGrp="1"/>
          </p:cNvSpPr>
          <p:nvPr/>
        </p:nvSpPr>
        <p:spPr>
          <a:xfrm xmlns:a="http://schemas.openxmlformats.org/drawingml/2006/main">
            <a:off x="609600" y="5915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004D73"/>
                </a:solidFill>
                <a:latin typeface="Arial"/>
                <a:ea typeface="Arial"/>
                <a:cs typeface="Arial"/>
              </a:defRPr>
            </a:defPPr>
          </a:lstStyle>
          <a:p xmlns:a="http://schemas.openxmlformats.org/drawingml/2006/main">
            <a:pPr algn="l">
              <a:buNone/>
              <a:defRPr sz="1800" b="1">
                <a:solidFill>
                  <a:srgbClr val="004D73"/>
                </a:solidFill>
                <a:latin typeface="Arial"/>
                <a:ea typeface="Arial"/>
                <a:cs typeface="Arial"/>
              </a:defRPr>
            </a:pPr>
            <a:r>
              <a:rPr sz="1800" b="1">
                <a:solidFill>
                  <a:srgbClr val="004D73"/>
                </a:solidFill>
                <a:latin typeface="Arial"/>
                <a:ea typeface="Arial"/>
                <a:cs typeface="Arial"/>
              </a:rPr>
              <a:t>October 20: source summary, candidate rules, one worked trade and a first test plan.</a:t>
            </a:r>
          </a:p>
        </p:txBody>
      </p:sp>
    </p:spTree>
    <p:extLst>
      <p:ext uri="{BB962C8B-B14F-4D97-AF65-F5344CB8AC3E}">
        <p14:creationId xmlns:p14="http://schemas.microsoft.com/office/powerpoint/2010/main" val="793872342"/>
      </p:ext>
    </p:extLst>
  </p:cSld>
</p:sld>
</file>

<file path=ppt/slides/slide2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REFERENCE">
            <a:extLst xmlns:a="http://schemas.openxmlformats.org/drawingml/2006/main">
              <a:ext uri="{FF2B5EF4-FFF2-40B4-BE49-F238E27FC236}">
                <a16:creationId xmlns:a16="http://schemas.microsoft.com/office/drawing/2014/main" id="{9C2D5969-96EF-42E8-8970-E74726DFF4FD}"/>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REFERENCE</a:t>
            </a:r>
          </a:p>
        </p:txBody>
      </p:sp>
      <p:sp>
        <p:nvSpPr>
          <p:cNvPr id="2" name="Slide title">
            <a:extLst xmlns:a="http://schemas.openxmlformats.org/drawingml/2006/main">
              <a:ext uri="{FF2B5EF4-FFF2-40B4-BE49-F238E27FC236}">
                <a16:creationId xmlns:a16="http://schemas.microsoft.com/office/drawing/2014/main" id="{24C74216-214B-47E4-97EE-7F9751D80FF8}"/>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Online paper readiness checklist</a:t>
            </a:r>
          </a:p>
        </p:txBody>
      </p:sp>
      <p:sp>
        <p:nvSpPr>
          <p:cNvPr id="3" name="SHPE CAPITAL    OCTOBER 13, 2026">
            <a:extLst xmlns:a="http://schemas.openxmlformats.org/drawingml/2006/main">
              <a:ext uri="{FF2B5EF4-FFF2-40B4-BE49-F238E27FC236}">
                <a16:creationId xmlns:a16="http://schemas.microsoft.com/office/drawing/2014/main" id="{80099D01-0409-4C81-8C68-77F9C136E66F}"/>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34DCCB77-0D33-4F2B-902C-74F7CA373FFA}"/>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8">
            <a:extLst xmlns:a="http://schemas.openxmlformats.org/drawingml/2006/main">
              <a:ext uri="{FF2B5EF4-FFF2-40B4-BE49-F238E27FC236}">
                <a16:creationId xmlns:a16="http://schemas.microsoft.com/office/drawing/2014/main" id="{42032CCA-72AB-4B06-8A27-2BA723924008}"/>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24</a:t>
            </a:r>
          </a:p>
        </p:txBody>
      </p:sp>
      <p:graphicFrame>
        <p:nvGraphicFramePr>
          <p:cNvPr id="6" name="">
            <a:extLst xmlns:a="http://schemas.openxmlformats.org/drawingml/2006/main">
              <a:ext uri="{FF2B5EF4-FFF2-40B4-BE49-F238E27FC236}">
                <a16:creationId xmlns:a16="http://schemas.microsoft.com/office/drawing/2014/main" id="{757E198B-7C3B-4A33-A565-9729261CE2EE}"/>
              </a:ext>
            </a:extLst>
          </p:cNvPr>
          <p:cNvGraphicFramePr/>
          <p:nvPr/>
        </p:nvGraphicFramePr>
        <p:xfrm>
          <a:off xmlns:a="http://schemas.openxmlformats.org/drawingml/2006/main" x="609600" y="1971675"/>
          <a:ext xmlns:a="http://schemas.openxmlformats.org/drawingml/2006/main" cx="10972800" cy="3724275"/>
        </p:xfrm>
        <a:graphic xmlns:a="http://schemas.openxmlformats.org/drawingml/2006/main">
          <a:graphicData uri="http://schemas.openxmlformats.org/drawingml/2006/table">
            <a:tbl>
              <a:tblPr firstRow="1" bandRow="0"/>
              <a:tblGrid>
                <a:gridCol w="3514725"/>
                <a:gridCol w="7458075"/>
              </a:tblGrid>
              <a:tr h="620713">
                <a:tc>
                  <a:txBody>
                    <a:bodyPr lIns="95250" tIns="95250" rIns="95250" bIns="95250">
                      <a:noAutofit/>
                    </a:bodyPr>
                    <a:lstStyle/>
                    <a:p>
                      <a:pPr algn="l">
                        <a:buNone/>
                      </a:pPr>
                      <a:r>
                        <a:rPr sz="1950" b="1">
                          <a:solidFill>
                            <a:srgbClr val="FFFFFF"/>
                          </a:solidFill>
                          <a:latin typeface="Arial"/>
                          <a:ea typeface="Arial"/>
                          <a:cs typeface="Arial"/>
                        </a:rPr>
                        <a:t>Requirement</a:t>
                      </a:r>
                    </a:p>
                  </a:txBody>
                  <a:tcPr marL="91440" marR="91440" marT="45720" marB="45720" anchor="ctr">
                    <a:solidFill>
                      <a:srgbClr val="004D73"/>
                    </a:solidFill>
                  </a:tcPr>
                </a:tc>
                <a:tc>
                  <a:txBody>
                    <a:bodyPr lIns="95250" tIns="95250" rIns="95250" bIns="95250">
                      <a:noAutofit/>
                    </a:bodyPr>
                    <a:lstStyle/>
                    <a:p>
                      <a:pPr algn="l">
                        <a:buNone/>
                      </a:pPr>
                      <a:r>
                        <a:rPr sz="1950" b="1">
                          <a:solidFill>
                            <a:srgbClr val="FFFFFF"/>
                          </a:solidFill>
                          <a:latin typeface="Arial"/>
                          <a:ea typeface="Arial"/>
                          <a:cs typeface="Arial"/>
                        </a:rPr>
                        <a:t>Evidence</a:t>
                      </a:r>
                    </a:p>
                  </a:txBody>
                  <a:tcPr marL="91440" marR="91440" marT="45720" marB="45720" anchor="ctr">
                    <a:solidFill>
                      <a:srgbClr val="004D73"/>
                    </a:solidFill>
                  </a:tcPr>
                </a:tc>
              </a:tr>
              <a:tr h="620713">
                <a:tc>
                  <a:txBody>
                    <a:bodyPr lIns="95250" tIns="95250" rIns="95250" bIns="95250">
                      <a:noAutofit/>
                    </a:bodyPr>
                    <a:lstStyle/>
                    <a:p>
                      <a:pPr algn="l">
                        <a:buNone/>
                      </a:pPr>
                      <a:r>
                        <a:rPr sz="1950" b="1">
                          <a:solidFill>
                            <a:srgbClr val="182C43"/>
                          </a:solidFill>
                          <a:latin typeface="Arial"/>
                          <a:ea typeface="Arial"/>
                          <a:cs typeface="Arial"/>
                        </a:rPr>
                        <a:t>Versioned strategy</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Exact rules/configuration and reproducible historical report</a:t>
                      </a:r>
                    </a:p>
                  </a:txBody>
                  <a:tcPr marL="91440" marR="91440" marT="45720" marB="45720" anchor="ctr">
                    <a:solidFill>
                      <a:srgbClr val="FFFFFF"/>
                    </a:solidFill>
                  </a:tcPr>
                </a:tc>
              </a:tr>
              <a:tr h="620713">
                <a:tc>
                  <a:txBody>
                    <a:bodyPr lIns="95250" tIns="95250" rIns="95250" bIns="95250">
                      <a:noAutofit/>
                    </a:bodyPr>
                    <a:lstStyle/>
                    <a:p>
                      <a:pPr algn="l">
                        <a:buNone/>
                      </a:pPr>
                      <a:r>
                        <a:rPr sz="1950" b="1">
                          <a:solidFill>
                            <a:srgbClr val="182C43"/>
                          </a:solidFill>
                          <a:latin typeface="Arial"/>
                          <a:ea typeface="Arial"/>
                          <a:cs typeface="Arial"/>
                        </a:rPr>
                        <a:t>Risk and order checks</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Reviewed limits, exits, shorting and failure scenarios</a:t>
                      </a:r>
                    </a:p>
                  </a:txBody>
                  <a:tcPr marL="91440" marR="91440" marT="45720" marB="45720" anchor="ctr">
                    <a:solidFill>
                      <a:srgbClr val="F1F4F7"/>
                    </a:solidFill>
                  </a:tcPr>
                </a:tc>
              </a:tr>
              <a:tr h="620713">
                <a:tc>
                  <a:txBody>
                    <a:bodyPr lIns="95250" tIns="95250" rIns="95250" bIns="95250">
                      <a:noAutofit/>
                    </a:bodyPr>
                    <a:lstStyle/>
                    <a:p>
                      <a:pPr algn="l">
                        <a:buNone/>
                      </a:pPr>
                      <a:r>
                        <a:rPr sz="1950" b="1">
                          <a:solidFill>
                            <a:srgbClr val="182C43"/>
                          </a:solidFill>
                          <a:latin typeface="Arial"/>
                          <a:ea typeface="Arial"/>
                          <a:cs typeface="Arial"/>
                        </a:rPr>
                        <a:t>Local and Alpaca paper test</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Verified order path, shutdown and reconciled state</a:t>
                      </a:r>
                    </a:p>
                  </a:txBody>
                  <a:tcPr marL="91440" marR="91440" marT="45720" marB="45720" anchor="ctr">
                    <a:solidFill>
                      <a:srgbClr val="FFFFFF"/>
                    </a:solidFill>
                  </a:tcPr>
                </a:tc>
              </a:tr>
              <a:tr h="620713">
                <a:tc>
                  <a:txBody>
                    <a:bodyPr lIns="95250" tIns="95250" rIns="95250" bIns="95250">
                      <a:noAutofit/>
                    </a:bodyPr>
                    <a:lstStyle/>
                    <a:p>
                      <a:pPr algn="l">
                        <a:buNone/>
                      </a:pPr>
                      <a:r>
                        <a:rPr sz="1950" b="1">
                          <a:solidFill>
                            <a:srgbClr val="182C43"/>
                          </a:solidFill>
                          <a:latin typeface="Arial"/>
                          <a:ea typeface="Arial"/>
                          <a:cs typeface="Arial"/>
                        </a:rPr>
                        <a:t>Monitoring coverage</a:t>
                      </a:r>
                    </a:p>
                  </a:txBody>
                  <a:tcPr marL="91440" marR="91440" marT="45720" marB="45720" anchor="ctr">
                    <a:solidFill>
                      <a:srgbClr val="F1F4F7"/>
                    </a:solidFill>
                  </a:tcPr>
                </a:tc>
                <a:tc>
                  <a:txBody>
                    <a:bodyPr lIns="95250" tIns="95250" rIns="95250" bIns="95250">
                      <a:noAutofit/>
                    </a:bodyPr>
                    <a:lstStyle/>
                    <a:p>
                      <a:pPr algn="l">
                        <a:buNone/>
                      </a:pPr>
                      <a:r>
                        <a:rPr sz="1950" b="0">
                          <a:solidFill>
                            <a:srgbClr val="182C43"/>
                          </a:solidFill>
                          <a:latin typeface="Arial"/>
                          <a:ea typeface="Arial"/>
                          <a:cs typeface="Arial"/>
                        </a:rPr>
                        <a:t>Alerts, logs, owner, backup and recovery procedure</a:t>
                      </a:r>
                    </a:p>
                  </a:txBody>
                  <a:tcPr marL="91440" marR="91440" marT="45720" marB="45720" anchor="ctr">
                    <a:solidFill>
                      <a:srgbClr val="F1F4F7"/>
                    </a:solidFill>
                  </a:tcPr>
                </a:tc>
              </a:tr>
              <a:tr h="620713">
                <a:tc>
                  <a:txBody>
                    <a:bodyPr lIns="95250" tIns="95250" rIns="95250" bIns="95250">
                      <a:noAutofit/>
                    </a:bodyPr>
                    <a:lstStyle/>
                    <a:p>
                      <a:pPr algn="l">
                        <a:buNone/>
                      </a:pPr>
                      <a:r>
                        <a:rPr sz="1950" b="1">
                          <a:solidFill>
                            <a:srgbClr val="182C43"/>
                          </a:solidFill>
                          <a:latin typeface="Arial"/>
                          <a:ea typeface="Arial"/>
                          <a:cs typeface="Arial"/>
                        </a:rPr>
                        <a:t>Evaluation plan</a:t>
                      </a:r>
                    </a:p>
                  </a:txBody>
                  <a:tcPr marL="91440" marR="91440" marT="45720" marB="45720" anchor="ctr">
                    <a:solidFill>
                      <a:srgbClr val="FFFFFF"/>
                    </a:solidFill>
                  </a:tcPr>
                </a:tc>
                <a:tc>
                  <a:txBody>
                    <a:bodyPr lIns="95250" tIns="95250" rIns="95250" bIns="95250">
                      <a:noAutofit/>
                    </a:bodyPr>
                    <a:lstStyle/>
                    <a:p>
                      <a:pPr algn="l">
                        <a:buNone/>
                      </a:pPr>
                      <a:r>
                        <a:rPr sz="1950" b="0">
                          <a:solidFill>
                            <a:srgbClr val="182C43"/>
                          </a:solidFill>
                          <a:latin typeface="Arial"/>
                          <a:ea typeface="Arial"/>
                          <a:cs typeface="Arial"/>
                        </a:rPr>
                        <a:t>Fixed baseline, dated reports and separately labeled variants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30626370"/>
      </p:ext>
    </p:extLst>
  </p:cSld>
</p:sld>
</file>

<file path=ppt/slides/slide25.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REFERENCE">
            <a:extLst xmlns:a="http://schemas.openxmlformats.org/drawingml/2006/main">
              <a:ext uri="{FF2B5EF4-FFF2-40B4-BE49-F238E27FC236}">
                <a16:creationId xmlns:a16="http://schemas.microsoft.com/office/drawing/2014/main" id="{7B17E73C-05D8-49F6-BE17-0F06EFA7A917}"/>
              </a:ext>
            </a:extLst>
          </p:cNvPr>
          <p:cNvSpPr>
            <a:spLocks xmlns:a="http://schemas.openxmlformats.org/drawingml/2006/main" noGrp="1"/>
          </p:cNvSpPr>
          <p:nvPr/>
        </p:nvSpPr>
        <p:spPr>
          <a:xfrm xmlns:a="http://schemas.openxmlformats.org/drawingml/2006/main">
            <a:off x="609600" y="28575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350" b="1">
                <a:solidFill>
                  <a:srgbClr val="FF5400"/>
                </a:solidFill>
                <a:latin typeface="Arial"/>
                <a:ea typeface="Arial"/>
                <a:cs typeface="Arial"/>
              </a:defRPr>
            </a:defPPr>
          </a:lstStyle>
          <a:p xmlns:a="http://schemas.openxmlformats.org/drawingml/2006/main">
            <a:pPr algn="l">
              <a:buNone/>
              <a:defRPr sz="1350" b="1">
                <a:solidFill>
                  <a:srgbClr val="FF5400"/>
                </a:solidFill>
                <a:latin typeface="Arial"/>
                <a:ea typeface="Arial"/>
                <a:cs typeface="Arial"/>
              </a:defRPr>
            </a:pPr>
            <a:r>
              <a:rPr sz="1350" b="1">
                <a:solidFill>
                  <a:srgbClr val="FF5400"/>
                </a:solidFill>
                <a:latin typeface="Arial"/>
                <a:ea typeface="Arial"/>
                <a:cs typeface="Arial"/>
              </a:rPr>
              <a:t>REFERENCE</a:t>
            </a:r>
          </a:p>
        </p:txBody>
      </p:sp>
      <p:sp>
        <p:nvSpPr>
          <p:cNvPr id="2" name="Slide title">
            <a:extLst xmlns:a="http://schemas.openxmlformats.org/drawingml/2006/main">
              <a:ext uri="{FF2B5EF4-FFF2-40B4-BE49-F238E27FC236}">
                <a16:creationId xmlns:a16="http://schemas.microsoft.com/office/drawing/2014/main" id="{F2E505CE-C768-4A01-8192-571651EF56D9}"/>
              </a:ext>
            </a:extLst>
          </p:cNvPr>
          <p:cNvSpPr>
            <a:spLocks xmlns:a="http://schemas.openxmlformats.org/drawingml/2006/main" noGrp="1"/>
          </p:cNvSpPr>
          <p:nvPr/>
        </p:nvSpPr>
        <p:spPr>
          <a:xfrm xmlns:a="http://schemas.openxmlformats.org/drawingml/2006/main">
            <a:off x="609600" y="685800"/>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3450" b="1">
                <a:solidFill>
                  <a:srgbClr val="004D73"/>
                </a:solidFill>
                <a:latin typeface="Arial"/>
                <a:ea typeface="Arial"/>
                <a:cs typeface="Arial"/>
              </a:defRPr>
            </a:defPPr>
          </a:lstStyle>
          <a:p xmlns:a="http://schemas.openxmlformats.org/drawingml/2006/main">
            <a:pPr algn="l">
              <a:buNone/>
              <a:defRPr sz="3450" b="1">
                <a:solidFill>
                  <a:srgbClr val="004D73"/>
                </a:solidFill>
                <a:latin typeface="Arial"/>
                <a:ea typeface="Arial"/>
                <a:cs typeface="Arial"/>
              </a:defRPr>
            </a:pPr>
            <a:r>
              <a:rPr sz="3450" b="1">
                <a:solidFill>
                  <a:srgbClr val="004D73"/>
                </a:solidFill>
                <a:latin typeface="Arial"/>
                <a:ea typeface="Arial"/>
                <a:cs typeface="Arial"/>
              </a:rPr>
              <a:t>Research and project references</a:t>
            </a:r>
          </a:p>
        </p:txBody>
      </p:sp>
      <p:sp>
        <p:nvSpPr>
          <p:cNvPr id="3" name="SHPE CAPITAL    OCTOBER 13, 2026">
            <a:extLst xmlns:a="http://schemas.openxmlformats.org/drawingml/2006/main">
              <a:ext uri="{FF2B5EF4-FFF2-40B4-BE49-F238E27FC236}">
                <a16:creationId xmlns:a16="http://schemas.microsoft.com/office/drawing/2014/main" id="{780318D6-4686-43AF-8BC0-790B32D4C78B}"/>
              </a:ext>
            </a:extLst>
          </p:cNvPr>
          <p:cNvSpPr>
            <a:spLocks xmlns:a="http://schemas.openxmlformats.org/drawingml/2006/main" noGrp="1"/>
          </p:cNvSpPr>
          <p:nvPr/>
        </p:nvSpPr>
        <p:spPr>
          <a:xfrm xmlns:a="http://schemas.openxmlformats.org/drawingml/2006/main">
            <a:off x="609600" y="6438900"/>
            <a:ext cx="7715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SHPE CAPITAL    OCTOBER 13, 2026</a:t>
            </a:r>
          </a:p>
        </p:txBody>
      </p:sp>
      <p:sp>
        <p:nvSpPr>
          <p:cNvPr id="4" name="Reference">
            <a:extLst xmlns:a="http://schemas.openxmlformats.org/drawingml/2006/main">
              <a:ext uri="{FF2B5EF4-FFF2-40B4-BE49-F238E27FC236}">
                <a16:creationId xmlns:a16="http://schemas.microsoft.com/office/drawing/2014/main" id="{169AA308-E09C-4659-A002-92054D84C9C3}"/>
              </a:ext>
            </a:extLst>
          </p:cNvPr>
          <p:cNvSpPr>
            <a:spLocks xmlns:a="http://schemas.openxmlformats.org/drawingml/2006/main" noGrp="1"/>
          </p:cNvSpPr>
          <p:nvPr/>
        </p:nvSpPr>
        <p:spPr>
          <a:xfrm xmlns:a="http://schemas.openxmlformats.org/drawingml/2006/main">
            <a:off x="9029700" y="6438900"/>
            <a:ext cx="2038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Reference</a:t>
            </a:r>
          </a:p>
        </p:txBody>
      </p:sp>
      <p:sp>
        <p:nvSpPr>
          <p:cNvPr id="5" name="19">
            <a:extLst xmlns:a="http://schemas.openxmlformats.org/drawingml/2006/main">
              <a:ext uri="{FF2B5EF4-FFF2-40B4-BE49-F238E27FC236}">
                <a16:creationId xmlns:a16="http://schemas.microsoft.com/office/drawing/2014/main" id="{5514C287-2F99-4EF4-8A03-01D6EFDD68C2}"/>
              </a:ext>
            </a:extLst>
          </p:cNvPr>
          <p:cNvSpPr>
            <a:spLocks xmlns:a="http://schemas.openxmlformats.org/drawingml/2006/main" noGrp="1"/>
          </p:cNvSpPr>
          <p:nvPr/>
        </p:nvSpPr>
        <p:spPr>
          <a:xfrm xmlns:a="http://schemas.openxmlformats.org/drawingml/2006/main">
            <a:off x="11201400" y="64389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200" b="0">
                <a:solidFill>
                  <a:srgbClr val="556272"/>
                </a:solidFill>
                <a:latin typeface="Arial"/>
                <a:ea typeface="Arial"/>
                <a:cs typeface="Arial"/>
              </a:defRPr>
            </a:defPPr>
          </a:lstStyle>
          <a:p xmlns:a="http://schemas.openxmlformats.org/drawingml/2006/main">
            <a:pPr algn="l">
              <a:buNone/>
              <a:defRPr sz="1200" b="0">
                <a:solidFill>
                  <a:srgbClr val="556272"/>
                </a:solidFill>
                <a:latin typeface="Arial"/>
                <a:ea typeface="Arial"/>
                <a:cs typeface="Arial"/>
              </a:defRPr>
            </a:pPr>
            <a:r>
              <a:rPr sz="1200" b="0">
                <a:solidFill>
                  <a:srgbClr val="556272"/>
                </a:solidFill>
                <a:latin typeface="Arial"/>
                <a:ea typeface="Arial"/>
                <a:cs typeface="Arial"/>
              </a:rPr>
              <a:t>25</a:t>
            </a:r>
          </a:p>
        </p:txBody>
      </p:sp>
      <p:sp>
        <p:nvSpPr>
          <p:cNvPr id="22" name="Statistical arbitrage">
            <a:extLst xmlns:a="http://schemas.openxmlformats.org/drawingml/2006/main">
              <a:ext uri="{FF2B5EF4-FFF2-40B4-BE49-F238E27FC236}">
                <a16:creationId xmlns:a16="http://schemas.microsoft.com/office/drawing/2014/main" id="{764D3A63-3280-4A82-B75E-D05560A34D83}"/>
              </a:ext>
            </a:extLst>
          </p:cNvPr>
          <p:cNvSpPr>
            <a:spLocks xmlns:a="http://schemas.openxmlformats.org/drawingml/2006/main" noGrp="1"/>
          </p:cNvSpPr>
          <p:nvPr/>
        </p:nvSpPr>
        <p:spPr>
          <a:xfrm xmlns:a="http://schemas.openxmlformats.org/drawingml/2006/main">
            <a:off x="609600" y="16192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Statistical arbitrage</a:t>
            </a:r>
          </a:p>
        </p:txBody>
      </p:sp>
      <p:sp>
        <p:nvSpPr>
          <p:cNvPr id="23" name="">
            <a:extLst xmlns:a="http://schemas.openxmlformats.org/drawingml/2006/main">
              <a:ext uri="{FF2B5EF4-FFF2-40B4-BE49-F238E27FC236}">
                <a16:creationId xmlns:a16="http://schemas.microsoft.com/office/drawing/2014/main" id="{2E4A9901-52BF-4C29-9D68-A28CF77AC7D5}"/>
              </a:ext>
            </a:extLst>
          </p:cNvPr>
          <p:cNvSpPr>
            <a:spLocks xmlns:a="http://schemas.openxmlformats.org/drawingml/2006/main" noGrp="1"/>
          </p:cNvSpPr>
          <p:nvPr/>
        </p:nvSpPr>
        <p:spPr>
          <a:xfrm xmlns:a="http://schemas.openxmlformats.org/drawingml/2006/main">
            <a:off x="3162300" y="16192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1610a3755b1b4c07"/>
              </a:rPr>
              <a:t>Avellaneda and Lee, Statistical Arbitrage</a:t>
            </a:r>
          </a:p>
        </p:txBody>
      </p:sp>
      <p:sp>
        <p:nvSpPr>
          <p:cNvPr id="24" name="Momentum">
            <a:extLst xmlns:a="http://schemas.openxmlformats.org/drawingml/2006/main">
              <a:ext uri="{FF2B5EF4-FFF2-40B4-BE49-F238E27FC236}">
                <a16:creationId xmlns:a16="http://schemas.microsoft.com/office/drawing/2014/main" id="{45C5F74B-41FF-481E-AD41-AD377732E5D6}"/>
              </a:ext>
            </a:extLst>
          </p:cNvPr>
          <p:cNvSpPr>
            <a:spLocks xmlns:a="http://schemas.openxmlformats.org/drawingml/2006/main" noGrp="1"/>
          </p:cNvSpPr>
          <p:nvPr/>
        </p:nvSpPr>
        <p:spPr>
          <a:xfrm xmlns:a="http://schemas.openxmlformats.org/drawingml/2006/main">
            <a:off x="609600" y="20764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Momentum</a:t>
            </a:r>
          </a:p>
        </p:txBody>
      </p:sp>
      <p:sp>
        <p:nvSpPr>
          <p:cNvPr id="25" name="">
            <a:extLst xmlns:a="http://schemas.openxmlformats.org/drawingml/2006/main">
              <a:ext uri="{FF2B5EF4-FFF2-40B4-BE49-F238E27FC236}">
                <a16:creationId xmlns:a16="http://schemas.microsoft.com/office/drawing/2014/main" id="{2846F1CA-83A3-4D13-BE07-A75E2FB1A5E5}"/>
              </a:ext>
            </a:extLst>
          </p:cNvPr>
          <p:cNvSpPr>
            <a:spLocks xmlns:a="http://schemas.openxmlformats.org/drawingml/2006/main" noGrp="1"/>
          </p:cNvSpPr>
          <p:nvPr/>
        </p:nvSpPr>
        <p:spPr>
          <a:xfrm xmlns:a="http://schemas.openxmlformats.org/drawingml/2006/main">
            <a:off x="3162300" y="20764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db0a2ec00e594466"/>
              </a:rPr>
              <a:t>Gao et al., Market Intraday Momentum</a:t>
            </a:r>
          </a:p>
        </p:txBody>
      </p:sp>
      <p:sp>
        <p:nvSpPr>
          <p:cNvPr id="26" name="Microstructure">
            <a:extLst xmlns:a="http://schemas.openxmlformats.org/drawingml/2006/main">
              <a:ext uri="{FF2B5EF4-FFF2-40B4-BE49-F238E27FC236}">
                <a16:creationId xmlns:a16="http://schemas.microsoft.com/office/drawing/2014/main" id="{CFE95ACB-5B97-4ECE-8957-B97117509855}"/>
              </a:ext>
            </a:extLst>
          </p:cNvPr>
          <p:cNvSpPr>
            <a:spLocks xmlns:a="http://schemas.openxmlformats.org/drawingml/2006/main" noGrp="1"/>
          </p:cNvSpPr>
          <p:nvPr/>
        </p:nvSpPr>
        <p:spPr>
          <a:xfrm xmlns:a="http://schemas.openxmlformats.org/drawingml/2006/main">
            <a:off x="609600" y="25336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Microstructure</a:t>
            </a:r>
          </a:p>
        </p:txBody>
      </p:sp>
      <p:sp>
        <p:nvSpPr>
          <p:cNvPr id="27" name="">
            <a:extLst xmlns:a="http://schemas.openxmlformats.org/drawingml/2006/main">
              <a:ext uri="{FF2B5EF4-FFF2-40B4-BE49-F238E27FC236}">
                <a16:creationId xmlns:a16="http://schemas.microsoft.com/office/drawing/2014/main" id="{BA4ED94F-A30F-4C4C-92EF-4F1F0DEEF011}"/>
              </a:ext>
            </a:extLst>
          </p:cNvPr>
          <p:cNvSpPr>
            <a:spLocks xmlns:a="http://schemas.openxmlformats.org/drawingml/2006/main" noGrp="1"/>
          </p:cNvSpPr>
          <p:nvPr/>
        </p:nvSpPr>
        <p:spPr>
          <a:xfrm xmlns:a="http://schemas.openxmlformats.org/drawingml/2006/main">
            <a:off x="3162300" y="25336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f3c41dc7874b4d19"/>
              </a:rPr>
              <a:t>Gould and Bonart, Queue Imbalance</a:t>
            </a:r>
          </a:p>
        </p:txBody>
      </p:sp>
      <p:sp>
        <p:nvSpPr>
          <p:cNvPr id="28" name="Lead-lag">
            <a:extLst xmlns:a="http://schemas.openxmlformats.org/drawingml/2006/main">
              <a:ext uri="{FF2B5EF4-FFF2-40B4-BE49-F238E27FC236}">
                <a16:creationId xmlns:a16="http://schemas.microsoft.com/office/drawing/2014/main" id="{D7183E24-98FF-4DCE-93C8-FF91BB73119D}"/>
              </a:ext>
            </a:extLst>
          </p:cNvPr>
          <p:cNvSpPr>
            <a:spLocks xmlns:a="http://schemas.openxmlformats.org/drawingml/2006/main" noGrp="1"/>
          </p:cNvSpPr>
          <p:nvPr/>
        </p:nvSpPr>
        <p:spPr>
          <a:xfrm xmlns:a="http://schemas.openxmlformats.org/drawingml/2006/main">
            <a:off x="609600" y="29908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Lead-lag</a:t>
            </a:r>
          </a:p>
        </p:txBody>
      </p:sp>
      <p:sp>
        <p:nvSpPr>
          <p:cNvPr id="29" name="">
            <a:extLst xmlns:a="http://schemas.openxmlformats.org/drawingml/2006/main">
              <a:ext uri="{FF2B5EF4-FFF2-40B4-BE49-F238E27FC236}">
                <a16:creationId xmlns:a16="http://schemas.microsoft.com/office/drawing/2014/main" id="{D567A5DE-DEF6-4DD5-A4C0-FB11CAD6EBA5}"/>
              </a:ext>
            </a:extLst>
          </p:cNvPr>
          <p:cNvSpPr>
            <a:spLocks xmlns:a="http://schemas.openxmlformats.org/drawingml/2006/main" noGrp="1"/>
          </p:cNvSpPr>
          <p:nvPr/>
        </p:nvSpPr>
        <p:spPr>
          <a:xfrm xmlns:a="http://schemas.openxmlformats.org/drawingml/2006/main">
            <a:off x="3162300" y="29908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76eb79d57f23434d"/>
              </a:rPr>
              <a:t>Cont et al., Cross-Impact of Order Flow</a:t>
            </a:r>
          </a:p>
        </p:txBody>
      </p:sp>
      <p:sp>
        <p:nvSpPr>
          <p:cNvPr id="30" name="Volatility">
            <a:extLst xmlns:a="http://schemas.openxmlformats.org/drawingml/2006/main">
              <a:ext uri="{FF2B5EF4-FFF2-40B4-BE49-F238E27FC236}">
                <a16:creationId xmlns:a16="http://schemas.microsoft.com/office/drawing/2014/main" id="{A782B9E2-0202-41AE-A11B-D5CEE89AA5B3}"/>
              </a:ext>
            </a:extLst>
          </p:cNvPr>
          <p:cNvSpPr>
            <a:spLocks xmlns:a="http://schemas.openxmlformats.org/drawingml/2006/main" noGrp="1"/>
          </p:cNvSpPr>
          <p:nvPr/>
        </p:nvSpPr>
        <p:spPr>
          <a:xfrm xmlns:a="http://schemas.openxmlformats.org/drawingml/2006/main">
            <a:off x="609600" y="34480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Volatility</a:t>
            </a:r>
          </a:p>
        </p:txBody>
      </p:sp>
      <p:sp>
        <p:nvSpPr>
          <p:cNvPr id="31" name="">
            <a:extLst xmlns:a="http://schemas.openxmlformats.org/drawingml/2006/main">
              <a:ext uri="{FF2B5EF4-FFF2-40B4-BE49-F238E27FC236}">
                <a16:creationId xmlns:a16="http://schemas.microsoft.com/office/drawing/2014/main" id="{24715C65-C9CF-4B75-AE7A-EE0D1C277A1B}"/>
              </a:ext>
            </a:extLst>
          </p:cNvPr>
          <p:cNvSpPr>
            <a:spLocks xmlns:a="http://schemas.openxmlformats.org/drawingml/2006/main" noGrp="1"/>
          </p:cNvSpPr>
          <p:nvPr/>
        </p:nvSpPr>
        <p:spPr>
          <a:xfrm xmlns:a="http://schemas.openxmlformats.org/drawingml/2006/main">
            <a:off x="3162300" y="34480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3f49641b32ab4790"/>
              </a:rPr>
              <a:t>Zhang et al., Intraday Volatility Forecasting</a:t>
            </a:r>
          </a:p>
        </p:txBody>
      </p:sp>
      <p:sp>
        <p:nvSpPr>
          <p:cNvPr id="32" name="Performance">
            <a:extLst xmlns:a="http://schemas.openxmlformats.org/drawingml/2006/main">
              <a:ext uri="{FF2B5EF4-FFF2-40B4-BE49-F238E27FC236}">
                <a16:creationId xmlns:a16="http://schemas.microsoft.com/office/drawing/2014/main" id="{92D21DBE-5957-4ECD-AD69-E836E96C35E3}"/>
              </a:ext>
            </a:extLst>
          </p:cNvPr>
          <p:cNvSpPr>
            <a:spLocks xmlns:a="http://schemas.openxmlformats.org/drawingml/2006/main" noGrp="1"/>
          </p:cNvSpPr>
          <p:nvPr/>
        </p:nvSpPr>
        <p:spPr>
          <a:xfrm xmlns:a="http://schemas.openxmlformats.org/drawingml/2006/main">
            <a:off x="609600" y="39052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Performance</a:t>
            </a:r>
          </a:p>
        </p:txBody>
      </p:sp>
      <p:sp>
        <p:nvSpPr>
          <p:cNvPr id="33" name="">
            <a:extLst xmlns:a="http://schemas.openxmlformats.org/drawingml/2006/main">
              <a:ext uri="{FF2B5EF4-FFF2-40B4-BE49-F238E27FC236}">
                <a16:creationId xmlns:a16="http://schemas.microsoft.com/office/drawing/2014/main" id="{92247A51-BF67-40CA-B4F6-79E84D48A1DF}"/>
              </a:ext>
            </a:extLst>
          </p:cNvPr>
          <p:cNvSpPr>
            <a:spLocks xmlns:a="http://schemas.openxmlformats.org/drawingml/2006/main" noGrp="1"/>
          </p:cNvSpPr>
          <p:nvPr/>
        </p:nvSpPr>
        <p:spPr>
          <a:xfrm xmlns:a="http://schemas.openxmlformats.org/drawingml/2006/main">
            <a:off x="3162300" y="39052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9c9ae3a5daa149c2"/>
              </a:rPr>
              <a:t>Sharpe, The Sharpe Ratio</a:t>
            </a:r>
          </a:p>
        </p:txBody>
      </p:sp>
      <p:sp>
        <p:nvSpPr>
          <p:cNvPr id="34" name="Overfitting">
            <a:extLst xmlns:a="http://schemas.openxmlformats.org/drawingml/2006/main">
              <a:ext uri="{FF2B5EF4-FFF2-40B4-BE49-F238E27FC236}">
                <a16:creationId xmlns:a16="http://schemas.microsoft.com/office/drawing/2014/main" id="{C90E468D-35BC-45F5-B0DD-57F0766C4D8C}"/>
              </a:ext>
            </a:extLst>
          </p:cNvPr>
          <p:cNvSpPr>
            <a:spLocks xmlns:a="http://schemas.openxmlformats.org/drawingml/2006/main" noGrp="1"/>
          </p:cNvSpPr>
          <p:nvPr/>
        </p:nvSpPr>
        <p:spPr>
          <a:xfrm xmlns:a="http://schemas.openxmlformats.org/drawingml/2006/main">
            <a:off x="609600" y="43624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Overfitting</a:t>
            </a:r>
          </a:p>
        </p:txBody>
      </p:sp>
      <p:sp>
        <p:nvSpPr>
          <p:cNvPr id="35" name="">
            <a:extLst xmlns:a="http://schemas.openxmlformats.org/drawingml/2006/main">
              <a:ext uri="{FF2B5EF4-FFF2-40B4-BE49-F238E27FC236}">
                <a16:creationId xmlns:a16="http://schemas.microsoft.com/office/drawing/2014/main" id="{A8E63FCC-9F7C-4504-8C3C-AB95025362E9}"/>
              </a:ext>
            </a:extLst>
          </p:cNvPr>
          <p:cNvSpPr>
            <a:spLocks xmlns:a="http://schemas.openxmlformats.org/drawingml/2006/main" noGrp="1"/>
          </p:cNvSpPr>
          <p:nvPr/>
        </p:nvSpPr>
        <p:spPr>
          <a:xfrm xmlns:a="http://schemas.openxmlformats.org/drawingml/2006/main">
            <a:off x="3162300" y="43624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1610b6481f95437f"/>
              </a:rPr>
              <a:t>Bailey et al., Probability of Backtest Overfitting</a:t>
            </a:r>
          </a:p>
        </p:txBody>
      </p:sp>
      <p:sp>
        <p:nvSpPr>
          <p:cNvPr id="36" name="Data">
            <a:extLst xmlns:a="http://schemas.openxmlformats.org/drawingml/2006/main">
              <a:ext uri="{FF2B5EF4-FFF2-40B4-BE49-F238E27FC236}">
                <a16:creationId xmlns:a16="http://schemas.microsoft.com/office/drawing/2014/main" id="{7DBF72ED-729D-459B-8367-602D3DB1E681}"/>
              </a:ext>
            </a:extLst>
          </p:cNvPr>
          <p:cNvSpPr>
            <a:spLocks xmlns:a="http://schemas.openxmlformats.org/drawingml/2006/main" noGrp="1"/>
          </p:cNvSpPr>
          <p:nvPr/>
        </p:nvSpPr>
        <p:spPr>
          <a:xfrm xmlns:a="http://schemas.openxmlformats.org/drawingml/2006/main">
            <a:off x="609600" y="48196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Data</a:t>
            </a:r>
          </a:p>
        </p:txBody>
      </p:sp>
      <p:sp>
        <p:nvSpPr>
          <p:cNvPr id="37" name="">
            <a:extLst xmlns:a="http://schemas.openxmlformats.org/drawingml/2006/main">
              <a:ext uri="{FF2B5EF4-FFF2-40B4-BE49-F238E27FC236}">
                <a16:creationId xmlns:a16="http://schemas.microsoft.com/office/drawing/2014/main" id="{66C8C2A6-4CD7-45BF-A353-AD952D99A709}"/>
              </a:ext>
            </a:extLst>
          </p:cNvPr>
          <p:cNvSpPr>
            <a:spLocks xmlns:a="http://schemas.openxmlformats.org/drawingml/2006/main" noGrp="1"/>
          </p:cNvSpPr>
          <p:nvPr/>
        </p:nvSpPr>
        <p:spPr>
          <a:xfrm xmlns:a="http://schemas.openxmlformats.org/drawingml/2006/main">
            <a:off x="3162300" y="48196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f9d570aceff847fc"/>
              </a:rPr>
              <a:t>Alpaca Market Data FAQ</a:t>
            </a:r>
          </a:p>
        </p:txBody>
      </p:sp>
      <p:sp>
        <p:nvSpPr>
          <p:cNvPr id="38" name="Paper trading">
            <a:extLst xmlns:a="http://schemas.openxmlformats.org/drawingml/2006/main">
              <a:ext uri="{FF2B5EF4-FFF2-40B4-BE49-F238E27FC236}">
                <a16:creationId xmlns:a16="http://schemas.microsoft.com/office/drawing/2014/main" id="{9B518DDF-BC3D-4542-BCD3-C4FAB096903C}"/>
              </a:ext>
            </a:extLst>
          </p:cNvPr>
          <p:cNvSpPr>
            <a:spLocks xmlns:a="http://schemas.openxmlformats.org/drawingml/2006/main" noGrp="1"/>
          </p:cNvSpPr>
          <p:nvPr/>
        </p:nvSpPr>
        <p:spPr>
          <a:xfrm xmlns:a="http://schemas.openxmlformats.org/drawingml/2006/main">
            <a:off x="609600" y="5276850"/>
            <a:ext cx="2457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1">
                <a:solidFill>
                  <a:srgbClr val="FF5400"/>
                </a:solidFill>
                <a:latin typeface="Arial"/>
                <a:ea typeface="Arial"/>
                <a:cs typeface="Arial"/>
              </a:defRPr>
            </a:defPPr>
          </a:lstStyle>
          <a:p xmlns:a="http://schemas.openxmlformats.org/drawingml/2006/main">
            <a:pPr algn="l">
              <a:defRPr sz="1800" b="1">
                <a:solidFill>
                  <a:srgbClr val="FF5400"/>
                </a:solidFill>
                <a:latin typeface="Arial"/>
                <a:ea typeface="Arial"/>
                <a:cs typeface="Arial"/>
              </a:defRPr>
            </a:pPr>
            <a:r>
              <a:rPr sz="1800" b="1">
                <a:solidFill>
                  <a:srgbClr val="FF5400"/>
                </a:solidFill>
                <a:latin typeface="Arial"/>
                <a:ea typeface="Arial"/>
                <a:cs typeface="Arial"/>
              </a:rPr>
              <a:t>Paper trading</a:t>
            </a:r>
          </a:p>
        </p:txBody>
      </p:sp>
      <p:sp>
        <p:nvSpPr>
          <p:cNvPr id="39" name="">
            <a:extLst xmlns:a="http://schemas.openxmlformats.org/drawingml/2006/main">
              <a:ext uri="{FF2B5EF4-FFF2-40B4-BE49-F238E27FC236}">
                <a16:creationId xmlns:a16="http://schemas.microsoft.com/office/drawing/2014/main" id="{FA3A9C23-93F0-4461-A55B-087C0FBA74C6}"/>
              </a:ext>
            </a:extLst>
          </p:cNvPr>
          <p:cNvSpPr>
            <a:spLocks xmlns:a="http://schemas.openxmlformats.org/drawingml/2006/main" noGrp="1"/>
          </p:cNvSpPr>
          <p:nvPr/>
        </p:nvSpPr>
        <p:spPr>
          <a:xfrm xmlns:a="http://schemas.openxmlformats.org/drawingml/2006/main">
            <a:off x="3162300" y="5276850"/>
            <a:ext cx="8420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800" b="0">
                <a:solidFill>
                  <a:srgbClr val="004D73"/>
                </a:solidFill>
                <a:latin typeface="Arial"/>
                <a:ea typeface="Arial"/>
                <a:cs typeface="Arial"/>
              </a:defRPr>
            </a:defPPr>
          </a:lstStyle>
          <a:p xmlns:a="http://schemas.openxmlformats.org/drawingml/2006/main">
            <a:pPr algn="l">
              <a:defRPr sz="1800" b="0">
                <a:solidFill>
                  <a:srgbClr val="004D73"/>
                </a:solidFill>
                <a:latin typeface="Arial"/>
                <a:ea typeface="Arial"/>
                <a:cs typeface="Arial"/>
              </a:defRPr>
            </a:pPr>
            <a:r>
              <a:rPr sz="1800" u="sng">
                <a:solidFill>
                  <a:srgbClr val="004D73"/>
                </a:solidFill>
                <a:latin typeface="Arial"/>
                <a:ea typeface="Arial"/>
                <a:cs typeface="Arial"/>
                <a:hlinkClick xmlns:r="http://schemas.openxmlformats.org/officeDocument/2006/relationships" r:id="Rb5c24c4809254d55"/>
              </a:rPr>
              <a:t>Alpaca Paper Trading</a:t>
            </a:r>
          </a:p>
        </p:txBody>
      </p:sp>
      <p:sp>
        <p:nvSpPr>
          <p:cNvPr id="40" name="Team guides: docs/team-guides    Platfor">
            <a:extLst xmlns:a="http://schemas.openxmlformats.org/drawingml/2006/main">
              <a:ext uri="{FF2B5EF4-FFF2-40B4-BE49-F238E27FC236}">
                <a16:creationId xmlns:a16="http://schemas.microsoft.com/office/drawing/2014/main" id="{5E767B15-FC3F-4A08-A66B-D58332FA0995}"/>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lgn="l">
              <a:defRPr sz="1575" b="0">
                <a:solidFill>
                  <a:srgbClr val="556272"/>
                </a:solidFill>
                <a:latin typeface="Arial"/>
                <a:ea typeface="Arial"/>
                <a:cs typeface="Arial"/>
              </a:defRPr>
            </a:defPPr>
          </a:lstStyle>
          <a:p xmlns:a="http://schemas.openxmlformats.org/drawingml/2006/main">
            <a:pPr algn="l">
              <a:defRPr sz="1575" b="0">
                <a:solidFill>
                  <a:srgbClr val="556272"/>
                </a:solidFill>
                <a:latin typeface="Arial"/>
                <a:ea typeface="Arial"/>
                <a:cs typeface="Arial"/>
              </a:defRPr>
            </a:pPr>
            <a:r>
              <a:rPr sz="1575" b="0">
                <a:solidFill>
                  <a:srgbClr val="556272"/>
                </a:solidFill>
                <a:latin typeface="Arial"/>
                <a:ea typeface="Arial"/>
                <a:cs typeface="Arial"/>
              </a:rPr>
              <a:t>Team guides: docs/team-guides    Platform workflow: docs/guides/local-development.md</a:t>
            </a:r>
          </a:p>
        </p:txBody>
      </p:sp>
    </p:spTree>
    <p:extLst>
      <p:ext uri="{BB962C8B-B14F-4D97-AF65-F5344CB8AC3E}">
        <p14:creationId xmlns:p14="http://schemas.microsoft.com/office/powerpoint/2010/main" val="14486697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2026-10-13T20:48:04.6160000Z</dcterms:created>
  <dcterms:modified xsi:type="dcterms:W3CDTF">2026-10-13T20:48:04.6170000Z</dcterms:modified>
</coreProperties>
</file>