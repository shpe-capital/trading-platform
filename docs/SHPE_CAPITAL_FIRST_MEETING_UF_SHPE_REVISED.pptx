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a6c0fbabb834e44" /><Relationship Type="http://schemas.openxmlformats.org/officeDocument/2006/relationships/extended-properties" Target="/docProps/app.xml" Id="R5cb0a787476445ff" /><Relationship Type="http://schemas.openxmlformats.org/officeDocument/2006/relationships/officeDocument" Target="/ppt/presentation.xml" Id="R1abd0ae024af47fb" /></Relationships>
</file>

<file path=ppt/presentation.xml><?xml version="1.0" encoding="utf-8"?>
<p:presentation xmlns:p="http://schemas.openxmlformats.org/presentationml/2006/main">
  <p:sldMasterIdLst>
    <p:sldMasterId xmlns:r="http://schemas.openxmlformats.org/officeDocument/2006/relationships" id="2147483648" r:id="R85d0294010cc400c"/>
  </p:sldMasterIdLst>
  <p:notesMasterIdLst>
    <p:notesMasterId xmlns:r="http://schemas.openxmlformats.org/officeDocument/2006/relationships" r:id="R1c106db5bdec4e69"/>
  </p:notesMasterIdLst>
  <p:sldIdLst>
    <p:sldId xmlns:r="http://schemas.openxmlformats.org/officeDocument/2006/relationships" id="256" r:id="R9c9913d53e8948e8"/>
    <p:sldId xmlns:r="http://schemas.openxmlformats.org/officeDocument/2006/relationships" id="257" r:id="Rac508f34eae340e6"/>
    <p:sldId xmlns:r="http://schemas.openxmlformats.org/officeDocument/2006/relationships" id="258" r:id="R13b3f0ebdd44492d"/>
    <p:sldId xmlns:r="http://schemas.openxmlformats.org/officeDocument/2006/relationships" id="259" r:id="Rf5cd0ebc9f5b4b16"/>
    <p:sldId xmlns:r="http://schemas.openxmlformats.org/officeDocument/2006/relationships" id="260" r:id="R3a819c1bac754ba2"/>
    <p:sldId xmlns:r="http://schemas.openxmlformats.org/officeDocument/2006/relationships" id="261" r:id="Ra67ce95c63f74191"/>
    <p:sldId xmlns:r="http://schemas.openxmlformats.org/officeDocument/2006/relationships" id="262" r:id="R2c861337a22c4eaf"/>
    <p:sldId xmlns:r="http://schemas.openxmlformats.org/officeDocument/2006/relationships" id="263" r:id="Rc91c23bfa2774714"/>
    <p:sldId xmlns:r="http://schemas.openxmlformats.org/officeDocument/2006/relationships" id="264" r:id="R16d4f3153e5f472f"/>
    <p:sldId xmlns:r="http://schemas.openxmlformats.org/officeDocument/2006/relationships" id="265" r:id="Rd7a6b9efeb8b423a"/>
    <p:sldId xmlns:r="http://schemas.openxmlformats.org/officeDocument/2006/relationships" id="266" r:id="R5f0fe91a260c4426"/>
    <p:sldId xmlns:r="http://schemas.openxmlformats.org/officeDocument/2006/relationships" id="267" r:id="R033110602847419b"/>
    <p:sldId xmlns:r="http://schemas.openxmlformats.org/officeDocument/2006/relationships" id="268" r:id="R6694a60e7f0f44df"/>
    <p:sldId xmlns:r="http://schemas.openxmlformats.org/officeDocument/2006/relationships" id="269" r:id="R4d2e2aad107847cb"/>
    <p:sldId xmlns:r="http://schemas.openxmlformats.org/officeDocument/2006/relationships" id="270" r:id="Rf960ef91235d42f4"/>
    <p:sldId xmlns:r="http://schemas.openxmlformats.org/officeDocument/2006/relationships" id="271" r:id="R31a55b38a4534e97"/>
    <p:sldId xmlns:r="http://schemas.openxmlformats.org/officeDocument/2006/relationships" id="272" r:id="Rcbcbd7fd65754756"/>
    <p:sldId xmlns:r="http://schemas.openxmlformats.org/officeDocument/2006/relationships" id="273" r:id="R672252c6158245ad"/>
    <p:sldId xmlns:r="http://schemas.openxmlformats.org/officeDocument/2006/relationships" id="274" r:id="Rc5e322aa7c6a4604"/>
    <p:sldId xmlns:r="http://schemas.openxmlformats.org/officeDocument/2006/relationships" id="275" r:id="R574d4d76b5d24ec7"/>
    <p:sldId xmlns:r="http://schemas.openxmlformats.org/officeDocument/2006/relationships" id="276" r:id="R235bae9ceb234ce0"/>
    <p:sldId xmlns:r="http://schemas.openxmlformats.org/officeDocument/2006/relationships" id="277" r:id="R8b581b0f88b643a1"/>
    <p:sldId xmlns:r="http://schemas.openxmlformats.org/officeDocument/2006/relationships" id="278" r:id="Rd114bff363e44bec"/>
    <p:sldId xmlns:r="http://schemas.openxmlformats.org/officeDocument/2006/relationships" id="279" r:id="R309566c79c344441"/>
    <p:sldId xmlns:r="http://schemas.openxmlformats.org/officeDocument/2006/relationships" id="280" r:id="Rdb0b495717e64ee5"/>
    <p:sldId xmlns:r="http://schemas.openxmlformats.org/officeDocument/2006/relationships" id="281" r:id="R44d4126adb7b4af1"/>
    <p:sldId xmlns:r="http://schemas.openxmlformats.org/officeDocument/2006/relationships" id="282" r:id="R25fd83ddb1dc4914"/>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c78d520c856f477e" /><Relationship Type="http://schemas.openxmlformats.org/officeDocument/2006/relationships/slideMaster" Target="/ppt/slideMasters/slideMaster1.xml" Id="R85d0294010cc400c" /><Relationship Type="http://schemas.openxmlformats.org/officeDocument/2006/relationships/notesMaster" Target="/ppt/notesMasters/notesMaster1.xml" Id="R1c106db5bdec4e69" /><Relationship Type="http://schemas.openxmlformats.org/officeDocument/2006/relationships/presProps" Target="/ppt/presProps.xml" Id="R244443edc0d0414a" /><Relationship Type="http://schemas.openxmlformats.org/officeDocument/2006/relationships/viewProps" Target="/ppt/viewProps.xml" Id="R26a3ba152d81468f" /><Relationship Type="http://schemas.openxmlformats.org/officeDocument/2006/relationships/tableStyles" Target="/ppt/tableStyles.xml" Id="R375e60080d2b445a" /><Relationship Type="http://schemas.openxmlformats.org/officeDocument/2006/relationships/slide" Target="/ppt/slides/slide1.xml" Id="R9c9913d53e8948e8" /><Relationship Type="http://schemas.openxmlformats.org/officeDocument/2006/relationships/slide" Target="/ppt/slides/slide2.xml" Id="Rac508f34eae340e6" /><Relationship Type="http://schemas.openxmlformats.org/officeDocument/2006/relationships/slide" Target="/ppt/slides/slide3.xml" Id="R13b3f0ebdd44492d" /><Relationship Type="http://schemas.openxmlformats.org/officeDocument/2006/relationships/slide" Target="/ppt/slides/slide4.xml" Id="Rf5cd0ebc9f5b4b16" /><Relationship Type="http://schemas.openxmlformats.org/officeDocument/2006/relationships/slide" Target="/ppt/slides/slide5.xml" Id="R3a819c1bac754ba2" /><Relationship Type="http://schemas.openxmlformats.org/officeDocument/2006/relationships/slide" Target="/ppt/slides/slide6.xml" Id="Ra67ce95c63f74191" /><Relationship Type="http://schemas.openxmlformats.org/officeDocument/2006/relationships/slide" Target="/ppt/slides/slide7.xml" Id="R2c861337a22c4eaf" /><Relationship Type="http://schemas.openxmlformats.org/officeDocument/2006/relationships/slide" Target="/ppt/slides/slide8.xml" Id="Rc91c23bfa2774714" /><Relationship Type="http://schemas.openxmlformats.org/officeDocument/2006/relationships/slide" Target="/ppt/slides/slide9.xml" Id="R16d4f3153e5f472f" /><Relationship Type="http://schemas.openxmlformats.org/officeDocument/2006/relationships/slide" Target="/ppt/slides/slide10.xml" Id="Rd7a6b9efeb8b423a" /><Relationship Type="http://schemas.openxmlformats.org/officeDocument/2006/relationships/slide" Target="/ppt/slides/slide11.xml" Id="R5f0fe91a260c4426" /><Relationship Type="http://schemas.openxmlformats.org/officeDocument/2006/relationships/slide" Target="/ppt/slides/slide12.xml" Id="R033110602847419b" /><Relationship Type="http://schemas.openxmlformats.org/officeDocument/2006/relationships/slide" Target="/ppt/slides/slide13.xml" Id="R6694a60e7f0f44df" /><Relationship Type="http://schemas.openxmlformats.org/officeDocument/2006/relationships/slide" Target="/ppt/slides/slide14.xml" Id="R4d2e2aad107847cb" /><Relationship Type="http://schemas.openxmlformats.org/officeDocument/2006/relationships/slide" Target="/ppt/slides/slide15.xml" Id="Rf960ef91235d42f4" /><Relationship Type="http://schemas.openxmlformats.org/officeDocument/2006/relationships/slide" Target="/ppt/slides/slide16.xml" Id="R31a55b38a4534e97" /><Relationship Type="http://schemas.openxmlformats.org/officeDocument/2006/relationships/slide" Target="/ppt/slides/slide17.xml" Id="Rcbcbd7fd65754756" /><Relationship Type="http://schemas.openxmlformats.org/officeDocument/2006/relationships/slide" Target="/ppt/slides/slide18.xml" Id="R672252c6158245ad" /><Relationship Type="http://schemas.openxmlformats.org/officeDocument/2006/relationships/slide" Target="/ppt/slides/slide19.xml" Id="Rc5e322aa7c6a4604" /><Relationship Type="http://schemas.openxmlformats.org/officeDocument/2006/relationships/slide" Target="/ppt/slides/slide20.xml" Id="R574d4d76b5d24ec7" /><Relationship Type="http://schemas.openxmlformats.org/officeDocument/2006/relationships/slide" Target="/ppt/slides/slide21.xml" Id="R235bae9ceb234ce0" /><Relationship Type="http://schemas.openxmlformats.org/officeDocument/2006/relationships/slide" Target="/ppt/slides/slide22.xml" Id="R8b581b0f88b643a1" /><Relationship Type="http://schemas.openxmlformats.org/officeDocument/2006/relationships/slide" Target="/ppt/slides/slide23.xml" Id="Rd114bff363e44bec" /><Relationship Type="http://schemas.openxmlformats.org/officeDocument/2006/relationships/slide" Target="/ppt/slides/slide24.xml" Id="R309566c79c344441" /><Relationship Type="http://schemas.openxmlformats.org/officeDocument/2006/relationships/slide" Target="/ppt/slides/slide25.xml" Id="Rdb0b495717e64ee5" /><Relationship Type="http://schemas.openxmlformats.org/officeDocument/2006/relationships/slide" Target="/ppt/slides/slide26.xml" Id="R44d4126adb7b4af1" /><Relationship Type="http://schemas.openxmlformats.org/officeDocument/2006/relationships/slide" Target="/ppt/slides/slide27.xml" Id="R25fd83ddb1dc491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e315f2e77764ce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c9b357d528d4ebf" /><Relationship Type="http://schemas.openxmlformats.org/officeDocument/2006/relationships/notesMaster" Target="/ppt/notesMasters/notesMaster1.xml" Id="R0cb36dcad5a647d6" /></Relationships>
</file>

<file path=ppt/notesSlides/_rels/notesSlide2.xml.rels>&#65279;<?xml version="1.0" encoding="utf-8"?><Relationships xmlns="http://schemas.openxmlformats.org/package/2006/relationships"><Relationship Type="http://schemas.openxmlformats.org/officeDocument/2006/relationships/slide" Target="/ppt/slides/slide2.xml" Id="R72392612503446b2" /><Relationship Type="http://schemas.openxmlformats.org/officeDocument/2006/relationships/notesMaster" Target="/ppt/notesMasters/notesMaster1.xml" Id="Rc3887bbeb3e84274" /></Relationships>
</file>

<file path=ppt/notesSlides/_rels/notesSlide3.xml.rels>&#65279;<?xml version="1.0" encoding="utf-8"?><Relationships xmlns="http://schemas.openxmlformats.org/package/2006/relationships"><Relationship Type="http://schemas.openxmlformats.org/officeDocument/2006/relationships/slide" Target="/ppt/slides/slide3.xml" Id="R6ada50be3e844c31" /><Relationship Type="http://schemas.openxmlformats.org/officeDocument/2006/relationships/notesMaster" Target="/ppt/notesMasters/notesMaster1.xml" Id="Rfb0cf9e7457e4aa0" /></Relationships>
</file>

<file path=ppt/notesSlides/_rels/notesSlide4.xml.rels>&#65279;<?xml version="1.0" encoding="utf-8"?><Relationships xmlns="http://schemas.openxmlformats.org/package/2006/relationships"><Relationship Type="http://schemas.openxmlformats.org/officeDocument/2006/relationships/slide" Target="/ppt/slides/slide4.xml" Id="Rf4a597013d914e0f" /><Relationship Type="http://schemas.openxmlformats.org/officeDocument/2006/relationships/notesMaster" Target="/ppt/notesMasters/notesMaster1.xml" Id="Rd3eb89c5a697423d" /></Relationships>
</file>

<file path=ppt/notesSlides/_rels/notesSlide5.xml.rels>&#65279;<?xml version="1.0" encoding="utf-8"?><Relationships xmlns="http://schemas.openxmlformats.org/package/2006/relationships"><Relationship Type="http://schemas.openxmlformats.org/officeDocument/2006/relationships/slide" Target="/ppt/slides/slide5.xml" Id="Re095f13c567f4718" /><Relationship Type="http://schemas.openxmlformats.org/officeDocument/2006/relationships/notesMaster" Target="/ppt/notesMasters/notesMaster1.xml" Id="R03e7352e69164d40" /></Relationships>
</file>

<file path=ppt/notesSlides/_rels/notesSlide6.xml.rels>&#65279;<?xml version="1.0" encoding="utf-8"?><Relationships xmlns="http://schemas.openxmlformats.org/package/2006/relationships"><Relationship Type="http://schemas.openxmlformats.org/officeDocument/2006/relationships/slide" Target="/ppt/slides/slide6.xml" Id="R12f61fcd12274f77" /><Relationship Type="http://schemas.openxmlformats.org/officeDocument/2006/relationships/notesMaster" Target="/ppt/notesMasters/notesMaster1.xml" Id="R5fbba03c1a1146e5" /></Relationships>
</file>

<file path=ppt/notesSlides/_rels/notesSlide7.xml.rels>&#65279;<?xml version="1.0" encoding="utf-8"?><Relationships xmlns="http://schemas.openxmlformats.org/package/2006/relationships"><Relationship Type="http://schemas.openxmlformats.org/officeDocument/2006/relationships/slide" Target="/ppt/slides/slide7.xml" Id="Rc05f00a6c9414dfb" /><Relationship Type="http://schemas.openxmlformats.org/officeDocument/2006/relationships/notesMaster" Target="/ppt/notesMasters/notesMaster1.xml" Id="R791684f1c5674633" /></Relationships>
</file>

<file path=ppt/notesSlides/_rels/notesSlide8.xml.rels>&#65279;<?xml version="1.0" encoding="utf-8"?><Relationships xmlns="http://schemas.openxmlformats.org/package/2006/relationships"><Relationship Type="http://schemas.openxmlformats.org/officeDocument/2006/relationships/slide" Target="/ppt/slides/slide8.xml" Id="Rcbff962813184157" /><Relationship Type="http://schemas.openxmlformats.org/officeDocument/2006/relationships/notesMaster" Target="/ppt/notesMasters/notesMaster1.xml" Id="R010259a4015f4861" /></Relationships>
</file>

<file path=ppt/notesSlides/_rels/notesSlide9.xml.rels>&#65279;<?xml version="1.0" encoding="utf-8"?><Relationships xmlns="http://schemas.openxmlformats.org/package/2006/relationships"><Relationship Type="http://schemas.openxmlformats.org/officeDocument/2006/relationships/slide" Target="/ppt/slides/slide9.xml" Id="Rb8a2d92d4aa247c6" /><Relationship Type="http://schemas.openxmlformats.org/officeDocument/2006/relationships/notesMaster" Target="/ppt/notesMasters/notesMaster1.xml" Id="R2671ce9d66de450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9b53f2bf1fb4b2f" /><Relationship Type="http://schemas.openxmlformats.org/officeDocument/2006/relationships/notesMaster" Target="/ppt/notesMasters/notesMaster1.xml" Id="Rfd4f112fbfd042f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9d7522e315b4ea1" /><Relationship Type="http://schemas.openxmlformats.org/officeDocument/2006/relationships/notesMaster" Target="/ppt/notesMasters/notesMaster1.xml" Id="R580b0a656863499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6fcec7f73af485c" /><Relationship Type="http://schemas.openxmlformats.org/officeDocument/2006/relationships/notesMaster" Target="/ppt/notesMasters/notesMaster1.xml" Id="R6f15b7cadce140b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91c7aa7c7124885" /><Relationship Type="http://schemas.openxmlformats.org/officeDocument/2006/relationships/notesMaster" Target="/ppt/notesMasters/notesMaster1.xml" Id="R4559e3aecd274e0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55bc193b47146ba" /><Relationship Type="http://schemas.openxmlformats.org/officeDocument/2006/relationships/notesMaster" Target="/ppt/notesMasters/notesMaster1.xml" Id="Re92388993f74410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67fc64a005b40ee" /><Relationship Type="http://schemas.openxmlformats.org/officeDocument/2006/relationships/notesMaster" Target="/ppt/notesMasters/notesMaster1.xml" Id="Rbdd28dd42b714ab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dd55320dae442cb" /><Relationship Type="http://schemas.openxmlformats.org/officeDocument/2006/relationships/notesMaster" Target="/ppt/notesMasters/notesMaster1.xml" Id="R1636282917594f5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7e96b65daa74e9d" /><Relationship Type="http://schemas.openxmlformats.org/officeDocument/2006/relationships/notesMaster" Target="/ppt/notesMasters/notesMaster1.xml" Id="Rc672e7674bfe4f6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067c3cbca594371" /><Relationship Type="http://schemas.openxmlformats.org/officeDocument/2006/relationships/notesMaster" Target="/ppt/notesMasters/notesMaster1.xml" Id="Rd1a36ab772eb46c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ffd99bf5c1646ff" /><Relationship Type="http://schemas.openxmlformats.org/officeDocument/2006/relationships/notesMaster" Target="/ppt/notesMasters/notesMaster1.xml" Id="R581351a7e4444d5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1f116968e8041dc" /><Relationship Type="http://schemas.openxmlformats.org/officeDocument/2006/relationships/notesMaster" Target="/ppt/notesMasters/notesMaster1.xml" Id="R92513f42c2024bc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58d92ef16044bfd" /><Relationship Type="http://schemas.openxmlformats.org/officeDocument/2006/relationships/notesMaster" Target="/ppt/notesMasters/notesMaster1.xml" Id="R18e8282ff6ea435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03e72184a104c5d" /><Relationship Type="http://schemas.openxmlformats.org/officeDocument/2006/relationships/notesMaster" Target="/ppt/notesMasters/notesMaster1.xml" Id="R92aad4327693456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7f8a52b1d1c44d8" /><Relationship Type="http://schemas.openxmlformats.org/officeDocument/2006/relationships/notesMaster" Target="/ppt/notesMasters/notesMaster1.xml" Id="Rd87d88137acd4e8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dced3b8c8a446ac" /><Relationship Type="http://schemas.openxmlformats.org/officeDocument/2006/relationships/notesMaster" Target="/ppt/notesMasters/notesMaster1.xml" Id="R53a6e1d06ac848c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45616600797431c" /><Relationship Type="http://schemas.openxmlformats.org/officeDocument/2006/relationships/notesMaster" Target="/ppt/notesMasters/notesMaster1.xml" Id="Rc6e4e2d336b5420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185e3c16162491c" /><Relationship Type="http://schemas.openxmlformats.org/officeDocument/2006/relationships/notesMaster" Target="/ppt/notesMasters/notesMaster1.xml" Id="R6622f91958634c3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7eca0a6f4ad451c" /><Relationship Type="http://schemas.openxmlformats.org/officeDocument/2006/relationships/notesMaster" Target="/ppt/notesMasters/notesMaster1.xml" Id="Rb7e3faa929ec42a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0:00-0:30. Welcome members. Today includes a 28-minute introduction and shared course, a two-minute buffer and 30 minutes of assigned-team work. Explain key examples aloud and let the dense definitions serve as a reference. Final presentations are Monday, November 30, 2026. Prepare a supported pairs example before the meeting. Lead/member fields still need actual names. The personal introduction in the supplied deck is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0:30-1:00. Introduce your name, role and one relevant motivation or experience. Use the existing editable personal fields. Keep this to 30 seconds so the course and team work retain their time. Personal details and team names need the lead's actual information.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1:00-2:00. SHPE Capital's Algorithm Team is the research and development division for systematic equity strategies. Algorithmic trading means applying explicit rules to observed inputs to decide when and how much to trade. Intraday means opening and closing positions within the same trading session. It does not specify one-minute holding periods or high-frequency infrastructure. The semester benefits below concern research organization, not evidence that intraday is more profitable. More observations may still be highly dependent. US stocks/ETFs and long/short research are our scope. Close against the actual exchange calendar, including early closes. The platform team owns shared data access, validation and recovery. IEX observes one exchange. Sources: https://docs.alpaca.markets/us/docs/market-data-faq; https://www.nyse.com/trade/hours-calendars.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2:00-2:30. Each algorithm team builds a cited hypothesis, a reproducible baseline and one controlled enhancement. A negative finding is useful when the test is fair. Success means defensible research and reliable operation, with performance evaluated after costs. The platform team delivers shared tools and evidence that they work. November paper results cover roughly three calendar weeks and remain a limited sample.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2:30-3:00. Introduce leads and read fixed assignments. Keep the user's editable roster fields. Teams own their program throughout the semester. Rotate understanding and review even if one experienced coder writes most implementation. Research owners summarize papers and failure cases. Implementation owners turn rules into tested configuration. Validation owners independently inspect assumptions, trades and results. Platform coordinates shared tools and operational ownership.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3:00-4:30. A hedge offsets a selected exposure. Statistical arbitrage relies on uncertain relationships. Correlation alone does not establish convergence. Cointegration tests whether a combination of drifting price series is stationary. A hedge ratio determines leg quantities and differs between price-level and return models. Hypothetical example: earlier data suggest A is approximately twice B. If A=103 and B=50, A-2B=3. Short one A and buy two B under that price model. A falling to100 while B remains50 narrows the spread by3 before costs. Define stop, time limit, financing, short availability and partial-leg policy. Learn all parameters from earlier observations. Regime classification and factor estimation also need causal windows. Avellaneda and Lee use daily factor/sector residuals. Intraday adaptation requires new evidence. Future improvements are research proposals. Sources: https://math.nyu.edu/~avellane/AvellanedaLeeStatArb20090616.pdf; https://arxiv.org/abs/2112.13213; https://arxiv.org/abs/2202.08962.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4:30-6:00. Opening-range breakout is an illustrative baseline within the family. It is not the exact Gao specification. Gao, Han, Li and Zhou study the previous-close-to-first-half-hour return predicting the final half hour. Their predictor includes overnight movement. A strategy using only today's opening15minutes is a separate experiment. A breakout is crossing a predefined boundary. Momentum is a continuation hypothesis. Mean reversion expects reversal toward a modeled reference. Set all horizons and rules before evaluation. A volatility-adjusted threshold can make moves comparable, but the denominator window and scale must match the signal. Filtering is an additional model choice that must earn its place out of sample. Source: https://profiles.wustl.edu/en/publications/market-intraday-momentum/.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6:00-7:30. Midpoint=(bid+ask)/2. Displayed imbalance describes the top-of-book sizes observed by our feed. Free IEX is one venue, not a consolidated queue or full depth. Trades report transactions, not all intentions or hidden liquidity. Order-flow imbalance captures changes over time, whereas trade imbalance uses signed executed flow under stated classification assumptions. A forecast of the next midpoint direction differs from a fixed-second return target and from executable profit. Adverse selection means getting filled just before price moves against the position. Latency benchmarking should measure data arrival, decision and broker acknowledgement separately. A timestamp difference needs synchronized clocks. Richer order-book papers motivate ideas but do not establish IEX profitability. Full market making is a later possible branch that requires inventory and fill modeling. Sources: https://arxiv.org/abs/1512.03492; https://arxiv.org/abs/1011.6402; https://arxiv.org/abs/2112.13213; https://docs.alpaca.markets/us/docs/market-data-faq.</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7:30-8:30. The platform team supplies a common research and execution environment so strategy teams can concentrate on rules and evidence. Existing components are not automatically finished end-to-end features. The current backtest factory registers only pairs_trading. ReplayBarFeed replays cached bars, while ReplayEngine can play an event array. A reliable recorded quote/trade archive and fill-aware replay need end-to-end validation. VolatilityScaledSizer is scaffolding returning0. Benchmark the AWS2vCPU8GB candidate under representative symbol loads before deciding whether to optimize. Separate arrival, evaluation, queueing, broker acknowledgements and fills. Required evidence includes repeatable datasets, correctness checks, resource use, p50/p95/p99 latency, failure/restart tests and a clear runbook. Project sources: backend/src/adapters/alpaca/normalizer.ts, core/backtest/strategyFactory.ts, core/replay/replayEngine.ts, adapters/replay/replayBarFeed.ts, core/sizing/volatilityScaledSizer.ts, docs/guides/LATENCY_BENCHMARK_AGENT_GUIDE.md.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8:30-9:00. A regular meeting reserves up to10minutes for announcements and progress, then at least50minutes for team work. Four hours per member per week includes the meeting. Leads coordinate tasks and report blockers. Every member contributes a small visible artifact rather than only attending. Today's course is an exception:28minutes plus2buffer, followed by30minutes team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9:00-9:30. Finalize the idea at the October27meeting. Implement the baseline during the next week and complete local testing by November8. Target online paper November9-27. This spans three calendar weeks, with14scheduled NYSEsessions including the early close November27. Thanksgiving November26 is closed. Monitor healthy days and incidents, not elapsed calendar time alone. Keep the baseline fixed and label variants separately. Delay online use when correctness or risk checks remain incomplete. Rehearse November24 and present November30. Holiday calendar source: https://www.nyse.com/trade/hours-calendars.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9:30-11:30. Explain the long and short example first. A long buys then sells. A short borrows and sells then buys to cover, subject to borrowing and account constraints. A flat position holds neither. Position size is shares, notional is absolute shares times price. A quote shows offered prices and sizes. A trade records a completed transaction. Bars summarize completed intervals. Last trade is not a promise of a fill at that price. An algorithm emits a signal, risk/execution produces an order, and the broker confirms fills. Orders can be partially filled, rejected or canceled. Market/limit/stop/stop-limit are distinct order types, not variants of market orders. A strategy stop condition is distinct from sending a broker stop order. Alpaca's buy-stop handling may convert the triggered order into a stop-limit under its rules. The platform must explicitly support any type before teams use it. A spread-crossing round trip at unchanged bid100/ask100.02 loses0.02per share before other costs. Sources: https://docs.alpaca.markets/us/docs/orders-at-alpaca; https://docs.alpaca.markets/us/docs/market-data-faq.</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11:30-13:30. Distinguish an economic explanation from the numerical rule. Hypothesis example: temporary pair dislocations close because related firms share common drivers and liquidity demand fades. Signal example: residual z-score exceeds a predefined threshold. Feature can be recent return, imbalance or residual volatility. Target is a future outcome that is unavailable at decision time. Lookback is past observation length. Holding horizon is intended future exposure duration. Parameters and filters are model choices and must be fixed for a declared test. Edge means expected after-cost benefit with uncertainty, not a measured historical guarantee. Expectancy = probability(win)*average win - probability(loss)*average absolute loss, with breakeven events and variable costs handled consistently. Here wins and losses are already net. 0.4*30-0.6*10=6. If using gross values, subtract expected costs once. Avoid double counting. A high win rate can still have negative expectancy when occasional losses are much larger.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13:30-14:30. The table is a template for each team's research document. All entries are illustrative choices rather than recommended thresholds. A strategy specification connects an input to a signal, permission to act, size, execution and exits. Separate the desired action from whether it filled. Set the universe before evaluation, state feed and session, and record each parameter's units. A current completed minute's information is available only after it completes and arrives. Warm-up builds state without producing trades. Version the logic and configuration so another member can reproduce the result. Strategies implement evaluate(context) and return a signal or null. External data/DB calls belong in shared adapters, not synchronous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14:30-16:30. Volatility measures the scale of price fluctuations, not expected direction. A simple rolling estimate is the standard deviation of returns from a fixed interval. For price P, simple return=P_t/P_(t-1)-1. Rolling standard deviation of one-minute returns and standard deviation of five-minute returns use different units. A common realized variance measure sums squared returns over a specified window. Stdev and sum-squares are related but not identical estimators. Keep the window, sampling and forecast horizon explicit. Estimate only from observations available at decision time. Do not assume minute sigma multiplied by sqrt(horizon) is always valid with dependence and intraday seasonality. Range-based measures provide another estimate with their own assumptions. The examples demonstrate normalization and sizing, not profitable thresholds. If sigma doubles, fixed exposure has larger risk. Inverse-volatility size reduces exposure approximately under the assumed risk model, with hard caps and a volatility floor. Stop loss is intended risk, not guaranteed realized loss. Technical indicators are team research rather than the focus of this shared course. Sources for advanced forecasting: https://arxiv.org/abs/2202.08962. Project implementation: services/indicators/volatility.ts returns raw per-observation standard deviation in computeRealizedVolatility. Its annualization function needs correct periodsPerYear. core/sizing/volatilityScaledSizer.ts is scaffolding, not a completed sizing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16:30-18:00. Define trade-level exits and portfolio-level controls separately. Stops can use fixed prices, percentages, volatility, trailing thresholds or signal invalidation. A time stop caps holding duration. A convergence exit closes a relative-value trade when its thesis is realized. A profit target can cut winners early, so evaluate it as part of the strategy rather than assuming it helps. Stop quantities and pending orders must reconcile with actual fills. A short may have borrow and financing constraints and potentially unbounded price upside. For pairs, define behavior when one leg fills and the other rejects. Gross exposure sums absolute long/short notionals. Net exposure offsets them but can hide large gross positions. Correlation and factor beta affect joint risk. Kill-switch behavior must specify whether it blocks new entries, cancels working orders or liquidates existing positions. A restart needs reconciliation before resuming. Example:25/0.50=50shares by intended loss budget. Notional2000/100=20shares, so20is the tighter limit. Stop loss intended is10before costs or adverse execution. Values are teaching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18:00-19:00. A regime is an estimated condition in which strategy behavior may differ. It may be defined by a simple rule or fitted classifier. It is not an oracle about what happened later. Use trailing inputs and compare an identical baseline with and without a filter. More regimes create more choices and less data per subgroup. Market factors are shared drivers, such as broad index and sector returns. Beta estimates sensitivity and may help hedge or identify accidental market exposure. Lead-lag asks whether one observed series predicts another later, rather than whether simultaneous correlation is high. Volatility forecasts predict future variability, not direction. Start with a lagged rolling estimate and simple exponentially weighted candidate. Only add GARCH or ML after testing whether the forecast improves the actual risk or trading decision. Zhang and coauthors forecast intraday RV using shared information and ML. Their research does not prove trading direction or profitability. Source: https://arxiv.org/abs/2202.08962; https://arxiv.org/abs/2112.13213.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19:00-21:00. A backtest simulates historical rules under explicit fill and cost assumptions. Training estimates model relationships, validation selects from a small declared set of candidates, and untouched test judges frozen rules. Walk-forward repeats the process chronologically. Avoid overlap of future target windows across data splits. Paper trading tests current implementation and operating procedures with simulated brokerage execution. It does not validate all effects of real-money trading. Minute bar information arrives after completion. A limit price touched by a bar does not guarantee execution and the order of intrabar stop and target is unknown. Selection bias can result from choosing current surviving or successful symbols. Record every candidate and parameter sweep. Repeatedly tuning to a test sample makes it development data. Use cost and delay sensitivity and inspect individual trades. Paper window November9-27 includes14scheduledNYSEsessions and an early close. Sources: https://www.davidhbailey.com/dhbpapers/backtest-prob.pdf; https://docs.alpaca.markets/us/docs/paper-trading; https://www.nyse.com/trade/hours-calendars.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21:00-23:00. Evaluate an equity curve that includes open-position marking and costs, not only closed winning trades. Net P&amp;L is dollars. Return needs stated allocated capital and consistent periods. Drawdown measures decline from a previous equity peak:11000to9900is10%. Sharpe is mean periodic excess return divided by its standard deviation. Define the comparison, often a matching risk-free return. Compute comparable daily returns for club reports and include idle days. Daily mean excess0.10%and sd1%gives dailySharpe0.10. sqrt252annualization assumes relevant scaling conditions and can mislead with dependence and short samples. Sortino compares return above a target with downside deviation from that target. Profit factor=total winning profits/absolute total losing losses, undefined with no losses. Win rate needs average loss/win size and trade count. Show distributions and inspect concentration in one day or symbol. Benchmarks include fixed simple version, cash/no trade, and an exposure-appropriate market reference. Buy-and-holdSPYand intraday hedged strategies have different exposure. Report holding time, gross/net exposure, turnover, costs, healthy paper sessions and incidents. Three weeks support initial observation, not a stable annual profitability claim. Sources: https://web.stanford.edu/~wfsharpe/art/sr/SR.htm; https://rpc.cfainstitute.org/research/financial-analysts-journal/2002/the-statistics-of-sharpe-ratios.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23:00-24:00. Begin with the shared local guide. Node22+ and Docker are required. The root scripts install/start the local environment and doctor reports health. By default EXECUTION_TARGET=sim, using local simulated fills and local data. Alpaca paper needs the member's own approved credentials and explicit target. Club credentials are protected and should not be copied locally. The platform may supply cached bars so conceptual research can start without credentials. Teams implement IStrategy.evaluate synchronously, using supplied state and returning a signal or null. No external API, WebSocket or DB write belongs in evaluate. A new strategy needs both runtime registration and backtest integration; the current backtest factory supports only pairs. Fix shared integration centrally rather than duplicating it in each team. Research and independent analysis can proceed before every member has installed the stack. Sources: docs/guides/local-development.md; backend/src/strategies/base/strategy.ts; backend/src/core/backtest/strategyFactory.ts.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24:00-25:00. These paths are verified in the current repository and are relative to backend/src. marketData handles streaming, normalizer converts provider payloads into internal Quote/Trade/Bar types and derives midpoint/spread/imbalance. Indicator services provide reusable calculations. strategies/base/strategy.ts defines the common input/output contract. Backtest engine, loader, worker and factory form the historical path. ReplayBarFeed supplies cached bars, while ReplayEngine republishes a supplied event stream for inspection. Neither file alone proves complete quote/trade recording and fill replay. Analytics modules and performanceAnalytics calculate reports. Exact source references are the paths in the table. During a prepared demo, point to one normalized observation, one strategy rule and one historical result. The current backtest factory supports only pairs_trading. Volatility-scaled sizing is scaffolding.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25:00-26:00. Paths starting core/adapters/runtime are relative to backend/src. Frontend and supabase paths are relative to the repository root. State managers track current symbol, position and order state. Ledger records and reconciles broker/run books. The risk engine gates actions; sizing modules have individual implementation status. OMS manages order intent and reservations. Execution routes to the chosen sink. PaperExecutionSink sends to an Alpaca paper endpoint, whereas SimulatedExecutionSink fills locally. Runtime bootstrap selects data and execution. LiveRunCoordinator governs run lifecycle even for paper modes. UI feature modules display controls and results. Supabase migrations define database schema. Existing code does not mean all strategies or all order types are wired through every mode. Walk through one supported signal, risk decision, order and confirmed fill in the prepared demo. Sources: backend/src/core/state/portfolioState.ts, core/ledger/, core/risk/riskEngine.ts, core/execution/paperExecution.ts, core/execution/simulatedExecution.ts, runtime/bootstrap.ts, core/live/liveRunCoordinator.ts, docs/guides/local-development.md.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26:00-26:45. Each team presents the question, evidence and limitations. Include failed candidates and controlled changes. Separate backtest results from online paper. State market feed, sample dates, capital, costs and tested versions. Show an equity curve, drawdown and trade summary with a fair benchmark. Paper evidence should cover healthy sessions and operational problems as well as P&amp;L. The platform team presents improvements, reproducibility and timing/reliability measurements rather than claiming strategy alpha.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26:45-27:15. WhatsApp carries event logistics. Discord is pending until setup is completed and carries workflow/resources and team research discussion. GitHub stores reviewed code and experiment records. Use issues for blockers so decisions are findable. Team guides are in docs/team-guides. Local setup and benchmarking guides are in docs/guides. Keep credentials out of messages, screenshots and commits.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INSTRUCTIONS: 27:15-28:00. Use28:00-30:00as buffer and transition. Team work runs30:00-60:00. Members stay with the assigned research program. Select a baseline and one possible enhancement, but make the baseline the first deliverable. Research, coding and validation owners can work in parallel without every member finishing setup today. The platform team should select one support gap affecting the teams and define a measurable acceptance test. At the end each of the four teams gives a45second report. October20deliverables include source summary, candidate rules, worked example and first test plan.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ONLY. Require a reproducible strategy version and complete order/risk checks before online paper. Test restart, stale data, partial fills, one-leg failures, close-of-session orders and loss-limit responses. Retain a named primary owner, backup and documented recovery process. Keep run and code IDs in reports. Sim execution and Alpaca paper test different paths. Current backtest integration limits must be resolved for new strategy families before claiming equivalent coverage. Source: docs/guides/local-development.md; https://docs.alpaca.markets/us/docs/paper-trading.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ONLY. Primary research motivates hypotheses, not guaranteed returns. Match sample, frequency, target and cost assumptions to the club experiment. Avellaneda and Lee(2010), Statistical Arbitrage in the US Equities Market, daily residual strategies: https://math.nyu.edu/~avellane/AvellanedaLeeStatArb20090616.pdf. Gao, Han, Li and Zhou(2018), Market Intraday Momentum, previous-close-to-first-half-hour predictor: https://profiles.wustl.edu/en/publications/market-intraday-momentum/. Gould and Bonart(2016), Queue Imbalance as a One-Tick-Ahead Price Predictor, Nasdaq next-midpoint target: https://arxiv.org/abs/1512.03492. Cont, Kukanov and Stoikov(2014), The Price Impact of Order Book Events, contemporaneous impact: https://arxiv.org/abs/1011.6402. Cont, Cucuringu and Zhang(2023), Cross-Impact of Order Flow Imbalance: https://arxiv.org/abs/2112.13213. Chao Zhang, Yihuang Zhang, Mihai Cucuringu and Zhongmin Qian(2024), Volatility Forecasting with Machine Learning and Intraday Commonality: https://arxiv.org/abs/2202.08962. Sharpe(1994), The Sharpe Ratio: https://web.stanford.edu/~wfsharpe/art/sr/SR.htm. Lo(2002), The Statistics of Sharpe Ratios: https://rpc.cfainstitute.org/research/financial-analysts-journal/2002/the-statistics-of-sharpe-ratios. Bailey and coauthors, Probability of Backtest Overfitting: https://www.davidhbailey.com/dhbpapers/backtest-prob.pdf. Alpaca market data: https://docs.alpaca.markets/us/docs/market-data-faq, paper: https://docs.alpaca.markets/us/docs/paper-trading, orders: https://docs.alpaca.markets/us/docs/orders-at-alpaca. Calendar: https://www.nyse.com/trade/hours-calendars. Project paths: docs/team-guides; docs/guides/local-development.md; docs/guides/LATENCY_BENCHMARK_AGENT_GUIDE.md. Theme retained from the supplied UF SHPE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11cb978535246e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443646dc454486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ac7ba6444dd4ca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df7a0287872479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2a415e68ee0472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19dfa60772f479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BAE7B99-6045-4754-B420-FF3E19254D5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Subtitle">
            <a:extLst xmlns:a="http://schemas.openxmlformats.org/drawingml/2006/main">
              <a:ext uri="{FF2B5EF4-FFF2-40B4-BE49-F238E27FC236}">
                <a16:creationId xmlns:a16="http://schemas.microsoft.com/office/drawing/2014/main" id="{3841FF19-E344-4E6D-A446-75CC495ABE6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17CFC8E-A0D8-40F8-B773-2042EF658B6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0890DEC-5291-4F70-AB80-DF520F76A71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Body">
            <a:extLst xmlns:a="http://schemas.openxmlformats.org/drawingml/2006/main">
              <a:ext uri="{FF2B5EF4-FFF2-40B4-BE49-F238E27FC236}">
                <a16:creationId xmlns:a16="http://schemas.microsoft.com/office/drawing/2014/main" id="{11DA4C14-4FBB-478C-9DBB-92AD278EB17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31741EA-1A2B-461E-98B2-FAFF6255C51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38A71C46-A1D5-4C98-BFE5-EE30FC953AE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
        <p:nvSpPr>
          <p:cNvPr id="3" name="Right column">
            <a:extLst xmlns:a="http://schemas.openxmlformats.org/drawingml/2006/main">
              <a:ext uri="{FF2B5EF4-FFF2-40B4-BE49-F238E27FC236}">
                <a16:creationId xmlns:a16="http://schemas.microsoft.com/office/drawing/2014/main" id="{AE055ECE-2CFC-475C-8839-9A43B1B2468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C5A677F-77D0-4D9C-8C4E-7D8F72950A6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92D51E8B-0654-40B5-91F3-F3EFD3B2755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76be16131b2414d" /><Relationship Type="http://schemas.openxmlformats.org/officeDocument/2006/relationships/slideLayout" Target="/ppt/slideLayouts/slideLayout1.xml" Id="Rd5e7172abb5b45bd" /><Relationship Type="http://schemas.openxmlformats.org/officeDocument/2006/relationships/slideLayout" Target="/ppt/slideLayouts/slideLayout2.xml" Id="R7933cef18292454b" /><Relationship Type="http://schemas.openxmlformats.org/officeDocument/2006/relationships/slideLayout" Target="/ppt/slideLayouts/slideLayout3.xml" Id="Rbca66b02854742fd" /><Relationship Type="http://schemas.openxmlformats.org/officeDocument/2006/relationships/slideLayout" Target="/ppt/slideLayouts/slideLayout4.xml" Id="R08cccd82567b4333" /><Relationship Type="http://schemas.openxmlformats.org/officeDocument/2006/relationships/slideLayout" Target="/ppt/slideLayouts/slideLayout5.xml" Id="R0425de8e46494cfe" /><Relationship Type="http://schemas.openxmlformats.org/officeDocument/2006/relationships/slideLayout" Target="/ppt/slideLayouts/slideLayout6.xml" Id="Rd5e8e6ffb432468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5e7172abb5b45bd"/>
    <p:sldLayoutId xmlns:r="http://schemas.openxmlformats.org/officeDocument/2006/relationships" id="2147483650" r:id="R7933cef18292454b"/>
    <p:sldLayoutId xmlns:r="http://schemas.openxmlformats.org/officeDocument/2006/relationships" id="2147483651" r:id="Rbca66b02854742fd"/>
    <p:sldLayoutId xmlns:r="http://schemas.openxmlformats.org/officeDocument/2006/relationships" id="2147483652" r:id="R08cccd82567b4333"/>
    <p:sldLayoutId xmlns:r="http://schemas.openxmlformats.org/officeDocument/2006/relationships" id="2147483653" r:id="R0425de8e46494cfe"/>
    <p:sldLayoutId xmlns:r="http://schemas.openxmlformats.org/officeDocument/2006/relationships" id="2147483654" r:id="Rd5e8e6ffb432468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6c5d0170d69445c" /><Relationship Type="http://schemas.openxmlformats.org/officeDocument/2006/relationships/notesSlide" Target="/ppt/notesSlides/notesSlide1.xml" Id="R921017b7eb50404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5d5d3eec2a04794" /><Relationship Type="http://schemas.openxmlformats.org/officeDocument/2006/relationships/notesSlide" Target="/ppt/notesSlides/notesSlide2.xml" Id="R41c3a321b0f74c3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9f68fbbae71464f" /><Relationship Type="http://schemas.openxmlformats.org/officeDocument/2006/relationships/notesSlide" Target="/ppt/notesSlides/notesSlide3.xml" Id="Rb911cf8c9ac2492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afb8856398a4bd1" /><Relationship Type="http://schemas.openxmlformats.org/officeDocument/2006/relationships/notesSlide" Target="/ppt/notesSlides/notesSlide4.xml" Id="R4a7397e0aeda408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3015464b7914348" /><Relationship Type="http://schemas.openxmlformats.org/officeDocument/2006/relationships/notesSlide" Target="/ppt/notesSlides/notesSlide5.xml" Id="Ra679e94f457840f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19c067bcb70481e" /><Relationship Type="http://schemas.openxmlformats.org/officeDocument/2006/relationships/hyperlink" Target="https://math.nyu.edu/~avellane/AvellanedaLeeStatArb20090616.pdf" TargetMode="External" Id="R271acb2143e64579" /><Relationship Type="http://schemas.openxmlformats.org/officeDocument/2006/relationships/notesSlide" Target="/ppt/notesSlides/notesSlide6.xml" Id="Ra7584c7df70b408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7667fc762544c03" /><Relationship Type="http://schemas.openxmlformats.org/officeDocument/2006/relationships/hyperlink" Target="https://profiles.wustl.edu/en/publications/market-intraday-momentum/" TargetMode="External" Id="Rc1f821945bf44e49" /><Relationship Type="http://schemas.openxmlformats.org/officeDocument/2006/relationships/notesSlide" Target="/ppt/notesSlides/notesSlide7.xml" Id="R74b597954c794ab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d0765447f3c49fe" /><Relationship Type="http://schemas.openxmlformats.org/officeDocument/2006/relationships/hyperlink" Target="https://arxiv.org/abs/1512.03492" TargetMode="External" Id="Ra15a5b31f32b460f" /><Relationship Type="http://schemas.openxmlformats.org/officeDocument/2006/relationships/notesSlide" Target="/ppt/notesSlides/notesSlide8.xml" Id="Raceb4b12017940c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f72d763c32b4501" /><Relationship Type="http://schemas.openxmlformats.org/officeDocument/2006/relationships/notesSlide" Target="/ppt/notesSlides/notesSlide9.xml" Id="Rab88dc12a7df4ad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b37b72873094a63" /><Relationship Type="http://schemas.openxmlformats.org/officeDocument/2006/relationships/notesSlide" Target="/ppt/notesSlides/notesSlide10.xml" Id="R6dc9bbcaabcf410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667ec31d4ee4e23" /><Relationship Type="http://schemas.openxmlformats.org/officeDocument/2006/relationships/notesSlide" Target="/ppt/notesSlides/notesSlide11.xml" Id="Raa12ce36c82a4cf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d9355c8e3f742cb" /><Relationship Type="http://schemas.openxmlformats.org/officeDocument/2006/relationships/notesSlide" Target="/ppt/notesSlides/notesSlide12.xml" Id="R08d68cb8901a4e2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fc59a97e7854344" /><Relationship Type="http://schemas.openxmlformats.org/officeDocument/2006/relationships/notesSlide" Target="/ppt/notesSlides/notesSlide13.xml" Id="Radec3f1afbf4446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f0558f84a6e46d1" /><Relationship Type="http://schemas.openxmlformats.org/officeDocument/2006/relationships/notesSlide" Target="/ppt/notesSlides/notesSlide14.xml" Id="R1c4136c7dd60467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ccef8719385438c" /><Relationship Type="http://schemas.openxmlformats.org/officeDocument/2006/relationships/notesSlide" Target="/ppt/notesSlides/notesSlide15.xml" Id="R4eed72b31f184cb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bedc200d6d174456" /><Relationship Type="http://schemas.openxmlformats.org/officeDocument/2006/relationships/notesSlide" Target="/ppt/notesSlides/notesSlide16.xml" Id="R4a2fb01867e045d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4a6fc82995b04fce" /><Relationship Type="http://schemas.openxmlformats.org/officeDocument/2006/relationships/notesSlide" Target="/ppt/notesSlides/notesSlide17.xml" Id="R9061295fe29f415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1a87b248d6f749cd" /><Relationship Type="http://schemas.openxmlformats.org/officeDocument/2006/relationships/notesSlide" Target="/ppt/notesSlides/notesSlide18.xml" Id="Re05cabe7eb37488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daddaae01f1a4089" /><Relationship Type="http://schemas.openxmlformats.org/officeDocument/2006/relationships/notesSlide" Target="/ppt/notesSlides/notesSlide19.xml" Id="R75aeecade5d94c0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330dcec9c362416a" /><Relationship Type="http://schemas.openxmlformats.org/officeDocument/2006/relationships/notesSlide" Target="/ppt/notesSlides/notesSlide20.xml" Id="R0d5744d391f8481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3a04b9d67f004fd9" /><Relationship Type="http://schemas.openxmlformats.org/officeDocument/2006/relationships/notesSlide" Target="/ppt/notesSlides/notesSlide21.xml" Id="R4768b09b890049b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16a5a411a29d4a39" /><Relationship Type="http://schemas.openxmlformats.org/officeDocument/2006/relationships/notesSlide" Target="/ppt/notesSlides/notesSlide22.xml" Id="R9ea4e6ab35d94a7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42e2ecdc391d4aac" /><Relationship Type="http://schemas.openxmlformats.org/officeDocument/2006/relationships/notesSlide" Target="/ppt/notesSlides/notesSlide23.xml" Id="R7509101d06004e9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710934df1a2848c7" /><Relationship Type="http://schemas.openxmlformats.org/officeDocument/2006/relationships/notesSlide" Target="/ppt/notesSlides/notesSlide24.xml" Id="R66c1470de64e4b3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d99d1475389d445a" /><Relationship Type="http://schemas.openxmlformats.org/officeDocument/2006/relationships/notesSlide" Target="/ppt/notesSlides/notesSlide25.xml" Id="R5716cb74ac7c431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e9fdd9f309024fa9" /><Relationship Type="http://schemas.openxmlformats.org/officeDocument/2006/relationships/notesSlide" Target="/ppt/notesSlides/notesSlide26.xml" Id="Rb77950a2588045b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ae8d2b9bc9ed4cc4" /><Relationship Type="http://schemas.openxmlformats.org/officeDocument/2006/relationships/hyperlink" Target="https://math.nyu.edu/~avellane/AvellanedaLeeStatArb20090616.pdf" TargetMode="External" Id="Rdd45cfe0df8342a8" /><Relationship Type="http://schemas.openxmlformats.org/officeDocument/2006/relationships/hyperlink" Target="https://profiles.wustl.edu/en/publications/market-intraday-momentum/" TargetMode="External" Id="R3342f05664ca417d" /><Relationship Type="http://schemas.openxmlformats.org/officeDocument/2006/relationships/hyperlink" Target="https://arxiv.org/abs/1512.03492" TargetMode="External" Id="Rd06fd1fbca404323" /><Relationship Type="http://schemas.openxmlformats.org/officeDocument/2006/relationships/hyperlink" Target="https://arxiv.org/abs/2112.13213" TargetMode="External" Id="R663bd0231a5b4571" /><Relationship Type="http://schemas.openxmlformats.org/officeDocument/2006/relationships/hyperlink" Target="https://arxiv.org/abs/2202.08962" TargetMode="External" Id="R965d649743874520" /><Relationship Type="http://schemas.openxmlformats.org/officeDocument/2006/relationships/hyperlink" Target="https://web.stanford.edu/~wfsharpe/art/sr/SR.htm" TargetMode="External" Id="R757ff7525d084c58" /><Relationship Type="http://schemas.openxmlformats.org/officeDocument/2006/relationships/hyperlink" Target="https://www.davidhbailey.com/dhbpapers/backtest-prob.pdf" TargetMode="External" Id="R77f42deb98e44866" /><Relationship Type="http://schemas.openxmlformats.org/officeDocument/2006/relationships/hyperlink" Target="https://docs.alpaca.markets/us/docs/market-data-faq" TargetMode="External" Id="R6fbcd47993064232" /><Relationship Type="http://schemas.openxmlformats.org/officeDocument/2006/relationships/hyperlink" Target="https://docs.alpaca.markets/us/docs/orders-at-alpaca" TargetMode="External" Id="R6b900f0bcb6a41ad" /><Relationship Type="http://schemas.openxmlformats.org/officeDocument/2006/relationships/hyperlink" Target="https://docs.alpaca.markets/us/docs/paper-trading" TargetMode="External" Id="R42fcd2fff37a483a" /><Relationship Type="http://schemas.openxmlformats.org/officeDocument/2006/relationships/notesSlide" Target="/ppt/notesSlides/notesSlide27.xml" Id="Rf4ed668f88804c64" /></Relationships>
</file>

<file path=ppt/slides/slide1.xml><?xml version="1.0" encoding="utf-8"?>
<p:sld xmlns:p="http://schemas.openxmlformats.org/presentationml/2006/main">
  <p:cSld>
    <p:bg>
      <p:bgPr>
        <a:solidFill xmlns:a="http://schemas.openxmlformats.org/drawingml/2006/main">
          <a:srgbClr val="004D73"/>
        </a:solidFill>
      </p:bgPr>
    </p:bg>
    <p:spTree>
      <p:nvGrpSpPr>
        <p:cNvPr id="1" name=""/>
        <p:cNvGrpSpPr/>
        <p:nvPr/>
      </p:nvGrpSpPr>
      <p:grpSpPr>
        <a:xfrm xmlns:a="http://schemas.openxmlformats.org/drawingml/2006/main"/>
      </p:grpSpPr>
      <p:sp>
        <p:nvSpPr>
          <p:cNvPr id="7" name="SHPE CAPITAL">
            <a:extLst xmlns:a="http://schemas.openxmlformats.org/drawingml/2006/main">
              <a:ext uri="{FF2B5EF4-FFF2-40B4-BE49-F238E27FC236}">
                <a16:creationId xmlns:a16="http://schemas.microsoft.com/office/drawing/2014/main" id="{4DBF76CD-E80F-47F1-ADC7-F3BC65E6764D}"/>
              </a:ext>
            </a:extLst>
          </p:cNvPr>
          <p:cNvSpPr>
            <a:spLocks xmlns:a="http://schemas.openxmlformats.org/drawingml/2006/main" noGrp="1"/>
          </p:cNvSpPr>
          <p:nvPr/>
        </p:nvSpPr>
        <p:spPr>
          <a:xfrm xmlns:a="http://schemas.openxmlformats.org/drawingml/2006/main">
            <a:off x="609600" y="6477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1">
                <a:solidFill>
                  <a:srgbClr val="FF874D"/>
                </a:solidFill>
                <a:latin typeface="Arial"/>
                <a:ea typeface="Arial"/>
                <a:cs typeface="Arial"/>
              </a:defRPr>
            </a:defPPr>
          </a:lstStyle>
          <a:p xmlns:a="http://schemas.openxmlformats.org/drawingml/2006/main">
            <a:pPr algn="l">
              <a:buNone/>
              <a:defRPr sz="1950" b="1">
                <a:solidFill>
                  <a:srgbClr val="FF874D"/>
                </a:solidFill>
                <a:latin typeface="Arial"/>
                <a:ea typeface="Arial"/>
                <a:cs typeface="Arial"/>
              </a:defRPr>
            </a:pPr>
            <a:r>
              <a:rPr sz="1950" b="1">
                <a:solidFill>
                  <a:srgbClr val="FF874D"/>
                </a:solidFill>
                <a:latin typeface="Arial"/>
                <a:ea typeface="Arial"/>
                <a:cs typeface="Arial"/>
              </a:rPr>
              <a:t>UF SHPE   SHPE CAPITAL</a:t>
            </a:r>
          </a:p>
        </p:txBody>
      </p:sp>
      <p:sp>
        <p:nvSpPr>
          <p:cNvPr id="2" name="Slide title">
            <a:extLst xmlns:a="http://schemas.openxmlformats.org/drawingml/2006/main">
              <a:ext uri="{FF2B5EF4-FFF2-40B4-BE49-F238E27FC236}">
                <a16:creationId xmlns:a16="http://schemas.microsoft.com/office/drawing/2014/main" id="{5E159583-9EA3-40A3-AE39-A4AD5AFD10EC}"/>
              </a:ext>
            </a:extLst>
          </p:cNvPr>
          <p:cNvSpPr>
            <a:spLocks xmlns:a="http://schemas.openxmlformats.org/drawingml/2006/main" noGrp="1"/>
          </p:cNvSpPr>
          <p:nvPr/>
        </p:nvSpPr>
        <p:spPr>
          <a:xfrm xmlns:a="http://schemas.openxmlformats.org/drawingml/2006/main">
            <a:off x="609600" y="1695450"/>
            <a:ext cx="1097280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5250" b="1">
                <a:solidFill>
                  <a:srgbClr val="FFFFFF"/>
                </a:solidFill>
                <a:latin typeface="Arial"/>
                <a:ea typeface="Arial"/>
                <a:cs typeface="Arial"/>
              </a:defRPr>
            </a:defPPr>
          </a:lstStyle>
          <a:p xmlns:a="http://schemas.openxmlformats.org/drawingml/2006/main">
            <a:pPr algn="l">
              <a:buNone/>
              <a:defRPr sz="5250" b="1">
                <a:solidFill>
                  <a:srgbClr val="FFFFFF"/>
                </a:solidFill>
                <a:latin typeface="Arial"/>
                <a:ea typeface="Arial"/>
                <a:cs typeface="Arial"/>
              </a:defRPr>
            </a:pPr>
            <a:r>
              <a:rPr sz="5250" b="1">
                <a:solidFill>
                  <a:srgbClr val="FFFFFF"/>
                </a:solidFill>
                <a:latin typeface="Arial"/>
                <a:ea typeface="Arial"/>
                <a:cs typeface="Arial"/>
              </a:rPr>
              <a:t>Algorithm Team</a:t>
            </a:r>
          </a:p>
          <a:p xmlns:a="http://schemas.openxmlformats.org/drawingml/2006/main">
            <a:pPr algn="l">
              <a:buNone/>
              <a:defRPr sz="5250" b="1">
                <a:solidFill>
                  <a:srgbClr val="FFFFFF"/>
                </a:solidFill>
                <a:latin typeface="Arial"/>
                <a:ea typeface="Arial"/>
                <a:cs typeface="Arial"/>
              </a:defRPr>
            </a:pPr>
            <a:r>
              <a:rPr sz="5250" b="1">
                <a:solidFill>
                  <a:srgbClr val="FFFFFF"/>
                </a:solidFill>
                <a:latin typeface="Arial"/>
                <a:ea typeface="Arial"/>
                <a:cs typeface="Arial"/>
              </a:rPr>
              <a:t>First meeting</a:t>
            </a:r>
          </a:p>
        </p:txBody>
      </p:sp>
      <p:sp>
        <p:nvSpPr>
          <p:cNvPr id="3" name="From a research question to a te">
            <a:extLst xmlns:a="http://schemas.openxmlformats.org/drawingml/2006/main">
              <a:ext uri="{FF2B5EF4-FFF2-40B4-BE49-F238E27FC236}">
                <a16:creationId xmlns:a16="http://schemas.microsoft.com/office/drawing/2014/main" id="{B9F9AD96-16DF-4DF0-8669-EED081CFF617}"/>
              </a:ext>
            </a:extLst>
          </p:cNvPr>
          <p:cNvSpPr>
            <a:spLocks xmlns:a="http://schemas.openxmlformats.org/drawingml/2006/main" noGrp="1"/>
          </p:cNvSpPr>
          <p:nvPr/>
        </p:nvSpPr>
        <p:spPr>
          <a:xfrm xmlns:a="http://schemas.openxmlformats.org/drawingml/2006/main">
            <a:off x="609600" y="375285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00" b="0">
                <a:solidFill>
                  <a:srgbClr val="DCE4ED"/>
                </a:solidFill>
                <a:latin typeface="Arial"/>
                <a:ea typeface="Arial"/>
                <a:cs typeface="Arial"/>
              </a:defRPr>
            </a:defPPr>
          </a:lstStyle>
          <a:p xmlns:a="http://schemas.openxmlformats.org/drawingml/2006/main">
            <a:pPr algn="l">
              <a:buNone/>
              <a:defRPr sz="2400" b="0">
                <a:solidFill>
                  <a:srgbClr val="DCE4ED"/>
                </a:solidFill>
                <a:latin typeface="Arial"/>
                <a:ea typeface="Arial"/>
                <a:cs typeface="Arial"/>
              </a:defRPr>
            </a:pPr>
            <a:r>
              <a:rPr sz="2400" b="0">
                <a:solidFill>
                  <a:srgbClr val="DCE4ED"/>
                </a:solidFill>
                <a:latin typeface="Arial"/>
                <a:ea typeface="Arial"/>
                <a:cs typeface="Arial"/>
              </a:rPr>
              <a:t>Research and development of intraday trading strategies</a:t>
            </a:r>
          </a:p>
        </p:txBody>
      </p:sp>
      <p:sp>
        <p:nvSpPr>
          <p:cNvPr id="4" name="October 13, 2026     60 minutes">
            <a:extLst xmlns:a="http://schemas.openxmlformats.org/drawingml/2006/main">
              <a:ext uri="{FF2B5EF4-FFF2-40B4-BE49-F238E27FC236}">
                <a16:creationId xmlns:a16="http://schemas.microsoft.com/office/drawing/2014/main" id="{89B88864-EFCF-484B-B6A7-16BD91F6CBC0}"/>
              </a:ext>
            </a:extLst>
          </p:cNvPr>
          <p:cNvSpPr>
            <a:spLocks xmlns:a="http://schemas.openxmlformats.org/drawingml/2006/main" noGrp="1"/>
          </p:cNvSpPr>
          <p:nvPr/>
        </p:nvSpPr>
        <p:spPr>
          <a:xfrm xmlns:a="http://schemas.openxmlformats.org/drawingml/2006/main">
            <a:off x="609600" y="46958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0">
                <a:solidFill>
                  <a:srgbClr val="FFFFFF"/>
                </a:solidFill>
                <a:latin typeface="Arial"/>
                <a:ea typeface="Arial"/>
                <a:cs typeface="Arial"/>
              </a:defRPr>
            </a:defPPr>
          </a:lstStyle>
          <a:p xmlns:a="http://schemas.openxmlformats.org/drawingml/2006/main">
            <a:pPr algn="l">
              <a:buNone/>
              <a:defRPr sz="1950" b="0">
                <a:solidFill>
                  <a:srgbClr val="FFFFFF"/>
                </a:solidFill>
                <a:latin typeface="Arial"/>
                <a:ea typeface="Arial"/>
                <a:cs typeface="Arial"/>
              </a:defRPr>
            </a:pPr>
            <a:r>
              <a:rPr sz="1950" b="0">
                <a:solidFill>
                  <a:srgbClr val="FFFFFF"/>
                </a:solidFill>
                <a:latin typeface="Arial"/>
                <a:ea typeface="Arial"/>
                <a:cs typeface="Arial"/>
              </a:rPr>
              <a:t>October 13, 2026     60 minutes</a:t>
            </a:r>
          </a:p>
        </p:txBody>
      </p:sp>
      <p:sp>
        <p:nvSpPr>
          <p:cNvPr id="5" name="Research teams  +  shared tradin">
            <a:extLst xmlns:a="http://schemas.openxmlformats.org/drawingml/2006/main">
              <a:ext uri="{FF2B5EF4-FFF2-40B4-BE49-F238E27FC236}">
                <a16:creationId xmlns:a16="http://schemas.microsoft.com/office/drawing/2014/main" id="{E7FFC121-BB05-4B7F-8D39-14215E83654F}"/>
              </a:ext>
            </a:extLst>
          </p:cNvPr>
          <p:cNvSpPr>
            <a:spLocks xmlns:a="http://schemas.openxmlformats.org/drawingml/2006/main" noGrp="1"/>
          </p:cNvSpPr>
          <p:nvPr/>
        </p:nvSpPr>
        <p:spPr>
          <a:xfrm xmlns:a="http://schemas.openxmlformats.org/drawingml/2006/main">
            <a:off x="609600" y="52673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0">
                <a:solidFill>
                  <a:srgbClr val="FF874D"/>
                </a:solidFill>
                <a:latin typeface="Arial"/>
                <a:ea typeface="Arial"/>
                <a:cs typeface="Arial"/>
              </a:defRPr>
            </a:defPPr>
          </a:lstStyle>
          <a:p xmlns:a="http://schemas.openxmlformats.org/drawingml/2006/main">
            <a:pPr algn="l">
              <a:buNone/>
              <a:defRPr sz="1950" b="0">
                <a:solidFill>
                  <a:srgbClr val="FF874D"/>
                </a:solidFill>
                <a:latin typeface="Arial"/>
                <a:ea typeface="Arial"/>
                <a:cs typeface="Arial"/>
              </a:defRPr>
            </a:pPr>
            <a:r>
              <a:rPr sz="1950" b="0">
                <a:solidFill>
                  <a:srgbClr val="FF874D"/>
                </a:solidFill>
                <a:latin typeface="Arial"/>
                <a:ea typeface="Arial"/>
                <a:cs typeface="Arial"/>
              </a:rPr>
              <a:t>28-minute introduction and course, then assigned-team work</a:t>
            </a:r>
          </a:p>
        </p:txBody>
      </p:sp>
      <p:sp>
        <p:nvSpPr>
          <p:cNvPr id="6" name="Semester showcase: December 1, 2">
            <a:extLst xmlns:a="http://schemas.openxmlformats.org/drawingml/2006/main">
              <a:ext uri="{FF2B5EF4-FFF2-40B4-BE49-F238E27FC236}">
                <a16:creationId xmlns:a16="http://schemas.microsoft.com/office/drawing/2014/main" id="{C93834AC-DEAC-4F82-97F3-00EE5B1B44CE}"/>
              </a:ext>
            </a:extLst>
          </p:cNvPr>
          <p:cNvSpPr>
            <a:spLocks xmlns:a="http://schemas.openxmlformats.org/drawingml/2006/main" noGrp="1"/>
          </p:cNvSpPr>
          <p:nvPr/>
        </p:nvSpPr>
        <p:spPr>
          <a:xfrm xmlns:a="http://schemas.openxmlformats.org/drawingml/2006/main">
            <a:off x="609600" y="62865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00" b="0">
                <a:solidFill>
                  <a:srgbClr val="DCE4ED"/>
                </a:solidFill>
                <a:latin typeface="Arial"/>
                <a:ea typeface="Arial"/>
                <a:cs typeface="Arial"/>
              </a:defRPr>
            </a:defPPr>
          </a:lstStyle>
          <a:p xmlns:a="http://schemas.openxmlformats.org/drawingml/2006/main">
            <a:pPr algn="l">
              <a:buNone/>
              <a:defRPr sz="1500" b="0">
                <a:solidFill>
                  <a:srgbClr val="DCE4ED"/>
                </a:solidFill>
                <a:latin typeface="Arial"/>
                <a:ea typeface="Arial"/>
                <a:cs typeface="Arial"/>
              </a:defRPr>
            </a:pPr>
            <a:r>
              <a:rPr sz="1500" b="0">
                <a:solidFill>
                  <a:srgbClr val="DCE4ED"/>
                </a:solidFill>
                <a:latin typeface="Arial"/>
                <a:ea typeface="Arial"/>
                <a:cs typeface="Arial"/>
              </a:rPr>
              <a:t>Final presentations: Monday, November 30, 2026</a:t>
            </a:r>
          </a:p>
        </p:txBody>
      </p:sp>
    </p:spTree>
    <p:extLst>
      <p:ext uri="{BB962C8B-B14F-4D97-AF65-F5344CB8AC3E}">
        <p14:creationId xmlns:p14="http://schemas.microsoft.com/office/powerpoint/2010/main" val="98847888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INTRODUCTION">
            <a:extLst xmlns:a="http://schemas.openxmlformats.org/drawingml/2006/main">
              <a:ext uri="{FF2B5EF4-FFF2-40B4-BE49-F238E27FC236}">
                <a16:creationId xmlns:a16="http://schemas.microsoft.com/office/drawing/2014/main" id="{699B8027-CD16-418F-AEC2-645388B8A8EE}"/>
              </a:ext>
            </a:extLst>
          </p:cNvPr>
          <p:cNvSpPr>
            <a:spLocks xmlns:a="http://schemas.openxmlformats.org/drawingml/2006/main" noGrp="1"/>
          </p:cNvSpPr>
          <p:nvPr/>
        </p:nvSpPr>
        <p:spPr>
          <a:xfrm xmlns:a="http://schemas.openxmlformats.org/drawingml/2006/main">
            <a:off x="609600" y="285750"/>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FF5400"/>
                </a:solidFill>
                <a:latin typeface="Arial"/>
                <a:ea typeface="Arial"/>
                <a:cs typeface="Arial"/>
              </a:defRPr>
            </a:defPPr>
          </a:lstStyle>
          <a:p xmlns:a="http://schemas.openxmlformats.org/drawingml/2006/main">
            <a:pPr algn="l">
              <a:buNone/>
              <a:defRPr sz="1350" b="1">
                <a:solidFill>
                  <a:srgbClr val="FF5400"/>
                </a:solidFill>
                <a:latin typeface="Arial"/>
                <a:ea typeface="Arial"/>
                <a:cs typeface="Arial"/>
              </a:defRPr>
            </a:pPr>
            <a:r>
              <a:rPr sz="1350" b="1">
                <a:solidFill>
                  <a:srgbClr val="FF5400"/>
                </a:solidFill>
                <a:latin typeface="Arial"/>
                <a:ea typeface="Arial"/>
                <a:cs typeface="Arial"/>
              </a:rPr>
              <a:t>INTRODUCTION</a:t>
            </a:r>
          </a:p>
        </p:txBody>
      </p:sp>
      <p:sp>
        <p:nvSpPr>
          <p:cNvPr id="2" name="Slide title">
            <a:extLst xmlns:a="http://schemas.openxmlformats.org/drawingml/2006/main">
              <a:ext uri="{FF2B5EF4-FFF2-40B4-BE49-F238E27FC236}">
                <a16:creationId xmlns:a16="http://schemas.microsoft.com/office/drawing/2014/main" id="{0C947A55-FC90-4AA9-B6A0-319E872ED0B6}"/>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450" b="1">
                <a:solidFill>
                  <a:srgbClr val="004D73"/>
                </a:solidFill>
                <a:latin typeface="Arial"/>
                <a:ea typeface="Arial"/>
                <a:cs typeface="Arial"/>
              </a:defRPr>
            </a:defPPr>
          </a:lstStyle>
          <a:p xmlns:a="http://schemas.openxmlformats.org/drawingml/2006/main">
            <a:pPr algn="l">
              <a:buNone/>
              <a:defRPr sz="3450" b="1">
                <a:solidFill>
                  <a:srgbClr val="004D73"/>
                </a:solidFill>
                <a:latin typeface="Arial"/>
                <a:ea typeface="Arial"/>
                <a:cs typeface="Arial"/>
              </a:defRPr>
            </a:pPr>
            <a:r>
              <a:rPr sz="3450" b="1">
                <a:solidFill>
                  <a:srgbClr val="004D73"/>
                </a:solidFill>
                <a:latin typeface="Arial"/>
                <a:ea typeface="Arial"/>
                <a:cs typeface="Arial"/>
              </a:rPr>
              <a:t>About me</a:t>
            </a:r>
          </a:p>
        </p:txBody>
      </p:sp>
      <p:sp>
        <p:nvSpPr>
          <p:cNvPr id="3" name="SHPE CAPITAL    OCTOBER 13, 2026">
            <a:extLst xmlns:a="http://schemas.openxmlformats.org/drawingml/2006/main">
              <a:ext uri="{FF2B5EF4-FFF2-40B4-BE49-F238E27FC236}">
                <a16:creationId xmlns:a16="http://schemas.microsoft.com/office/drawing/2014/main" id="{84A67D96-9DB4-4646-AFA7-47E0FB2AB767}"/>
              </a:ext>
            </a:extLst>
          </p:cNvPr>
          <p:cNvSpPr>
            <a:spLocks xmlns:a="http://schemas.openxmlformats.org/drawingml/2006/main" noGrp="1"/>
          </p:cNvSpPr>
          <p:nvPr/>
        </p:nvSpPr>
        <p:spPr>
          <a:xfrm xmlns:a="http://schemas.openxmlformats.org/drawingml/2006/main">
            <a:off x="609600" y="6438900"/>
            <a:ext cx="771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SHPE CAPITAL    OCTOBER 13, 2026</a:t>
            </a:r>
          </a:p>
        </p:txBody>
      </p:sp>
      <p:sp>
        <p:nvSpPr>
          <p:cNvPr id="4" name="0.5–1.5 min">
            <a:extLst xmlns:a="http://schemas.openxmlformats.org/drawingml/2006/main">
              <a:ext uri="{FF2B5EF4-FFF2-40B4-BE49-F238E27FC236}">
                <a16:creationId xmlns:a16="http://schemas.microsoft.com/office/drawing/2014/main" id="{B16DABC8-D32E-46FC-8F10-4195AC1F894B}"/>
              </a:ext>
            </a:extLst>
          </p:cNvPr>
          <p:cNvSpPr>
            <a:spLocks xmlns:a="http://schemas.openxmlformats.org/drawingml/2006/main" noGrp="1"/>
          </p:cNvSpPr>
          <p:nvPr/>
        </p:nvSpPr>
        <p:spPr>
          <a:xfrm xmlns:a="http://schemas.openxmlformats.org/drawingml/2006/main">
            <a:off x="9029700" y="643890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0:30-1:00</a:t>
            </a:r>
          </a:p>
        </p:txBody>
      </p:sp>
      <p:sp>
        <p:nvSpPr>
          <p:cNvPr id="5" name="2">
            <a:extLst xmlns:a="http://schemas.openxmlformats.org/drawingml/2006/main">
              <a:ext uri="{FF2B5EF4-FFF2-40B4-BE49-F238E27FC236}">
                <a16:creationId xmlns:a16="http://schemas.microsoft.com/office/drawing/2014/main" id="{7332B3D8-654B-4C02-9774-9D0FF96CBC18}"/>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2</a:t>
            </a:r>
          </a:p>
        </p:txBody>
      </p:sp>
      <p:sp>
        <p:nvSpPr>
          <p:cNvPr id="6" name="[Your name]">
            <a:extLst xmlns:a="http://schemas.openxmlformats.org/drawingml/2006/main">
              <a:ext uri="{FF2B5EF4-FFF2-40B4-BE49-F238E27FC236}">
                <a16:creationId xmlns:a16="http://schemas.microsoft.com/office/drawing/2014/main" id="{E01F8B0A-92C7-4A4F-A6EC-F7771540CA81}"/>
              </a:ext>
            </a:extLst>
          </p:cNvPr>
          <p:cNvSpPr>
            <a:spLocks xmlns:a="http://schemas.openxmlformats.org/drawingml/2006/main" noGrp="1"/>
          </p:cNvSpPr>
          <p:nvPr/>
        </p:nvSpPr>
        <p:spPr>
          <a:xfrm xmlns:a="http://schemas.openxmlformats.org/drawingml/2006/main">
            <a:off x="609600" y="19431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600" b="1">
                <a:solidFill>
                  <a:srgbClr val="004D73"/>
                </a:solidFill>
                <a:latin typeface="Arial"/>
                <a:ea typeface="Arial"/>
                <a:cs typeface="Arial"/>
              </a:defRPr>
            </a:defPPr>
          </a:lstStyle>
          <a:p xmlns:a="http://schemas.openxmlformats.org/drawingml/2006/main">
            <a:pPr algn="l">
              <a:buNone/>
              <a:defRPr sz="3600" b="1">
                <a:solidFill>
                  <a:srgbClr val="004D73"/>
                </a:solidFill>
                <a:latin typeface="Arial"/>
                <a:ea typeface="Arial"/>
                <a:cs typeface="Arial"/>
              </a:defRPr>
            </a:pPr>
            <a:r>
              <a:rPr sz="3600" b="1">
                <a:solidFill>
                  <a:srgbClr val="004D73"/>
                </a:solidFill>
                <a:latin typeface="Arial"/>
                <a:ea typeface="Arial"/>
                <a:cs typeface="Arial"/>
              </a:rPr>
              <a:t>Juan Cavallin</a:t>
            </a:r>
            <a:endParaRPr sz="3600" b="1">
              <a:solidFill>
                <a:srgbClr val="004D73"/>
              </a:solidFill>
              <a:latin typeface="Arial"/>
              <a:ea typeface="Arial"/>
              <a:cs typeface="Arial"/>
            </a:endParaRPr>
          </a:p>
        </p:txBody>
      </p:sp>
      <p:sp>
        <p:nvSpPr>
          <p:cNvPr id="7" name="Algorithm Team Lead, SHPE Capital">
            <a:extLst xmlns:a="http://schemas.openxmlformats.org/drawingml/2006/main">
              <a:ext uri="{FF2B5EF4-FFF2-40B4-BE49-F238E27FC236}">
                <a16:creationId xmlns:a16="http://schemas.microsoft.com/office/drawing/2014/main" id="{3920A536-4F21-4AD2-BC98-A4AD5FCAA486}"/>
              </a:ext>
            </a:extLst>
          </p:cNvPr>
          <p:cNvSpPr>
            <a:spLocks xmlns:a="http://schemas.openxmlformats.org/drawingml/2006/main" noGrp="1"/>
          </p:cNvSpPr>
          <p:nvPr/>
        </p:nvSpPr>
        <p:spPr>
          <a:xfrm xmlns:a="http://schemas.openxmlformats.org/drawingml/2006/main">
            <a:off x="609600" y="26860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0">
                <a:solidFill>
                  <a:srgbClr val="182C43"/>
                </a:solidFill>
                <a:latin typeface="Arial"/>
                <a:ea typeface="Arial"/>
                <a:cs typeface="Arial"/>
              </a:defRPr>
            </a:defPPr>
          </a:lstStyle>
          <a:p xmlns:a="http://schemas.openxmlformats.org/drawingml/2006/main">
            <a:pPr algn="l">
              <a:buNone/>
              <a:defRPr sz="2250" b="0">
                <a:solidFill>
                  <a:srgbClr val="182C43"/>
                </a:solidFill>
                <a:latin typeface="Arial"/>
                <a:ea typeface="Arial"/>
                <a:cs typeface="Arial"/>
              </a:defRPr>
            </a:pPr>
            <a:r>
              <a:rPr sz="2250" b="0">
                <a:solidFill>
                  <a:srgbClr val="182C43"/>
                </a:solidFill>
                <a:latin typeface="Arial"/>
                <a:ea typeface="Arial"/>
                <a:cs typeface="Arial"/>
              </a:rPr>
              <a:t>Algorithm Team Lead, SHPE Capital</a:t>
            </a:r>
          </a:p>
        </p:txBody>
      </p:sp>
      <p:graphicFrame>
        <p:nvGraphicFramePr>
          <p:cNvPr id="8" name="Table 7">
            <a:extLst xmlns:a="http://schemas.openxmlformats.org/drawingml/2006/main">
              <a:ext uri="{FF2B5EF4-FFF2-40B4-BE49-F238E27FC236}">
                <a16:creationId xmlns:a16="http://schemas.microsoft.com/office/drawing/2014/main" id="{17419528-1C44-4364-855D-5DF397365810}"/>
              </a:ext>
            </a:extLst>
          </p:cNvPr>
          <p:cNvGraphicFramePr/>
          <p:nvPr/>
        </p:nvGraphicFramePr>
        <p:xfrm>
          <a:off xmlns:a="http://schemas.openxmlformats.org/drawingml/2006/main" x="609600" y="3495675"/>
          <a:ext xmlns:a="http://schemas.openxmlformats.org/drawingml/2006/main" cx="10972800" cy="2555558"/>
        </p:xfrm>
        <a:graphic xmlns:a="http://schemas.openxmlformats.org/drawingml/2006/main">
          <a:graphicData uri="http://schemas.openxmlformats.org/drawingml/2006/table">
            <a:tbl>
              <a:tblPr firstRow="1"/>
              <a:tblGrid>
                <a:gridCol w="2914650"/>
                <a:gridCol w="8058150"/>
              </a:tblGrid>
              <a:tr h="569119">
                <a:tc>
                  <a:txBody>
                    <a:bodyPr/>
                    <a:lstStyle/>
                    <a:p>
                      <a:pPr algn="l">
                        <a:buNone/>
                      </a:pPr>
                      <a:r>
                        <a:rPr sz="2025" b="1">
                          <a:solidFill>
                            <a:srgbClr val="FFFFFF"/>
                          </a:solidFill>
                          <a:latin typeface="Arial"/>
                          <a:ea typeface="Arial"/>
                          <a:cs typeface="Arial"/>
                        </a:rPr>
                        <a:t>Background</a:t>
                      </a:r>
                    </a:p>
                  </a:txBody>
                  <a:tcPr marL="91440" marR="91440" marT="45720" marB="45720" anchor="ctr">
                    <a:solidFill>
                      <a:srgbClr val="004D73"/>
                    </a:solidFill>
                  </a:tcPr>
                </a:tc>
                <a:tc>
                  <a:txBody>
                    <a:bodyPr/>
                    <a:lstStyle/>
                    <a:p>
                      <a:pPr algn="l">
                        <a:buNone/>
                      </a:pPr>
                      <a:r>
                        <a:rPr sz="2025" b="1">
                          <a:solidFill>
                            <a:srgbClr val="FFFFFF"/>
                          </a:solidFill>
                          <a:latin typeface="Arial"/>
                          <a:ea typeface="Arial"/>
                          <a:cs typeface="Arial"/>
                        </a:rPr>
                        <a:t>Personal introduction</a:t>
                      </a:r>
                    </a:p>
                  </a:txBody>
                  <a:tcPr marL="91440" marR="91440" marT="45720" marB="45720" anchor="ctr">
                    <a:solidFill>
                      <a:srgbClr val="004D73"/>
                    </a:solidFill>
                  </a:tcPr>
                </a:tc>
              </a:tr>
              <a:tr h="569119">
                <a:tc>
                  <a:txBody>
                    <a:bodyPr/>
                    <a:lstStyle/>
                    <a:p>
                      <a:pPr algn="l">
                        <a:buNone/>
                      </a:pPr>
                      <a:r>
                        <a:rPr sz="2025" b="1">
                          <a:solidFill>
                            <a:srgbClr val="182C43"/>
                          </a:solidFill>
                          <a:latin typeface="Arial"/>
                          <a:ea typeface="Arial"/>
                          <a:cs typeface="Arial"/>
                        </a:rPr>
                        <a:t>Major and year</a:t>
                      </a:r>
                    </a:p>
                  </a:txBody>
                  <a:tcPr marL="91440" marR="91440" marT="45720" marB="45720" anchor="ctr">
                    <a:solidFill>
                      <a:srgbClr val="FFFFFF"/>
                    </a:solidFill>
                  </a:tcPr>
                </a:tc>
                <a:tc>
                  <a:txBody>
                    <a:bodyPr/>
                    <a:lstStyle/>
                    <a:p>
                      <a:pPr algn="l">
                        <a:buNone/>
                      </a:pPr>
                      <a:r>
                        <a:rPr sz="2025" b="0">
                          <a:solidFill>
                            <a:srgbClr val="182C43"/>
                          </a:solidFill>
                          <a:latin typeface="Arial"/>
                          <a:ea typeface="Arial"/>
                          <a:cs typeface="Arial"/>
                        </a:rPr>
                        <a:t>Computer Science, 3</a:t>
                      </a:r>
                      <a:r>
                        <a:rPr sz="2025" b="0" baseline="30000">
                          <a:solidFill>
                            <a:srgbClr val="182C43"/>
                          </a:solidFill>
                          <a:latin typeface="Arial"/>
                          <a:ea typeface="Arial"/>
                          <a:cs typeface="Arial"/>
                        </a:rPr>
                        <a:t>rd</a:t>
                      </a:r>
                      <a:r>
                        <a:rPr sz="2025" b="0">
                          <a:solidFill>
                            <a:srgbClr val="182C43"/>
                          </a:solidFill>
                          <a:latin typeface="Arial"/>
                          <a:ea typeface="Arial"/>
                          <a:cs typeface="Arial"/>
                        </a:rPr>
                        <a:t> Year</a:t>
                      </a:r>
                      <a:endParaRPr sz="2025" b="0">
                        <a:solidFill>
                          <a:srgbClr val="182C43"/>
                        </a:solidFill>
                        <a:latin typeface="Arial"/>
                        <a:ea typeface="Arial"/>
                        <a:cs typeface="Arial"/>
                      </a:endParaRPr>
                    </a:p>
                  </a:txBody>
                  <a:tcPr marL="91440" marR="91440" marT="45720" marB="45720" anchor="ctr">
                    <a:solidFill>
                      <a:srgbClr val="FFFFFF"/>
                    </a:solidFill>
                  </a:tcPr>
                </a:tc>
              </a:tr>
              <a:tr h="569119">
                <a:tc>
                  <a:txBody>
                    <a:bodyPr/>
                    <a:lstStyle/>
                    <a:p>
                      <a:pPr algn="l">
                        <a:buNone/>
                      </a:pPr>
                      <a:r>
                        <a:rPr sz="2025" b="1">
                          <a:solidFill>
                            <a:srgbClr val="182C43"/>
                          </a:solidFill>
                          <a:latin typeface="Arial"/>
                          <a:ea typeface="Arial"/>
                          <a:cs typeface="Arial"/>
                        </a:rPr>
                        <a:t>Relevant experience</a:t>
                      </a:r>
                    </a:p>
                  </a:txBody>
                  <a:tcPr marL="91440" marR="91440" marT="45720" marB="45720" anchor="ctr">
                    <a:solidFill>
                      <a:srgbClr val="F1F4F7"/>
                    </a:solidFill>
                  </a:tcPr>
                </a:tc>
                <a:tc>
                  <a:txBody>
                    <a:bodyPr/>
                    <a:lstStyle/>
                    <a:p>
                      <a:pPr algn="l">
                        <a:buNone/>
                      </a:pPr>
                      <a:r>
                        <a:rPr sz="2025" b="0">
                          <a:solidFill>
                            <a:srgbClr val="182C43"/>
                          </a:solidFill>
                          <a:latin typeface="Arial"/>
                          <a:ea typeface="Arial"/>
                          <a:cs typeface="Arial"/>
                        </a:rPr>
                        <a:t>Prev. SWE Intern @ T-Mobile, Agriculture Intelligence, 1 year at SHPE Capital</a:t>
                      </a:r>
                      <a:endParaRPr sz="2025" b="0">
                        <a:solidFill>
                          <a:srgbClr val="182C43"/>
                        </a:solidFill>
                        <a:latin typeface="Arial"/>
                        <a:ea typeface="Arial"/>
                        <a:cs typeface="Arial"/>
                      </a:endParaRPr>
                    </a:p>
                  </a:txBody>
                  <a:tcPr marL="91440" marR="91440" marT="45720" marB="45720" anchor="ctr">
                    <a:solidFill>
                      <a:srgbClr val="F1F4F7"/>
                    </a:solidFill>
                  </a:tcPr>
                </a:tc>
              </a:tr>
              <a:tr h="569119">
                <a:tc>
                  <a:txBody>
                    <a:bodyPr/>
                    <a:lstStyle/>
                    <a:p>
                      <a:pPr algn="l">
                        <a:buNone/>
                      </a:pPr>
                      <a:r>
                        <a:rPr sz="2025" b="1">
                          <a:solidFill>
                            <a:srgbClr val="182C43"/>
                          </a:solidFill>
                          <a:latin typeface="Arial"/>
                          <a:ea typeface="Arial"/>
                          <a:cs typeface="Arial"/>
                        </a:rPr>
                        <a:t>Why this project</a:t>
                      </a:r>
                    </a:p>
                  </a:txBody>
                  <a:tcPr marL="91440" marR="91440" marT="45720" marB="45720" anchor="ctr">
                    <a:solidFill>
                      <a:srgbClr val="FFFFFF"/>
                    </a:solidFill>
                  </a:tcPr>
                </a:tc>
                <a:tc>
                  <a:txBody>
                    <a:bodyPr/>
                    <a:lstStyle/>
                    <a:p>
                      <a:pPr algn="l">
                        <a:buNone/>
                      </a:pPr>
                      <a:r>
                        <a:rPr sz="2025" b="0">
                          <a:solidFill>
                            <a:srgbClr val="182C43"/>
                          </a:solidFill>
                          <a:latin typeface="Arial"/>
                          <a:ea typeface="Arial"/>
                          <a:cs typeface="Arial"/>
                        </a:rPr>
                        <a:t>Want to create a project with real measurable impact and that can help others learn about algorithmic trading and software engineering.</a:t>
                      </a:r>
                      <a:endParaRPr sz="2025" b="0">
                        <a:solidFill>
                          <a:srgbClr val="182C43"/>
                        </a:solidFill>
                        <a:latin typeface="Arial"/>
                        <a:ea typeface="Arial"/>
                        <a:cs typeface="Arial"/>
                      </a:endParaRP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74492573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HE DIVISION">
            <a:extLst xmlns:a="http://schemas.openxmlformats.org/drawingml/2006/main">
              <a:ext uri="{FF2B5EF4-FFF2-40B4-BE49-F238E27FC236}">
                <a16:creationId xmlns:a16="http://schemas.microsoft.com/office/drawing/2014/main" id="{4306F18E-031A-4EC5-9644-F60F17A10E3D}"/>
              </a:ext>
            </a:extLst>
          </p:cNvPr>
          <p:cNvSpPr>
            <a:spLocks xmlns:a="http://schemas.openxmlformats.org/drawingml/2006/main" noGrp="1"/>
          </p:cNvSpPr>
          <p:nvPr/>
        </p:nvSpPr>
        <p:spPr>
          <a:xfrm xmlns:a="http://schemas.openxmlformats.org/drawingml/2006/main">
            <a:off x="609600" y="285750"/>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FF5400"/>
                </a:solidFill>
                <a:latin typeface="Arial"/>
                <a:ea typeface="Arial"/>
                <a:cs typeface="Arial"/>
              </a:defRPr>
            </a:defPPr>
          </a:lstStyle>
          <a:p xmlns:a="http://schemas.openxmlformats.org/drawingml/2006/main">
            <a:pPr algn="l">
              <a:buNone/>
              <a:defRPr sz="1350" b="1">
                <a:solidFill>
                  <a:srgbClr val="FF5400"/>
                </a:solidFill>
                <a:latin typeface="Arial"/>
                <a:ea typeface="Arial"/>
                <a:cs typeface="Arial"/>
              </a:defRPr>
            </a:pPr>
            <a:r>
              <a:rPr sz="1350" b="1">
                <a:solidFill>
                  <a:srgbClr val="FF5400"/>
                </a:solidFill>
                <a:latin typeface="Arial"/>
                <a:ea typeface="Arial"/>
                <a:cs typeface="Arial"/>
              </a:rPr>
              <a:t>THE DIVISION</a:t>
            </a:r>
          </a:p>
        </p:txBody>
      </p:sp>
      <p:sp>
        <p:nvSpPr>
          <p:cNvPr id="2" name="Slide title">
            <a:extLst xmlns:a="http://schemas.openxmlformats.org/drawingml/2006/main">
              <a:ext uri="{FF2B5EF4-FFF2-40B4-BE49-F238E27FC236}">
                <a16:creationId xmlns:a16="http://schemas.microsoft.com/office/drawing/2014/main" id="{86C7F65C-DE98-416B-85E6-8A95C5949400}"/>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004D73"/>
                </a:solidFill>
                <a:latin typeface="Arial"/>
                <a:ea typeface="Arial"/>
                <a:cs typeface="Arial"/>
              </a:defRPr>
            </a:defPPr>
          </a:lstStyle>
          <a:p xmlns:a="http://schemas.openxmlformats.org/drawingml/2006/main">
            <a:pPr algn="l">
              <a:buNone/>
              <a:defRPr sz="3300" b="1">
                <a:solidFill>
                  <a:srgbClr val="004D73"/>
                </a:solidFill>
                <a:latin typeface="Arial"/>
                <a:ea typeface="Arial"/>
                <a:cs typeface="Arial"/>
              </a:defRPr>
            </a:pPr>
            <a:r>
              <a:rPr sz="3300" b="1">
                <a:solidFill>
                  <a:srgbClr val="004D73"/>
                </a:solidFill>
                <a:latin typeface="Arial"/>
                <a:ea typeface="Arial"/>
                <a:cs typeface="Arial"/>
              </a:rPr>
              <a:t>Algorithmic trading and the intraday focus</a:t>
            </a:r>
          </a:p>
        </p:txBody>
      </p:sp>
      <p:sp>
        <p:nvSpPr>
          <p:cNvPr id="3" name="SHPE CAPITAL    OCTOBER 13, 2026">
            <a:extLst xmlns:a="http://schemas.openxmlformats.org/drawingml/2006/main">
              <a:ext uri="{FF2B5EF4-FFF2-40B4-BE49-F238E27FC236}">
                <a16:creationId xmlns:a16="http://schemas.microsoft.com/office/drawing/2014/main" id="{E7B4E2A8-D851-41D8-BF75-D38817EA7071}"/>
              </a:ext>
            </a:extLst>
          </p:cNvPr>
          <p:cNvSpPr>
            <a:spLocks xmlns:a="http://schemas.openxmlformats.org/drawingml/2006/main" noGrp="1"/>
          </p:cNvSpPr>
          <p:nvPr/>
        </p:nvSpPr>
        <p:spPr>
          <a:xfrm xmlns:a="http://schemas.openxmlformats.org/drawingml/2006/main">
            <a:off x="609600" y="6438900"/>
            <a:ext cx="771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SHPE CAPITAL    OCTOBER 13, 2026</a:t>
            </a:r>
          </a:p>
        </p:txBody>
      </p:sp>
      <p:sp>
        <p:nvSpPr>
          <p:cNvPr id="4" name="1.5–3 min">
            <a:extLst xmlns:a="http://schemas.openxmlformats.org/drawingml/2006/main">
              <a:ext uri="{FF2B5EF4-FFF2-40B4-BE49-F238E27FC236}">
                <a16:creationId xmlns:a16="http://schemas.microsoft.com/office/drawing/2014/main" id="{2FA592D3-2817-4EDB-906B-C27294DE0631}"/>
              </a:ext>
            </a:extLst>
          </p:cNvPr>
          <p:cNvSpPr>
            <a:spLocks xmlns:a="http://schemas.openxmlformats.org/drawingml/2006/main" noGrp="1"/>
          </p:cNvSpPr>
          <p:nvPr/>
        </p:nvSpPr>
        <p:spPr>
          <a:xfrm xmlns:a="http://schemas.openxmlformats.org/drawingml/2006/main">
            <a:off x="9029700" y="643890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1:00-2:00</a:t>
            </a:r>
          </a:p>
        </p:txBody>
      </p:sp>
      <p:sp>
        <p:nvSpPr>
          <p:cNvPr id="5" name="3">
            <a:extLst xmlns:a="http://schemas.openxmlformats.org/drawingml/2006/main">
              <a:ext uri="{FF2B5EF4-FFF2-40B4-BE49-F238E27FC236}">
                <a16:creationId xmlns:a16="http://schemas.microsoft.com/office/drawing/2014/main" id="{2F1DEFD2-BBFE-4CF5-8F61-616DE739E8F1}"/>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3</a:t>
            </a:r>
          </a:p>
        </p:txBody>
      </p:sp>
      <p:sp>
        <p:nvSpPr>
          <p:cNvPr id="10" name="What we are building">
            <a:extLst xmlns:a="http://schemas.openxmlformats.org/drawingml/2006/main">
              <a:ext uri="{FF2B5EF4-FFF2-40B4-BE49-F238E27FC236}">
                <a16:creationId xmlns:a16="http://schemas.microsoft.com/office/drawing/2014/main" id="{D4D6CF2B-2357-4879-89CE-0477BA5A5A1A}"/>
              </a:ext>
            </a:extLst>
          </p:cNvPr>
          <p:cNvSpPr>
            <a:spLocks xmlns:a="http://schemas.openxmlformats.org/drawingml/2006/main" noGrp="1"/>
          </p:cNvSpPr>
          <p:nvPr/>
        </p:nvSpPr>
        <p:spPr>
          <a:xfrm xmlns:a="http://schemas.openxmlformats.org/drawingml/2006/main">
            <a:off x="609600" y="16573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FF5400"/>
                </a:solidFill>
                <a:latin typeface="Arial"/>
                <a:ea typeface="Arial"/>
                <a:cs typeface="Arial"/>
              </a:defRPr>
            </a:defPPr>
          </a:lstStyle>
          <a:p xmlns:a="http://schemas.openxmlformats.org/drawingml/2006/main">
            <a:pPr algn="l">
              <a:defRPr sz="2100" b="1">
                <a:solidFill>
                  <a:srgbClr val="FF5400"/>
                </a:solidFill>
                <a:latin typeface="Arial"/>
                <a:ea typeface="Arial"/>
                <a:cs typeface="Arial"/>
              </a:defRPr>
            </a:pPr>
            <a:r>
              <a:rPr sz="2100" b="1">
                <a:solidFill>
                  <a:srgbClr val="FF5400"/>
                </a:solidFill>
                <a:latin typeface="Arial"/>
                <a:ea typeface="Arial"/>
                <a:cs typeface="Arial"/>
              </a:rPr>
              <a:t>What we are building</a:t>
            </a:r>
          </a:p>
        </p:txBody>
      </p:sp>
      <p:sp>
        <p:nvSpPr>
          <p:cNvPr id="11" name="">
            <a:extLst xmlns:a="http://schemas.openxmlformats.org/drawingml/2006/main">
              <a:ext uri="{FF2B5EF4-FFF2-40B4-BE49-F238E27FC236}">
                <a16:creationId xmlns:a16="http://schemas.microsoft.com/office/drawing/2014/main" id="{CDA9A9EC-9109-443A-8D77-85E236D8740A}"/>
              </a:ext>
            </a:extLst>
          </p:cNvPr>
          <p:cNvSpPr>
            <a:spLocks xmlns:a="http://schemas.openxmlformats.org/drawingml/2006/main" noGrp="1"/>
          </p:cNvSpPr>
          <p:nvPr/>
        </p:nvSpPr>
        <p:spPr>
          <a:xfrm xmlns:a="http://schemas.openxmlformats.org/drawingml/2006/main">
            <a:off x="609600" y="2057400"/>
            <a:ext cx="109728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0">
                <a:solidFill>
                  <a:srgbClr val="182C43"/>
                </a:solidFill>
                <a:latin typeface="Arial"/>
                <a:ea typeface="Arial"/>
                <a:cs typeface="Arial"/>
              </a:defRPr>
            </a:defPPr>
          </a:lstStyle>
          <a:p xmlns:a="http://schemas.openxmlformats.org/drawingml/2006/main">
            <a:pPr marL="266700" indent="-152400" algn="l">
              <a:spcAft>
                <a:spcPts val="600"/>
              </a:spcAft>
              <a:buChar char="•"/>
              <a:defRPr sz="2025" b="0">
                <a:solidFill>
                  <a:srgbClr val="182C43"/>
                </a:solidFill>
                <a:latin typeface="Arial"/>
                <a:ea typeface="Arial"/>
                <a:cs typeface="Arial"/>
              </a:defRPr>
            </a:pPr>
            <a:r>
              <a:rPr sz="2025" b="1">
                <a:solidFill>
                  <a:srgbClr val="182C43"/>
                </a:solidFill>
                <a:latin typeface="Arial"/>
                <a:ea typeface="Arial"/>
                <a:cs typeface="Arial"/>
              </a:rPr>
              <a:t>Algorithmic trading:</a:t>
            </a:r>
            <a:r>
              <a:rPr sz="2025">
                <a:solidFill>
                  <a:srgbClr val="182C43"/>
                </a:solidFill>
                <a:latin typeface="Arial"/>
                <a:ea typeface="Arial"/>
                <a:cs typeface="Arial"/>
              </a:rPr>
              <a:t> software applies rules to data to generate entries, sizes and exits.</a:t>
            </a:r>
          </a:p>
          <a:p xmlns:a="http://schemas.openxmlformats.org/drawingml/2006/main">
            <a:pPr marL="266700" indent="-152400" algn="l">
              <a:spcAft>
                <a:spcPts val="600"/>
              </a:spcAft>
              <a:buChar char="•"/>
              <a:defRPr sz="2025" b="0">
                <a:solidFill>
                  <a:srgbClr val="182C43"/>
                </a:solidFill>
                <a:latin typeface="Arial"/>
                <a:ea typeface="Arial"/>
                <a:cs typeface="Arial"/>
              </a:defRPr>
            </a:pPr>
            <a:r>
              <a:rPr sz="2025" b="1">
                <a:solidFill>
                  <a:srgbClr val="182C43"/>
                </a:solidFill>
                <a:latin typeface="Arial"/>
                <a:ea typeface="Arial"/>
                <a:cs typeface="Arial"/>
              </a:rPr>
              <a:t>SHPE Capital Algorithm Team:</a:t>
            </a:r>
            <a:r>
              <a:rPr sz="2025">
                <a:solidFill>
                  <a:srgbClr val="182C43"/>
                </a:solidFill>
                <a:latin typeface="Arial"/>
                <a:ea typeface="Arial"/>
                <a:cs typeface="Arial"/>
              </a:rPr>
              <a:t> research and development of automated equity strategies.</a:t>
            </a:r>
          </a:p>
          <a:p xmlns:a="http://schemas.openxmlformats.org/drawingml/2006/main">
            <a:pPr marL="266700" indent="-152400" algn="l">
              <a:spcAft>
                <a:spcPts val="600"/>
              </a:spcAft>
              <a:buChar char="•"/>
              <a:defRPr sz="2025" b="0">
                <a:solidFill>
                  <a:srgbClr val="182C43"/>
                </a:solidFill>
                <a:latin typeface="Arial"/>
                <a:ea typeface="Arial"/>
                <a:cs typeface="Arial"/>
              </a:defRPr>
            </a:pPr>
            <a:r>
              <a:rPr sz="2025" b="1">
                <a:solidFill>
                  <a:srgbClr val="182C43"/>
                </a:solidFill>
                <a:latin typeface="Arial"/>
                <a:ea typeface="Arial"/>
                <a:cs typeface="Arial"/>
              </a:rPr>
              <a:t>Intraday:</a:t>
            </a:r>
            <a:r>
              <a:rPr sz="2025">
                <a:solidFill>
                  <a:srgbClr val="182C43"/>
                </a:solidFill>
                <a:latin typeface="Arial"/>
                <a:ea typeface="Arial"/>
                <a:cs typeface="Arial"/>
              </a:rPr>
              <a:t> open and close US stock/ETF positions within a session, with long and short rules.</a:t>
            </a:r>
          </a:p>
        </p:txBody>
      </p:sp>
      <p:sp>
        <p:nvSpPr>
          <p:cNvPr id="12" name="Why this scope fits the semester">
            <a:extLst xmlns:a="http://schemas.openxmlformats.org/drawingml/2006/main">
              <a:ext uri="{FF2B5EF4-FFF2-40B4-BE49-F238E27FC236}">
                <a16:creationId xmlns:a16="http://schemas.microsoft.com/office/drawing/2014/main" id="{D3E4DB79-320F-40B2-97D4-A73006D61EAF}"/>
              </a:ext>
            </a:extLst>
          </p:cNvPr>
          <p:cNvSpPr>
            <a:spLocks xmlns:a="http://schemas.openxmlformats.org/drawingml/2006/main" noGrp="1"/>
          </p:cNvSpPr>
          <p:nvPr/>
        </p:nvSpPr>
        <p:spPr>
          <a:xfrm xmlns:a="http://schemas.openxmlformats.org/drawingml/2006/main">
            <a:off x="609600" y="37052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FF5400"/>
                </a:solidFill>
                <a:latin typeface="Arial"/>
                <a:ea typeface="Arial"/>
                <a:cs typeface="Arial"/>
              </a:defRPr>
            </a:defPPr>
          </a:lstStyle>
          <a:p xmlns:a="http://schemas.openxmlformats.org/drawingml/2006/main">
            <a:pPr algn="l">
              <a:defRPr sz="2100" b="1">
                <a:solidFill>
                  <a:srgbClr val="FF5400"/>
                </a:solidFill>
                <a:latin typeface="Arial"/>
                <a:ea typeface="Arial"/>
                <a:cs typeface="Arial"/>
              </a:defRPr>
            </a:pPr>
            <a:r>
              <a:rPr sz="2100" b="1">
                <a:solidFill>
                  <a:srgbClr val="FF5400"/>
                </a:solidFill>
                <a:latin typeface="Arial"/>
                <a:ea typeface="Arial"/>
                <a:cs typeface="Arial"/>
              </a:rPr>
              <a:t>Why this scope fits the semester</a:t>
            </a:r>
          </a:p>
        </p:txBody>
      </p:sp>
      <p:sp>
        <p:nvSpPr>
          <p:cNvPr id="13" name="">
            <a:extLst xmlns:a="http://schemas.openxmlformats.org/drawingml/2006/main">
              <a:ext uri="{FF2B5EF4-FFF2-40B4-BE49-F238E27FC236}">
                <a16:creationId xmlns:a16="http://schemas.microsoft.com/office/drawing/2014/main" id="{B12A7C6E-7276-4048-9295-671D74B404E2}"/>
              </a:ext>
            </a:extLst>
          </p:cNvPr>
          <p:cNvSpPr>
            <a:spLocks xmlns:a="http://schemas.openxmlformats.org/drawingml/2006/main" noGrp="1"/>
          </p:cNvSpPr>
          <p:nvPr/>
        </p:nvSpPr>
        <p:spPr>
          <a:xfrm xmlns:a="http://schemas.openxmlformats.org/drawingml/2006/main">
            <a:off x="609600" y="4105275"/>
            <a:ext cx="109728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0">
                <a:solidFill>
                  <a:srgbClr val="182C43"/>
                </a:solidFill>
                <a:latin typeface="Arial"/>
                <a:ea typeface="Arial"/>
                <a:cs typeface="Arial"/>
              </a:defRPr>
            </a:defPPr>
          </a:lstStyle>
          <a:p xmlns:a="http://schemas.openxmlformats.org/drawingml/2006/main">
            <a:pPr marL="266700" indent="-152400" algn="l">
              <a:spcAft>
                <a:spcPts val="500"/>
              </a:spcAft>
              <a:buChar char="•"/>
              <a:defRPr sz="1950" b="0">
                <a:solidFill>
                  <a:srgbClr val="182C43"/>
                </a:solidFill>
                <a:latin typeface="Arial"/>
                <a:ea typeface="Arial"/>
                <a:cs typeface="Arial"/>
              </a:defRPr>
            </a:pPr>
            <a:r>
              <a:rPr sz="1950" b="1">
                <a:solidFill>
                  <a:srgbClr val="182C43"/>
                </a:solidFill>
                <a:latin typeface="Arial"/>
                <a:ea typeface="Arial"/>
                <a:cs typeface="Arial"/>
              </a:rPr>
              <a:t>Frequent feedback:</a:t>
            </a:r>
            <a:r>
              <a:rPr sz="1950">
                <a:solidFill>
                  <a:srgbClr val="182C43"/>
                </a:solidFill>
                <a:latin typeface="Arial"/>
                <a:ea typeface="Arial"/>
                <a:cs typeface="Arial"/>
              </a:rPr>
              <a:t> inspect signals, trades and failures during weekly development cycles.</a:t>
            </a:r>
          </a:p>
          <a:p xmlns:a="http://schemas.openxmlformats.org/drawingml/2006/main">
            <a:pPr marL="266700" indent="-152400" algn="l">
              <a:spcAft>
                <a:spcPts val="500"/>
              </a:spcAft>
              <a:buChar char="•"/>
              <a:defRPr sz="1950" b="0">
                <a:solidFill>
                  <a:srgbClr val="182C43"/>
                </a:solidFill>
                <a:latin typeface="Arial"/>
                <a:ea typeface="Arial"/>
                <a:cs typeface="Arial"/>
              </a:defRPr>
            </a:pPr>
            <a:r>
              <a:rPr sz="1950" b="1">
                <a:solidFill>
                  <a:srgbClr val="182C43"/>
                </a:solidFill>
                <a:latin typeface="Arial"/>
                <a:ea typeface="Arial"/>
                <a:cs typeface="Arial"/>
              </a:rPr>
              <a:t>Bounded experiments:</a:t>
            </a:r>
            <a:r>
              <a:rPr sz="1950">
                <a:solidFill>
                  <a:srgbClr val="182C43"/>
                </a:solidFill>
                <a:latin typeface="Arial"/>
                <a:ea typeface="Arial"/>
                <a:cs typeface="Arial"/>
              </a:rPr>
              <a:t> fixed sessions support comparable tests and explicit closing procedures.</a:t>
            </a:r>
          </a:p>
          <a:p xmlns:a="http://schemas.openxmlformats.org/drawingml/2006/main">
            <a:pPr marL="266700" indent="-152400" algn="l">
              <a:spcAft>
                <a:spcPts val="500"/>
              </a:spcAft>
              <a:buChar char="•"/>
              <a:defRPr sz="1950" b="0">
                <a:solidFill>
                  <a:srgbClr val="182C43"/>
                </a:solidFill>
                <a:latin typeface="Arial"/>
                <a:ea typeface="Arial"/>
                <a:cs typeface="Arial"/>
              </a:defRPr>
            </a:pPr>
            <a:r>
              <a:rPr sz="1950" b="1">
                <a:solidFill>
                  <a:srgbClr val="182C43"/>
                </a:solidFill>
                <a:latin typeface="Arial"/>
                <a:ea typeface="Arial"/>
                <a:cs typeface="Arial"/>
              </a:rPr>
              <a:t>Shared platform:</a:t>
            </a:r>
            <a:r>
              <a:rPr sz="1950">
                <a:solidFill>
                  <a:srgbClr val="182C43"/>
                </a:solidFill>
                <a:latin typeface="Arial"/>
                <a:ea typeface="Arial"/>
                <a:cs typeface="Arial"/>
              </a:rPr>
              <a:t> use Alpaca bars, quotes and trades. Free IEX covers one exchange.</a:t>
            </a:r>
          </a:p>
          <a:p xmlns:a="http://schemas.openxmlformats.org/drawingml/2006/main">
            <a:pPr marL="266700" indent="-152400" algn="l">
              <a:spcAft>
                <a:spcPts val="500"/>
              </a:spcAft>
              <a:buChar char="•"/>
              <a:defRPr sz="1950" b="0">
                <a:solidFill>
                  <a:srgbClr val="182C43"/>
                </a:solidFill>
                <a:latin typeface="Arial"/>
                <a:ea typeface="Arial"/>
                <a:cs typeface="Arial"/>
              </a:defRPr>
            </a:pPr>
            <a:r>
              <a:rPr sz="1950" b="1">
                <a:solidFill>
                  <a:srgbClr val="182C43"/>
                </a:solidFill>
                <a:latin typeface="Arial"/>
                <a:ea typeface="Arial"/>
                <a:cs typeface="Arial"/>
              </a:rPr>
              <a:t>Research objective:</a:t>
            </a:r>
            <a:r>
              <a:rPr sz="1950">
                <a:solidFill>
                  <a:srgbClr val="182C43"/>
                </a:solidFill>
                <a:latin typeface="Arial"/>
                <a:ea typeface="Arial"/>
                <a:cs typeface="Arial"/>
              </a:rPr>
              <a:t> compare net results with benchmarks. Frequent trades do not prove an edge.</a:t>
            </a:r>
          </a:p>
        </p:txBody>
      </p:sp>
    </p:spTree>
    <p:extLst>
      <p:ext uri="{BB962C8B-B14F-4D97-AF65-F5344CB8AC3E}">
        <p14:creationId xmlns:p14="http://schemas.microsoft.com/office/powerpoint/2010/main" val="145179469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RESEARCH OBJECTIVE">
            <a:extLst xmlns:a="http://schemas.openxmlformats.org/drawingml/2006/main">
              <a:ext uri="{FF2B5EF4-FFF2-40B4-BE49-F238E27FC236}">
                <a16:creationId xmlns:a16="http://schemas.microsoft.com/office/drawing/2014/main" id="{C86E0AB0-1CCB-4143-8F5A-40FA034BEE57}"/>
              </a:ext>
            </a:extLst>
          </p:cNvPr>
          <p:cNvSpPr>
            <a:spLocks xmlns:a="http://schemas.openxmlformats.org/drawingml/2006/main" noGrp="1"/>
          </p:cNvSpPr>
          <p:nvPr/>
        </p:nvSpPr>
        <p:spPr>
          <a:xfrm xmlns:a="http://schemas.openxmlformats.org/drawingml/2006/main">
            <a:off x="609600" y="285750"/>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FF5400"/>
                </a:solidFill>
                <a:latin typeface="Arial"/>
                <a:ea typeface="Arial"/>
                <a:cs typeface="Arial"/>
              </a:defRPr>
            </a:defPPr>
          </a:lstStyle>
          <a:p xmlns:a="http://schemas.openxmlformats.org/drawingml/2006/main">
            <a:pPr algn="l">
              <a:buNone/>
              <a:defRPr sz="1350" b="1">
                <a:solidFill>
                  <a:srgbClr val="FF5400"/>
                </a:solidFill>
                <a:latin typeface="Arial"/>
                <a:ea typeface="Arial"/>
                <a:cs typeface="Arial"/>
              </a:defRPr>
            </a:pPr>
            <a:r>
              <a:rPr sz="1350" b="1">
                <a:solidFill>
                  <a:srgbClr val="FF5400"/>
                </a:solidFill>
                <a:latin typeface="Arial"/>
                <a:ea typeface="Arial"/>
                <a:cs typeface="Arial"/>
              </a:rPr>
              <a:t>RESEARCH OBJECTIVE</a:t>
            </a:r>
          </a:p>
        </p:txBody>
      </p:sp>
      <p:sp>
        <p:nvSpPr>
          <p:cNvPr id="2" name="Slide title">
            <a:extLst xmlns:a="http://schemas.openxmlformats.org/drawingml/2006/main">
              <a:ext uri="{FF2B5EF4-FFF2-40B4-BE49-F238E27FC236}">
                <a16:creationId xmlns:a16="http://schemas.microsoft.com/office/drawing/2014/main" id="{68BB59F5-6A6C-4D4A-92F5-7BFE3213739C}"/>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004D73"/>
                </a:solidFill>
                <a:latin typeface="Arial"/>
                <a:ea typeface="Arial"/>
                <a:cs typeface="Arial"/>
              </a:defRPr>
            </a:defPPr>
          </a:lstStyle>
          <a:p xmlns:a="http://schemas.openxmlformats.org/drawingml/2006/main">
            <a:pPr algn="l">
              <a:buNone/>
              <a:defRPr sz="3300" b="1">
                <a:solidFill>
                  <a:srgbClr val="004D73"/>
                </a:solidFill>
                <a:latin typeface="Arial"/>
                <a:ea typeface="Arial"/>
                <a:cs typeface="Arial"/>
              </a:defRPr>
            </a:pPr>
            <a:r>
              <a:rPr sz="3300" b="1">
                <a:solidFill>
                  <a:srgbClr val="004D73"/>
                </a:solidFill>
                <a:latin typeface="Arial"/>
                <a:ea typeface="Arial"/>
                <a:cs typeface="Arial"/>
              </a:rPr>
              <a:t>Goals and evidence for the semester</a:t>
            </a:r>
          </a:p>
        </p:txBody>
      </p:sp>
      <p:sp>
        <p:nvSpPr>
          <p:cNvPr id="3" name="SHPE CAPITAL    OCTOBER 13, 2026">
            <a:extLst xmlns:a="http://schemas.openxmlformats.org/drawingml/2006/main">
              <a:ext uri="{FF2B5EF4-FFF2-40B4-BE49-F238E27FC236}">
                <a16:creationId xmlns:a16="http://schemas.microsoft.com/office/drawing/2014/main" id="{8521AB8B-8DE5-4CC5-9660-29306E7674CC}"/>
              </a:ext>
            </a:extLst>
          </p:cNvPr>
          <p:cNvSpPr>
            <a:spLocks xmlns:a="http://schemas.openxmlformats.org/drawingml/2006/main" noGrp="1"/>
          </p:cNvSpPr>
          <p:nvPr/>
        </p:nvSpPr>
        <p:spPr>
          <a:xfrm xmlns:a="http://schemas.openxmlformats.org/drawingml/2006/main">
            <a:off x="609600" y="6438900"/>
            <a:ext cx="771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SHPE CAPITAL    OCTOBER 13, 2026</a:t>
            </a:r>
          </a:p>
        </p:txBody>
      </p:sp>
      <p:sp>
        <p:nvSpPr>
          <p:cNvPr id="4" name="3–4.5 min">
            <a:extLst xmlns:a="http://schemas.openxmlformats.org/drawingml/2006/main">
              <a:ext uri="{FF2B5EF4-FFF2-40B4-BE49-F238E27FC236}">
                <a16:creationId xmlns:a16="http://schemas.microsoft.com/office/drawing/2014/main" id="{542622F5-F880-4B63-8942-C9F98B0F20AF}"/>
              </a:ext>
            </a:extLst>
          </p:cNvPr>
          <p:cNvSpPr>
            <a:spLocks xmlns:a="http://schemas.openxmlformats.org/drawingml/2006/main" noGrp="1"/>
          </p:cNvSpPr>
          <p:nvPr/>
        </p:nvSpPr>
        <p:spPr>
          <a:xfrm xmlns:a="http://schemas.openxmlformats.org/drawingml/2006/main">
            <a:off x="9029700" y="643890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2:00-2:30</a:t>
            </a:r>
          </a:p>
        </p:txBody>
      </p:sp>
      <p:sp>
        <p:nvSpPr>
          <p:cNvPr id="5" name="4">
            <a:extLst xmlns:a="http://schemas.openxmlformats.org/drawingml/2006/main">
              <a:ext uri="{FF2B5EF4-FFF2-40B4-BE49-F238E27FC236}">
                <a16:creationId xmlns:a16="http://schemas.microsoft.com/office/drawing/2014/main" id="{91E065ED-F92D-42B1-A788-D94104E305A0}"/>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4</a:t>
            </a:r>
          </a:p>
        </p:txBody>
      </p:sp>
      <p:sp>
        <p:nvSpPr>
          <p:cNvPr id="10" name="Research, implement and evaluate three distin">
            <a:extLst xmlns:a="http://schemas.openxmlformats.org/drawingml/2006/main">
              <a:ext uri="{FF2B5EF4-FFF2-40B4-BE49-F238E27FC236}">
                <a16:creationId xmlns:a16="http://schemas.microsoft.com/office/drawing/2014/main" id="{290FFE4A-025B-4210-9B62-BB042B4688FD}"/>
              </a:ext>
            </a:extLst>
          </p:cNvPr>
          <p:cNvSpPr>
            <a:spLocks xmlns:a="http://schemas.openxmlformats.org/drawingml/2006/main" noGrp="1"/>
          </p:cNvSpPr>
          <p:nvPr/>
        </p:nvSpPr>
        <p:spPr>
          <a:xfrm xmlns:a="http://schemas.openxmlformats.org/drawingml/2006/main">
            <a:off x="609600" y="147637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1">
                <a:solidFill>
                  <a:srgbClr val="004D73"/>
                </a:solidFill>
                <a:latin typeface="Arial"/>
                <a:ea typeface="Arial"/>
                <a:cs typeface="Arial"/>
              </a:defRPr>
            </a:defPPr>
          </a:lstStyle>
          <a:p xmlns:a="http://schemas.openxmlformats.org/drawingml/2006/main">
            <a:pPr algn="l">
              <a:defRPr sz="2250" b="1">
                <a:solidFill>
                  <a:srgbClr val="004D73"/>
                </a:solidFill>
                <a:latin typeface="Arial"/>
                <a:ea typeface="Arial"/>
                <a:cs typeface="Arial"/>
              </a:defRPr>
            </a:pPr>
            <a:r>
              <a:rPr sz="2250" b="1">
                <a:solidFill>
                  <a:srgbClr val="004D73"/>
                </a:solidFill>
                <a:latin typeface="Arial"/>
                <a:ea typeface="Arial"/>
                <a:cs typeface="Arial"/>
              </a:rPr>
              <a:t>Research, implement and evaluate three distinct intraday strategies after costs.</a:t>
            </a:r>
          </a:p>
        </p:txBody>
      </p:sp>
      <p:graphicFrame>
        <p:nvGraphicFramePr>
          <p:cNvPr id="11" name="">
            <a:extLst xmlns:a="http://schemas.openxmlformats.org/drawingml/2006/main">
              <a:ext uri="{FF2B5EF4-FFF2-40B4-BE49-F238E27FC236}">
                <a16:creationId xmlns:a16="http://schemas.microsoft.com/office/drawing/2014/main" id="{80C3F9EF-DDFF-4807-A2DA-8F7AB188505F}"/>
              </a:ext>
            </a:extLst>
          </p:cNvPr>
          <p:cNvGraphicFramePr/>
          <p:nvPr/>
        </p:nvGraphicFramePr>
        <p:xfrm>
          <a:off xmlns:a="http://schemas.openxmlformats.org/drawingml/2006/main" x="609600" y="2400300"/>
          <a:ext xmlns:a="http://schemas.openxmlformats.org/drawingml/2006/main" cx="10972800" cy="3190875"/>
        </p:xfrm>
        <a:graphic xmlns:a="http://schemas.openxmlformats.org/drawingml/2006/main">
          <a:graphicData uri="http://schemas.openxmlformats.org/drawingml/2006/table">
            <a:tbl>
              <a:tblPr firstRow="1" bandRow="0"/>
              <a:tblGrid>
                <a:gridCol w="2257425"/>
                <a:gridCol w="4095750"/>
                <a:gridCol w="4619625"/>
              </a:tblGrid>
              <a:tr h="419100">
                <a:tc>
                  <a:txBody>
                    <a:bodyPr lIns="85725" tIns="85725" rIns="85725" bIns="85725">
                      <a:noAutofit/>
                    </a:bodyPr>
                    <a:lstStyle/>
                    <a:p>
                      <a:pPr algn="l"/>
                      <a:r>
                        <a:rPr sz="1875" b="1">
                          <a:solidFill>
                            <a:srgbClr val="FFFFFF"/>
                          </a:solidFill>
                          <a:latin typeface="Arial"/>
                          <a:ea typeface="Arial"/>
                          <a:cs typeface="Arial"/>
                        </a:rPr>
                        <a:t>Team</a:t>
                      </a:r>
                    </a:p>
                  </a:txBody>
                  <a:tcPr marL="85725" marR="85725" marT="19050" marB="19050" anchor="ctr">
                    <a:lnL w="6668">
                      <a:solidFill>
                        <a:srgbClr val="D9E0E7"/>
                      </a:solidFill>
                      <a:prstDash val="solid"/>
                    </a:lnL>
                    <a:lnR w="6668">
                      <a:solidFill>
                        <a:srgbClr val="D9E0E7"/>
                      </a:solidFill>
                      <a:prstDash val="solid"/>
                    </a:lnR>
                    <a:lnT w="6668">
                      <a:solidFill>
                        <a:srgbClr val="D9E0E7"/>
                      </a:solidFill>
                      <a:prstDash val="solid"/>
                    </a:lnT>
                    <a:lnB w="6668">
                      <a:solidFill>
                        <a:srgbClr val="D9E0E7"/>
                      </a:solidFill>
                      <a:prstDash val="solid"/>
                    </a:lnB>
                    <a:solidFill>
                      <a:srgbClr val="004D73"/>
                    </a:solidFill>
                  </a:tcPr>
                </a:tc>
                <a:tc>
                  <a:txBody>
                    <a:bodyPr lIns="85725" tIns="85725" rIns="85725" bIns="85725">
                      <a:noAutofit/>
                    </a:bodyPr>
                    <a:lstStyle/>
                    <a:p>
                      <a:pPr algn="l"/>
                      <a:r>
                        <a:rPr sz="1875" b="1">
                          <a:solidFill>
                            <a:srgbClr val="FFFFFF"/>
                          </a:solidFill>
                          <a:latin typeface="Arial"/>
                          <a:ea typeface="Arial"/>
                          <a:cs typeface="Arial"/>
                        </a:rPr>
                        <a:t>Core research question</a:t>
                      </a:r>
                    </a:p>
                  </a:txBody>
                  <a:tcPr marL="85725" marR="85725" marT="19050" marB="19050" anchor="ctr">
                    <a:lnR w="6668">
                      <a:solidFill>
                        <a:srgbClr val="D9E0E7"/>
                      </a:solidFill>
                      <a:prstDash val="solid"/>
                    </a:lnR>
                    <a:lnT w="6668">
                      <a:solidFill>
                        <a:srgbClr val="D9E0E7"/>
                      </a:solidFill>
                      <a:prstDash val="solid"/>
                    </a:lnT>
                    <a:lnB w="6668">
                      <a:solidFill>
                        <a:srgbClr val="D9E0E7"/>
                      </a:solidFill>
                      <a:prstDash val="solid"/>
                    </a:lnB>
                    <a:solidFill>
                      <a:srgbClr val="004D73"/>
                    </a:solidFill>
                  </a:tcPr>
                </a:tc>
                <a:tc>
                  <a:txBody>
                    <a:bodyPr lIns="85725" tIns="85725" rIns="85725" bIns="85725">
                      <a:noAutofit/>
                    </a:bodyPr>
                    <a:lstStyle/>
                    <a:p>
                      <a:pPr algn="l"/>
                      <a:r>
                        <a:rPr sz="1875" b="1">
                          <a:solidFill>
                            <a:srgbClr val="FFFFFF"/>
                          </a:solidFill>
                          <a:latin typeface="Arial"/>
                          <a:ea typeface="Arial"/>
                          <a:cs typeface="Arial"/>
                        </a:rPr>
                        <a:t>Evidence to produce</a:t>
                      </a:r>
                    </a:p>
                  </a:txBody>
                  <a:tcPr marL="85725" marR="85725" marT="19050" marB="19050" anchor="ctr">
                    <a:lnR w="6668">
                      <a:solidFill>
                        <a:srgbClr val="D9E0E7"/>
                      </a:solidFill>
                      <a:prstDash val="solid"/>
                    </a:lnR>
                    <a:lnT w="6668">
                      <a:solidFill>
                        <a:srgbClr val="D9E0E7"/>
                      </a:solidFill>
                      <a:prstDash val="solid"/>
                    </a:lnT>
                    <a:lnB w="6668">
                      <a:solidFill>
                        <a:srgbClr val="D9E0E7"/>
                      </a:solidFill>
                      <a:prstDash val="solid"/>
                    </a:lnB>
                    <a:solidFill>
                      <a:srgbClr val="004D73"/>
                    </a:solidFill>
                  </a:tcPr>
                </a:tc>
              </a:tr>
              <a:tr h="692944">
                <a:tc>
                  <a:txBody>
                    <a:bodyPr lIns="85725" tIns="85725" rIns="85725" bIns="85725">
                      <a:noAutofit/>
                    </a:bodyPr>
                    <a:lstStyle/>
                    <a:p>
                      <a:pPr algn="l"/>
                      <a:r>
                        <a:rPr sz="1875" b="1">
                          <a:solidFill>
                            <a:srgbClr val="182C43"/>
                          </a:solidFill>
                          <a:latin typeface="Arial"/>
                          <a:ea typeface="Arial"/>
                          <a:cs typeface="Arial"/>
                        </a:rPr>
                        <a:t>Statistical arbitrage</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875" b="0">
                          <a:solidFill>
                            <a:srgbClr val="182C43"/>
                          </a:solidFill>
                          <a:latin typeface="Arial"/>
                          <a:ea typeface="Arial"/>
                          <a:cs typeface="Arial"/>
                        </a:rPr>
                        <a:t>Does a modeled relative deviation converge?</a:t>
                      </a:r>
                    </a:p>
                  </a:txBody>
                  <a:tcPr marL="85725" marR="85725" marT="19050" marB="19050" anchor="ctr">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875" b="0">
                          <a:solidFill>
                            <a:srgbClr val="182C43"/>
                          </a:solidFill>
                          <a:latin typeface="Arial"/>
                          <a:ea typeface="Arial"/>
                          <a:cs typeface="Arial"/>
                        </a:rPr>
                        <a:t>Pair/residual baseline, hedge logic and stability tests</a:t>
                      </a:r>
                    </a:p>
                  </a:txBody>
                  <a:tcPr marL="85725" marR="85725" marT="19050" marB="19050" anchor="ctr">
                    <a:lnR w="6668">
                      <a:solidFill>
                        <a:srgbClr val="D9E0E7"/>
                      </a:solidFill>
                      <a:prstDash val="solid"/>
                    </a:lnR>
                    <a:lnB w="6668">
                      <a:solidFill>
                        <a:srgbClr val="D9E0E7"/>
                      </a:solidFill>
                      <a:prstDash val="solid"/>
                    </a:lnB>
                    <a:solidFill>
                      <a:srgbClr val="FFFFFF"/>
                    </a:solidFill>
                  </a:tcPr>
                </a:tc>
              </a:tr>
              <a:tr h="692944">
                <a:tc>
                  <a:txBody>
                    <a:bodyPr lIns="85725" tIns="85725" rIns="85725" bIns="85725">
                      <a:noAutofit/>
                    </a:bodyPr>
                    <a:lstStyle/>
                    <a:p>
                      <a:pPr algn="l"/>
                      <a:r>
                        <a:rPr sz="1875" b="1">
                          <a:solidFill>
                            <a:srgbClr val="182C43"/>
                          </a:solidFill>
                          <a:latin typeface="Arial"/>
                          <a:ea typeface="Arial"/>
                          <a:cs typeface="Arial"/>
                        </a:rPr>
                        <a:t>Intraday momentum</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1F4F7"/>
                    </a:solidFill>
                  </a:tcPr>
                </a:tc>
                <a:tc>
                  <a:txBody>
                    <a:bodyPr lIns="85725" tIns="85725" rIns="85725" bIns="85725">
                      <a:noAutofit/>
                    </a:bodyPr>
                    <a:lstStyle/>
                    <a:p>
                      <a:pPr algn="l"/>
                      <a:r>
                        <a:rPr sz="1875" b="0">
                          <a:solidFill>
                            <a:srgbClr val="182C43"/>
                          </a:solidFill>
                          <a:latin typeface="Arial"/>
                          <a:ea typeface="Arial"/>
                          <a:cs typeface="Arial"/>
                        </a:rPr>
                        <a:t>When does a price move continue?</a:t>
                      </a:r>
                    </a:p>
                  </a:txBody>
                  <a:tcPr marL="85725" marR="85725" marT="19050" marB="19050" anchor="ctr">
                    <a:lnR w="6668">
                      <a:solidFill>
                        <a:srgbClr val="D9E0E7"/>
                      </a:solidFill>
                      <a:prstDash val="solid"/>
                    </a:lnR>
                    <a:lnB w="6668">
                      <a:solidFill>
                        <a:srgbClr val="D9E0E7"/>
                      </a:solidFill>
                      <a:prstDash val="solid"/>
                    </a:lnB>
                    <a:solidFill>
                      <a:srgbClr val="F1F4F7"/>
                    </a:solidFill>
                  </a:tcPr>
                </a:tc>
                <a:tc>
                  <a:txBody>
                    <a:bodyPr lIns="85725" tIns="85725" rIns="85725" bIns="85725">
                      <a:noAutofit/>
                    </a:bodyPr>
                    <a:lstStyle/>
                    <a:p>
                      <a:pPr algn="l"/>
                      <a:r>
                        <a:rPr sz="1875" b="0">
                          <a:solidFill>
                            <a:srgbClr val="182C43"/>
                          </a:solidFill>
                          <a:latin typeface="Arial"/>
                          <a:ea typeface="Arial"/>
                          <a:cs typeface="Arial"/>
                        </a:rPr>
                        <a:t>Breakout baseline, false-entry analysis and regime comparison</a:t>
                      </a:r>
                    </a:p>
                  </a:txBody>
                  <a:tcPr marL="85725" marR="85725" marT="19050" marB="19050" anchor="ctr">
                    <a:lnR w="6668">
                      <a:solidFill>
                        <a:srgbClr val="D9E0E7"/>
                      </a:solidFill>
                      <a:prstDash val="solid"/>
                    </a:lnR>
                    <a:lnB w="6668">
                      <a:solidFill>
                        <a:srgbClr val="D9E0E7"/>
                      </a:solidFill>
                      <a:prstDash val="solid"/>
                    </a:lnB>
                    <a:solidFill>
                      <a:srgbClr val="F1F4F7"/>
                    </a:solidFill>
                  </a:tcPr>
                </a:tc>
              </a:tr>
              <a:tr h="692944">
                <a:tc>
                  <a:txBody>
                    <a:bodyPr lIns="85725" tIns="85725" rIns="85725" bIns="85725">
                      <a:noAutofit/>
                    </a:bodyPr>
                    <a:lstStyle/>
                    <a:p>
                      <a:pPr algn="l"/>
                      <a:r>
                        <a:rPr sz="1875" b="1">
                          <a:solidFill>
                            <a:srgbClr val="182C43"/>
                          </a:solidFill>
                          <a:latin typeface="Arial"/>
                          <a:ea typeface="Arial"/>
                          <a:cs typeface="Arial"/>
                        </a:rPr>
                        <a:t>Market microstructure</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875" b="0">
                          <a:solidFill>
                            <a:srgbClr val="182C43"/>
                          </a:solidFill>
                          <a:latin typeface="Arial"/>
                          <a:ea typeface="Arial"/>
                          <a:cs typeface="Arial"/>
                        </a:rPr>
                        <a:t>Does pressure predict a tradable future move?</a:t>
                      </a:r>
                    </a:p>
                  </a:txBody>
                  <a:tcPr marL="85725" marR="85725" marT="19050" marB="19050" anchor="ctr">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875" b="0">
                          <a:solidFill>
                            <a:srgbClr val="182C43"/>
                          </a:solidFill>
                          <a:latin typeface="Arial"/>
                          <a:ea typeface="Arial"/>
                          <a:cs typeface="Arial"/>
                        </a:rPr>
                        <a:t>Forecast baseline, spread costs and delay sensitivity</a:t>
                      </a:r>
                    </a:p>
                  </a:txBody>
                  <a:tcPr marL="85725" marR="85725" marT="19050" marB="19050" anchor="ctr">
                    <a:lnR w="6668">
                      <a:solidFill>
                        <a:srgbClr val="D9E0E7"/>
                      </a:solidFill>
                      <a:prstDash val="solid"/>
                    </a:lnR>
                    <a:lnB w="6668">
                      <a:solidFill>
                        <a:srgbClr val="D9E0E7"/>
                      </a:solidFill>
                      <a:prstDash val="solid"/>
                    </a:lnB>
                    <a:solidFill>
                      <a:srgbClr val="FFFFFF"/>
                    </a:solidFill>
                  </a:tcPr>
                </a:tc>
              </a:tr>
              <a:tr h="692944">
                <a:tc>
                  <a:txBody>
                    <a:bodyPr lIns="85725" tIns="85725" rIns="85725" bIns="85725">
                      <a:noAutofit/>
                    </a:bodyPr>
                    <a:lstStyle/>
                    <a:p>
                      <a:pPr algn="l"/>
                      <a:r>
                        <a:rPr sz="1875" b="1">
                          <a:solidFill>
                            <a:srgbClr val="182C43"/>
                          </a:solidFill>
                          <a:latin typeface="Arial"/>
                          <a:ea typeface="Arial"/>
                          <a:cs typeface="Arial"/>
                        </a:rPr>
                        <a:t>Platform</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1F4F7"/>
                    </a:solidFill>
                  </a:tcPr>
                </a:tc>
                <a:tc>
                  <a:txBody>
                    <a:bodyPr lIns="85725" tIns="85725" rIns="85725" bIns="85725">
                      <a:noAutofit/>
                    </a:bodyPr>
                    <a:lstStyle/>
                    <a:p>
                      <a:pPr algn="l"/>
                      <a:r>
                        <a:rPr sz="1875" b="0">
                          <a:solidFill>
                            <a:srgbClr val="182C43"/>
                          </a:solidFill>
                          <a:latin typeface="Arial"/>
                          <a:ea typeface="Arial"/>
                          <a:cs typeface="Arial"/>
                        </a:rPr>
                        <a:t>Can every team reproduce and monitor its tests?</a:t>
                      </a:r>
                    </a:p>
                  </a:txBody>
                  <a:tcPr marL="85725" marR="85725" marT="19050" marB="19050" anchor="ctr">
                    <a:lnR w="6668">
                      <a:solidFill>
                        <a:srgbClr val="D9E0E7"/>
                      </a:solidFill>
                      <a:prstDash val="solid"/>
                    </a:lnR>
                    <a:lnB w="6668">
                      <a:solidFill>
                        <a:srgbClr val="D9E0E7"/>
                      </a:solidFill>
                      <a:prstDash val="solid"/>
                    </a:lnB>
                    <a:solidFill>
                      <a:srgbClr val="F1F4F7"/>
                    </a:solidFill>
                  </a:tcPr>
                </a:tc>
                <a:tc>
                  <a:txBody>
                    <a:bodyPr lIns="85725" tIns="85725" rIns="85725" bIns="85725">
                      <a:noAutofit/>
                    </a:bodyPr>
                    <a:lstStyle/>
                    <a:p>
                      <a:pPr algn="l"/>
                      <a:r>
                        <a:rPr sz="1875" b="0">
                          <a:solidFill>
                            <a:srgbClr val="182C43"/>
                          </a:solidFill>
                          <a:latin typeface="Arial"/>
                          <a:ea typeface="Arial"/>
                          <a:cs typeface="Arial"/>
                        </a:rPr>
                        <a:t>Reusable test tools, run reports and recovery checks</a:t>
                      </a:r>
                    </a:p>
                  </a:txBody>
                  <a:tcPr marL="85725" marR="85725" marT="19050" marB="19050" anchor="ctr">
                    <a:lnR w="6668">
                      <a:solidFill>
                        <a:srgbClr val="D9E0E7"/>
                      </a:solidFill>
                      <a:prstDash val="solid"/>
                    </a:lnR>
                    <a:lnB w="6668">
                      <a:solidFill>
                        <a:srgbClr val="D9E0E7"/>
                      </a:solidFill>
                      <a:prstDash val="solid"/>
                    </a:lnB>
                    <a:solidFill>
                      <a:srgbClr val="F1F4F7"/>
                    </a:solidFill>
                  </a:tcPr>
                </a:tc>
              </a:tr>
            </a:tbl>
          </a:graphicData>
        </a:graphic>
      </p:graphicFrame>
      <p:sp>
        <p:nvSpPr>
          <p:cNvPr id="12" name="">
            <a:extLst xmlns:a="http://schemas.openxmlformats.org/drawingml/2006/main">
              <a:ext uri="{FF2B5EF4-FFF2-40B4-BE49-F238E27FC236}">
                <a16:creationId xmlns:a16="http://schemas.microsoft.com/office/drawing/2014/main" id="{E4CC97C2-6213-4FF8-A648-55DE647B51FA}"/>
              </a:ext>
            </a:extLst>
          </p:cNvPr>
          <p:cNvSpPr>
            <a:spLocks xmlns:a="http://schemas.openxmlformats.org/drawingml/2006/main" noGrp="1"/>
          </p:cNvSpPr>
          <p:nvPr/>
        </p:nvSpPr>
        <p:spPr>
          <a:xfrm xmlns:a="http://schemas.openxmlformats.org/drawingml/2006/main">
            <a:off x="609600" y="581977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182C43"/>
                </a:solidFill>
                <a:latin typeface="Arial"/>
                <a:ea typeface="Arial"/>
                <a:cs typeface="Arial"/>
              </a:defRPr>
            </a:defPPr>
          </a:lstStyle>
          <a:p xmlns:a="http://schemas.openxmlformats.org/drawingml/2006/main">
            <a:pPr marL="266700" indent="-152400" algn="l">
              <a:spcAft>
                <a:spcPts val="0"/>
              </a:spcAft>
              <a:buChar char="•"/>
              <a:defRPr sz="1800" b="0">
                <a:solidFill>
                  <a:srgbClr val="182C43"/>
                </a:solidFill>
                <a:latin typeface="Arial"/>
                <a:ea typeface="Arial"/>
                <a:cs typeface="Arial"/>
              </a:defRPr>
            </a:pPr>
            <a:r>
              <a:rPr sz="1800" b="1">
                <a:solidFill>
                  <a:srgbClr val="182C43"/>
                </a:solidFill>
                <a:latin typeface="Arial"/>
                <a:ea typeface="Arial"/>
                <a:cs typeface="Arial"/>
              </a:rPr>
              <a:t>Final presentation:</a:t>
            </a:r>
            <a:r>
              <a:rPr sz="1800">
                <a:solidFill>
                  <a:srgbClr val="182C43"/>
                </a:solidFill>
                <a:latin typeface="Arial"/>
                <a:ea typeface="Arial"/>
                <a:cs typeface="Arial"/>
              </a:rPr>
              <a:t> cited idea, backtest and paper evidence, limitations and next experiments.</a:t>
            </a:r>
          </a:p>
        </p:txBody>
      </p:sp>
    </p:spTree>
    <p:extLst>
      <p:ext uri="{BB962C8B-B14F-4D97-AF65-F5344CB8AC3E}">
        <p14:creationId xmlns:p14="http://schemas.microsoft.com/office/powerpoint/2010/main" val="30286165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TEAM INTRODUCTIONS">
            <a:extLst xmlns:a="http://schemas.openxmlformats.org/drawingml/2006/main">
              <a:ext uri="{FF2B5EF4-FFF2-40B4-BE49-F238E27FC236}">
                <a16:creationId xmlns:a16="http://schemas.microsoft.com/office/drawing/2014/main" id="{D15229A1-7142-438F-A9CF-45191529BB1A}"/>
              </a:ext>
            </a:extLst>
          </p:cNvPr>
          <p:cNvSpPr>
            <a:spLocks xmlns:a="http://schemas.openxmlformats.org/drawingml/2006/main" noGrp="1"/>
          </p:cNvSpPr>
          <p:nvPr/>
        </p:nvSpPr>
        <p:spPr>
          <a:xfrm xmlns:a="http://schemas.openxmlformats.org/drawingml/2006/main">
            <a:off x="609600" y="285750"/>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FF5400"/>
                </a:solidFill>
                <a:latin typeface="Arial"/>
                <a:ea typeface="Arial"/>
                <a:cs typeface="Arial"/>
              </a:defRPr>
            </a:defPPr>
          </a:lstStyle>
          <a:p xmlns:a="http://schemas.openxmlformats.org/drawingml/2006/main">
            <a:pPr algn="l">
              <a:buNone/>
              <a:defRPr sz="1350" b="1">
                <a:solidFill>
                  <a:srgbClr val="FF5400"/>
                </a:solidFill>
                <a:latin typeface="Arial"/>
                <a:ea typeface="Arial"/>
                <a:cs typeface="Arial"/>
              </a:defRPr>
            </a:pPr>
            <a:r>
              <a:rPr sz="1350" b="1">
                <a:solidFill>
                  <a:srgbClr val="FF5400"/>
                </a:solidFill>
                <a:latin typeface="Arial"/>
                <a:ea typeface="Arial"/>
                <a:cs typeface="Arial"/>
              </a:rPr>
              <a:t>ASSIGNED RESEARCH TEAMS</a:t>
            </a:r>
          </a:p>
        </p:txBody>
      </p:sp>
      <p:sp>
        <p:nvSpPr>
          <p:cNvPr id="2" name="Slide title">
            <a:extLst xmlns:a="http://schemas.openxmlformats.org/drawingml/2006/main">
              <a:ext uri="{FF2B5EF4-FFF2-40B4-BE49-F238E27FC236}">
                <a16:creationId xmlns:a16="http://schemas.microsoft.com/office/drawing/2014/main" id="{84737907-8ABC-4A01-A630-37B56FAF15A8}"/>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004D73"/>
                </a:solidFill>
                <a:latin typeface="Arial"/>
                <a:ea typeface="Arial"/>
                <a:cs typeface="Arial"/>
              </a:defRPr>
            </a:defPPr>
          </a:lstStyle>
          <a:p xmlns:a="http://schemas.openxmlformats.org/drawingml/2006/main">
            <a:pPr algn="l">
              <a:buNone/>
              <a:defRPr sz="3300" b="1">
                <a:solidFill>
                  <a:srgbClr val="004D73"/>
                </a:solidFill>
                <a:latin typeface="Arial"/>
                <a:ea typeface="Arial"/>
                <a:cs typeface="Arial"/>
              </a:defRPr>
            </a:pPr>
            <a:r>
              <a:rPr sz="3300" b="1">
                <a:solidFill>
                  <a:srgbClr val="004D73"/>
                </a:solidFill>
                <a:latin typeface="Arial"/>
                <a:ea typeface="Arial"/>
                <a:cs typeface="Arial"/>
              </a:rPr>
              <a:t>Team structure and assignments</a:t>
            </a:r>
          </a:p>
        </p:txBody>
      </p:sp>
      <p:sp>
        <p:nvSpPr>
          <p:cNvPr id="3" name="SHPE CAPITAL    OCTOBER 13, 2026">
            <a:extLst xmlns:a="http://schemas.openxmlformats.org/drawingml/2006/main">
              <a:ext uri="{FF2B5EF4-FFF2-40B4-BE49-F238E27FC236}">
                <a16:creationId xmlns:a16="http://schemas.microsoft.com/office/drawing/2014/main" id="{B27ECC1A-5D2E-4798-A5FD-10BE3DAAF5B6}"/>
              </a:ext>
            </a:extLst>
          </p:cNvPr>
          <p:cNvSpPr>
            <a:spLocks xmlns:a="http://schemas.openxmlformats.org/drawingml/2006/main" noGrp="1"/>
          </p:cNvSpPr>
          <p:nvPr/>
        </p:nvSpPr>
        <p:spPr>
          <a:xfrm xmlns:a="http://schemas.openxmlformats.org/drawingml/2006/main">
            <a:off x="609600" y="6438900"/>
            <a:ext cx="771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SHPE CAPITAL    OCTOBER 13, 2026</a:t>
            </a:r>
          </a:p>
        </p:txBody>
      </p:sp>
      <p:sp>
        <p:nvSpPr>
          <p:cNvPr id="4" name="9–11 min">
            <a:extLst xmlns:a="http://schemas.openxmlformats.org/drawingml/2006/main">
              <a:ext uri="{FF2B5EF4-FFF2-40B4-BE49-F238E27FC236}">
                <a16:creationId xmlns:a16="http://schemas.microsoft.com/office/drawing/2014/main" id="{FFF7C49E-D006-46BD-82E0-F07CEC6C846F}"/>
              </a:ext>
            </a:extLst>
          </p:cNvPr>
          <p:cNvSpPr>
            <a:spLocks xmlns:a="http://schemas.openxmlformats.org/drawingml/2006/main" noGrp="1"/>
          </p:cNvSpPr>
          <p:nvPr/>
        </p:nvSpPr>
        <p:spPr>
          <a:xfrm xmlns:a="http://schemas.openxmlformats.org/drawingml/2006/main">
            <a:off x="9029700" y="643890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2:30-3:00</a:t>
            </a:r>
          </a:p>
        </p:txBody>
      </p:sp>
      <p:sp>
        <p:nvSpPr>
          <p:cNvPr id="5" name="8">
            <a:extLst xmlns:a="http://schemas.openxmlformats.org/drawingml/2006/main">
              <a:ext uri="{FF2B5EF4-FFF2-40B4-BE49-F238E27FC236}">
                <a16:creationId xmlns:a16="http://schemas.microsoft.com/office/drawing/2014/main" id="{E82E0767-33ED-44F1-B7AF-FAE121C3335B}"/>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5</a:t>
            </a:r>
          </a:p>
        </p:txBody>
      </p:sp>
      <p:sp>
        <p:nvSpPr>
          <p:cNvPr id="6" name="Three algorithm teams, supported by">
            <a:extLst xmlns:a="http://schemas.openxmlformats.org/drawingml/2006/main">
              <a:ext uri="{FF2B5EF4-FFF2-40B4-BE49-F238E27FC236}">
                <a16:creationId xmlns:a16="http://schemas.microsoft.com/office/drawing/2014/main" id="{D62C89AF-1419-4E33-A6AF-7D303A3ABE89}"/>
              </a:ext>
            </a:extLst>
          </p:cNvPr>
          <p:cNvSpPr>
            <a:spLocks xmlns:a="http://schemas.openxmlformats.org/drawingml/2006/main" noGrp="1"/>
          </p:cNvSpPr>
          <p:nvPr/>
        </p:nvSpPr>
        <p:spPr>
          <a:xfrm xmlns:a="http://schemas.openxmlformats.org/drawingml/2006/main">
            <a:off x="609600" y="1438275"/>
            <a:ext cx="109728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556272"/>
                </a:solidFill>
                <a:latin typeface="Arial"/>
                <a:ea typeface="Arial"/>
                <a:cs typeface="Arial"/>
              </a:defRPr>
            </a:defPPr>
          </a:lstStyle>
          <a:p xmlns:a="http://schemas.openxmlformats.org/drawingml/2006/main">
            <a:pPr algn="l">
              <a:buNone/>
              <a:defRPr sz="2100" b="0">
                <a:solidFill>
                  <a:srgbClr val="556272"/>
                </a:solidFill>
                <a:latin typeface="Arial"/>
                <a:ea typeface="Arial"/>
                <a:cs typeface="Arial"/>
              </a:defRPr>
            </a:pPr>
            <a:r>
              <a:rPr sz="2100" b="0">
                <a:solidFill>
                  <a:srgbClr val="556272"/>
                </a:solidFill>
                <a:latin typeface="Arial"/>
                <a:ea typeface="Arial"/>
                <a:cs typeface="Arial"/>
              </a:rPr>
              <a:t>Three algorithm teams, supported by a shared platform team.</a:t>
            </a:r>
          </a:p>
        </p:txBody>
      </p:sp>
      <p:sp>
        <p:nvSpPr>
          <p:cNvPr id="7" name="Editable team roster 1">
            <a:extLst xmlns:a="http://schemas.openxmlformats.org/drawingml/2006/main">
              <a:ext uri="{FF2B5EF4-FFF2-40B4-BE49-F238E27FC236}">
                <a16:creationId xmlns:a16="http://schemas.microsoft.com/office/drawing/2014/main" id="{4F76B9B5-7C1A-478E-890C-15D36BDA9784}"/>
              </a:ext>
            </a:extLst>
          </p:cNvPr>
          <p:cNvSpPr>
            <a:spLocks xmlns:a="http://schemas.openxmlformats.org/drawingml/2006/main" noGrp="1"/>
          </p:cNvSpPr>
          <p:nvPr/>
        </p:nvSpPr>
        <p:spPr>
          <a:xfrm xmlns:a="http://schemas.openxmlformats.org/drawingml/2006/main">
            <a:off x="609600" y="2305050"/>
            <a:ext cx="2514600" cy="2514600"/>
          </a:xfrm>
          <a:prstGeom xmlns:a="http://schemas.openxmlformats.org/drawingml/2006/main" prst="rect">
            <a:avLst/>
          </a:prstGeom>
          <a:solidFill xmlns:a="http://schemas.openxmlformats.org/drawingml/2006/main">
            <a:srgbClr val="FFFFFF"/>
          </a:solidFill>
          <a:ln xmlns:a="http://schemas.openxmlformats.org/drawingml/2006/main" w="19050">
            <a:solidFill>
              <a:srgbClr val="004D73"/>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Momentum">
            <a:extLst xmlns:a="http://schemas.openxmlformats.org/drawingml/2006/main">
              <a:ext uri="{FF2B5EF4-FFF2-40B4-BE49-F238E27FC236}">
                <a16:creationId xmlns:a16="http://schemas.microsoft.com/office/drawing/2014/main" id="{E8FC0F20-371B-414F-ADC2-0985BC62E183}"/>
              </a:ext>
            </a:extLst>
          </p:cNvPr>
          <p:cNvSpPr>
            <a:spLocks xmlns:a="http://schemas.openxmlformats.org/drawingml/2006/main" noGrp="1"/>
          </p:cNvSpPr>
          <p:nvPr/>
        </p:nvSpPr>
        <p:spPr>
          <a:xfrm xmlns:a="http://schemas.openxmlformats.org/drawingml/2006/main">
            <a:off x="762000" y="2466975"/>
            <a:ext cx="2209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1">
                <a:solidFill>
                  <a:srgbClr val="004D73"/>
                </a:solidFill>
                <a:latin typeface="Arial"/>
                <a:ea typeface="Arial"/>
                <a:cs typeface="Arial"/>
              </a:defRPr>
            </a:defPPr>
          </a:lstStyle>
          <a:p xmlns:a="http://schemas.openxmlformats.org/drawingml/2006/main">
            <a:pPr algn="l">
              <a:buNone/>
              <a:defRPr sz="2025" b="1">
                <a:solidFill>
                  <a:srgbClr val="004D73"/>
                </a:solidFill>
                <a:latin typeface="Arial"/>
                <a:ea typeface="Arial"/>
                <a:cs typeface="Arial"/>
              </a:defRPr>
            </a:pPr>
            <a:r>
              <a:rPr sz="2025" b="1">
                <a:solidFill>
                  <a:srgbClr val="004D73"/>
                </a:solidFill>
                <a:latin typeface="Arial"/>
                <a:ea typeface="Arial"/>
                <a:cs typeface="Arial"/>
              </a:rPr>
              <a:t>Statistical</a:t>
            </a:r>
          </a:p>
          <a:p xmlns:a="http://schemas.openxmlformats.org/drawingml/2006/main">
            <a:pPr algn="l">
              <a:buNone/>
              <a:defRPr sz="2025" b="1">
                <a:solidFill>
                  <a:srgbClr val="004D73"/>
                </a:solidFill>
                <a:latin typeface="Arial"/>
                <a:ea typeface="Arial"/>
                <a:cs typeface="Arial"/>
              </a:defRPr>
            </a:pPr>
            <a:r>
              <a:rPr sz="2025" b="1">
                <a:solidFill>
                  <a:srgbClr val="004D73"/>
                </a:solidFill>
                <a:latin typeface="Arial"/>
                <a:ea typeface="Arial"/>
                <a:cs typeface="Arial"/>
              </a:rPr>
              <a:t>arbitrage</a:t>
            </a:r>
          </a:p>
        </p:txBody>
      </p:sp>
      <p:sp>
        <p:nvSpPr>
          <p:cNvPr id="9" name="Lead: [Name]">
            <a:extLst xmlns:a="http://schemas.openxmlformats.org/drawingml/2006/main">
              <a:ext uri="{FF2B5EF4-FFF2-40B4-BE49-F238E27FC236}">
                <a16:creationId xmlns:a16="http://schemas.microsoft.com/office/drawing/2014/main" id="{B81FA65F-E692-40D0-B42C-DB67863341A4}"/>
              </a:ext>
            </a:extLst>
          </p:cNvPr>
          <p:cNvSpPr>
            <a:spLocks xmlns:a="http://schemas.openxmlformats.org/drawingml/2006/main" noGrp="1"/>
          </p:cNvSpPr>
          <p:nvPr/>
        </p:nvSpPr>
        <p:spPr>
          <a:xfrm xmlns:a="http://schemas.openxmlformats.org/drawingml/2006/main">
            <a:off x="762000" y="3219450"/>
            <a:ext cx="2209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1">
                <a:solidFill>
                  <a:srgbClr val="182C43"/>
                </a:solidFill>
                <a:latin typeface="Arial"/>
                <a:ea typeface="Arial"/>
                <a:cs typeface="Arial"/>
              </a:defRPr>
            </a:defPPr>
          </a:lstStyle>
          <a:p xmlns:a="http://schemas.openxmlformats.org/drawingml/2006/main">
            <a:pPr algn="l">
              <a:buNone/>
              <a:defRPr sz="1875" b="1">
                <a:solidFill>
                  <a:srgbClr val="182C43"/>
                </a:solidFill>
                <a:latin typeface="Arial"/>
                <a:ea typeface="Arial"/>
                <a:cs typeface="Arial"/>
              </a:defRPr>
            </a:pPr>
            <a:r>
              <a:rPr sz="1875" b="1">
                <a:solidFill>
                  <a:srgbClr val="182C43"/>
                </a:solidFill>
                <a:latin typeface="Arial"/>
                <a:ea typeface="Arial"/>
                <a:cs typeface="Arial"/>
              </a:rPr>
              <a:t>Lead: [Name]</a:t>
            </a:r>
          </a:p>
        </p:txBody>
      </p:sp>
      <p:sp>
        <p:nvSpPr>
          <p:cNvPr id="10" name="[Member name]&#10;[Member name]&#10;[Member">
            <a:extLst xmlns:a="http://schemas.openxmlformats.org/drawingml/2006/main">
              <a:ext uri="{FF2B5EF4-FFF2-40B4-BE49-F238E27FC236}">
                <a16:creationId xmlns:a16="http://schemas.microsoft.com/office/drawing/2014/main" id="{45E44227-8696-4C21-BCCF-943EC4D7B38F}"/>
              </a:ext>
            </a:extLst>
          </p:cNvPr>
          <p:cNvSpPr>
            <a:spLocks xmlns:a="http://schemas.openxmlformats.org/drawingml/2006/main" noGrp="1"/>
          </p:cNvSpPr>
          <p:nvPr/>
        </p:nvSpPr>
        <p:spPr>
          <a:xfrm xmlns:a="http://schemas.openxmlformats.org/drawingml/2006/main">
            <a:off x="762000" y="3705225"/>
            <a:ext cx="2209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182C43"/>
                </a:solidFill>
                <a:latin typeface="Arial"/>
                <a:ea typeface="Arial"/>
                <a:cs typeface="Arial"/>
              </a:defRPr>
            </a:defPPr>
          </a:lstStyle>
          <a:p xmlns:a="http://schemas.openxmlformats.org/drawingml/2006/main">
            <a:pPr algn="l">
              <a:buNone/>
              <a:defRPr sz="1800" b="0">
                <a:solidFill>
                  <a:srgbClr val="182C43"/>
                </a:solidFill>
                <a:latin typeface="Arial"/>
                <a:ea typeface="Arial"/>
                <a:cs typeface="Arial"/>
              </a:defRPr>
            </a:pPr>
            <a:r>
              <a:rPr sz="1800" b="0">
                <a:solidFill>
                  <a:srgbClr val="182C43"/>
                </a:solidFill>
                <a:latin typeface="Arial"/>
                <a:ea typeface="Arial"/>
                <a:cs typeface="Arial"/>
              </a:rPr>
              <a:t>[Member name]</a:t>
            </a:r>
          </a:p>
          <a:p xmlns:a="http://schemas.openxmlformats.org/drawingml/2006/main">
            <a:pPr algn="l">
              <a:buNone/>
              <a:defRPr sz="1800" b="0">
                <a:solidFill>
                  <a:srgbClr val="182C43"/>
                </a:solidFill>
                <a:latin typeface="Arial"/>
                <a:ea typeface="Arial"/>
                <a:cs typeface="Arial"/>
              </a:defRPr>
            </a:pPr>
            <a:r>
              <a:rPr sz="1800" b="0">
                <a:solidFill>
                  <a:srgbClr val="182C43"/>
                </a:solidFill>
                <a:latin typeface="Arial"/>
                <a:ea typeface="Arial"/>
                <a:cs typeface="Arial"/>
              </a:rPr>
              <a:t>[Member name]</a:t>
            </a:r>
          </a:p>
          <a:p xmlns:a="http://schemas.openxmlformats.org/drawingml/2006/main">
            <a:pPr algn="l">
              <a:buNone/>
              <a:defRPr sz="1800" b="0">
                <a:solidFill>
                  <a:srgbClr val="182C43"/>
                </a:solidFill>
                <a:latin typeface="Arial"/>
                <a:ea typeface="Arial"/>
                <a:cs typeface="Arial"/>
              </a:defRPr>
            </a:pPr>
            <a:r>
              <a:rPr sz="1800" b="0">
                <a:solidFill>
                  <a:srgbClr val="182C43"/>
                </a:solidFill>
                <a:latin typeface="Arial"/>
                <a:ea typeface="Arial"/>
                <a:cs typeface="Arial"/>
              </a:rPr>
              <a:t>[Member name]</a:t>
            </a:r>
          </a:p>
        </p:txBody>
      </p:sp>
      <p:sp>
        <p:nvSpPr>
          <p:cNvPr id="11" name="Editable team roster 2">
            <a:extLst xmlns:a="http://schemas.openxmlformats.org/drawingml/2006/main">
              <a:ext uri="{FF2B5EF4-FFF2-40B4-BE49-F238E27FC236}">
                <a16:creationId xmlns:a16="http://schemas.microsoft.com/office/drawing/2014/main" id="{B473224C-1C03-4B33-B6AE-85FC790491CD}"/>
              </a:ext>
            </a:extLst>
          </p:cNvPr>
          <p:cNvSpPr>
            <a:spLocks xmlns:a="http://schemas.openxmlformats.org/drawingml/2006/main" noGrp="1"/>
          </p:cNvSpPr>
          <p:nvPr/>
        </p:nvSpPr>
        <p:spPr>
          <a:xfrm xmlns:a="http://schemas.openxmlformats.org/drawingml/2006/main">
            <a:off x="3429000" y="2305050"/>
            <a:ext cx="2514600" cy="2514600"/>
          </a:xfrm>
          <a:prstGeom xmlns:a="http://schemas.openxmlformats.org/drawingml/2006/main" prst="rect">
            <a:avLst/>
          </a:prstGeom>
          <a:solidFill xmlns:a="http://schemas.openxmlformats.org/drawingml/2006/main">
            <a:srgbClr val="FFFFFF"/>
          </a:solidFill>
          <a:ln xmlns:a="http://schemas.openxmlformats.org/drawingml/2006/main" w="19050">
            <a:solidFill>
              <a:srgbClr val="004D73"/>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Relative value">
            <a:extLst xmlns:a="http://schemas.openxmlformats.org/drawingml/2006/main">
              <a:ext uri="{FF2B5EF4-FFF2-40B4-BE49-F238E27FC236}">
                <a16:creationId xmlns:a16="http://schemas.microsoft.com/office/drawing/2014/main" id="{3672E658-A366-40AA-9B95-3F14D58D64FA}"/>
              </a:ext>
            </a:extLst>
          </p:cNvPr>
          <p:cNvSpPr>
            <a:spLocks xmlns:a="http://schemas.openxmlformats.org/drawingml/2006/main" noGrp="1"/>
          </p:cNvSpPr>
          <p:nvPr/>
        </p:nvSpPr>
        <p:spPr>
          <a:xfrm xmlns:a="http://schemas.openxmlformats.org/drawingml/2006/main">
            <a:off x="3581400" y="2466975"/>
            <a:ext cx="2209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1">
                <a:solidFill>
                  <a:srgbClr val="004D73"/>
                </a:solidFill>
                <a:latin typeface="Arial"/>
                <a:ea typeface="Arial"/>
                <a:cs typeface="Arial"/>
              </a:defRPr>
            </a:defPPr>
          </a:lstStyle>
          <a:p xmlns:a="http://schemas.openxmlformats.org/drawingml/2006/main">
            <a:pPr algn="l">
              <a:buNone/>
              <a:defRPr sz="2025" b="1">
                <a:solidFill>
                  <a:srgbClr val="004D73"/>
                </a:solidFill>
                <a:latin typeface="Arial"/>
                <a:ea typeface="Arial"/>
                <a:cs typeface="Arial"/>
              </a:defRPr>
            </a:pPr>
            <a:r>
              <a:rPr sz="2025" b="1">
                <a:solidFill>
                  <a:srgbClr val="004D73"/>
                </a:solidFill>
                <a:latin typeface="Arial"/>
                <a:ea typeface="Arial"/>
                <a:cs typeface="Arial"/>
              </a:rPr>
              <a:t>Intraday</a:t>
            </a:r>
          </a:p>
          <a:p xmlns:a="http://schemas.openxmlformats.org/drawingml/2006/main">
            <a:pPr algn="l">
              <a:buNone/>
              <a:defRPr sz="2025" b="1">
                <a:solidFill>
                  <a:srgbClr val="004D73"/>
                </a:solidFill>
                <a:latin typeface="Arial"/>
                <a:ea typeface="Arial"/>
                <a:cs typeface="Arial"/>
              </a:defRPr>
            </a:pPr>
            <a:r>
              <a:rPr sz="2025" b="1">
                <a:solidFill>
                  <a:srgbClr val="004D73"/>
                </a:solidFill>
                <a:latin typeface="Arial"/>
                <a:ea typeface="Arial"/>
                <a:cs typeface="Arial"/>
              </a:rPr>
              <a:t>momentum</a:t>
            </a:r>
          </a:p>
        </p:txBody>
      </p:sp>
      <p:sp>
        <p:nvSpPr>
          <p:cNvPr id="13" name="Lead: [Name]">
            <a:extLst xmlns:a="http://schemas.openxmlformats.org/drawingml/2006/main">
              <a:ext uri="{FF2B5EF4-FFF2-40B4-BE49-F238E27FC236}">
                <a16:creationId xmlns:a16="http://schemas.microsoft.com/office/drawing/2014/main" id="{F36D2F98-0A0E-434B-A335-75965787CA13}"/>
              </a:ext>
            </a:extLst>
          </p:cNvPr>
          <p:cNvSpPr>
            <a:spLocks xmlns:a="http://schemas.openxmlformats.org/drawingml/2006/main" noGrp="1"/>
          </p:cNvSpPr>
          <p:nvPr/>
        </p:nvSpPr>
        <p:spPr>
          <a:xfrm xmlns:a="http://schemas.openxmlformats.org/drawingml/2006/main">
            <a:off x="3581400" y="3219450"/>
            <a:ext cx="2209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1">
                <a:solidFill>
                  <a:srgbClr val="182C43"/>
                </a:solidFill>
                <a:latin typeface="Arial"/>
                <a:ea typeface="Arial"/>
                <a:cs typeface="Arial"/>
              </a:defRPr>
            </a:defPPr>
          </a:lstStyle>
          <a:p xmlns:a="http://schemas.openxmlformats.org/drawingml/2006/main">
            <a:pPr algn="l">
              <a:buNone/>
              <a:defRPr sz="1875" b="1">
                <a:solidFill>
                  <a:srgbClr val="182C43"/>
                </a:solidFill>
                <a:latin typeface="Arial"/>
                <a:ea typeface="Arial"/>
                <a:cs typeface="Arial"/>
              </a:defRPr>
            </a:pPr>
            <a:r>
              <a:rPr sz="1875" b="1">
                <a:solidFill>
                  <a:srgbClr val="182C43"/>
                </a:solidFill>
                <a:latin typeface="Arial"/>
                <a:ea typeface="Arial"/>
                <a:cs typeface="Arial"/>
              </a:rPr>
              <a:t>Lead: [Name]</a:t>
            </a:r>
          </a:p>
        </p:txBody>
      </p:sp>
      <p:sp>
        <p:nvSpPr>
          <p:cNvPr id="14" name="[Member name]&#10;[Member name]&#10;[Member">
            <a:extLst xmlns:a="http://schemas.openxmlformats.org/drawingml/2006/main">
              <a:ext uri="{FF2B5EF4-FFF2-40B4-BE49-F238E27FC236}">
                <a16:creationId xmlns:a16="http://schemas.microsoft.com/office/drawing/2014/main" id="{D4517693-4C95-4F50-955E-A4B8CDAFAB3F}"/>
              </a:ext>
            </a:extLst>
          </p:cNvPr>
          <p:cNvSpPr>
            <a:spLocks xmlns:a="http://schemas.openxmlformats.org/drawingml/2006/main" noGrp="1"/>
          </p:cNvSpPr>
          <p:nvPr/>
        </p:nvSpPr>
        <p:spPr>
          <a:xfrm xmlns:a="http://schemas.openxmlformats.org/drawingml/2006/main">
            <a:off x="3581400" y="3705225"/>
            <a:ext cx="2209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182C43"/>
                </a:solidFill>
                <a:latin typeface="Arial"/>
                <a:ea typeface="Arial"/>
                <a:cs typeface="Arial"/>
              </a:defRPr>
            </a:defPPr>
          </a:lstStyle>
          <a:p xmlns:a="http://schemas.openxmlformats.org/drawingml/2006/main">
            <a:pPr algn="l">
              <a:buNone/>
              <a:defRPr sz="1800" b="0">
                <a:solidFill>
                  <a:srgbClr val="182C43"/>
                </a:solidFill>
                <a:latin typeface="Arial"/>
                <a:ea typeface="Arial"/>
                <a:cs typeface="Arial"/>
              </a:defRPr>
            </a:pPr>
            <a:r>
              <a:rPr sz="1800" b="0">
                <a:solidFill>
                  <a:srgbClr val="182C43"/>
                </a:solidFill>
                <a:latin typeface="Arial"/>
                <a:ea typeface="Arial"/>
                <a:cs typeface="Arial"/>
              </a:rPr>
              <a:t>[Member name]</a:t>
            </a:r>
          </a:p>
          <a:p xmlns:a="http://schemas.openxmlformats.org/drawingml/2006/main">
            <a:pPr algn="l">
              <a:buNone/>
              <a:defRPr sz="1800" b="0">
                <a:solidFill>
                  <a:srgbClr val="182C43"/>
                </a:solidFill>
                <a:latin typeface="Arial"/>
                <a:ea typeface="Arial"/>
                <a:cs typeface="Arial"/>
              </a:defRPr>
            </a:pPr>
            <a:r>
              <a:rPr sz="1800" b="0">
                <a:solidFill>
                  <a:srgbClr val="182C43"/>
                </a:solidFill>
                <a:latin typeface="Arial"/>
                <a:ea typeface="Arial"/>
                <a:cs typeface="Arial"/>
              </a:rPr>
              <a:t>[Member name]</a:t>
            </a:r>
          </a:p>
          <a:p xmlns:a="http://schemas.openxmlformats.org/drawingml/2006/main">
            <a:pPr algn="l">
              <a:buNone/>
              <a:defRPr sz="1800" b="0">
                <a:solidFill>
                  <a:srgbClr val="182C43"/>
                </a:solidFill>
                <a:latin typeface="Arial"/>
                <a:ea typeface="Arial"/>
                <a:cs typeface="Arial"/>
              </a:defRPr>
            </a:pPr>
            <a:r>
              <a:rPr sz="1800" b="0">
                <a:solidFill>
                  <a:srgbClr val="182C43"/>
                </a:solidFill>
                <a:latin typeface="Arial"/>
                <a:ea typeface="Arial"/>
                <a:cs typeface="Arial"/>
              </a:rPr>
              <a:t>[Member name]</a:t>
            </a:r>
          </a:p>
        </p:txBody>
      </p:sp>
      <p:sp>
        <p:nvSpPr>
          <p:cNvPr id="15" name="Editable team roster 3">
            <a:extLst xmlns:a="http://schemas.openxmlformats.org/drawingml/2006/main">
              <a:ext uri="{FF2B5EF4-FFF2-40B4-BE49-F238E27FC236}">
                <a16:creationId xmlns:a16="http://schemas.microsoft.com/office/drawing/2014/main" id="{739F63D0-F7FC-4967-9340-80C6006A8BFB}"/>
              </a:ext>
            </a:extLst>
          </p:cNvPr>
          <p:cNvSpPr>
            <a:spLocks xmlns:a="http://schemas.openxmlformats.org/drawingml/2006/main" noGrp="1"/>
          </p:cNvSpPr>
          <p:nvPr/>
        </p:nvSpPr>
        <p:spPr>
          <a:xfrm xmlns:a="http://schemas.openxmlformats.org/drawingml/2006/main">
            <a:off x="6248400" y="2305050"/>
            <a:ext cx="2514600" cy="2514600"/>
          </a:xfrm>
          <a:prstGeom xmlns:a="http://schemas.openxmlformats.org/drawingml/2006/main" prst="rect">
            <a:avLst/>
          </a:prstGeom>
          <a:solidFill xmlns:a="http://schemas.openxmlformats.org/drawingml/2006/main">
            <a:srgbClr val="FFFFFF"/>
          </a:solidFill>
          <a:ln xmlns:a="http://schemas.openxmlformats.org/drawingml/2006/main" w="19050">
            <a:solidFill>
              <a:srgbClr val="004D73"/>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Short-term reversal">
            <a:extLst xmlns:a="http://schemas.openxmlformats.org/drawingml/2006/main">
              <a:ext uri="{FF2B5EF4-FFF2-40B4-BE49-F238E27FC236}">
                <a16:creationId xmlns:a16="http://schemas.microsoft.com/office/drawing/2014/main" id="{0C98BD06-6FCC-499D-A69B-F1403F367C6E}"/>
              </a:ext>
            </a:extLst>
          </p:cNvPr>
          <p:cNvSpPr>
            <a:spLocks xmlns:a="http://schemas.openxmlformats.org/drawingml/2006/main" noGrp="1"/>
          </p:cNvSpPr>
          <p:nvPr/>
        </p:nvSpPr>
        <p:spPr>
          <a:xfrm xmlns:a="http://schemas.openxmlformats.org/drawingml/2006/main">
            <a:off x="6400800" y="2466975"/>
            <a:ext cx="2209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1">
                <a:solidFill>
                  <a:srgbClr val="004D73"/>
                </a:solidFill>
                <a:latin typeface="Arial"/>
                <a:ea typeface="Arial"/>
                <a:cs typeface="Arial"/>
              </a:defRPr>
            </a:defPPr>
          </a:lstStyle>
          <a:p xmlns:a="http://schemas.openxmlformats.org/drawingml/2006/main">
            <a:pPr algn="l">
              <a:buNone/>
              <a:defRPr sz="2025" b="1">
                <a:solidFill>
                  <a:srgbClr val="004D73"/>
                </a:solidFill>
                <a:latin typeface="Arial"/>
                <a:ea typeface="Arial"/>
                <a:cs typeface="Arial"/>
              </a:defRPr>
            </a:pPr>
            <a:r>
              <a:rPr sz="2025" b="1">
                <a:solidFill>
                  <a:srgbClr val="004D73"/>
                </a:solidFill>
                <a:latin typeface="Arial"/>
                <a:ea typeface="Arial"/>
                <a:cs typeface="Arial"/>
              </a:rPr>
              <a:t>Market</a:t>
            </a:r>
          </a:p>
          <a:p xmlns:a="http://schemas.openxmlformats.org/drawingml/2006/main">
            <a:pPr algn="l">
              <a:buNone/>
              <a:defRPr sz="2025" b="1">
                <a:solidFill>
                  <a:srgbClr val="004D73"/>
                </a:solidFill>
                <a:latin typeface="Arial"/>
                <a:ea typeface="Arial"/>
                <a:cs typeface="Arial"/>
              </a:defRPr>
            </a:pPr>
            <a:r>
              <a:rPr sz="2025" b="1">
                <a:solidFill>
                  <a:srgbClr val="004D73"/>
                </a:solidFill>
                <a:latin typeface="Arial"/>
                <a:ea typeface="Arial"/>
                <a:cs typeface="Arial"/>
              </a:rPr>
              <a:t>microstructure</a:t>
            </a:r>
          </a:p>
        </p:txBody>
      </p:sp>
      <p:sp>
        <p:nvSpPr>
          <p:cNvPr id="17" name="Lead: [Name]">
            <a:extLst xmlns:a="http://schemas.openxmlformats.org/drawingml/2006/main">
              <a:ext uri="{FF2B5EF4-FFF2-40B4-BE49-F238E27FC236}">
                <a16:creationId xmlns:a16="http://schemas.microsoft.com/office/drawing/2014/main" id="{BD821F84-73BE-4C56-978E-216B2C4DC895}"/>
              </a:ext>
            </a:extLst>
          </p:cNvPr>
          <p:cNvSpPr>
            <a:spLocks xmlns:a="http://schemas.openxmlformats.org/drawingml/2006/main" noGrp="1"/>
          </p:cNvSpPr>
          <p:nvPr/>
        </p:nvSpPr>
        <p:spPr>
          <a:xfrm xmlns:a="http://schemas.openxmlformats.org/drawingml/2006/main">
            <a:off x="6400800" y="3219450"/>
            <a:ext cx="2209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1">
                <a:solidFill>
                  <a:srgbClr val="182C43"/>
                </a:solidFill>
                <a:latin typeface="Arial"/>
                <a:ea typeface="Arial"/>
                <a:cs typeface="Arial"/>
              </a:defRPr>
            </a:defPPr>
          </a:lstStyle>
          <a:p xmlns:a="http://schemas.openxmlformats.org/drawingml/2006/main">
            <a:pPr algn="l">
              <a:buNone/>
              <a:defRPr sz="1875" b="1">
                <a:solidFill>
                  <a:srgbClr val="182C43"/>
                </a:solidFill>
                <a:latin typeface="Arial"/>
                <a:ea typeface="Arial"/>
                <a:cs typeface="Arial"/>
              </a:defRPr>
            </a:pPr>
            <a:r>
              <a:rPr sz="1875" b="1">
                <a:solidFill>
                  <a:srgbClr val="182C43"/>
                </a:solidFill>
                <a:latin typeface="Arial"/>
                <a:ea typeface="Arial"/>
                <a:cs typeface="Arial"/>
              </a:rPr>
              <a:t>Lead: [Name]</a:t>
            </a:r>
          </a:p>
        </p:txBody>
      </p:sp>
      <p:sp>
        <p:nvSpPr>
          <p:cNvPr id="18" name="[Member name]&#10;[Member name]&#10;[Member">
            <a:extLst xmlns:a="http://schemas.openxmlformats.org/drawingml/2006/main">
              <a:ext uri="{FF2B5EF4-FFF2-40B4-BE49-F238E27FC236}">
                <a16:creationId xmlns:a16="http://schemas.microsoft.com/office/drawing/2014/main" id="{9C419A52-C8C4-49A2-83F2-BB7A165C56AC}"/>
              </a:ext>
            </a:extLst>
          </p:cNvPr>
          <p:cNvSpPr>
            <a:spLocks xmlns:a="http://schemas.openxmlformats.org/drawingml/2006/main" noGrp="1"/>
          </p:cNvSpPr>
          <p:nvPr/>
        </p:nvSpPr>
        <p:spPr>
          <a:xfrm xmlns:a="http://schemas.openxmlformats.org/drawingml/2006/main">
            <a:off x="6400800" y="3705225"/>
            <a:ext cx="2209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182C43"/>
                </a:solidFill>
                <a:latin typeface="Arial"/>
                <a:ea typeface="Arial"/>
                <a:cs typeface="Arial"/>
              </a:defRPr>
            </a:defPPr>
          </a:lstStyle>
          <a:p xmlns:a="http://schemas.openxmlformats.org/drawingml/2006/main">
            <a:pPr algn="l">
              <a:buNone/>
              <a:defRPr sz="1800" b="0">
                <a:solidFill>
                  <a:srgbClr val="182C43"/>
                </a:solidFill>
                <a:latin typeface="Arial"/>
                <a:ea typeface="Arial"/>
                <a:cs typeface="Arial"/>
              </a:defRPr>
            </a:pPr>
            <a:r>
              <a:rPr sz="1800" b="0">
                <a:solidFill>
                  <a:srgbClr val="182C43"/>
                </a:solidFill>
                <a:latin typeface="Arial"/>
                <a:ea typeface="Arial"/>
                <a:cs typeface="Arial"/>
              </a:rPr>
              <a:t>[Member name]</a:t>
            </a:r>
          </a:p>
          <a:p xmlns:a="http://schemas.openxmlformats.org/drawingml/2006/main">
            <a:pPr algn="l">
              <a:buNone/>
              <a:defRPr sz="1800" b="0">
                <a:solidFill>
                  <a:srgbClr val="182C43"/>
                </a:solidFill>
                <a:latin typeface="Arial"/>
                <a:ea typeface="Arial"/>
                <a:cs typeface="Arial"/>
              </a:defRPr>
            </a:pPr>
            <a:r>
              <a:rPr sz="1800" b="0">
                <a:solidFill>
                  <a:srgbClr val="182C43"/>
                </a:solidFill>
                <a:latin typeface="Arial"/>
                <a:ea typeface="Arial"/>
                <a:cs typeface="Arial"/>
              </a:rPr>
              <a:t>[Member name]</a:t>
            </a:r>
          </a:p>
          <a:p xmlns:a="http://schemas.openxmlformats.org/drawingml/2006/main">
            <a:pPr algn="l">
              <a:buNone/>
              <a:defRPr sz="1800" b="0">
                <a:solidFill>
                  <a:srgbClr val="182C43"/>
                </a:solidFill>
                <a:latin typeface="Arial"/>
                <a:ea typeface="Arial"/>
                <a:cs typeface="Arial"/>
              </a:defRPr>
            </a:pPr>
            <a:r>
              <a:rPr sz="1800" b="0">
                <a:solidFill>
                  <a:srgbClr val="182C43"/>
                </a:solidFill>
                <a:latin typeface="Arial"/>
                <a:ea typeface="Arial"/>
                <a:cs typeface="Arial"/>
              </a:rPr>
              <a:t>[Member name]</a:t>
            </a:r>
          </a:p>
        </p:txBody>
      </p:sp>
      <p:sp>
        <p:nvSpPr>
          <p:cNvPr id="19" name="Editable team roster 4">
            <a:extLst xmlns:a="http://schemas.openxmlformats.org/drawingml/2006/main">
              <a:ext uri="{FF2B5EF4-FFF2-40B4-BE49-F238E27FC236}">
                <a16:creationId xmlns:a16="http://schemas.microsoft.com/office/drawing/2014/main" id="{E69717B5-2625-4794-BE7F-4D10D947AF43}"/>
              </a:ext>
            </a:extLst>
          </p:cNvPr>
          <p:cNvSpPr>
            <a:spLocks xmlns:a="http://schemas.openxmlformats.org/drawingml/2006/main" noGrp="1"/>
          </p:cNvSpPr>
          <p:nvPr/>
        </p:nvSpPr>
        <p:spPr>
          <a:xfrm xmlns:a="http://schemas.openxmlformats.org/drawingml/2006/main">
            <a:off x="9067800" y="2305050"/>
            <a:ext cx="2514600" cy="2514600"/>
          </a:xfrm>
          <a:prstGeom xmlns:a="http://schemas.openxmlformats.org/drawingml/2006/main" prst="rect">
            <a:avLst/>
          </a:prstGeom>
          <a:solidFill xmlns:a="http://schemas.openxmlformats.org/drawingml/2006/main">
            <a:srgbClr val="FFFFFF"/>
          </a:solidFill>
          <a:ln xmlns:a="http://schemas.openxmlformats.org/drawingml/2006/main" w="19050">
            <a:solidFill>
              <a:srgbClr val="FF5400"/>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Platform">
            <a:extLst xmlns:a="http://schemas.openxmlformats.org/drawingml/2006/main">
              <a:ext uri="{FF2B5EF4-FFF2-40B4-BE49-F238E27FC236}">
                <a16:creationId xmlns:a16="http://schemas.microsoft.com/office/drawing/2014/main" id="{7EBB6B24-29DF-4241-94B5-1766C8D28D57}"/>
              </a:ext>
            </a:extLst>
          </p:cNvPr>
          <p:cNvSpPr>
            <a:spLocks xmlns:a="http://schemas.openxmlformats.org/drawingml/2006/main" noGrp="1"/>
          </p:cNvSpPr>
          <p:nvPr/>
        </p:nvSpPr>
        <p:spPr>
          <a:xfrm xmlns:a="http://schemas.openxmlformats.org/drawingml/2006/main">
            <a:off x="9220200" y="2466975"/>
            <a:ext cx="2209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1">
                <a:solidFill>
                  <a:srgbClr val="004D73"/>
                </a:solidFill>
                <a:latin typeface="Arial"/>
                <a:ea typeface="Arial"/>
                <a:cs typeface="Arial"/>
              </a:defRPr>
            </a:defPPr>
          </a:lstStyle>
          <a:p xmlns:a="http://schemas.openxmlformats.org/drawingml/2006/main">
            <a:pPr algn="l">
              <a:buNone/>
              <a:defRPr sz="2025" b="1">
                <a:solidFill>
                  <a:srgbClr val="004D73"/>
                </a:solidFill>
                <a:latin typeface="Arial"/>
                <a:ea typeface="Arial"/>
                <a:cs typeface="Arial"/>
              </a:defRPr>
            </a:pPr>
            <a:r>
              <a:rPr sz="2025" b="1">
                <a:solidFill>
                  <a:srgbClr val="004D73"/>
                </a:solidFill>
                <a:latin typeface="Arial"/>
                <a:ea typeface="Arial"/>
                <a:cs typeface="Arial"/>
              </a:rPr>
              <a:t>Platform</a:t>
            </a:r>
          </a:p>
        </p:txBody>
      </p:sp>
      <p:sp>
        <p:nvSpPr>
          <p:cNvPr id="21" name="Lead: [Name]">
            <a:extLst xmlns:a="http://schemas.openxmlformats.org/drawingml/2006/main">
              <a:ext uri="{FF2B5EF4-FFF2-40B4-BE49-F238E27FC236}">
                <a16:creationId xmlns:a16="http://schemas.microsoft.com/office/drawing/2014/main" id="{191CFF16-3021-425D-88BF-7EA16E9B3DCB}"/>
              </a:ext>
            </a:extLst>
          </p:cNvPr>
          <p:cNvSpPr>
            <a:spLocks xmlns:a="http://schemas.openxmlformats.org/drawingml/2006/main" noGrp="1"/>
          </p:cNvSpPr>
          <p:nvPr/>
        </p:nvSpPr>
        <p:spPr>
          <a:xfrm xmlns:a="http://schemas.openxmlformats.org/drawingml/2006/main">
            <a:off x="9220200" y="3219450"/>
            <a:ext cx="2209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1">
                <a:solidFill>
                  <a:srgbClr val="182C43"/>
                </a:solidFill>
                <a:latin typeface="Arial"/>
                <a:ea typeface="Arial"/>
                <a:cs typeface="Arial"/>
              </a:defRPr>
            </a:defPPr>
          </a:lstStyle>
          <a:p xmlns:a="http://schemas.openxmlformats.org/drawingml/2006/main">
            <a:pPr algn="l">
              <a:buNone/>
              <a:defRPr sz="1875" b="1">
                <a:solidFill>
                  <a:srgbClr val="182C43"/>
                </a:solidFill>
                <a:latin typeface="Arial"/>
                <a:ea typeface="Arial"/>
                <a:cs typeface="Arial"/>
              </a:defRPr>
            </a:pPr>
            <a:r>
              <a:rPr sz="1875" b="1">
                <a:solidFill>
                  <a:srgbClr val="182C43"/>
                </a:solidFill>
                <a:latin typeface="Arial"/>
                <a:ea typeface="Arial"/>
                <a:cs typeface="Arial"/>
              </a:rPr>
              <a:t>Lead: [Name]</a:t>
            </a:r>
          </a:p>
        </p:txBody>
      </p:sp>
      <p:sp>
        <p:nvSpPr>
          <p:cNvPr id="22" name="[Member name]&#10;[Member name]&#10;[Member">
            <a:extLst xmlns:a="http://schemas.openxmlformats.org/drawingml/2006/main">
              <a:ext uri="{FF2B5EF4-FFF2-40B4-BE49-F238E27FC236}">
                <a16:creationId xmlns:a16="http://schemas.microsoft.com/office/drawing/2014/main" id="{2E772C7A-FE0D-4417-B360-A793F4B37C59}"/>
              </a:ext>
            </a:extLst>
          </p:cNvPr>
          <p:cNvSpPr>
            <a:spLocks xmlns:a="http://schemas.openxmlformats.org/drawingml/2006/main" noGrp="1"/>
          </p:cNvSpPr>
          <p:nvPr/>
        </p:nvSpPr>
        <p:spPr>
          <a:xfrm xmlns:a="http://schemas.openxmlformats.org/drawingml/2006/main">
            <a:off x="9220200" y="3705225"/>
            <a:ext cx="2209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182C43"/>
                </a:solidFill>
                <a:latin typeface="Arial"/>
                <a:ea typeface="Arial"/>
                <a:cs typeface="Arial"/>
              </a:defRPr>
            </a:defPPr>
          </a:lstStyle>
          <a:p xmlns:a="http://schemas.openxmlformats.org/drawingml/2006/main">
            <a:pPr algn="l">
              <a:buNone/>
              <a:defRPr sz="1800" b="0">
                <a:solidFill>
                  <a:srgbClr val="182C43"/>
                </a:solidFill>
                <a:latin typeface="Arial"/>
                <a:ea typeface="Arial"/>
                <a:cs typeface="Arial"/>
              </a:defRPr>
            </a:pPr>
            <a:r>
              <a:rPr sz="1800" b="0">
                <a:solidFill>
                  <a:srgbClr val="182C43"/>
                </a:solidFill>
                <a:latin typeface="Arial"/>
                <a:ea typeface="Arial"/>
                <a:cs typeface="Arial"/>
              </a:rPr>
              <a:t>[Member name]</a:t>
            </a:r>
          </a:p>
          <a:p xmlns:a="http://schemas.openxmlformats.org/drawingml/2006/main">
            <a:pPr algn="l">
              <a:buNone/>
              <a:defRPr sz="1800" b="0">
                <a:solidFill>
                  <a:srgbClr val="182C43"/>
                </a:solidFill>
                <a:latin typeface="Arial"/>
                <a:ea typeface="Arial"/>
                <a:cs typeface="Arial"/>
              </a:defRPr>
            </a:pPr>
            <a:r>
              <a:rPr sz="1800" b="0">
                <a:solidFill>
                  <a:srgbClr val="182C43"/>
                </a:solidFill>
                <a:latin typeface="Arial"/>
                <a:ea typeface="Arial"/>
                <a:cs typeface="Arial"/>
              </a:rPr>
              <a:t>[Member name]</a:t>
            </a:r>
          </a:p>
          <a:p xmlns:a="http://schemas.openxmlformats.org/drawingml/2006/main">
            <a:pPr algn="l">
              <a:buNone/>
              <a:defRPr sz="1800" b="0">
                <a:solidFill>
                  <a:srgbClr val="182C43"/>
                </a:solidFill>
                <a:latin typeface="Arial"/>
                <a:ea typeface="Arial"/>
                <a:cs typeface="Arial"/>
              </a:defRPr>
            </a:pPr>
            <a:r>
              <a:rPr sz="1800" b="0">
                <a:solidFill>
                  <a:srgbClr val="182C43"/>
                </a:solidFill>
                <a:latin typeface="Arial"/>
                <a:ea typeface="Arial"/>
                <a:cs typeface="Arial"/>
              </a:rPr>
              <a:t>[Member name]</a:t>
            </a:r>
          </a:p>
        </p:txBody>
      </p:sp>
      <p:sp>
        <p:nvSpPr>
          <p:cNvPr id="23" name="Platform focus: shared testing, dat">
            <a:extLst xmlns:a="http://schemas.openxmlformats.org/drawingml/2006/main">
              <a:ext uri="{FF2B5EF4-FFF2-40B4-BE49-F238E27FC236}">
                <a16:creationId xmlns:a16="http://schemas.microsoft.com/office/drawing/2014/main" id="{E57A913B-A106-4940-AC7B-6A91591C58FD}"/>
              </a:ext>
            </a:extLst>
          </p:cNvPr>
          <p:cNvSpPr>
            <a:spLocks xmlns:a="http://schemas.openxmlformats.org/drawingml/2006/main" noGrp="1"/>
          </p:cNvSpPr>
          <p:nvPr/>
        </p:nvSpPr>
        <p:spPr>
          <a:xfrm xmlns:a="http://schemas.openxmlformats.org/drawingml/2006/main">
            <a:off x="609600" y="5172075"/>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1">
                <a:solidFill>
                  <a:srgbClr val="004D73"/>
                </a:solidFill>
                <a:latin typeface="Arial"/>
                <a:ea typeface="Arial"/>
                <a:cs typeface="Arial"/>
              </a:defRPr>
            </a:defPPr>
          </a:lstStyle>
          <a:p xmlns:a="http://schemas.openxmlformats.org/drawingml/2006/main">
            <a:pPr algn="l">
              <a:buNone/>
              <a:defRPr sz="2025" b="1">
                <a:solidFill>
                  <a:srgbClr val="004D73"/>
                </a:solidFill>
                <a:latin typeface="Arial"/>
                <a:ea typeface="Arial"/>
                <a:cs typeface="Arial"/>
              </a:defRPr>
            </a:pPr>
            <a:r>
              <a:rPr sz="2025" b="1">
                <a:solidFill>
                  <a:srgbClr val="004D73"/>
                </a:solidFill>
                <a:latin typeface="Arial"/>
                <a:ea typeface="Arial"/>
                <a:cs typeface="Arial"/>
              </a:rPr>
              <a:t>Platform focus: shared testing, data, deployment and monitoring.</a:t>
            </a:r>
          </a:p>
        </p:txBody>
      </p:sp>
      <p:sp>
        <p:nvSpPr>
          <p:cNvPr id="24" name="Assignments are flexible. Discuss i">
            <a:extLst xmlns:a="http://schemas.openxmlformats.org/drawingml/2006/main">
              <a:ext uri="{FF2B5EF4-FFF2-40B4-BE49-F238E27FC236}">
                <a16:creationId xmlns:a16="http://schemas.microsoft.com/office/drawing/2014/main" id="{9B273A22-83E8-4EFF-832C-222C64A05642}"/>
              </a:ext>
            </a:extLst>
          </p:cNvPr>
          <p:cNvSpPr>
            <a:spLocks xmlns:a="http://schemas.openxmlformats.org/drawingml/2006/main" noGrp="1"/>
          </p:cNvSpPr>
          <p:nvPr/>
        </p:nvSpPr>
        <p:spPr>
          <a:xfrm xmlns:a="http://schemas.openxmlformats.org/drawingml/2006/main">
            <a:off x="609600" y="59150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1">
                <a:solidFill>
                  <a:srgbClr val="004D73"/>
                </a:solidFill>
                <a:latin typeface="Arial"/>
                <a:ea typeface="Arial"/>
                <a:cs typeface="Arial"/>
              </a:defRPr>
            </a:defPPr>
          </a:lstStyle>
          <a:p xmlns:a="http://schemas.openxmlformats.org/drawingml/2006/main">
            <a:pPr algn="l">
              <a:buNone/>
              <a:defRPr sz="1800" b="1">
                <a:solidFill>
                  <a:srgbClr val="004D73"/>
                </a:solidFill>
                <a:latin typeface="Arial"/>
                <a:ea typeface="Arial"/>
                <a:cs typeface="Arial"/>
              </a:defRPr>
            </a:pPr>
            <a:r>
              <a:rPr sz="1800" b="1">
                <a:solidFill>
                  <a:srgbClr val="004D73"/>
                </a:solidFill>
                <a:latin typeface="Arial"/>
                <a:ea typeface="Arial"/>
                <a:cs typeface="Arial"/>
              </a:rPr>
              <a:t>Members research within their assigned team. Each person owns a concrete task.</a:t>
            </a:r>
          </a:p>
        </p:txBody>
      </p:sp>
    </p:spTree>
    <p:extLst>
      <p:ext uri="{BB962C8B-B14F-4D97-AF65-F5344CB8AC3E}">
        <p14:creationId xmlns:p14="http://schemas.microsoft.com/office/powerpoint/2010/main" val="210706836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ALGORITHM FAMILY 1">
            <a:extLst xmlns:a="http://schemas.openxmlformats.org/drawingml/2006/main">
              <a:ext uri="{FF2B5EF4-FFF2-40B4-BE49-F238E27FC236}">
                <a16:creationId xmlns:a16="http://schemas.microsoft.com/office/drawing/2014/main" id="{54F1CDEB-B6FF-483F-83CB-508C8BA7DD30}"/>
              </a:ext>
            </a:extLst>
          </p:cNvPr>
          <p:cNvSpPr>
            <a:spLocks xmlns:a="http://schemas.openxmlformats.org/drawingml/2006/main" noGrp="1"/>
          </p:cNvSpPr>
          <p:nvPr/>
        </p:nvSpPr>
        <p:spPr>
          <a:xfrm xmlns:a="http://schemas.openxmlformats.org/drawingml/2006/main">
            <a:off x="609600" y="285750"/>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FF5400"/>
                </a:solidFill>
                <a:latin typeface="Arial"/>
                <a:ea typeface="Arial"/>
                <a:cs typeface="Arial"/>
              </a:defRPr>
            </a:defPPr>
          </a:lstStyle>
          <a:p xmlns:a="http://schemas.openxmlformats.org/drawingml/2006/main">
            <a:pPr algn="l">
              <a:buNone/>
              <a:defRPr sz="1350" b="1">
                <a:solidFill>
                  <a:srgbClr val="FF5400"/>
                </a:solidFill>
                <a:latin typeface="Arial"/>
                <a:ea typeface="Arial"/>
                <a:cs typeface="Arial"/>
              </a:defRPr>
            </a:pPr>
            <a:r>
              <a:rPr sz="1350" b="1">
                <a:solidFill>
                  <a:srgbClr val="FF5400"/>
                </a:solidFill>
                <a:latin typeface="Arial"/>
                <a:ea typeface="Arial"/>
                <a:cs typeface="Arial"/>
              </a:rPr>
              <a:t>TEAM 1</a:t>
            </a:r>
          </a:p>
        </p:txBody>
      </p:sp>
      <p:sp>
        <p:nvSpPr>
          <p:cNvPr id="2" name="Slide title">
            <a:extLst xmlns:a="http://schemas.openxmlformats.org/drawingml/2006/main">
              <a:ext uri="{FF2B5EF4-FFF2-40B4-BE49-F238E27FC236}">
                <a16:creationId xmlns:a16="http://schemas.microsoft.com/office/drawing/2014/main" id="{DDF97A7C-CFF6-4680-8A7E-489FF701135A}"/>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004D73"/>
                </a:solidFill>
                <a:latin typeface="Arial"/>
                <a:ea typeface="Arial"/>
                <a:cs typeface="Arial"/>
              </a:defRPr>
            </a:defPPr>
          </a:lstStyle>
          <a:p xmlns:a="http://schemas.openxmlformats.org/drawingml/2006/main">
            <a:pPr algn="l">
              <a:buNone/>
              <a:defRPr sz="3300" b="1">
                <a:solidFill>
                  <a:srgbClr val="004D73"/>
                </a:solidFill>
                <a:latin typeface="Arial"/>
                <a:ea typeface="Arial"/>
                <a:cs typeface="Arial"/>
              </a:defRPr>
            </a:pPr>
            <a:r>
              <a:rPr sz="3300" b="1">
                <a:solidFill>
                  <a:srgbClr val="004D73"/>
                </a:solidFill>
                <a:latin typeface="Arial"/>
                <a:ea typeface="Arial"/>
                <a:cs typeface="Arial"/>
              </a:rPr>
              <a:t>Statistical arbitrage and relative value</a:t>
            </a:r>
          </a:p>
        </p:txBody>
      </p:sp>
      <p:sp>
        <p:nvSpPr>
          <p:cNvPr id="3" name="SHPE CAPITAL    OCTOBER 13, 2026">
            <a:extLst xmlns:a="http://schemas.openxmlformats.org/drawingml/2006/main">
              <a:ext uri="{FF2B5EF4-FFF2-40B4-BE49-F238E27FC236}">
                <a16:creationId xmlns:a16="http://schemas.microsoft.com/office/drawing/2014/main" id="{6DE03DBE-18E9-4E8B-BD78-A6210C43E321}"/>
              </a:ext>
            </a:extLst>
          </p:cNvPr>
          <p:cNvSpPr>
            <a:spLocks xmlns:a="http://schemas.openxmlformats.org/drawingml/2006/main" noGrp="1"/>
          </p:cNvSpPr>
          <p:nvPr/>
        </p:nvSpPr>
        <p:spPr>
          <a:xfrm xmlns:a="http://schemas.openxmlformats.org/drawingml/2006/main">
            <a:off x="609600" y="6438900"/>
            <a:ext cx="771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SHPE CAPITAL    OCTOBER 13, 2026</a:t>
            </a:r>
          </a:p>
        </p:txBody>
      </p:sp>
      <p:sp>
        <p:nvSpPr>
          <p:cNvPr id="4" name="4.5–6 min">
            <a:extLst xmlns:a="http://schemas.openxmlformats.org/drawingml/2006/main">
              <a:ext uri="{FF2B5EF4-FFF2-40B4-BE49-F238E27FC236}">
                <a16:creationId xmlns:a16="http://schemas.microsoft.com/office/drawing/2014/main" id="{AF001B5E-678C-4D3E-937E-AC6298BFED1F}"/>
              </a:ext>
            </a:extLst>
          </p:cNvPr>
          <p:cNvSpPr>
            <a:spLocks xmlns:a="http://schemas.openxmlformats.org/drawingml/2006/main" noGrp="1"/>
          </p:cNvSpPr>
          <p:nvPr/>
        </p:nvSpPr>
        <p:spPr>
          <a:xfrm xmlns:a="http://schemas.openxmlformats.org/drawingml/2006/main">
            <a:off x="9029700" y="643890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3:00-4:30</a:t>
            </a:r>
          </a:p>
        </p:txBody>
      </p:sp>
      <p:sp>
        <p:nvSpPr>
          <p:cNvPr id="5" name="5">
            <a:extLst xmlns:a="http://schemas.openxmlformats.org/drawingml/2006/main">
              <a:ext uri="{FF2B5EF4-FFF2-40B4-BE49-F238E27FC236}">
                <a16:creationId xmlns:a16="http://schemas.microsoft.com/office/drawing/2014/main" id="{7F3AB315-4EAB-4221-A013-AD0FADD91E86}"/>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6</a:t>
            </a:r>
          </a:p>
        </p:txBody>
      </p:sp>
      <p:sp>
        <p:nvSpPr>
          <p:cNvPr id="17" name="Trade temporary price differences between rel">
            <a:extLst xmlns:a="http://schemas.openxmlformats.org/drawingml/2006/main">
              <a:ext uri="{FF2B5EF4-FFF2-40B4-BE49-F238E27FC236}">
                <a16:creationId xmlns:a16="http://schemas.microsoft.com/office/drawing/2014/main" id="{140F4615-17D3-4C95-8226-F9EAB5885CBB}"/>
              </a:ext>
            </a:extLst>
          </p:cNvPr>
          <p:cNvSpPr>
            <a:spLocks xmlns:a="http://schemas.openxmlformats.org/drawingml/2006/main" noGrp="1"/>
          </p:cNvSpPr>
          <p:nvPr/>
        </p:nvSpPr>
        <p:spPr>
          <a:xfrm xmlns:a="http://schemas.openxmlformats.org/drawingml/2006/main">
            <a:off x="609600" y="14478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004D73"/>
                </a:solidFill>
                <a:latin typeface="Arial"/>
                <a:ea typeface="Arial"/>
                <a:cs typeface="Arial"/>
              </a:defRPr>
            </a:defPPr>
          </a:lstStyle>
          <a:p xmlns:a="http://schemas.openxmlformats.org/drawingml/2006/main">
            <a:pPr algn="l">
              <a:defRPr sz="2100" b="1">
                <a:solidFill>
                  <a:srgbClr val="004D73"/>
                </a:solidFill>
                <a:latin typeface="Arial"/>
                <a:ea typeface="Arial"/>
                <a:cs typeface="Arial"/>
              </a:defRPr>
            </a:pPr>
            <a:r>
              <a:rPr sz="2100" b="1">
                <a:solidFill>
                  <a:srgbClr val="004D73"/>
                </a:solidFill>
                <a:latin typeface="Arial"/>
                <a:ea typeface="Arial"/>
                <a:cs typeface="Arial"/>
              </a:rPr>
              <a:t>Trade temporary price differences between related securities, aiming to profit when their modeled relationship returns toward normal.</a:t>
            </a:r>
          </a:p>
        </p:txBody>
      </p:sp>
      <p:sp>
        <p:nvSpPr>
          <p:cNvPr id="18" name="How it works and a basic baseline">
            <a:extLst xmlns:a="http://schemas.openxmlformats.org/drawingml/2006/main">
              <a:ext uri="{FF2B5EF4-FFF2-40B4-BE49-F238E27FC236}">
                <a16:creationId xmlns:a16="http://schemas.microsoft.com/office/drawing/2014/main" id="{6C7EB363-A311-4885-B2A5-AF88F86509AA}"/>
              </a:ext>
            </a:extLst>
          </p:cNvPr>
          <p:cNvSpPr>
            <a:spLocks xmlns:a="http://schemas.openxmlformats.org/drawingml/2006/main" noGrp="1"/>
          </p:cNvSpPr>
          <p:nvPr/>
        </p:nvSpPr>
        <p:spPr>
          <a:xfrm xmlns:a="http://schemas.openxmlformats.org/drawingml/2006/main">
            <a:off x="609600" y="217170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FF5400"/>
                </a:solidFill>
                <a:latin typeface="Arial"/>
                <a:ea typeface="Arial"/>
                <a:cs typeface="Arial"/>
              </a:defRPr>
            </a:defPPr>
          </a:lstStyle>
          <a:p xmlns:a="http://schemas.openxmlformats.org/drawingml/2006/main">
            <a:pPr algn="l">
              <a:defRPr sz="2100" b="1">
                <a:solidFill>
                  <a:srgbClr val="FF5400"/>
                </a:solidFill>
                <a:latin typeface="Arial"/>
                <a:ea typeface="Arial"/>
                <a:cs typeface="Arial"/>
              </a:defRPr>
            </a:pPr>
            <a:r>
              <a:rPr sz="2100" b="1">
                <a:solidFill>
                  <a:srgbClr val="FF5400"/>
                </a:solidFill>
                <a:latin typeface="Arial"/>
                <a:ea typeface="Arial"/>
                <a:cs typeface="Arial"/>
              </a:rPr>
              <a:t>How it works and a basic baseline</a:t>
            </a:r>
          </a:p>
        </p:txBody>
      </p:sp>
      <p:sp>
        <p:nvSpPr>
          <p:cNvPr id="19" name="">
            <a:extLst xmlns:a="http://schemas.openxmlformats.org/drawingml/2006/main">
              <a:ext uri="{FF2B5EF4-FFF2-40B4-BE49-F238E27FC236}">
                <a16:creationId xmlns:a16="http://schemas.microsoft.com/office/drawing/2014/main" id="{3EFC3AA9-1537-43D1-828F-0FE4DDB340D1}"/>
              </a:ext>
            </a:extLst>
          </p:cNvPr>
          <p:cNvSpPr>
            <a:spLocks xmlns:a="http://schemas.openxmlformats.org/drawingml/2006/main" noGrp="1"/>
          </p:cNvSpPr>
          <p:nvPr/>
        </p:nvSpPr>
        <p:spPr>
          <a:xfrm xmlns:a="http://schemas.openxmlformats.org/drawingml/2006/main">
            <a:off x="609600" y="2552700"/>
            <a:ext cx="109728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13" b="0">
                <a:solidFill>
                  <a:srgbClr val="182C43"/>
                </a:solidFill>
                <a:latin typeface="Arial"/>
                <a:ea typeface="Arial"/>
                <a:cs typeface="Arial"/>
              </a:defRPr>
            </a:defPPr>
          </a:lstStyle>
          <a:p xmlns:a="http://schemas.openxmlformats.org/drawingml/2006/main">
            <a:pPr marL="266700" indent="-152400" algn="l">
              <a:spcAft>
                <a:spcPts val="300"/>
              </a:spcAft>
              <a:buChar char="•"/>
              <a:defRPr sz="1913" b="0">
                <a:solidFill>
                  <a:srgbClr val="182C43"/>
                </a:solidFill>
                <a:latin typeface="Arial"/>
                <a:ea typeface="Arial"/>
                <a:cs typeface="Arial"/>
              </a:defRPr>
            </a:pPr>
            <a:r>
              <a:rPr sz="1913" b="1">
                <a:solidFill>
                  <a:srgbClr val="182C43"/>
                </a:solidFill>
                <a:latin typeface="Arial"/>
                <a:ea typeface="Arial"/>
                <a:cs typeface="Arial"/>
              </a:rPr>
              <a:t>Baseline:</a:t>
            </a:r>
            <a:r>
              <a:rPr sz="1913">
                <a:solidFill>
                  <a:srgbClr val="182C43"/>
                </a:solidFill>
                <a:latin typeface="Arial"/>
                <a:ea typeface="Arial"/>
                <a:cs typeface="Arial"/>
              </a:rPr>
              <a:t> pairs trading compares two related stocks, or a stock with a sector hedge.</a:t>
            </a:r>
          </a:p>
          <a:p xmlns:a="http://schemas.openxmlformats.org/drawingml/2006/main">
            <a:pPr marL="266700" indent="-152400" algn="l">
              <a:spcAft>
                <a:spcPts val="300"/>
              </a:spcAft>
              <a:buChar char="•"/>
              <a:defRPr sz="1913" b="0">
                <a:solidFill>
                  <a:srgbClr val="182C43"/>
                </a:solidFill>
                <a:latin typeface="Arial"/>
                <a:ea typeface="Arial"/>
                <a:cs typeface="Arial"/>
              </a:defRPr>
            </a:pPr>
            <a:r>
              <a:rPr sz="1913" b="1">
                <a:solidFill>
                  <a:srgbClr val="182C43"/>
                </a:solidFill>
                <a:latin typeface="Arial"/>
                <a:ea typeface="Arial"/>
                <a:cs typeface="Arial"/>
              </a:rPr>
              <a:t>Residual:</a:t>
            </a:r>
            <a:r>
              <a:rPr sz="1913">
                <a:solidFill>
                  <a:srgbClr val="182C43"/>
                </a:solidFill>
                <a:latin typeface="Arial"/>
                <a:ea typeface="Arial"/>
                <a:cs typeface="Arial"/>
              </a:rPr>
              <a:t> the unexplained price difference. A z-score scales it by its historical variation.</a:t>
            </a:r>
          </a:p>
          <a:p xmlns:a="http://schemas.openxmlformats.org/drawingml/2006/main">
            <a:pPr marL="266700" indent="-152400" algn="l">
              <a:spcAft>
                <a:spcPts val="300"/>
              </a:spcAft>
              <a:buChar char="•"/>
              <a:defRPr sz="1913" b="0">
                <a:solidFill>
                  <a:srgbClr val="182C43"/>
                </a:solidFill>
                <a:latin typeface="Arial"/>
                <a:ea typeface="Arial"/>
                <a:cs typeface="Arial"/>
              </a:defRPr>
            </a:pPr>
            <a:r>
              <a:rPr sz="1913" b="1">
                <a:solidFill>
                  <a:srgbClr val="182C43"/>
                </a:solidFill>
                <a:latin typeface="Arial"/>
                <a:ea typeface="Arial"/>
                <a:cs typeface="Arial"/>
              </a:rPr>
              <a:t>Example:</a:t>
            </a:r>
            <a:r>
              <a:rPr sz="1913">
                <a:solidFill>
                  <a:srgbClr val="182C43"/>
                </a:solidFill>
                <a:latin typeface="Arial"/>
                <a:ea typeface="Arial"/>
                <a:cs typeface="Arial"/>
              </a:rPr>
              <a:t> A is unusually expensive versus B. Short A and buy a hedge amount of B.</a:t>
            </a:r>
          </a:p>
          <a:p xmlns:a="http://schemas.openxmlformats.org/drawingml/2006/main">
            <a:pPr marL="266700" indent="-152400" algn="l">
              <a:spcAft>
                <a:spcPts val="300"/>
              </a:spcAft>
              <a:buChar char="•"/>
              <a:defRPr sz="1913" b="0">
                <a:solidFill>
                  <a:srgbClr val="182C43"/>
                </a:solidFill>
                <a:latin typeface="Arial"/>
                <a:ea typeface="Arial"/>
                <a:cs typeface="Arial"/>
              </a:defRPr>
            </a:pPr>
            <a:r>
              <a:rPr sz="1913" b="1">
                <a:solidFill>
                  <a:srgbClr val="182C43"/>
                </a:solidFill>
                <a:latin typeface="Arial"/>
                <a:ea typeface="Arial"/>
                <a:cs typeface="Arial"/>
              </a:rPr>
              <a:t>Exit:</a:t>
            </a:r>
            <a:r>
              <a:rPr sz="1913">
                <a:solidFill>
                  <a:srgbClr val="182C43"/>
                </a:solidFill>
                <a:latin typeface="Arial"/>
                <a:ea typeface="Arial"/>
                <a:cs typeface="Arial"/>
              </a:rPr>
              <a:t> convergence, loss threshold or time limit. Relationships can break and legs can fill separately.</a:t>
            </a:r>
          </a:p>
        </p:txBody>
      </p:sp>
      <p:sp>
        <p:nvSpPr>
          <p:cNvPr id="20" name="Future improvements to research">
            <a:extLst xmlns:a="http://schemas.openxmlformats.org/drawingml/2006/main">
              <a:ext uri="{FF2B5EF4-FFF2-40B4-BE49-F238E27FC236}">
                <a16:creationId xmlns:a16="http://schemas.microsoft.com/office/drawing/2014/main" id="{87A11F5A-A683-44F6-8500-CBAB13CF89A6}"/>
              </a:ext>
            </a:extLst>
          </p:cNvPr>
          <p:cNvSpPr>
            <a:spLocks xmlns:a="http://schemas.openxmlformats.org/drawingml/2006/main" noGrp="1"/>
          </p:cNvSpPr>
          <p:nvPr/>
        </p:nvSpPr>
        <p:spPr>
          <a:xfrm xmlns:a="http://schemas.openxmlformats.org/drawingml/2006/main">
            <a:off x="609600" y="45053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FF5400"/>
                </a:solidFill>
                <a:latin typeface="Arial"/>
                <a:ea typeface="Arial"/>
                <a:cs typeface="Arial"/>
              </a:defRPr>
            </a:defPPr>
          </a:lstStyle>
          <a:p xmlns:a="http://schemas.openxmlformats.org/drawingml/2006/main">
            <a:pPr algn="l">
              <a:defRPr sz="2100" b="1">
                <a:solidFill>
                  <a:srgbClr val="FF5400"/>
                </a:solidFill>
                <a:latin typeface="Arial"/>
                <a:ea typeface="Arial"/>
                <a:cs typeface="Arial"/>
              </a:defRPr>
            </a:pPr>
            <a:r>
              <a:rPr sz="2100" b="1">
                <a:solidFill>
                  <a:srgbClr val="FF5400"/>
                </a:solidFill>
                <a:latin typeface="Arial"/>
                <a:ea typeface="Arial"/>
                <a:cs typeface="Arial"/>
              </a:rPr>
              <a:t>Future improvements to research</a:t>
            </a:r>
          </a:p>
        </p:txBody>
      </p:sp>
      <p:sp>
        <p:nvSpPr>
          <p:cNvPr id="21" name="">
            <a:extLst xmlns:a="http://schemas.openxmlformats.org/drawingml/2006/main">
              <a:ext uri="{FF2B5EF4-FFF2-40B4-BE49-F238E27FC236}">
                <a16:creationId xmlns:a16="http://schemas.microsoft.com/office/drawing/2014/main" id="{22E2CD8E-C826-488E-A8BE-9FF610DE85F6}"/>
              </a:ext>
            </a:extLst>
          </p:cNvPr>
          <p:cNvSpPr>
            <a:spLocks xmlns:a="http://schemas.openxmlformats.org/drawingml/2006/main" noGrp="1"/>
          </p:cNvSpPr>
          <p:nvPr/>
        </p:nvSpPr>
        <p:spPr>
          <a:xfrm xmlns:a="http://schemas.openxmlformats.org/drawingml/2006/main">
            <a:off x="609600" y="4895850"/>
            <a:ext cx="109728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182C43"/>
                </a:solidFill>
                <a:latin typeface="Arial"/>
                <a:ea typeface="Arial"/>
                <a:cs typeface="Arial"/>
              </a:defRPr>
            </a:defPPr>
          </a:lstStyle>
          <a:p xmlns:a="http://schemas.openxmlformats.org/drawingml/2006/main">
            <a:pPr marL="266700" indent="-152400" algn="l">
              <a:spcAft>
                <a:spcPts val="300"/>
              </a:spcAft>
              <a:buChar char="•"/>
              <a:defRPr sz="1875" b="0">
                <a:solidFill>
                  <a:srgbClr val="182C43"/>
                </a:solidFill>
                <a:latin typeface="Arial"/>
                <a:ea typeface="Arial"/>
                <a:cs typeface="Arial"/>
              </a:defRPr>
            </a:pPr>
            <a:r>
              <a:rPr sz="1875" b="1">
                <a:solidFill>
                  <a:srgbClr val="182C43"/>
                </a:solidFill>
                <a:latin typeface="Arial"/>
                <a:ea typeface="Arial"/>
                <a:cs typeface="Arial"/>
              </a:rPr>
              <a:t>Regime modeling:</a:t>
            </a:r>
            <a:r>
              <a:rPr sz="1875">
                <a:solidFill>
                  <a:srgbClr val="182C43"/>
                </a:solidFill>
                <a:latin typeface="Arial"/>
                <a:ea typeface="Arial"/>
                <a:cs typeface="Arial"/>
              </a:rPr>
              <a:t> classify relationship stability and restrict entries when it deteriorates.</a:t>
            </a:r>
          </a:p>
          <a:p xmlns:a="http://schemas.openxmlformats.org/drawingml/2006/main">
            <a:pPr marL="266700" indent="-152400" algn="l">
              <a:spcAft>
                <a:spcPts val="300"/>
              </a:spcAft>
              <a:buChar char="•"/>
              <a:defRPr sz="1875" b="0">
                <a:solidFill>
                  <a:srgbClr val="182C43"/>
                </a:solidFill>
                <a:latin typeface="Arial"/>
                <a:ea typeface="Arial"/>
                <a:cs typeface="Arial"/>
              </a:defRPr>
            </a:pPr>
            <a:r>
              <a:rPr sz="1875" b="1">
                <a:solidFill>
                  <a:srgbClr val="182C43"/>
                </a:solidFill>
                <a:latin typeface="Arial"/>
                <a:ea typeface="Arial"/>
                <a:cs typeface="Arial"/>
              </a:rPr>
              <a:t>Volatility forecasting:</a:t>
            </a:r>
            <a:r>
              <a:rPr sz="1875">
                <a:solidFill>
                  <a:srgbClr val="182C43"/>
                </a:solidFill>
                <a:latin typeface="Arial"/>
                <a:ea typeface="Arial"/>
                <a:cs typeface="Arial"/>
              </a:rPr>
              <a:t> estimate future residual variability to adjust size and exit distances.</a:t>
            </a:r>
          </a:p>
          <a:p xmlns:a="http://schemas.openxmlformats.org/drawingml/2006/main">
            <a:pPr marL="266700" indent="-152400" algn="l">
              <a:spcAft>
                <a:spcPts val="300"/>
              </a:spcAft>
              <a:buChar char="•"/>
              <a:defRPr sz="1875" b="0">
                <a:solidFill>
                  <a:srgbClr val="182C43"/>
                </a:solidFill>
                <a:latin typeface="Arial"/>
                <a:ea typeface="Arial"/>
                <a:cs typeface="Arial"/>
              </a:defRPr>
            </a:pPr>
            <a:r>
              <a:rPr sz="1875" b="1">
                <a:solidFill>
                  <a:srgbClr val="182C43"/>
                </a:solidFill>
                <a:latin typeface="Arial"/>
                <a:ea typeface="Arial"/>
                <a:cs typeface="Arial"/>
              </a:rPr>
              <a:t>Factor and lead-lag models:</a:t>
            </a:r>
            <a:r>
              <a:rPr sz="1875">
                <a:solidFill>
                  <a:srgbClr val="182C43"/>
                </a:solidFill>
                <a:latin typeface="Arial"/>
                <a:ea typeface="Arial"/>
                <a:cs typeface="Arial"/>
              </a:rPr>
              <a:t> remove shared drivers or test whether one asset moves first.</a:t>
            </a:r>
          </a:p>
        </p:txBody>
      </p:sp>
      <p:sp>
        <p:nvSpPr>
          <p:cNvPr id="22" name="">
            <a:extLst xmlns:a="http://schemas.openxmlformats.org/drawingml/2006/main">
              <a:ext uri="{FF2B5EF4-FFF2-40B4-BE49-F238E27FC236}">
                <a16:creationId xmlns:a16="http://schemas.microsoft.com/office/drawing/2014/main" id="{6335BA19-2BF3-44DC-9FA6-E34396E2963D}"/>
              </a:ext>
            </a:extLst>
          </p:cNvPr>
          <p:cNvSpPr>
            <a:spLocks xmlns:a="http://schemas.openxmlformats.org/drawingml/2006/main" noGrp="1"/>
          </p:cNvSpPr>
          <p:nvPr/>
        </p:nvSpPr>
        <p:spPr>
          <a:xfrm xmlns:a="http://schemas.openxmlformats.org/drawingml/2006/main">
            <a:off x="609600" y="60579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75" b="0">
                <a:solidFill>
                  <a:srgbClr val="004D73"/>
                </a:solidFill>
                <a:latin typeface="Arial"/>
                <a:ea typeface="Arial"/>
                <a:cs typeface="Arial"/>
              </a:defRPr>
            </a:defPPr>
          </a:lstStyle>
          <a:p xmlns:a="http://schemas.openxmlformats.org/drawingml/2006/main">
            <a:pPr algn="l">
              <a:defRPr sz="1575" b="0">
                <a:solidFill>
                  <a:srgbClr val="004D73"/>
                </a:solidFill>
                <a:latin typeface="Arial"/>
                <a:ea typeface="Arial"/>
                <a:cs typeface="Arial"/>
              </a:defRPr>
            </a:pPr>
            <a:r>
              <a:rPr sz="1575" u="sng">
                <a:solidFill>
                  <a:srgbClr val="004D73"/>
                </a:solidFill>
                <a:latin typeface="Arial"/>
                <a:ea typeface="Arial"/>
                <a:cs typeface="Arial"/>
                <a:hlinkClick xmlns:r="http://schemas.openxmlformats.org/officeDocument/2006/relationships" r:id="R271acb2143e64579"/>
              </a:rPr>
              <a:t>Research: Avellaneda and Lee (2010), Statistical Arbitrage in the US Equities Market</a:t>
            </a:r>
          </a:p>
        </p:txBody>
      </p:sp>
    </p:spTree>
    <p:extLst>
      <p:ext uri="{BB962C8B-B14F-4D97-AF65-F5344CB8AC3E}">
        <p14:creationId xmlns:p14="http://schemas.microsoft.com/office/powerpoint/2010/main" val="173485677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ALGORITHM FAMILY 2">
            <a:extLst xmlns:a="http://schemas.openxmlformats.org/drawingml/2006/main">
              <a:ext uri="{FF2B5EF4-FFF2-40B4-BE49-F238E27FC236}">
                <a16:creationId xmlns:a16="http://schemas.microsoft.com/office/drawing/2014/main" id="{0B4F5293-B68A-4E37-B60B-CA02DED9D9E4}"/>
              </a:ext>
            </a:extLst>
          </p:cNvPr>
          <p:cNvSpPr>
            <a:spLocks xmlns:a="http://schemas.openxmlformats.org/drawingml/2006/main" noGrp="1"/>
          </p:cNvSpPr>
          <p:nvPr/>
        </p:nvSpPr>
        <p:spPr>
          <a:xfrm xmlns:a="http://schemas.openxmlformats.org/drawingml/2006/main">
            <a:off x="609600" y="285750"/>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FF5400"/>
                </a:solidFill>
                <a:latin typeface="Arial"/>
                <a:ea typeface="Arial"/>
                <a:cs typeface="Arial"/>
              </a:defRPr>
            </a:defPPr>
          </a:lstStyle>
          <a:p xmlns:a="http://schemas.openxmlformats.org/drawingml/2006/main">
            <a:pPr algn="l">
              <a:buNone/>
              <a:defRPr sz="1350" b="1">
                <a:solidFill>
                  <a:srgbClr val="FF5400"/>
                </a:solidFill>
                <a:latin typeface="Arial"/>
                <a:ea typeface="Arial"/>
                <a:cs typeface="Arial"/>
              </a:defRPr>
            </a:pPr>
            <a:r>
              <a:rPr sz="1350" b="1">
                <a:solidFill>
                  <a:srgbClr val="FF5400"/>
                </a:solidFill>
                <a:latin typeface="Arial"/>
                <a:ea typeface="Arial"/>
                <a:cs typeface="Arial"/>
              </a:rPr>
              <a:t>TEAM 2</a:t>
            </a:r>
          </a:p>
        </p:txBody>
      </p:sp>
      <p:sp>
        <p:nvSpPr>
          <p:cNvPr id="2" name="Slide title">
            <a:extLst xmlns:a="http://schemas.openxmlformats.org/drawingml/2006/main">
              <a:ext uri="{FF2B5EF4-FFF2-40B4-BE49-F238E27FC236}">
                <a16:creationId xmlns:a16="http://schemas.microsoft.com/office/drawing/2014/main" id="{C21128D5-18A5-49A0-AA73-118463BA0C5E}"/>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004D73"/>
                </a:solidFill>
                <a:latin typeface="Arial"/>
                <a:ea typeface="Arial"/>
                <a:cs typeface="Arial"/>
              </a:defRPr>
            </a:defPPr>
          </a:lstStyle>
          <a:p xmlns:a="http://schemas.openxmlformats.org/drawingml/2006/main">
            <a:pPr algn="l">
              <a:buNone/>
              <a:defRPr sz="3300" b="1">
                <a:solidFill>
                  <a:srgbClr val="004D73"/>
                </a:solidFill>
                <a:latin typeface="Arial"/>
                <a:ea typeface="Arial"/>
                <a:cs typeface="Arial"/>
              </a:defRPr>
            </a:pPr>
            <a:r>
              <a:rPr sz="3300" b="1">
                <a:solidFill>
                  <a:srgbClr val="004D73"/>
                </a:solidFill>
                <a:latin typeface="Arial"/>
                <a:ea typeface="Arial"/>
                <a:cs typeface="Arial"/>
              </a:rPr>
              <a:t>Intraday momentum</a:t>
            </a:r>
            <a:endParaRPr sz="3450" b="1">
              <a:solidFill>
                <a:srgbClr val="004D73"/>
              </a:solidFill>
              <a:latin typeface="Arial"/>
              <a:ea typeface="Arial"/>
              <a:cs typeface="Arial"/>
            </a:endParaRPr>
          </a:p>
        </p:txBody>
      </p:sp>
      <p:sp>
        <p:nvSpPr>
          <p:cNvPr id="3" name="SHPE CAPITAL    OCTOBER 13, 2026">
            <a:extLst xmlns:a="http://schemas.openxmlformats.org/drawingml/2006/main">
              <a:ext uri="{FF2B5EF4-FFF2-40B4-BE49-F238E27FC236}">
                <a16:creationId xmlns:a16="http://schemas.microsoft.com/office/drawing/2014/main" id="{94ABAC91-DAA3-4D44-AF8B-1600C668D7BA}"/>
              </a:ext>
            </a:extLst>
          </p:cNvPr>
          <p:cNvSpPr>
            <a:spLocks xmlns:a="http://schemas.openxmlformats.org/drawingml/2006/main" noGrp="1"/>
          </p:cNvSpPr>
          <p:nvPr/>
        </p:nvSpPr>
        <p:spPr>
          <a:xfrm xmlns:a="http://schemas.openxmlformats.org/drawingml/2006/main">
            <a:off x="609600" y="6438900"/>
            <a:ext cx="771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SHPE CAPITAL    OCTOBER 13, 2026</a:t>
            </a:r>
          </a:p>
        </p:txBody>
      </p:sp>
      <p:sp>
        <p:nvSpPr>
          <p:cNvPr id="4" name="6–7.5 min">
            <a:extLst xmlns:a="http://schemas.openxmlformats.org/drawingml/2006/main">
              <a:ext uri="{FF2B5EF4-FFF2-40B4-BE49-F238E27FC236}">
                <a16:creationId xmlns:a16="http://schemas.microsoft.com/office/drawing/2014/main" id="{78450C1D-F407-47C5-B54B-D458F77E747C}"/>
              </a:ext>
            </a:extLst>
          </p:cNvPr>
          <p:cNvSpPr>
            <a:spLocks xmlns:a="http://schemas.openxmlformats.org/drawingml/2006/main" noGrp="1"/>
          </p:cNvSpPr>
          <p:nvPr/>
        </p:nvSpPr>
        <p:spPr>
          <a:xfrm xmlns:a="http://schemas.openxmlformats.org/drawingml/2006/main">
            <a:off x="9029700" y="643890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4:30-6:00</a:t>
            </a:r>
          </a:p>
        </p:txBody>
      </p:sp>
      <p:sp>
        <p:nvSpPr>
          <p:cNvPr id="5" name="6">
            <a:extLst xmlns:a="http://schemas.openxmlformats.org/drawingml/2006/main">
              <a:ext uri="{FF2B5EF4-FFF2-40B4-BE49-F238E27FC236}">
                <a16:creationId xmlns:a16="http://schemas.microsoft.com/office/drawing/2014/main" id="{0E4DEB17-E377-4EDB-93E8-98CC63EC174A}"/>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7</a:t>
            </a:r>
          </a:p>
        </p:txBody>
      </p:sp>
      <p:sp>
        <p:nvSpPr>
          <p:cNvPr id="17" name="Trade in the direction of a recent price move">
            <a:extLst xmlns:a="http://schemas.openxmlformats.org/drawingml/2006/main">
              <a:ext uri="{FF2B5EF4-FFF2-40B4-BE49-F238E27FC236}">
                <a16:creationId xmlns:a16="http://schemas.microsoft.com/office/drawing/2014/main" id="{ED196A4A-BE30-4A68-B702-F6FD756C1BFA}"/>
              </a:ext>
            </a:extLst>
          </p:cNvPr>
          <p:cNvSpPr>
            <a:spLocks xmlns:a="http://schemas.openxmlformats.org/drawingml/2006/main" noGrp="1"/>
          </p:cNvSpPr>
          <p:nvPr/>
        </p:nvSpPr>
        <p:spPr>
          <a:xfrm xmlns:a="http://schemas.openxmlformats.org/drawingml/2006/main">
            <a:off x="609600" y="14478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004D73"/>
                </a:solidFill>
                <a:latin typeface="Arial"/>
                <a:ea typeface="Arial"/>
                <a:cs typeface="Arial"/>
              </a:defRPr>
            </a:defPPr>
          </a:lstStyle>
          <a:p xmlns:a="http://schemas.openxmlformats.org/drawingml/2006/main">
            <a:pPr algn="l">
              <a:defRPr sz="2100" b="1">
                <a:solidFill>
                  <a:srgbClr val="004D73"/>
                </a:solidFill>
                <a:latin typeface="Arial"/>
                <a:ea typeface="Arial"/>
                <a:cs typeface="Arial"/>
              </a:defRPr>
            </a:pPr>
            <a:r>
              <a:rPr sz="2100" b="1">
                <a:solidFill>
                  <a:srgbClr val="004D73"/>
                </a:solidFill>
                <a:latin typeface="Arial"/>
                <a:ea typeface="Arial"/>
                <a:cs typeface="Arial"/>
              </a:rPr>
              <a:t>Trade in the direction of a recent price move when a defined signal suggests that buying or selling pressure may continue.</a:t>
            </a:r>
          </a:p>
        </p:txBody>
      </p:sp>
      <p:sp>
        <p:nvSpPr>
          <p:cNvPr id="18" name="How it works and a basic baseline">
            <a:extLst xmlns:a="http://schemas.openxmlformats.org/drawingml/2006/main">
              <a:ext uri="{FF2B5EF4-FFF2-40B4-BE49-F238E27FC236}">
                <a16:creationId xmlns:a16="http://schemas.microsoft.com/office/drawing/2014/main" id="{17F3A46A-3687-46B8-9A71-5FEB0DD6232D}"/>
              </a:ext>
            </a:extLst>
          </p:cNvPr>
          <p:cNvSpPr>
            <a:spLocks xmlns:a="http://schemas.openxmlformats.org/drawingml/2006/main" noGrp="1"/>
          </p:cNvSpPr>
          <p:nvPr/>
        </p:nvSpPr>
        <p:spPr>
          <a:xfrm xmlns:a="http://schemas.openxmlformats.org/drawingml/2006/main">
            <a:off x="609600" y="217170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FF5400"/>
                </a:solidFill>
                <a:latin typeface="Arial"/>
                <a:ea typeface="Arial"/>
                <a:cs typeface="Arial"/>
              </a:defRPr>
            </a:defPPr>
          </a:lstStyle>
          <a:p xmlns:a="http://schemas.openxmlformats.org/drawingml/2006/main">
            <a:pPr algn="l">
              <a:defRPr sz="2100" b="1">
                <a:solidFill>
                  <a:srgbClr val="FF5400"/>
                </a:solidFill>
                <a:latin typeface="Arial"/>
                <a:ea typeface="Arial"/>
                <a:cs typeface="Arial"/>
              </a:defRPr>
            </a:pPr>
            <a:r>
              <a:rPr sz="2100" b="1">
                <a:solidFill>
                  <a:srgbClr val="FF5400"/>
                </a:solidFill>
                <a:latin typeface="Arial"/>
                <a:ea typeface="Arial"/>
                <a:cs typeface="Arial"/>
              </a:rPr>
              <a:t>How it works and a basic baseline</a:t>
            </a:r>
          </a:p>
        </p:txBody>
      </p:sp>
      <p:sp>
        <p:nvSpPr>
          <p:cNvPr id="19" name="">
            <a:extLst xmlns:a="http://schemas.openxmlformats.org/drawingml/2006/main">
              <a:ext uri="{FF2B5EF4-FFF2-40B4-BE49-F238E27FC236}">
                <a16:creationId xmlns:a16="http://schemas.microsoft.com/office/drawing/2014/main" id="{C8276CAC-9D68-4213-8B0D-CD8B1A7BAA91}"/>
              </a:ext>
            </a:extLst>
          </p:cNvPr>
          <p:cNvSpPr>
            <a:spLocks xmlns:a="http://schemas.openxmlformats.org/drawingml/2006/main" noGrp="1"/>
          </p:cNvSpPr>
          <p:nvPr/>
        </p:nvSpPr>
        <p:spPr>
          <a:xfrm xmlns:a="http://schemas.openxmlformats.org/drawingml/2006/main">
            <a:off x="609600" y="2552700"/>
            <a:ext cx="109728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13" b="0">
                <a:solidFill>
                  <a:srgbClr val="182C43"/>
                </a:solidFill>
                <a:latin typeface="Arial"/>
                <a:ea typeface="Arial"/>
                <a:cs typeface="Arial"/>
              </a:defRPr>
            </a:defPPr>
          </a:lstStyle>
          <a:p xmlns:a="http://schemas.openxmlformats.org/drawingml/2006/main">
            <a:pPr marL="266700" indent="-152400" algn="l">
              <a:spcAft>
                <a:spcPts val="300"/>
              </a:spcAft>
              <a:buChar char="•"/>
              <a:defRPr sz="1913" b="0">
                <a:solidFill>
                  <a:srgbClr val="182C43"/>
                </a:solidFill>
                <a:latin typeface="Arial"/>
                <a:ea typeface="Arial"/>
                <a:cs typeface="Arial"/>
              </a:defRPr>
            </a:pPr>
            <a:r>
              <a:rPr sz="1913" b="1">
                <a:solidFill>
                  <a:srgbClr val="182C43"/>
                </a:solidFill>
                <a:latin typeface="Arial"/>
                <a:ea typeface="Arial"/>
                <a:cs typeface="Arial"/>
              </a:rPr>
              <a:t>Baseline:</a:t>
            </a:r>
            <a:r>
              <a:rPr sz="1913">
                <a:solidFill>
                  <a:srgbClr val="182C43"/>
                </a:solidFill>
                <a:latin typeface="Arial"/>
                <a:ea typeface="Arial"/>
                <a:cs typeface="Arial"/>
              </a:rPr>
              <a:t> opening-range breakout uses the high and low of a completed opening window.</a:t>
            </a:r>
          </a:p>
          <a:p xmlns:a="http://schemas.openxmlformats.org/drawingml/2006/main">
            <a:pPr marL="266700" indent="-152400" algn="l">
              <a:spcAft>
                <a:spcPts val="300"/>
              </a:spcAft>
              <a:buChar char="•"/>
              <a:defRPr sz="1913" b="0">
                <a:solidFill>
                  <a:srgbClr val="182C43"/>
                </a:solidFill>
                <a:latin typeface="Arial"/>
                <a:ea typeface="Arial"/>
                <a:cs typeface="Arial"/>
              </a:defRPr>
            </a:pPr>
            <a:r>
              <a:rPr sz="1913" b="1">
                <a:solidFill>
                  <a:srgbClr val="182C43"/>
                </a:solidFill>
                <a:latin typeface="Arial"/>
                <a:ea typeface="Arial"/>
                <a:cs typeface="Arial"/>
              </a:rPr>
              <a:t>Example:</a:t>
            </a:r>
            <a:r>
              <a:rPr sz="1913">
                <a:solidFill>
                  <a:srgbClr val="182C43"/>
                </a:solidFill>
                <a:latin typeface="Arial"/>
                <a:ea typeface="Arial"/>
                <a:cs typeface="Arial"/>
              </a:rPr>
              <a:t> a later move above the first 15-minute high is a candidate long. Below the low is a short.</a:t>
            </a:r>
          </a:p>
          <a:p xmlns:a="http://schemas.openxmlformats.org/drawingml/2006/main">
            <a:pPr marL="266700" indent="-152400" algn="l">
              <a:spcAft>
                <a:spcPts val="300"/>
              </a:spcAft>
              <a:buChar char="•"/>
              <a:defRPr sz="1913" b="0">
                <a:solidFill>
                  <a:srgbClr val="182C43"/>
                </a:solidFill>
                <a:latin typeface="Arial"/>
                <a:ea typeface="Arial"/>
                <a:cs typeface="Arial"/>
              </a:defRPr>
            </a:pPr>
            <a:r>
              <a:rPr sz="1913" b="1">
                <a:solidFill>
                  <a:srgbClr val="182C43"/>
                </a:solidFill>
                <a:latin typeface="Arial"/>
                <a:ea typeface="Arial"/>
                <a:cs typeface="Arial"/>
              </a:rPr>
              <a:t>Specify:</a:t>
            </a:r>
            <a:r>
              <a:rPr sz="1913">
                <a:solidFill>
                  <a:srgbClr val="182C43"/>
                </a:solidFill>
                <a:latin typeface="Arial"/>
                <a:ea typeface="Arial"/>
                <a:cs typeface="Arial"/>
              </a:rPr>
              <a:t> entry buffer, confirmation, stop distance, maximum holding time and session exit.</a:t>
            </a:r>
          </a:p>
          <a:p xmlns:a="http://schemas.openxmlformats.org/drawingml/2006/main">
            <a:pPr marL="266700" indent="-152400" algn="l">
              <a:spcAft>
                <a:spcPts val="300"/>
              </a:spcAft>
              <a:buChar char="•"/>
              <a:defRPr sz="1913" b="0">
                <a:solidFill>
                  <a:srgbClr val="182C43"/>
                </a:solidFill>
                <a:latin typeface="Arial"/>
                <a:ea typeface="Arial"/>
                <a:cs typeface="Arial"/>
              </a:defRPr>
            </a:pPr>
            <a:r>
              <a:rPr sz="1913" b="1">
                <a:solidFill>
                  <a:srgbClr val="182C43"/>
                </a:solidFill>
                <a:latin typeface="Arial"/>
                <a:ea typeface="Arial"/>
                <a:cs typeface="Arial"/>
              </a:rPr>
              <a:t>Main failure:</a:t>
            </a:r>
            <a:r>
              <a:rPr sz="1913">
                <a:solidFill>
                  <a:srgbClr val="182C43"/>
                </a:solidFill>
                <a:latin typeface="Arial"/>
                <a:ea typeface="Arial"/>
                <a:cs typeface="Arial"/>
              </a:rPr>
              <a:t> false breakouts reverse quickly. Costs and several correlated trades can amplify losses.</a:t>
            </a:r>
          </a:p>
        </p:txBody>
      </p:sp>
      <p:sp>
        <p:nvSpPr>
          <p:cNvPr id="20" name="Future improvements to research">
            <a:extLst xmlns:a="http://schemas.openxmlformats.org/drawingml/2006/main">
              <a:ext uri="{FF2B5EF4-FFF2-40B4-BE49-F238E27FC236}">
                <a16:creationId xmlns:a16="http://schemas.microsoft.com/office/drawing/2014/main" id="{2E236C0F-6AEA-40DD-A2CF-32C97ADC3348}"/>
              </a:ext>
            </a:extLst>
          </p:cNvPr>
          <p:cNvSpPr>
            <a:spLocks xmlns:a="http://schemas.openxmlformats.org/drawingml/2006/main" noGrp="1"/>
          </p:cNvSpPr>
          <p:nvPr/>
        </p:nvSpPr>
        <p:spPr>
          <a:xfrm xmlns:a="http://schemas.openxmlformats.org/drawingml/2006/main">
            <a:off x="609600" y="45053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FF5400"/>
                </a:solidFill>
                <a:latin typeface="Arial"/>
                <a:ea typeface="Arial"/>
                <a:cs typeface="Arial"/>
              </a:defRPr>
            </a:defPPr>
          </a:lstStyle>
          <a:p xmlns:a="http://schemas.openxmlformats.org/drawingml/2006/main">
            <a:pPr algn="l">
              <a:defRPr sz="2100" b="1">
                <a:solidFill>
                  <a:srgbClr val="FF5400"/>
                </a:solidFill>
                <a:latin typeface="Arial"/>
                <a:ea typeface="Arial"/>
                <a:cs typeface="Arial"/>
              </a:defRPr>
            </a:pPr>
            <a:r>
              <a:rPr sz="2100" b="1">
                <a:solidFill>
                  <a:srgbClr val="FF5400"/>
                </a:solidFill>
                <a:latin typeface="Arial"/>
                <a:ea typeface="Arial"/>
                <a:cs typeface="Arial"/>
              </a:rPr>
              <a:t>Future improvements to research</a:t>
            </a:r>
          </a:p>
        </p:txBody>
      </p:sp>
      <p:sp>
        <p:nvSpPr>
          <p:cNvPr id="21" name="">
            <a:extLst xmlns:a="http://schemas.openxmlformats.org/drawingml/2006/main">
              <a:ext uri="{FF2B5EF4-FFF2-40B4-BE49-F238E27FC236}">
                <a16:creationId xmlns:a16="http://schemas.microsoft.com/office/drawing/2014/main" id="{3F1DC8A0-2F40-4D22-A575-0FCBED7F0983}"/>
              </a:ext>
            </a:extLst>
          </p:cNvPr>
          <p:cNvSpPr>
            <a:spLocks xmlns:a="http://schemas.openxmlformats.org/drawingml/2006/main" noGrp="1"/>
          </p:cNvSpPr>
          <p:nvPr/>
        </p:nvSpPr>
        <p:spPr>
          <a:xfrm xmlns:a="http://schemas.openxmlformats.org/drawingml/2006/main">
            <a:off x="609600" y="4895850"/>
            <a:ext cx="109728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182C43"/>
                </a:solidFill>
                <a:latin typeface="Arial"/>
                <a:ea typeface="Arial"/>
                <a:cs typeface="Arial"/>
              </a:defRPr>
            </a:defPPr>
          </a:lstStyle>
          <a:p xmlns:a="http://schemas.openxmlformats.org/drawingml/2006/main">
            <a:pPr marL="266700" indent="-152400" algn="l">
              <a:spcAft>
                <a:spcPts val="300"/>
              </a:spcAft>
              <a:buChar char="•"/>
              <a:defRPr sz="1875" b="0">
                <a:solidFill>
                  <a:srgbClr val="182C43"/>
                </a:solidFill>
                <a:latin typeface="Arial"/>
                <a:ea typeface="Arial"/>
                <a:cs typeface="Arial"/>
              </a:defRPr>
            </a:pPr>
            <a:r>
              <a:rPr sz="1875" b="1">
                <a:solidFill>
                  <a:srgbClr val="182C43"/>
                </a:solidFill>
                <a:latin typeface="Arial"/>
                <a:ea typeface="Arial"/>
                <a:cs typeface="Arial"/>
              </a:rPr>
              <a:t>Regime modeling:</a:t>
            </a:r>
            <a:r>
              <a:rPr sz="1875">
                <a:solidFill>
                  <a:srgbClr val="182C43"/>
                </a:solidFill>
                <a:latin typeface="Arial"/>
                <a:ea typeface="Arial"/>
                <a:cs typeface="Arial"/>
              </a:rPr>
              <a:t> distinguish trending and choppy conditions using only available past data.</a:t>
            </a:r>
          </a:p>
          <a:p xmlns:a="http://schemas.openxmlformats.org/drawingml/2006/main">
            <a:pPr marL="266700" indent="-152400" algn="l">
              <a:spcAft>
                <a:spcPts val="300"/>
              </a:spcAft>
              <a:buChar char="•"/>
              <a:defRPr sz="1875" b="0">
                <a:solidFill>
                  <a:srgbClr val="182C43"/>
                </a:solidFill>
                <a:latin typeface="Arial"/>
                <a:ea typeface="Arial"/>
                <a:cs typeface="Arial"/>
              </a:defRPr>
            </a:pPr>
            <a:r>
              <a:rPr sz="1875" b="1">
                <a:solidFill>
                  <a:srgbClr val="182C43"/>
                </a:solidFill>
                <a:latin typeface="Arial"/>
                <a:ea typeface="Arial"/>
                <a:cs typeface="Arial"/>
              </a:rPr>
              <a:t>Volatility normalization:</a:t>
            </a:r>
            <a:r>
              <a:rPr sz="1875">
                <a:solidFill>
                  <a:srgbClr val="182C43"/>
                </a:solidFill>
                <a:latin typeface="Arial"/>
                <a:ea typeface="Arial"/>
                <a:cs typeface="Arial"/>
              </a:rPr>
              <a:t> express move and breakout thresholds relative to recent variability.</a:t>
            </a:r>
          </a:p>
          <a:p xmlns:a="http://schemas.openxmlformats.org/drawingml/2006/main">
            <a:pPr marL="266700" indent="-152400" algn="l">
              <a:spcAft>
                <a:spcPts val="300"/>
              </a:spcAft>
              <a:buChar char="•"/>
              <a:defRPr sz="1875" b="0">
                <a:solidFill>
                  <a:srgbClr val="182C43"/>
                </a:solidFill>
                <a:latin typeface="Arial"/>
                <a:ea typeface="Arial"/>
                <a:cs typeface="Arial"/>
              </a:defRPr>
            </a:pPr>
            <a:r>
              <a:rPr sz="1875" b="1">
                <a:solidFill>
                  <a:srgbClr val="182C43"/>
                </a:solidFill>
                <a:latin typeface="Arial"/>
                <a:ea typeface="Arial"/>
                <a:cs typeface="Arial"/>
              </a:rPr>
              <a:t>Time-of-day and market filters:</a:t>
            </a:r>
            <a:r>
              <a:rPr sz="1875">
                <a:solidFill>
                  <a:srgbClr val="182C43"/>
                </a:solidFill>
                <a:latin typeface="Arial"/>
                <a:ea typeface="Arial"/>
                <a:cs typeface="Arial"/>
              </a:rPr>
              <a:t> compare session windows and require tested market alignment.</a:t>
            </a:r>
          </a:p>
        </p:txBody>
      </p:sp>
      <p:sp>
        <p:nvSpPr>
          <p:cNvPr id="22" name="">
            <a:extLst xmlns:a="http://schemas.openxmlformats.org/drawingml/2006/main">
              <a:ext uri="{FF2B5EF4-FFF2-40B4-BE49-F238E27FC236}">
                <a16:creationId xmlns:a16="http://schemas.microsoft.com/office/drawing/2014/main" id="{3A958A45-CE2A-4F26-A4CD-33E6639694D2}"/>
              </a:ext>
            </a:extLst>
          </p:cNvPr>
          <p:cNvSpPr>
            <a:spLocks xmlns:a="http://schemas.openxmlformats.org/drawingml/2006/main" noGrp="1"/>
          </p:cNvSpPr>
          <p:nvPr/>
        </p:nvSpPr>
        <p:spPr>
          <a:xfrm xmlns:a="http://schemas.openxmlformats.org/drawingml/2006/main">
            <a:off x="609600" y="60579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75" b="0">
                <a:solidFill>
                  <a:srgbClr val="004D73"/>
                </a:solidFill>
                <a:latin typeface="Arial"/>
                <a:ea typeface="Arial"/>
                <a:cs typeface="Arial"/>
              </a:defRPr>
            </a:defPPr>
          </a:lstStyle>
          <a:p xmlns:a="http://schemas.openxmlformats.org/drawingml/2006/main">
            <a:pPr algn="l">
              <a:defRPr sz="1575" b="0">
                <a:solidFill>
                  <a:srgbClr val="004D73"/>
                </a:solidFill>
                <a:latin typeface="Arial"/>
                <a:ea typeface="Arial"/>
                <a:cs typeface="Arial"/>
              </a:defRPr>
            </a:pPr>
            <a:r>
              <a:rPr sz="1575" u="sng">
                <a:solidFill>
                  <a:srgbClr val="004D73"/>
                </a:solidFill>
                <a:latin typeface="Arial"/>
                <a:ea typeface="Arial"/>
                <a:cs typeface="Arial"/>
                <a:hlinkClick xmlns:r="http://schemas.openxmlformats.org/officeDocument/2006/relationships" r:id="Rc1f821945bf44e49"/>
              </a:rPr>
              <a:t>Research: Gao et al. (2018), Market Intraday Momentum</a:t>
            </a:r>
          </a:p>
        </p:txBody>
      </p:sp>
    </p:spTree>
    <p:extLst>
      <p:ext uri="{BB962C8B-B14F-4D97-AF65-F5344CB8AC3E}">
        <p14:creationId xmlns:p14="http://schemas.microsoft.com/office/powerpoint/2010/main" val="153247957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ALGORITHM FAMILY 3">
            <a:extLst xmlns:a="http://schemas.openxmlformats.org/drawingml/2006/main">
              <a:ext uri="{FF2B5EF4-FFF2-40B4-BE49-F238E27FC236}">
                <a16:creationId xmlns:a16="http://schemas.microsoft.com/office/drawing/2014/main" id="{B4AD76B4-F666-4CFD-BA81-15D5FA2345C2}"/>
              </a:ext>
            </a:extLst>
          </p:cNvPr>
          <p:cNvSpPr>
            <a:spLocks xmlns:a="http://schemas.openxmlformats.org/drawingml/2006/main" noGrp="1"/>
          </p:cNvSpPr>
          <p:nvPr/>
        </p:nvSpPr>
        <p:spPr>
          <a:xfrm xmlns:a="http://schemas.openxmlformats.org/drawingml/2006/main">
            <a:off x="609600" y="285750"/>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FF5400"/>
                </a:solidFill>
                <a:latin typeface="Arial"/>
                <a:ea typeface="Arial"/>
                <a:cs typeface="Arial"/>
              </a:defRPr>
            </a:defPPr>
          </a:lstStyle>
          <a:p xmlns:a="http://schemas.openxmlformats.org/drawingml/2006/main">
            <a:pPr algn="l">
              <a:buNone/>
              <a:defRPr sz="1350" b="1">
                <a:solidFill>
                  <a:srgbClr val="FF5400"/>
                </a:solidFill>
                <a:latin typeface="Arial"/>
                <a:ea typeface="Arial"/>
                <a:cs typeface="Arial"/>
              </a:defRPr>
            </a:pPr>
            <a:r>
              <a:rPr sz="1350" b="1">
                <a:solidFill>
                  <a:srgbClr val="FF5400"/>
                </a:solidFill>
                <a:latin typeface="Arial"/>
                <a:ea typeface="Arial"/>
                <a:cs typeface="Arial"/>
              </a:rPr>
              <a:t>TEAM 3</a:t>
            </a:r>
          </a:p>
        </p:txBody>
      </p:sp>
      <p:sp>
        <p:nvSpPr>
          <p:cNvPr id="2" name="Slide title">
            <a:extLst xmlns:a="http://schemas.openxmlformats.org/drawingml/2006/main">
              <a:ext uri="{FF2B5EF4-FFF2-40B4-BE49-F238E27FC236}">
                <a16:creationId xmlns:a16="http://schemas.microsoft.com/office/drawing/2014/main" id="{B630AD90-3EDF-428F-877B-78D87D150391}"/>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004D73"/>
                </a:solidFill>
                <a:latin typeface="Arial"/>
                <a:ea typeface="Arial"/>
                <a:cs typeface="Arial"/>
              </a:defRPr>
            </a:defPPr>
          </a:lstStyle>
          <a:p xmlns:a="http://schemas.openxmlformats.org/drawingml/2006/main">
            <a:pPr algn="l">
              <a:buNone/>
              <a:defRPr sz="3300" b="1">
                <a:solidFill>
                  <a:srgbClr val="004D73"/>
                </a:solidFill>
                <a:latin typeface="Arial"/>
                <a:ea typeface="Arial"/>
                <a:cs typeface="Arial"/>
              </a:defRPr>
            </a:pPr>
            <a:r>
              <a:rPr sz="3300" b="1">
                <a:solidFill>
                  <a:srgbClr val="004D73"/>
                </a:solidFill>
                <a:latin typeface="Arial"/>
                <a:ea typeface="Arial"/>
                <a:cs typeface="Arial"/>
              </a:rPr>
              <a:t>Market microstructure</a:t>
            </a:r>
            <a:endParaRPr sz="3450" b="1">
              <a:solidFill>
                <a:srgbClr val="004D73"/>
              </a:solidFill>
              <a:latin typeface="Arial"/>
              <a:ea typeface="Arial"/>
              <a:cs typeface="Arial"/>
            </a:endParaRPr>
          </a:p>
        </p:txBody>
      </p:sp>
      <p:sp>
        <p:nvSpPr>
          <p:cNvPr id="3" name="SHPE CAPITAL    OCTOBER 13, 2026">
            <a:extLst xmlns:a="http://schemas.openxmlformats.org/drawingml/2006/main">
              <a:ext uri="{FF2B5EF4-FFF2-40B4-BE49-F238E27FC236}">
                <a16:creationId xmlns:a16="http://schemas.microsoft.com/office/drawing/2014/main" id="{5DE3D06E-B93E-4363-B612-3401AD8D16B7}"/>
              </a:ext>
            </a:extLst>
          </p:cNvPr>
          <p:cNvSpPr>
            <a:spLocks xmlns:a="http://schemas.openxmlformats.org/drawingml/2006/main" noGrp="1"/>
          </p:cNvSpPr>
          <p:nvPr/>
        </p:nvSpPr>
        <p:spPr>
          <a:xfrm xmlns:a="http://schemas.openxmlformats.org/drawingml/2006/main">
            <a:off x="609600" y="6438900"/>
            <a:ext cx="771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SHPE CAPITAL    OCTOBER 13, 2026</a:t>
            </a:r>
          </a:p>
        </p:txBody>
      </p:sp>
      <p:sp>
        <p:nvSpPr>
          <p:cNvPr id="4" name="7.5–9 min">
            <a:extLst xmlns:a="http://schemas.openxmlformats.org/drawingml/2006/main">
              <a:ext uri="{FF2B5EF4-FFF2-40B4-BE49-F238E27FC236}">
                <a16:creationId xmlns:a16="http://schemas.microsoft.com/office/drawing/2014/main" id="{95AD79BD-DD22-43E1-9847-95ED8EFADAC5}"/>
              </a:ext>
            </a:extLst>
          </p:cNvPr>
          <p:cNvSpPr>
            <a:spLocks xmlns:a="http://schemas.openxmlformats.org/drawingml/2006/main" noGrp="1"/>
          </p:cNvSpPr>
          <p:nvPr/>
        </p:nvSpPr>
        <p:spPr>
          <a:xfrm xmlns:a="http://schemas.openxmlformats.org/drawingml/2006/main">
            <a:off x="9029700" y="643890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6:00-7:30</a:t>
            </a:r>
          </a:p>
        </p:txBody>
      </p:sp>
      <p:sp>
        <p:nvSpPr>
          <p:cNvPr id="5" name="7">
            <a:extLst xmlns:a="http://schemas.openxmlformats.org/drawingml/2006/main">
              <a:ext uri="{FF2B5EF4-FFF2-40B4-BE49-F238E27FC236}">
                <a16:creationId xmlns:a16="http://schemas.microsoft.com/office/drawing/2014/main" id="{391D4BA0-A008-4C34-9ECD-39744192AE29}"/>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8</a:t>
            </a:r>
          </a:p>
        </p:txBody>
      </p:sp>
      <p:sp>
        <p:nvSpPr>
          <p:cNvPr id="17" name="Use quotes and executed trades to study wheth">
            <a:extLst xmlns:a="http://schemas.openxmlformats.org/drawingml/2006/main">
              <a:ext uri="{FF2B5EF4-FFF2-40B4-BE49-F238E27FC236}">
                <a16:creationId xmlns:a16="http://schemas.microsoft.com/office/drawing/2014/main" id="{62EF287E-D23E-4193-8C4B-2030F89555CF}"/>
              </a:ext>
            </a:extLst>
          </p:cNvPr>
          <p:cNvSpPr>
            <a:spLocks xmlns:a="http://schemas.openxmlformats.org/drawingml/2006/main" noGrp="1"/>
          </p:cNvSpPr>
          <p:nvPr/>
        </p:nvSpPr>
        <p:spPr>
          <a:xfrm xmlns:a="http://schemas.openxmlformats.org/drawingml/2006/main">
            <a:off x="609600" y="14478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004D73"/>
                </a:solidFill>
                <a:latin typeface="Arial"/>
                <a:ea typeface="Arial"/>
                <a:cs typeface="Arial"/>
              </a:defRPr>
            </a:defPPr>
          </a:lstStyle>
          <a:p xmlns:a="http://schemas.openxmlformats.org/drawingml/2006/main">
            <a:pPr algn="l">
              <a:defRPr sz="2100" b="1">
                <a:solidFill>
                  <a:srgbClr val="004D73"/>
                </a:solidFill>
                <a:latin typeface="Arial"/>
                <a:ea typeface="Arial"/>
                <a:cs typeface="Arial"/>
              </a:defRPr>
            </a:pPr>
            <a:r>
              <a:rPr sz="2100" b="1">
                <a:solidFill>
                  <a:srgbClr val="004D73"/>
                </a:solidFill>
                <a:latin typeface="Arial"/>
                <a:ea typeface="Arial"/>
                <a:cs typeface="Arial"/>
              </a:rPr>
              <a:t>Use quotes and executed trades to study whether short-lived buying pressure, selling pressure or liquidity predicts the next price move.</a:t>
            </a:r>
          </a:p>
        </p:txBody>
      </p:sp>
      <p:sp>
        <p:nvSpPr>
          <p:cNvPr id="18" name="How it works and a basic baseline">
            <a:extLst xmlns:a="http://schemas.openxmlformats.org/drawingml/2006/main">
              <a:ext uri="{FF2B5EF4-FFF2-40B4-BE49-F238E27FC236}">
                <a16:creationId xmlns:a16="http://schemas.microsoft.com/office/drawing/2014/main" id="{F49AE4B4-9065-4AAA-A49A-B1A8C48FAC8B}"/>
              </a:ext>
            </a:extLst>
          </p:cNvPr>
          <p:cNvSpPr>
            <a:spLocks xmlns:a="http://schemas.openxmlformats.org/drawingml/2006/main" noGrp="1"/>
          </p:cNvSpPr>
          <p:nvPr/>
        </p:nvSpPr>
        <p:spPr>
          <a:xfrm xmlns:a="http://schemas.openxmlformats.org/drawingml/2006/main">
            <a:off x="609600" y="217170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FF5400"/>
                </a:solidFill>
                <a:latin typeface="Arial"/>
                <a:ea typeface="Arial"/>
                <a:cs typeface="Arial"/>
              </a:defRPr>
            </a:defPPr>
          </a:lstStyle>
          <a:p xmlns:a="http://schemas.openxmlformats.org/drawingml/2006/main">
            <a:pPr algn="l">
              <a:defRPr sz="2100" b="1">
                <a:solidFill>
                  <a:srgbClr val="FF5400"/>
                </a:solidFill>
                <a:latin typeface="Arial"/>
                <a:ea typeface="Arial"/>
                <a:cs typeface="Arial"/>
              </a:defRPr>
            </a:pPr>
            <a:r>
              <a:rPr sz="2100" b="1">
                <a:solidFill>
                  <a:srgbClr val="FF5400"/>
                </a:solidFill>
                <a:latin typeface="Arial"/>
                <a:ea typeface="Arial"/>
                <a:cs typeface="Arial"/>
              </a:rPr>
              <a:t>How it works and a basic baseline</a:t>
            </a:r>
          </a:p>
        </p:txBody>
      </p:sp>
      <p:sp>
        <p:nvSpPr>
          <p:cNvPr id="19" name="">
            <a:extLst xmlns:a="http://schemas.openxmlformats.org/drawingml/2006/main">
              <a:ext uri="{FF2B5EF4-FFF2-40B4-BE49-F238E27FC236}">
                <a16:creationId xmlns:a16="http://schemas.microsoft.com/office/drawing/2014/main" id="{F5654D0D-A808-4121-B97F-139720D46958}"/>
              </a:ext>
            </a:extLst>
          </p:cNvPr>
          <p:cNvSpPr>
            <a:spLocks xmlns:a="http://schemas.openxmlformats.org/drawingml/2006/main" noGrp="1"/>
          </p:cNvSpPr>
          <p:nvPr/>
        </p:nvSpPr>
        <p:spPr>
          <a:xfrm xmlns:a="http://schemas.openxmlformats.org/drawingml/2006/main">
            <a:off x="609600" y="2552700"/>
            <a:ext cx="109728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13" b="0">
                <a:solidFill>
                  <a:srgbClr val="182C43"/>
                </a:solidFill>
                <a:latin typeface="Arial"/>
                <a:ea typeface="Arial"/>
                <a:cs typeface="Arial"/>
              </a:defRPr>
            </a:defPPr>
          </a:lstStyle>
          <a:p xmlns:a="http://schemas.openxmlformats.org/drawingml/2006/main">
            <a:pPr marL="266700" indent="-152400" algn="l">
              <a:spcAft>
                <a:spcPts val="300"/>
              </a:spcAft>
              <a:buChar char="•"/>
              <a:defRPr sz="1913" b="0">
                <a:solidFill>
                  <a:srgbClr val="182C43"/>
                </a:solidFill>
                <a:latin typeface="Arial"/>
                <a:ea typeface="Arial"/>
                <a:cs typeface="Arial"/>
              </a:defRPr>
            </a:pPr>
            <a:r>
              <a:rPr sz="1913" b="1">
                <a:solidFill>
                  <a:srgbClr val="182C43"/>
                </a:solidFill>
                <a:latin typeface="Arial"/>
                <a:ea typeface="Arial"/>
                <a:cs typeface="Arial"/>
              </a:rPr>
              <a:t>Baseline:</a:t>
            </a:r>
            <a:r>
              <a:rPr sz="1913">
                <a:solidFill>
                  <a:srgbClr val="182C43"/>
                </a:solidFill>
                <a:latin typeface="Arial"/>
                <a:ea typeface="Arial"/>
                <a:cs typeface="Arial"/>
              </a:rPr>
              <a:t> a simple model predicts a future midpoint change from lagged quote or trade features.</a:t>
            </a:r>
          </a:p>
          <a:p xmlns:a="http://schemas.openxmlformats.org/drawingml/2006/main">
            <a:pPr marL="266700" indent="-152400" algn="l">
              <a:spcAft>
                <a:spcPts val="300"/>
              </a:spcAft>
              <a:buChar char="•"/>
              <a:defRPr sz="1913" b="0">
                <a:solidFill>
                  <a:srgbClr val="182C43"/>
                </a:solidFill>
                <a:latin typeface="Arial"/>
                <a:ea typeface="Arial"/>
                <a:cs typeface="Arial"/>
              </a:defRPr>
            </a:pPr>
            <a:r>
              <a:rPr sz="1913" b="1">
                <a:solidFill>
                  <a:srgbClr val="182C43"/>
                </a:solidFill>
                <a:latin typeface="Arial"/>
                <a:ea typeface="Arial"/>
                <a:cs typeface="Arial"/>
              </a:rPr>
              <a:t>Imbalance:</a:t>
            </a:r>
            <a:r>
              <a:rPr sz="1913">
                <a:solidFill>
                  <a:srgbClr val="182C43"/>
                </a:solidFill>
                <a:latin typeface="Arial"/>
                <a:ea typeface="Arial"/>
                <a:cs typeface="Arial"/>
              </a:rPr>
              <a:t> (bid size - ask size) / total size. Bid size 300 and ask size 100 yield +0.50.</a:t>
            </a:r>
          </a:p>
          <a:p xmlns:a="http://schemas.openxmlformats.org/drawingml/2006/main">
            <a:pPr marL="266700" indent="-152400" algn="l">
              <a:spcAft>
                <a:spcPts val="300"/>
              </a:spcAft>
              <a:buChar char="•"/>
              <a:defRPr sz="1913" b="0">
                <a:solidFill>
                  <a:srgbClr val="182C43"/>
                </a:solidFill>
                <a:latin typeface="Arial"/>
                <a:ea typeface="Arial"/>
                <a:cs typeface="Arial"/>
              </a:defRPr>
            </a:pPr>
            <a:r>
              <a:rPr sz="1913" b="1">
                <a:solidFill>
                  <a:srgbClr val="182C43"/>
                </a:solidFill>
                <a:latin typeface="Arial"/>
                <a:ea typeface="Arial"/>
                <a:cs typeface="Arial"/>
              </a:rPr>
              <a:t>Trade rule:</a:t>
            </a:r>
            <a:r>
              <a:rPr sz="1913">
                <a:solidFill>
                  <a:srgbClr val="182C43"/>
                </a:solidFill>
                <a:latin typeface="Arial"/>
                <a:ea typeface="Arial"/>
                <a:cs typeface="Arial"/>
              </a:rPr>
              <a:t> enter only when estimated executable benefit exceeds spread and other costs.</a:t>
            </a:r>
          </a:p>
          <a:p xmlns:a="http://schemas.openxmlformats.org/drawingml/2006/main">
            <a:pPr marL="266700" indent="-152400" algn="l">
              <a:spcAft>
                <a:spcPts val="300"/>
              </a:spcAft>
              <a:buChar char="•"/>
              <a:defRPr sz="1913" b="0">
                <a:solidFill>
                  <a:srgbClr val="182C43"/>
                </a:solidFill>
                <a:latin typeface="Arial"/>
                <a:ea typeface="Arial"/>
                <a:cs typeface="Arial"/>
              </a:defRPr>
            </a:pPr>
            <a:r>
              <a:rPr sz="1913" b="1">
                <a:solidFill>
                  <a:srgbClr val="182C43"/>
                </a:solidFill>
                <a:latin typeface="Arial"/>
                <a:ea typeface="Arial"/>
                <a:cs typeface="Arial"/>
              </a:rPr>
              <a:t>Main failure:</a:t>
            </a:r>
            <a:r>
              <a:rPr sz="1913">
                <a:solidFill>
                  <a:srgbClr val="182C43"/>
                </a:solidFill>
                <a:latin typeface="Arial"/>
                <a:ea typeface="Arial"/>
                <a:cs typeface="Arial"/>
              </a:rPr>
              <a:t> a tiny accurate forecast can lose after costs. Quotes can change before an order fills.</a:t>
            </a:r>
          </a:p>
        </p:txBody>
      </p:sp>
      <p:sp>
        <p:nvSpPr>
          <p:cNvPr id="20" name="Future improvements to research">
            <a:extLst xmlns:a="http://schemas.openxmlformats.org/drawingml/2006/main">
              <a:ext uri="{FF2B5EF4-FFF2-40B4-BE49-F238E27FC236}">
                <a16:creationId xmlns:a16="http://schemas.microsoft.com/office/drawing/2014/main" id="{EA51F28C-3D67-47CB-9CBD-325DF0372BB7}"/>
              </a:ext>
            </a:extLst>
          </p:cNvPr>
          <p:cNvSpPr>
            <a:spLocks xmlns:a="http://schemas.openxmlformats.org/drawingml/2006/main" noGrp="1"/>
          </p:cNvSpPr>
          <p:nvPr/>
        </p:nvSpPr>
        <p:spPr>
          <a:xfrm xmlns:a="http://schemas.openxmlformats.org/drawingml/2006/main">
            <a:off x="609600" y="45053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FF5400"/>
                </a:solidFill>
                <a:latin typeface="Arial"/>
                <a:ea typeface="Arial"/>
                <a:cs typeface="Arial"/>
              </a:defRPr>
            </a:defPPr>
          </a:lstStyle>
          <a:p xmlns:a="http://schemas.openxmlformats.org/drawingml/2006/main">
            <a:pPr algn="l">
              <a:defRPr sz="2100" b="1">
                <a:solidFill>
                  <a:srgbClr val="FF5400"/>
                </a:solidFill>
                <a:latin typeface="Arial"/>
                <a:ea typeface="Arial"/>
                <a:cs typeface="Arial"/>
              </a:defRPr>
            </a:pPr>
            <a:r>
              <a:rPr sz="2100" b="1">
                <a:solidFill>
                  <a:srgbClr val="FF5400"/>
                </a:solidFill>
                <a:latin typeface="Arial"/>
                <a:ea typeface="Arial"/>
                <a:cs typeface="Arial"/>
              </a:rPr>
              <a:t>Future improvements to research</a:t>
            </a:r>
          </a:p>
        </p:txBody>
      </p:sp>
      <p:sp>
        <p:nvSpPr>
          <p:cNvPr id="21" name="">
            <a:extLst xmlns:a="http://schemas.openxmlformats.org/drawingml/2006/main">
              <a:ext uri="{FF2B5EF4-FFF2-40B4-BE49-F238E27FC236}">
                <a16:creationId xmlns:a16="http://schemas.microsoft.com/office/drawing/2014/main" id="{F4E4FA4C-8971-40C4-96F0-E936F1DCE1C2}"/>
              </a:ext>
            </a:extLst>
          </p:cNvPr>
          <p:cNvSpPr>
            <a:spLocks xmlns:a="http://schemas.openxmlformats.org/drawingml/2006/main" noGrp="1"/>
          </p:cNvSpPr>
          <p:nvPr/>
        </p:nvSpPr>
        <p:spPr>
          <a:xfrm xmlns:a="http://schemas.openxmlformats.org/drawingml/2006/main">
            <a:off x="609600" y="4895850"/>
            <a:ext cx="109728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182C43"/>
                </a:solidFill>
                <a:latin typeface="Arial"/>
                <a:ea typeface="Arial"/>
                <a:cs typeface="Arial"/>
              </a:defRPr>
            </a:defPPr>
          </a:lstStyle>
          <a:p xmlns:a="http://schemas.openxmlformats.org/drawingml/2006/main">
            <a:pPr marL="266700" indent="-152400" algn="l">
              <a:spcAft>
                <a:spcPts val="300"/>
              </a:spcAft>
              <a:buChar char="•"/>
              <a:defRPr sz="1875" b="0">
                <a:solidFill>
                  <a:srgbClr val="182C43"/>
                </a:solidFill>
                <a:latin typeface="Arial"/>
                <a:ea typeface="Arial"/>
                <a:cs typeface="Arial"/>
              </a:defRPr>
            </a:pPr>
            <a:r>
              <a:rPr sz="1875" b="1">
                <a:solidFill>
                  <a:srgbClr val="182C43"/>
                </a:solidFill>
                <a:latin typeface="Arial"/>
                <a:ea typeface="Arial"/>
                <a:cs typeface="Arial"/>
              </a:rPr>
              <a:t>Regime modeling:</a:t>
            </a:r>
            <a:r>
              <a:rPr sz="1875">
                <a:solidFill>
                  <a:srgbClr val="182C43"/>
                </a:solidFill>
                <a:latin typeface="Arial"/>
                <a:ea typeface="Arial"/>
                <a:cs typeface="Arial"/>
              </a:rPr>
              <a:t> classify liquidity and volatility conditions to test where a signal survives.</a:t>
            </a:r>
          </a:p>
          <a:p xmlns:a="http://schemas.openxmlformats.org/drawingml/2006/main">
            <a:pPr marL="266700" indent="-152400" algn="l">
              <a:spcAft>
                <a:spcPts val="300"/>
              </a:spcAft>
              <a:buChar char="•"/>
              <a:defRPr sz="1875" b="0">
                <a:solidFill>
                  <a:srgbClr val="182C43"/>
                </a:solidFill>
                <a:latin typeface="Arial"/>
                <a:ea typeface="Arial"/>
                <a:cs typeface="Arial"/>
              </a:defRPr>
            </a:pPr>
            <a:r>
              <a:rPr sz="1875" b="1">
                <a:solidFill>
                  <a:srgbClr val="182C43"/>
                </a:solidFill>
                <a:latin typeface="Arial"/>
                <a:ea typeface="Arial"/>
                <a:cs typeface="Arial"/>
              </a:rPr>
              <a:t>Signal decay:</a:t>
            </a:r>
            <a:r>
              <a:rPr sz="1875">
                <a:solidFill>
                  <a:srgbClr val="182C43"/>
                </a:solidFill>
                <a:latin typeface="Arial"/>
                <a:ea typeface="Arial"/>
                <a:cs typeface="Arial"/>
              </a:rPr>
              <a:t> measure how forecasting value changes as observation-to-order delay increases.</a:t>
            </a:r>
          </a:p>
          <a:p xmlns:a="http://schemas.openxmlformats.org/drawingml/2006/main">
            <a:pPr marL="266700" indent="-152400" algn="l">
              <a:spcAft>
                <a:spcPts val="300"/>
              </a:spcAft>
              <a:buChar char="•"/>
              <a:defRPr sz="1875" b="0">
                <a:solidFill>
                  <a:srgbClr val="182C43"/>
                </a:solidFill>
                <a:latin typeface="Arial"/>
                <a:ea typeface="Arial"/>
                <a:cs typeface="Arial"/>
              </a:defRPr>
            </a:pPr>
            <a:r>
              <a:rPr sz="1875" b="1">
                <a:solidFill>
                  <a:srgbClr val="182C43"/>
                </a:solidFill>
                <a:latin typeface="Arial"/>
                <a:ea typeface="Arial"/>
                <a:cs typeface="Arial"/>
              </a:rPr>
              <a:t>Lead-lag:</a:t>
            </a:r>
            <a:r>
              <a:rPr sz="1875">
                <a:solidFill>
                  <a:srgbClr val="182C43"/>
                </a:solidFill>
                <a:latin typeface="Arial"/>
                <a:ea typeface="Arial"/>
                <a:cs typeface="Arial"/>
              </a:rPr>
              <a:t> test cross-asset predictors. Fill models: estimate execution probability and cost.</a:t>
            </a:r>
          </a:p>
        </p:txBody>
      </p:sp>
      <p:sp>
        <p:nvSpPr>
          <p:cNvPr id="22" name="">
            <a:extLst xmlns:a="http://schemas.openxmlformats.org/drawingml/2006/main">
              <a:ext uri="{FF2B5EF4-FFF2-40B4-BE49-F238E27FC236}">
                <a16:creationId xmlns:a16="http://schemas.microsoft.com/office/drawing/2014/main" id="{3A438692-F56E-4F02-957D-35766E4BE071}"/>
              </a:ext>
            </a:extLst>
          </p:cNvPr>
          <p:cNvSpPr>
            <a:spLocks xmlns:a="http://schemas.openxmlformats.org/drawingml/2006/main" noGrp="1"/>
          </p:cNvSpPr>
          <p:nvPr/>
        </p:nvSpPr>
        <p:spPr>
          <a:xfrm xmlns:a="http://schemas.openxmlformats.org/drawingml/2006/main">
            <a:off x="609600" y="60579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75" b="0">
                <a:solidFill>
                  <a:srgbClr val="004D73"/>
                </a:solidFill>
                <a:latin typeface="Arial"/>
                <a:ea typeface="Arial"/>
                <a:cs typeface="Arial"/>
              </a:defRPr>
            </a:defPPr>
          </a:lstStyle>
          <a:p xmlns:a="http://schemas.openxmlformats.org/drawingml/2006/main">
            <a:pPr algn="l">
              <a:defRPr sz="1575" b="0">
                <a:solidFill>
                  <a:srgbClr val="004D73"/>
                </a:solidFill>
                <a:latin typeface="Arial"/>
                <a:ea typeface="Arial"/>
                <a:cs typeface="Arial"/>
              </a:defRPr>
            </a:pPr>
            <a:r>
              <a:rPr sz="1575" u="sng">
                <a:solidFill>
                  <a:srgbClr val="004D73"/>
                </a:solidFill>
                <a:latin typeface="Arial"/>
                <a:ea typeface="Arial"/>
                <a:cs typeface="Arial"/>
                <a:hlinkClick xmlns:r="http://schemas.openxmlformats.org/officeDocument/2006/relationships" r:id="Ra15a5b31f32b460f"/>
              </a:rPr>
              <a:t>Research: Gould and Bonart (2016), Queue Imbalance as a One-Tick-Ahead Price Predictor</a:t>
            </a:r>
          </a:p>
        </p:txBody>
      </p:sp>
    </p:spTree>
    <p:extLst>
      <p:ext uri="{BB962C8B-B14F-4D97-AF65-F5344CB8AC3E}">
        <p14:creationId xmlns:p14="http://schemas.microsoft.com/office/powerpoint/2010/main" val="108704050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6" name="ALGORITHM FAMILY 3">
            <a:extLst xmlns:a="http://schemas.openxmlformats.org/drawingml/2006/main">
              <a:ext uri="{FF2B5EF4-FFF2-40B4-BE49-F238E27FC236}">
                <a16:creationId xmlns:a16="http://schemas.microsoft.com/office/drawing/2014/main" id="{60F91FC4-09BD-008C-696E-73DCC764B623}"/>
              </a:ext>
            </a:extLst>
          </p:cNvPr>
          <p:cNvSpPr>
            <a:spLocks xmlns:a="http://schemas.openxmlformats.org/drawingml/2006/main" noGrp="1"/>
          </p:cNvSpPr>
          <p:nvPr/>
        </p:nvSpPr>
        <p:spPr>
          <a:xfrm xmlns:a="http://schemas.openxmlformats.org/drawingml/2006/main">
            <a:off x="609600" y="285750"/>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FF5400"/>
                </a:solidFill>
                <a:latin typeface="Arial"/>
                <a:ea typeface="Arial"/>
                <a:cs typeface="Arial"/>
              </a:defRPr>
            </a:defPPr>
          </a:lstStyle>
          <a:p xmlns:a="http://schemas.openxmlformats.org/drawingml/2006/main">
            <a:pPr algn="l">
              <a:buNone/>
              <a:defRPr sz="1350" b="1">
                <a:solidFill>
                  <a:srgbClr val="FF5400"/>
                </a:solidFill>
                <a:latin typeface="Arial"/>
                <a:ea typeface="Arial"/>
                <a:cs typeface="Arial"/>
              </a:defRPr>
            </a:pPr>
            <a:r>
              <a:rPr sz="1350" b="1">
                <a:solidFill>
                  <a:srgbClr val="FF5400"/>
                </a:solidFill>
                <a:latin typeface="Arial"/>
                <a:ea typeface="Arial"/>
                <a:cs typeface="Arial"/>
              </a:rPr>
              <a:t>TEAM 4</a:t>
            </a:r>
            <a:endParaRPr sz="1350" b="1">
              <a:solidFill>
                <a:srgbClr val="FF5400"/>
              </a:solidFill>
              <a:latin typeface="Arial"/>
              <a:ea typeface="Arial"/>
              <a:cs typeface="Arial"/>
            </a:endParaRPr>
          </a:p>
        </p:txBody>
      </p:sp>
      <p:sp>
        <p:nvSpPr>
          <p:cNvPr id="2" name="Slide title">
            <a:extLst xmlns:a="http://schemas.openxmlformats.org/drawingml/2006/main">
              <a:ext uri="{FF2B5EF4-FFF2-40B4-BE49-F238E27FC236}">
                <a16:creationId xmlns:a16="http://schemas.microsoft.com/office/drawing/2014/main" id="{5F0644D1-FD1B-0E74-FE87-DE0382E04E7D}"/>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004D73"/>
                </a:solidFill>
                <a:latin typeface="Arial"/>
                <a:ea typeface="Arial"/>
                <a:cs typeface="Arial"/>
              </a:defRPr>
            </a:defPPr>
          </a:lstStyle>
          <a:p xmlns:a="http://schemas.openxmlformats.org/drawingml/2006/main">
            <a:pPr algn="l">
              <a:buNone/>
              <a:defRPr sz="3300" b="1">
                <a:solidFill>
                  <a:srgbClr val="004D73"/>
                </a:solidFill>
                <a:latin typeface="Arial"/>
                <a:ea typeface="Arial"/>
                <a:cs typeface="Arial"/>
              </a:defRPr>
            </a:pPr>
            <a:r>
              <a:rPr sz="3300" b="1">
                <a:solidFill>
                  <a:srgbClr val="004D73"/>
                </a:solidFill>
                <a:latin typeface="Arial"/>
                <a:ea typeface="Arial"/>
                <a:cs typeface="Arial"/>
              </a:rPr>
              <a:t>Platform team</a:t>
            </a:r>
            <a:endParaRPr sz="3450" b="1">
              <a:solidFill>
                <a:srgbClr val="004D73"/>
              </a:solidFill>
              <a:latin typeface="Arial"/>
              <a:ea typeface="Arial"/>
              <a:cs typeface="Arial"/>
            </a:endParaRPr>
          </a:p>
        </p:txBody>
      </p:sp>
      <p:sp>
        <p:nvSpPr>
          <p:cNvPr id="3" name="SHPE CAPITAL    OCTOBER 13, 2026">
            <a:extLst xmlns:a="http://schemas.openxmlformats.org/drawingml/2006/main">
              <a:ext uri="{FF2B5EF4-FFF2-40B4-BE49-F238E27FC236}">
                <a16:creationId xmlns:a16="http://schemas.microsoft.com/office/drawing/2014/main" id="{60C96DE0-EC74-E610-2E8D-FA4D644A680A}"/>
              </a:ext>
            </a:extLst>
          </p:cNvPr>
          <p:cNvSpPr>
            <a:spLocks xmlns:a="http://schemas.openxmlformats.org/drawingml/2006/main" noGrp="1"/>
          </p:cNvSpPr>
          <p:nvPr/>
        </p:nvSpPr>
        <p:spPr>
          <a:xfrm xmlns:a="http://schemas.openxmlformats.org/drawingml/2006/main">
            <a:off x="609600" y="6438900"/>
            <a:ext cx="771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SHPE CAPITAL    OCTOBER 13, 2026</a:t>
            </a:r>
          </a:p>
        </p:txBody>
      </p:sp>
      <p:sp>
        <p:nvSpPr>
          <p:cNvPr id="4" name="7.5–9 min">
            <a:extLst xmlns:a="http://schemas.openxmlformats.org/drawingml/2006/main">
              <a:ext uri="{FF2B5EF4-FFF2-40B4-BE49-F238E27FC236}">
                <a16:creationId xmlns:a16="http://schemas.microsoft.com/office/drawing/2014/main" id="{7E679DCA-E6A3-63DF-3869-357A0A65DF7F}"/>
              </a:ext>
            </a:extLst>
          </p:cNvPr>
          <p:cNvSpPr>
            <a:spLocks xmlns:a="http://schemas.openxmlformats.org/drawingml/2006/main" noGrp="1"/>
          </p:cNvSpPr>
          <p:nvPr/>
        </p:nvSpPr>
        <p:spPr>
          <a:xfrm xmlns:a="http://schemas.openxmlformats.org/drawingml/2006/main">
            <a:off x="9029700" y="643890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7:30-8:30</a:t>
            </a:r>
          </a:p>
        </p:txBody>
      </p:sp>
      <p:sp>
        <p:nvSpPr>
          <p:cNvPr id="5" name="7">
            <a:extLst xmlns:a="http://schemas.openxmlformats.org/drawingml/2006/main">
              <a:ext uri="{FF2B5EF4-FFF2-40B4-BE49-F238E27FC236}">
                <a16:creationId xmlns:a16="http://schemas.microsoft.com/office/drawing/2014/main" id="{6F93485D-3E8C-C850-3996-8A0CC9BDE0AF}"/>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9</a:t>
            </a:r>
          </a:p>
        </p:txBody>
      </p:sp>
      <p:sp>
        <p:nvSpPr>
          <p:cNvPr id="17" name="Build the shared data, testing and execution ">
            <a:extLst xmlns:a="http://schemas.openxmlformats.org/drawingml/2006/main">
              <a:ext uri="{FF2B5EF4-FFF2-40B4-BE49-F238E27FC236}">
                <a16:creationId xmlns:a16="http://schemas.microsoft.com/office/drawing/2014/main" id="{B679F23C-AE81-4A48-B702-BA4EBADC1E9F}"/>
              </a:ext>
            </a:extLst>
          </p:cNvPr>
          <p:cNvSpPr>
            <a:spLocks xmlns:a="http://schemas.openxmlformats.org/drawingml/2006/main" noGrp="1"/>
          </p:cNvSpPr>
          <p:nvPr/>
        </p:nvSpPr>
        <p:spPr>
          <a:xfrm xmlns:a="http://schemas.openxmlformats.org/drawingml/2006/main">
            <a:off x="609600" y="14478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004D73"/>
                </a:solidFill>
                <a:latin typeface="Arial"/>
                <a:ea typeface="Arial"/>
                <a:cs typeface="Arial"/>
              </a:defRPr>
            </a:defPPr>
          </a:lstStyle>
          <a:p xmlns:a="http://schemas.openxmlformats.org/drawingml/2006/main">
            <a:pPr algn="l">
              <a:defRPr sz="2100" b="1">
                <a:solidFill>
                  <a:srgbClr val="004D73"/>
                </a:solidFill>
                <a:latin typeface="Arial"/>
                <a:ea typeface="Arial"/>
                <a:cs typeface="Arial"/>
              </a:defRPr>
            </a:pPr>
            <a:r>
              <a:rPr sz="2100" b="1">
                <a:solidFill>
                  <a:srgbClr val="004D73"/>
                </a:solidFill>
                <a:latin typeface="Arial"/>
                <a:ea typeface="Arial"/>
                <a:cs typeface="Arial"/>
              </a:rPr>
              <a:t>Build the shared data, testing and execution tools that let all three algorithm teams research and run strategies consistently.</a:t>
            </a:r>
          </a:p>
        </p:txBody>
      </p:sp>
      <p:sp>
        <p:nvSpPr>
          <p:cNvPr id="18" name="Shared responsibilities">
            <a:extLst xmlns:a="http://schemas.openxmlformats.org/drawingml/2006/main">
              <a:ext uri="{FF2B5EF4-FFF2-40B4-BE49-F238E27FC236}">
                <a16:creationId xmlns:a16="http://schemas.microsoft.com/office/drawing/2014/main" id="{31F5E556-B9CF-4BFA-8560-BE015969B818}"/>
              </a:ext>
            </a:extLst>
          </p:cNvPr>
          <p:cNvSpPr>
            <a:spLocks xmlns:a="http://schemas.openxmlformats.org/drawingml/2006/main" noGrp="1"/>
          </p:cNvSpPr>
          <p:nvPr/>
        </p:nvSpPr>
        <p:spPr>
          <a:xfrm xmlns:a="http://schemas.openxmlformats.org/drawingml/2006/main">
            <a:off x="609600" y="217170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FF5400"/>
                </a:solidFill>
                <a:latin typeface="Arial"/>
                <a:ea typeface="Arial"/>
                <a:cs typeface="Arial"/>
              </a:defRPr>
            </a:defPPr>
          </a:lstStyle>
          <a:p xmlns:a="http://schemas.openxmlformats.org/drawingml/2006/main">
            <a:pPr algn="l">
              <a:defRPr sz="2100" b="1">
                <a:solidFill>
                  <a:srgbClr val="FF5400"/>
                </a:solidFill>
                <a:latin typeface="Arial"/>
                <a:ea typeface="Arial"/>
                <a:cs typeface="Arial"/>
              </a:defRPr>
            </a:pPr>
            <a:r>
              <a:rPr sz="2100" b="1">
                <a:solidFill>
                  <a:srgbClr val="FF5400"/>
                </a:solidFill>
                <a:latin typeface="Arial"/>
                <a:ea typeface="Arial"/>
                <a:cs typeface="Arial"/>
              </a:rPr>
              <a:t>Shared responsibilities</a:t>
            </a:r>
          </a:p>
        </p:txBody>
      </p:sp>
      <p:sp>
        <p:nvSpPr>
          <p:cNvPr id="19" name="">
            <a:extLst xmlns:a="http://schemas.openxmlformats.org/drawingml/2006/main">
              <a:ext uri="{FF2B5EF4-FFF2-40B4-BE49-F238E27FC236}">
                <a16:creationId xmlns:a16="http://schemas.microsoft.com/office/drawing/2014/main" id="{CACB1D83-3E33-45B2-A5C2-CCE861C81BE8}"/>
              </a:ext>
            </a:extLst>
          </p:cNvPr>
          <p:cNvSpPr>
            <a:spLocks xmlns:a="http://schemas.openxmlformats.org/drawingml/2006/main" noGrp="1"/>
          </p:cNvSpPr>
          <p:nvPr/>
        </p:nvSpPr>
        <p:spPr>
          <a:xfrm xmlns:a="http://schemas.openxmlformats.org/drawingml/2006/main">
            <a:off x="609600" y="2552700"/>
            <a:ext cx="109728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13" b="0">
                <a:solidFill>
                  <a:srgbClr val="182C43"/>
                </a:solidFill>
                <a:latin typeface="Arial"/>
                <a:ea typeface="Arial"/>
                <a:cs typeface="Arial"/>
              </a:defRPr>
            </a:defPPr>
          </a:lstStyle>
          <a:p xmlns:a="http://schemas.openxmlformats.org/drawingml/2006/main">
            <a:pPr marL="266700" indent="-152400" algn="l">
              <a:spcAft>
                <a:spcPts val="300"/>
              </a:spcAft>
              <a:buChar char="•"/>
              <a:defRPr sz="1913" b="0">
                <a:solidFill>
                  <a:srgbClr val="182C43"/>
                </a:solidFill>
                <a:latin typeface="Arial"/>
                <a:ea typeface="Arial"/>
                <a:cs typeface="Arial"/>
              </a:defRPr>
            </a:pPr>
            <a:r>
              <a:rPr sz="1913" b="1">
                <a:solidFill>
                  <a:srgbClr val="182C43"/>
                </a:solidFill>
                <a:latin typeface="Arial"/>
                <a:ea typeface="Arial"/>
                <a:cs typeface="Arial"/>
              </a:rPr>
              <a:t>Market data:</a:t>
            </a:r>
            <a:r>
              <a:rPr sz="1913">
                <a:solidFill>
                  <a:srgbClr val="182C43"/>
                </a:solidFill>
                <a:latin typeface="Arial"/>
                <a:ea typeface="Arial"/>
                <a:cs typeface="Arial"/>
              </a:rPr>
              <a:t> normalize Alpaca events, check timestamps and preserve reusable datasets.</a:t>
            </a:r>
          </a:p>
          <a:p xmlns:a="http://schemas.openxmlformats.org/drawingml/2006/main">
            <a:pPr marL="266700" indent="-152400" algn="l">
              <a:spcAft>
                <a:spcPts val="300"/>
              </a:spcAft>
              <a:buChar char="•"/>
              <a:defRPr sz="1913" b="0">
                <a:solidFill>
                  <a:srgbClr val="182C43"/>
                </a:solidFill>
                <a:latin typeface="Arial"/>
                <a:ea typeface="Arial"/>
                <a:cs typeface="Arial"/>
              </a:defRPr>
            </a:pPr>
            <a:r>
              <a:rPr sz="1913" b="1">
                <a:solidFill>
                  <a:srgbClr val="182C43"/>
                </a:solidFill>
                <a:latin typeface="Arial"/>
                <a:ea typeface="Arial"/>
                <a:cs typeface="Arial"/>
              </a:rPr>
              <a:t>Research tools:</a:t>
            </a:r>
            <a:r>
              <a:rPr sz="1913">
                <a:solidFill>
                  <a:srgbClr val="182C43"/>
                </a:solidFill>
                <a:latin typeface="Arial"/>
                <a:ea typeface="Arial"/>
                <a:cs typeface="Arial"/>
              </a:rPr>
              <a:t> extend backtest registration, replay events and compare versioned results.</a:t>
            </a:r>
          </a:p>
          <a:p xmlns:a="http://schemas.openxmlformats.org/drawingml/2006/main">
            <a:pPr marL="266700" indent="-152400" algn="l">
              <a:spcAft>
                <a:spcPts val="300"/>
              </a:spcAft>
              <a:buChar char="•"/>
              <a:defRPr sz="1913" b="0">
                <a:solidFill>
                  <a:srgbClr val="182C43"/>
                </a:solidFill>
                <a:latin typeface="Arial"/>
                <a:ea typeface="Arial"/>
                <a:cs typeface="Arial"/>
              </a:defRPr>
            </a:pPr>
            <a:r>
              <a:rPr sz="1913" b="1">
                <a:solidFill>
                  <a:srgbClr val="182C43"/>
                </a:solidFill>
                <a:latin typeface="Arial"/>
                <a:ea typeface="Arial"/>
                <a:cs typeface="Arial"/>
              </a:rPr>
              <a:t>Paper operation:</a:t>
            </a:r>
            <a:r>
              <a:rPr sz="1913">
                <a:solidFill>
                  <a:srgbClr val="182C43"/>
                </a:solidFill>
                <a:latin typeface="Arial"/>
                <a:ea typeface="Arial"/>
                <a:cs typeface="Arial"/>
              </a:rPr>
              <a:t> track orders and portfolio state, apply risk limits and recover after restarts.</a:t>
            </a:r>
          </a:p>
          <a:p xmlns:a="http://schemas.openxmlformats.org/drawingml/2006/main">
            <a:pPr marL="266700" indent="-152400" algn="l">
              <a:spcAft>
                <a:spcPts val="300"/>
              </a:spcAft>
              <a:buChar char="•"/>
              <a:defRPr sz="1913" b="0">
                <a:solidFill>
                  <a:srgbClr val="182C43"/>
                </a:solidFill>
                <a:latin typeface="Arial"/>
                <a:ea typeface="Arial"/>
                <a:cs typeface="Arial"/>
              </a:defRPr>
            </a:pPr>
            <a:r>
              <a:rPr sz="1913" b="1">
                <a:solidFill>
                  <a:srgbClr val="182C43"/>
                </a:solidFill>
                <a:latin typeface="Arial"/>
                <a:ea typeface="Arial"/>
                <a:cs typeface="Arial"/>
              </a:rPr>
              <a:t>Member workflow:</a:t>
            </a:r>
            <a:r>
              <a:rPr sz="1913">
                <a:solidFill>
                  <a:srgbClr val="182C43"/>
                </a:solidFill>
                <a:latin typeface="Arial"/>
                <a:ea typeface="Arial"/>
                <a:cs typeface="Arial"/>
              </a:rPr>
              <a:t> provide setup help, documented interfaces and examples of supported strategies.</a:t>
            </a:r>
          </a:p>
        </p:txBody>
      </p:sp>
      <p:sp>
        <p:nvSpPr>
          <p:cNvPr id="20" name="Semester improvements and how to judge them">
            <a:extLst xmlns:a="http://schemas.openxmlformats.org/drawingml/2006/main">
              <a:ext uri="{FF2B5EF4-FFF2-40B4-BE49-F238E27FC236}">
                <a16:creationId xmlns:a16="http://schemas.microsoft.com/office/drawing/2014/main" id="{56B96AEE-9949-4887-B9D8-B307F9873388}"/>
              </a:ext>
            </a:extLst>
          </p:cNvPr>
          <p:cNvSpPr>
            <a:spLocks xmlns:a="http://schemas.openxmlformats.org/drawingml/2006/main" noGrp="1"/>
          </p:cNvSpPr>
          <p:nvPr/>
        </p:nvSpPr>
        <p:spPr>
          <a:xfrm xmlns:a="http://schemas.openxmlformats.org/drawingml/2006/main">
            <a:off x="609600" y="45053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FF5400"/>
                </a:solidFill>
                <a:latin typeface="Arial"/>
                <a:ea typeface="Arial"/>
                <a:cs typeface="Arial"/>
              </a:defRPr>
            </a:defPPr>
          </a:lstStyle>
          <a:p xmlns:a="http://schemas.openxmlformats.org/drawingml/2006/main">
            <a:pPr algn="l">
              <a:defRPr sz="2100" b="1">
                <a:solidFill>
                  <a:srgbClr val="FF5400"/>
                </a:solidFill>
                <a:latin typeface="Arial"/>
                <a:ea typeface="Arial"/>
                <a:cs typeface="Arial"/>
              </a:defRPr>
            </a:pPr>
            <a:r>
              <a:rPr sz="2100" b="1">
                <a:solidFill>
                  <a:srgbClr val="FF5400"/>
                </a:solidFill>
                <a:latin typeface="Arial"/>
                <a:ea typeface="Arial"/>
                <a:cs typeface="Arial"/>
              </a:rPr>
              <a:t>Semester improvements and how to judge them</a:t>
            </a:r>
          </a:p>
        </p:txBody>
      </p:sp>
      <p:sp>
        <p:nvSpPr>
          <p:cNvPr id="21" name="">
            <a:extLst xmlns:a="http://schemas.openxmlformats.org/drawingml/2006/main">
              <a:ext uri="{FF2B5EF4-FFF2-40B4-BE49-F238E27FC236}">
                <a16:creationId xmlns:a16="http://schemas.microsoft.com/office/drawing/2014/main" id="{60EE225D-F7E1-4AED-9D7F-CE91342C8813}"/>
              </a:ext>
            </a:extLst>
          </p:cNvPr>
          <p:cNvSpPr>
            <a:spLocks xmlns:a="http://schemas.openxmlformats.org/drawingml/2006/main" noGrp="1"/>
          </p:cNvSpPr>
          <p:nvPr/>
        </p:nvSpPr>
        <p:spPr>
          <a:xfrm xmlns:a="http://schemas.openxmlformats.org/drawingml/2006/main">
            <a:off x="609600" y="4895850"/>
            <a:ext cx="109728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182C43"/>
                </a:solidFill>
                <a:latin typeface="Arial"/>
                <a:ea typeface="Arial"/>
                <a:cs typeface="Arial"/>
              </a:defRPr>
            </a:defPPr>
          </a:lstStyle>
          <a:p xmlns:a="http://schemas.openxmlformats.org/drawingml/2006/main">
            <a:pPr marL="266700" indent="-152400" algn="l">
              <a:spcAft>
                <a:spcPts val="300"/>
              </a:spcAft>
              <a:buChar char="•"/>
              <a:defRPr sz="1875" b="0">
                <a:solidFill>
                  <a:srgbClr val="182C43"/>
                </a:solidFill>
                <a:latin typeface="Arial"/>
                <a:ea typeface="Arial"/>
                <a:cs typeface="Arial"/>
              </a:defRPr>
            </a:pPr>
            <a:r>
              <a:rPr sz="1875" b="1">
                <a:solidFill>
                  <a:srgbClr val="182C43"/>
                </a:solidFill>
                <a:latin typeface="Arial"/>
                <a:ea typeface="Arial"/>
                <a:cs typeface="Arial"/>
              </a:rPr>
              <a:t>Replay:</a:t>
            </a:r>
            <a:r>
              <a:rPr sz="1875">
                <a:solidFill>
                  <a:srgbClr val="182C43"/>
                </a:solidFill>
                <a:latin typeface="Arial"/>
                <a:ea typeface="Arial"/>
                <a:cs typeface="Arial"/>
              </a:rPr>
              <a:t> verify quote/trade recording and repeatable playback for microstructure tests.</a:t>
            </a:r>
          </a:p>
          <a:p xmlns:a="http://schemas.openxmlformats.org/drawingml/2006/main">
            <a:pPr marL="266700" indent="-152400" algn="l">
              <a:spcAft>
                <a:spcPts val="300"/>
              </a:spcAft>
              <a:buChar char="•"/>
              <a:defRPr sz="1875" b="0">
                <a:solidFill>
                  <a:srgbClr val="182C43"/>
                </a:solidFill>
                <a:latin typeface="Arial"/>
                <a:ea typeface="Arial"/>
                <a:cs typeface="Arial"/>
              </a:defRPr>
            </a:pPr>
            <a:r>
              <a:rPr sz="1875" b="1">
                <a:solidFill>
                  <a:srgbClr val="182C43"/>
                </a:solidFill>
                <a:latin typeface="Arial"/>
                <a:ea typeface="Arial"/>
                <a:cs typeface="Arial"/>
              </a:rPr>
              <a:t>Analytics:</a:t>
            </a:r>
            <a:r>
              <a:rPr sz="1875">
                <a:solidFill>
                  <a:srgbClr val="182C43"/>
                </a:solidFill>
                <a:latin typeface="Arial"/>
                <a:ea typeface="Arial"/>
                <a:cs typeface="Arial"/>
              </a:rPr>
              <a:t> export comparable trade ledgers, equity curves, costs and run-health reports.</a:t>
            </a:r>
          </a:p>
          <a:p xmlns:a="http://schemas.openxmlformats.org/drawingml/2006/main">
            <a:pPr marL="266700" indent="-152400" algn="l">
              <a:spcAft>
                <a:spcPts val="300"/>
              </a:spcAft>
              <a:buChar char="•"/>
              <a:defRPr sz="1875" b="0">
                <a:solidFill>
                  <a:srgbClr val="182C43"/>
                </a:solidFill>
                <a:latin typeface="Arial"/>
                <a:ea typeface="Arial"/>
                <a:cs typeface="Arial"/>
              </a:defRPr>
            </a:pPr>
            <a:r>
              <a:rPr sz="1875" b="1">
                <a:solidFill>
                  <a:srgbClr val="182C43"/>
                </a:solidFill>
                <a:latin typeface="Arial"/>
                <a:ea typeface="Arial"/>
                <a:cs typeface="Arial"/>
              </a:rPr>
              <a:t>Latency benchmarks:</a:t>
            </a:r>
            <a:r>
              <a:rPr sz="1875">
                <a:solidFill>
                  <a:srgbClr val="182C43"/>
                </a:solidFill>
                <a:latin typeface="Arial"/>
                <a:ea typeface="Arial"/>
                <a:cs typeface="Arial"/>
              </a:rPr>
              <a:t> measure arrival-to-decision and order timing. Optimize proven bottlenecks.</a:t>
            </a:r>
          </a:p>
        </p:txBody>
      </p:sp>
      <p:sp>
        <p:nvSpPr>
          <p:cNvPr id="22" name="Current gap: the backtest factory supports pa">
            <a:extLst xmlns:a="http://schemas.openxmlformats.org/drawingml/2006/main">
              <a:ext uri="{FF2B5EF4-FFF2-40B4-BE49-F238E27FC236}">
                <a16:creationId xmlns:a16="http://schemas.microsoft.com/office/drawing/2014/main" id="{E8603455-B1BC-4949-890D-B27C0F018EE7}"/>
              </a:ext>
            </a:extLst>
          </p:cNvPr>
          <p:cNvSpPr>
            <a:spLocks xmlns:a="http://schemas.openxmlformats.org/drawingml/2006/main" noGrp="1"/>
          </p:cNvSpPr>
          <p:nvPr/>
        </p:nvSpPr>
        <p:spPr>
          <a:xfrm xmlns:a="http://schemas.openxmlformats.org/drawingml/2006/main">
            <a:off x="609600" y="607695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75" b="0">
                <a:solidFill>
                  <a:srgbClr val="556272"/>
                </a:solidFill>
                <a:latin typeface="Arial"/>
                <a:ea typeface="Arial"/>
                <a:cs typeface="Arial"/>
              </a:defRPr>
            </a:defPPr>
          </a:lstStyle>
          <a:p xmlns:a="http://schemas.openxmlformats.org/drawingml/2006/main">
            <a:pPr algn="l">
              <a:defRPr sz="1575" b="0">
                <a:solidFill>
                  <a:srgbClr val="556272"/>
                </a:solidFill>
                <a:latin typeface="Arial"/>
                <a:ea typeface="Arial"/>
                <a:cs typeface="Arial"/>
              </a:defRPr>
            </a:pPr>
            <a:r>
              <a:rPr sz="1575" b="0">
                <a:solidFill>
                  <a:srgbClr val="556272"/>
                </a:solidFill>
                <a:latin typeface="Arial"/>
                <a:ea typeface="Arial"/>
                <a:cs typeface="Arial"/>
              </a:rPr>
              <a:t>Current gap: the backtest factory supports pairs only. New families need integration and fill validation.</a:t>
            </a:r>
          </a:p>
        </p:txBody>
      </p:sp>
    </p:spTree>
    <p:extLst>
      <p:ext uri="{BB962C8B-B14F-4D97-AF65-F5344CB8AC3E}">
        <p14:creationId xmlns:p14="http://schemas.microsoft.com/office/powerpoint/2010/main" val="286512470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HOW WE WORK">
            <a:extLst xmlns:a="http://schemas.openxmlformats.org/drawingml/2006/main">
              <a:ext uri="{FF2B5EF4-FFF2-40B4-BE49-F238E27FC236}">
                <a16:creationId xmlns:a16="http://schemas.microsoft.com/office/drawing/2014/main" id="{AD595948-829B-4B35-806B-B1579C04D218}"/>
              </a:ext>
            </a:extLst>
          </p:cNvPr>
          <p:cNvSpPr>
            <a:spLocks xmlns:a="http://schemas.openxmlformats.org/drawingml/2006/main" noGrp="1"/>
          </p:cNvSpPr>
          <p:nvPr/>
        </p:nvSpPr>
        <p:spPr>
          <a:xfrm xmlns:a="http://schemas.openxmlformats.org/drawingml/2006/main">
            <a:off x="609600" y="285750"/>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FF5400"/>
                </a:solidFill>
                <a:latin typeface="Arial"/>
                <a:ea typeface="Arial"/>
                <a:cs typeface="Arial"/>
              </a:defRPr>
            </a:defPPr>
          </a:lstStyle>
          <a:p xmlns:a="http://schemas.openxmlformats.org/drawingml/2006/main">
            <a:pPr algn="l">
              <a:buNone/>
              <a:defRPr sz="1350" b="1">
                <a:solidFill>
                  <a:srgbClr val="FF5400"/>
                </a:solidFill>
                <a:latin typeface="Arial"/>
                <a:ea typeface="Arial"/>
                <a:cs typeface="Arial"/>
              </a:defRPr>
            </a:pPr>
            <a:r>
              <a:rPr sz="1350" b="1">
                <a:solidFill>
                  <a:srgbClr val="FF5400"/>
                </a:solidFill>
                <a:latin typeface="Arial"/>
                <a:ea typeface="Arial"/>
                <a:cs typeface="Arial"/>
              </a:rPr>
              <a:t>HOW WE WORK</a:t>
            </a:r>
          </a:p>
        </p:txBody>
      </p:sp>
      <p:sp>
        <p:nvSpPr>
          <p:cNvPr id="2" name="Slide title">
            <a:extLst xmlns:a="http://schemas.openxmlformats.org/drawingml/2006/main">
              <a:ext uri="{FF2B5EF4-FFF2-40B4-BE49-F238E27FC236}">
                <a16:creationId xmlns:a16="http://schemas.microsoft.com/office/drawing/2014/main" id="{87888C4F-FD8F-4AA6-972E-1143B3F4D1D1}"/>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004D73"/>
                </a:solidFill>
                <a:latin typeface="Arial"/>
                <a:ea typeface="Arial"/>
                <a:cs typeface="Arial"/>
              </a:defRPr>
            </a:defPPr>
          </a:lstStyle>
          <a:p xmlns:a="http://schemas.openxmlformats.org/drawingml/2006/main">
            <a:pPr algn="l">
              <a:buNone/>
              <a:defRPr sz="3300" b="1">
                <a:solidFill>
                  <a:srgbClr val="004D73"/>
                </a:solidFill>
                <a:latin typeface="Arial"/>
                <a:ea typeface="Arial"/>
                <a:cs typeface="Arial"/>
              </a:defRPr>
            </a:pPr>
            <a:r>
              <a:rPr sz="3300" b="1">
                <a:solidFill>
                  <a:srgbClr val="004D73"/>
                </a:solidFill>
                <a:latin typeface="Arial"/>
                <a:ea typeface="Arial"/>
                <a:cs typeface="Arial"/>
              </a:rPr>
              <a:t>Meetings and weekly responsibilities</a:t>
            </a:r>
          </a:p>
        </p:txBody>
      </p:sp>
      <p:sp>
        <p:nvSpPr>
          <p:cNvPr id="3" name="SHPE CAPITAL    OCTOBER 13, 2026">
            <a:extLst xmlns:a="http://schemas.openxmlformats.org/drawingml/2006/main">
              <a:ext uri="{FF2B5EF4-FFF2-40B4-BE49-F238E27FC236}">
                <a16:creationId xmlns:a16="http://schemas.microsoft.com/office/drawing/2014/main" id="{78065BDC-F2DA-463D-B10A-117FEBAC6F75}"/>
              </a:ext>
            </a:extLst>
          </p:cNvPr>
          <p:cNvSpPr>
            <a:spLocks xmlns:a="http://schemas.openxmlformats.org/drawingml/2006/main" noGrp="1"/>
          </p:cNvSpPr>
          <p:nvPr/>
        </p:nvSpPr>
        <p:spPr>
          <a:xfrm xmlns:a="http://schemas.openxmlformats.org/drawingml/2006/main">
            <a:off x="609600" y="6438900"/>
            <a:ext cx="771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SHPE CAPITAL    OCTOBER 13, 2026</a:t>
            </a:r>
          </a:p>
        </p:txBody>
      </p:sp>
      <p:sp>
        <p:nvSpPr>
          <p:cNvPr id="4" name="11–12 min">
            <a:extLst xmlns:a="http://schemas.openxmlformats.org/drawingml/2006/main">
              <a:ext uri="{FF2B5EF4-FFF2-40B4-BE49-F238E27FC236}">
                <a16:creationId xmlns:a16="http://schemas.microsoft.com/office/drawing/2014/main" id="{22A3B63E-DF6A-4C2B-BB1F-5EABB8BA160B}"/>
              </a:ext>
            </a:extLst>
          </p:cNvPr>
          <p:cNvSpPr>
            <a:spLocks xmlns:a="http://schemas.openxmlformats.org/drawingml/2006/main" noGrp="1"/>
          </p:cNvSpPr>
          <p:nvPr/>
        </p:nvSpPr>
        <p:spPr>
          <a:xfrm xmlns:a="http://schemas.openxmlformats.org/drawingml/2006/main">
            <a:off x="9029700" y="643890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8:30-9:00</a:t>
            </a:r>
          </a:p>
        </p:txBody>
      </p:sp>
      <p:sp>
        <p:nvSpPr>
          <p:cNvPr id="5" name="9">
            <a:extLst xmlns:a="http://schemas.openxmlformats.org/drawingml/2006/main">
              <a:ext uri="{FF2B5EF4-FFF2-40B4-BE49-F238E27FC236}">
                <a16:creationId xmlns:a16="http://schemas.microsoft.com/office/drawing/2014/main" id="{68F631C2-89E9-4E29-BEF2-B4EFB97E4325}"/>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10</a:t>
            </a:r>
          </a:p>
        </p:txBody>
      </p:sp>
      <p:graphicFrame>
        <p:nvGraphicFramePr>
          <p:cNvPr id="11" name="">
            <a:extLst xmlns:a="http://schemas.openxmlformats.org/drawingml/2006/main">
              <a:ext uri="{FF2B5EF4-FFF2-40B4-BE49-F238E27FC236}">
                <a16:creationId xmlns:a16="http://schemas.microsoft.com/office/drawing/2014/main" id="{6AF546B8-B1AB-4325-9634-7261D1631A5F}"/>
              </a:ext>
            </a:extLst>
          </p:cNvPr>
          <p:cNvGraphicFramePr/>
          <p:nvPr/>
        </p:nvGraphicFramePr>
        <p:xfrm>
          <a:off xmlns:a="http://schemas.openxmlformats.org/drawingml/2006/main" x="609600" y="1781175"/>
          <a:ext xmlns:a="http://schemas.openxmlformats.org/drawingml/2006/main" cx="10972800" cy="3238500"/>
        </p:xfrm>
        <a:graphic xmlns:a="http://schemas.openxmlformats.org/drawingml/2006/main">
          <a:graphicData uri="http://schemas.openxmlformats.org/drawingml/2006/table">
            <a:tbl>
              <a:tblPr firstRow="1" bandRow="0"/>
              <a:tblGrid>
                <a:gridCol w="2619375"/>
                <a:gridCol w="4038600"/>
                <a:gridCol w="4314825"/>
              </a:tblGrid>
              <a:tr h="419100">
                <a:tc>
                  <a:txBody>
                    <a:bodyPr lIns="85725" tIns="85725" rIns="85725" bIns="85725">
                      <a:noAutofit/>
                    </a:bodyPr>
                    <a:lstStyle/>
                    <a:p>
                      <a:pPr algn="l"/>
                      <a:r>
                        <a:rPr sz="1875" b="1">
                          <a:solidFill>
                            <a:srgbClr val="FFFFFF"/>
                          </a:solidFill>
                          <a:latin typeface="Arial"/>
                          <a:ea typeface="Arial"/>
                          <a:cs typeface="Arial"/>
                        </a:rPr>
                        <a:t>Time / commitment</a:t>
                      </a:r>
                    </a:p>
                  </a:txBody>
                  <a:tcPr marL="85725" marR="85725" marT="19050" marB="19050" anchor="ctr">
                    <a:lnL w="6668">
                      <a:solidFill>
                        <a:srgbClr val="D9E0E7"/>
                      </a:solidFill>
                      <a:prstDash val="solid"/>
                    </a:lnL>
                    <a:lnR w="6668">
                      <a:solidFill>
                        <a:srgbClr val="D9E0E7"/>
                      </a:solidFill>
                      <a:prstDash val="solid"/>
                    </a:lnR>
                    <a:lnT w="6668">
                      <a:solidFill>
                        <a:srgbClr val="D9E0E7"/>
                      </a:solidFill>
                      <a:prstDash val="solid"/>
                    </a:lnT>
                    <a:lnB w="6668">
                      <a:solidFill>
                        <a:srgbClr val="D9E0E7"/>
                      </a:solidFill>
                      <a:prstDash val="solid"/>
                    </a:lnB>
                    <a:solidFill>
                      <a:srgbClr val="004D73"/>
                    </a:solidFill>
                  </a:tcPr>
                </a:tc>
                <a:tc>
                  <a:txBody>
                    <a:bodyPr lIns="85725" tIns="85725" rIns="85725" bIns="85725">
                      <a:noAutofit/>
                    </a:bodyPr>
                    <a:lstStyle/>
                    <a:p>
                      <a:pPr algn="l"/>
                      <a:r>
                        <a:rPr sz="1875" b="1">
                          <a:solidFill>
                            <a:srgbClr val="FFFFFF"/>
                          </a:solidFill>
                          <a:latin typeface="Arial"/>
                          <a:ea typeface="Arial"/>
                          <a:cs typeface="Arial"/>
                        </a:rPr>
                        <a:t>Purpose</a:t>
                      </a:r>
                    </a:p>
                  </a:txBody>
                  <a:tcPr marL="85725" marR="85725" marT="19050" marB="19050" anchor="ctr">
                    <a:lnR w="6668">
                      <a:solidFill>
                        <a:srgbClr val="D9E0E7"/>
                      </a:solidFill>
                      <a:prstDash val="solid"/>
                    </a:lnR>
                    <a:lnT w="6668">
                      <a:solidFill>
                        <a:srgbClr val="D9E0E7"/>
                      </a:solidFill>
                      <a:prstDash val="solid"/>
                    </a:lnT>
                    <a:lnB w="6668">
                      <a:solidFill>
                        <a:srgbClr val="D9E0E7"/>
                      </a:solidFill>
                      <a:prstDash val="solid"/>
                    </a:lnB>
                    <a:solidFill>
                      <a:srgbClr val="004D73"/>
                    </a:solidFill>
                  </a:tcPr>
                </a:tc>
                <a:tc>
                  <a:txBody>
                    <a:bodyPr lIns="85725" tIns="85725" rIns="85725" bIns="85725">
                      <a:noAutofit/>
                    </a:bodyPr>
                    <a:lstStyle/>
                    <a:p>
                      <a:pPr algn="l"/>
                      <a:r>
                        <a:rPr sz="1875" b="1">
                          <a:solidFill>
                            <a:srgbClr val="FFFFFF"/>
                          </a:solidFill>
                          <a:latin typeface="Arial"/>
                          <a:ea typeface="Arial"/>
                          <a:cs typeface="Arial"/>
                        </a:rPr>
                        <a:t>Expected output</a:t>
                      </a:r>
                    </a:p>
                  </a:txBody>
                  <a:tcPr marL="85725" marR="85725" marT="19050" marB="19050" anchor="ctr">
                    <a:lnR w="6668">
                      <a:solidFill>
                        <a:srgbClr val="D9E0E7"/>
                      </a:solidFill>
                      <a:prstDash val="solid"/>
                    </a:lnR>
                    <a:lnT w="6668">
                      <a:solidFill>
                        <a:srgbClr val="D9E0E7"/>
                      </a:solidFill>
                      <a:prstDash val="solid"/>
                    </a:lnT>
                    <a:lnB w="6668">
                      <a:solidFill>
                        <a:srgbClr val="D9E0E7"/>
                      </a:solidFill>
                      <a:prstDash val="solid"/>
                    </a:lnB>
                    <a:solidFill>
                      <a:srgbClr val="004D73"/>
                    </a:solidFill>
                  </a:tcPr>
                </a:tc>
              </a:tr>
              <a:tr h="704850">
                <a:tc>
                  <a:txBody>
                    <a:bodyPr lIns="85725" tIns="85725" rIns="85725" bIns="85725">
                      <a:noAutofit/>
                    </a:bodyPr>
                    <a:lstStyle/>
                    <a:p>
                      <a:pPr algn="l"/>
                      <a:r>
                        <a:rPr sz="1875" b="1">
                          <a:solidFill>
                            <a:srgbClr val="182C43"/>
                          </a:solidFill>
                          <a:latin typeface="Arial"/>
                          <a:ea typeface="Arial"/>
                          <a:cs typeface="Arial"/>
                        </a:rPr>
                        <a:t>First 0-10 minutes</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875" b="0">
                          <a:solidFill>
                            <a:srgbClr val="182C43"/>
                          </a:solidFill>
                          <a:latin typeface="Arial"/>
                          <a:ea typeface="Arial"/>
                          <a:cs typeface="Arial"/>
                        </a:rPr>
                        <a:t>Announcements, progress and one short finding</a:t>
                      </a:r>
                    </a:p>
                  </a:txBody>
                  <a:tcPr marL="85725" marR="85725" marT="19050" marB="19050" anchor="ctr">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875" b="0">
                          <a:solidFill>
                            <a:srgbClr val="182C43"/>
                          </a:solidFill>
                          <a:latin typeface="Arial"/>
                          <a:ea typeface="Arial"/>
                          <a:cs typeface="Arial"/>
                        </a:rPr>
                        <a:t>State what changed, what failed and the next test</a:t>
                      </a:r>
                    </a:p>
                  </a:txBody>
                  <a:tcPr marL="85725" marR="85725" marT="19050" marB="19050" anchor="ctr">
                    <a:lnR w="6668">
                      <a:solidFill>
                        <a:srgbClr val="D9E0E7"/>
                      </a:solidFill>
                      <a:prstDash val="solid"/>
                    </a:lnR>
                    <a:lnB w="6668">
                      <a:solidFill>
                        <a:srgbClr val="D9E0E7"/>
                      </a:solidFill>
                      <a:prstDash val="solid"/>
                    </a:lnB>
                    <a:solidFill>
                      <a:srgbClr val="FFFFFF"/>
                    </a:solidFill>
                  </a:tcPr>
                </a:tc>
              </a:tr>
              <a:tr h="704850">
                <a:tc>
                  <a:txBody>
                    <a:bodyPr lIns="85725" tIns="85725" rIns="85725" bIns="85725">
                      <a:noAutofit/>
                    </a:bodyPr>
                    <a:lstStyle/>
                    <a:p>
                      <a:pPr algn="l"/>
                      <a:r>
                        <a:rPr sz="1875" b="1">
                          <a:solidFill>
                            <a:srgbClr val="182C43"/>
                          </a:solidFill>
                          <a:latin typeface="Arial"/>
                          <a:ea typeface="Arial"/>
                          <a:cs typeface="Arial"/>
                        </a:rPr>
                        <a:t>Remaining 50+ minutes</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1F4F7"/>
                    </a:solidFill>
                  </a:tcPr>
                </a:tc>
                <a:tc>
                  <a:txBody>
                    <a:bodyPr lIns="85725" tIns="85725" rIns="85725" bIns="85725">
                      <a:noAutofit/>
                    </a:bodyPr>
                    <a:lstStyle/>
                    <a:p>
                      <a:pPr algn="l"/>
                      <a:r>
                        <a:rPr sz="1875" b="0">
                          <a:solidFill>
                            <a:srgbClr val="182C43"/>
                          </a:solidFill>
                          <a:latin typeface="Arial"/>
                          <a:ea typeface="Arial"/>
                          <a:cs typeface="Arial"/>
                        </a:rPr>
                        <a:t>Dedicated research, coding and review</a:t>
                      </a:r>
                    </a:p>
                  </a:txBody>
                  <a:tcPr marL="85725" marR="85725" marT="19050" marB="19050" anchor="ctr">
                    <a:lnR w="6668">
                      <a:solidFill>
                        <a:srgbClr val="D9E0E7"/>
                      </a:solidFill>
                      <a:prstDash val="solid"/>
                    </a:lnR>
                    <a:lnB w="6668">
                      <a:solidFill>
                        <a:srgbClr val="D9E0E7"/>
                      </a:solidFill>
                      <a:prstDash val="solid"/>
                    </a:lnB>
                    <a:solidFill>
                      <a:srgbClr val="F1F4F7"/>
                    </a:solidFill>
                  </a:tcPr>
                </a:tc>
                <a:tc>
                  <a:txBody>
                    <a:bodyPr lIns="85725" tIns="85725" rIns="85725" bIns="85725">
                      <a:noAutofit/>
                    </a:bodyPr>
                    <a:lstStyle/>
                    <a:p>
                      <a:pPr algn="l"/>
                      <a:r>
                        <a:rPr sz="1875" b="0">
                          <a:solidFill>
                            <a:srgbClr val="182C43"/>
                          </a:solidFill>
                          <a:latin typeface="Arial"/>
                          <a:ea typeface="Arial"/>
                          <a:cs typeface="Arial"/>
                        </a:rPr>
                        <a:t>Complete a task and resolve blockers with the lead</a:t>
                      </a:r>
                    </a:p>
                  </a:txBody>
                  <a:tcPr marL="85725" marR="85725" marT="19050" marB="19050" anchor="ctr">
                    <a:lnR w="6668">
                      <a:solidFill>
                        <a:srgbClr val="D9E0E7"/>
                      </a:solidFill>
                      <a:prstDash val="solid"/>
                    </a:lnR>
                    <a:lnB w="6668">
                      <a:solidFill>
                        <a:srgbClr val="D9E0E7"/>
                      </a:solidFill>
                      <a:prstDash val="solid"/>
                    </a:lnB>
                    <a:solidFill>
                      <a:srgbClr val="F1F4F7"/>
                    </a:solidFill>
                  </a:tcPr>
                </a:tc>
              </a:tr>
              <a:tr h="704850">
                <a:tc>
                  <a:txBody>
                    <a:bodyPr lIns="85725" tIns="85725" rIns="85725" bIns="85725">
                      <a:noAutofit/>
                    </a:bodyPr>
                    <a:lstStyle/>
                    <a:p>
                      <a:pPr algn="l"/>
                      <a:r>
                        <a:rPr sz="1875" b="1">
                          <a:solidFill>
                            <a:srgbClr val="182C43"/>
                          </a:solidFill>
                          <a:latin typeface="Arial"/>
                          <a:ea typeface="Arial"/>
                          <a:cs typeface="Arial"/>
                        </a:rPr>
                        <a:t>About 3 hours outside</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875" b="0">
                          <a:solidFill>
                            <a:srgbClr val="182C43"/>
                          </a:solidFill>
                          <a:latin typeface="Arial"/>
                          <a:ea typeface="Arial"/>
                          <a:cs typeface="Arial"/>
                        </a:rPr>
                        <a:t>Individual work within the assigned team</a:t>
                      </a:r>
                    </a:p>
                  </a:txBody>
                  <a:tcPr marL="85725" marR="85725" marT="19050" marB="19050" anchor="ctr">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875" b="0">
                          <a:solidFill>
                            <a:srgbClr val="182C43"/>
                          </a:solidFill>
                          <a:latin typeface="Arial"/>
                          <a:ea typeface="Arial"/>
                          <a:cs typeface="Arial"/>
                        </a:rPr>
                        <a:t>Paper summary, rules, code review or result analysis</a:t>
                      </a:r>
                    </a:p>
                  </a:txBody>
                  <a:tcPr marL="85725" marR="85725" marT="19050" marB="19050" anchor="ctr">
                    <a:lnR w="6668">
                      <a:solidFill>
                        <a:srgbClr val="D9E0E7"/>
                      </a:solidFill>
                      <a:prstDash val="solid"/>
                    </a:lnR>
                    <a:lnB w="6668">
                      <a:solidFill>
                        <a:srgbClr val="D9E0E7"/>
                      </a:solidFill>
                      <a:prstDash val="solid"/>
                    </a:lnB>
                    <a:solidFill>
                      <a:srgbClr val="FFFFFF"/>
                    </a:solidFill>
                  </a:tcPr>
                </a:tc>
              </a:tr>
              <a:tr h="704850">
                <a:tc>
                  <a:txBody>
                    <a:bodyPr lIns="85725" tIns="85725" rIns="85725" bIns="85725">
                      <a:noAutofit/>
                    </a:bodyPr>
                    <a:lstStyle/>
                    <a:p>
                      <a:pPr algn="l"/>
                      <a:r>
                        <a:rPr sz="1875" b="1">
                          <a:solidFill>
                            <a:srgbClr val="182C43"/>
                          </a:solidFill>
                          <a:latin typeface="Arial"/>
                          <a:ea typeface="Arial"/>
                          <a:cs typeface="Arial"/>
                        </a:rPr>
                        <a:t>About 4 hours total</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1F4F7"/>
                    </a:solidFill>
                  </a:tcPr>
                </a:tc>
                <a:tc>
                  <a:txBody>
                    <a:bodyPr lIns="85725" tIns="85725" rIns="85725" bIns="85725">
                      <a:noAutofit/>
                    </a:bodyPr>
                    <a:lstStyle/>
                    <a:p>
                      <a:pPr algn="l"/>
                      <a:r>
                        <a:rPr sz="1875" b="0">
                          <a:solidFill>
                            <a:srgbClr val="182C43"/>
                          </a:solidFill>
                          <a:latin typeface="Arial"/>
                          <a:ea typeface="Arial"/>
                          <a:cs typeface="Arial"/>
                        </a:rPr>
                        <a:t>Meeting plus take-home contribution</a:t>
                      </a:r>
                    </a:p>
                  </a:txBody>
                  <a:tcPr marL="85725" marR="85725" marT="19050" marB="19050" anchor="ctr">
                    <a:lnR w="6668">
                      <a:solidFill>
                        <a:srgbClr val="D9E0E7"/>
                      </a:solidFill>
                      <a:prstDash val="solid"/>
                    </a:lnR>
                    <a:lnB w="6668">
                      <a:solidFill>
                        <a:srgbClr val="D9E0E7"/>
                      </a:solidFill>
                      <a:prstDash val="solid"/>
                    </a:lnB>
                    <a:solidFill>
                      <a:srgbClr val="F1F4F7"/>
                    </a:solidFill>
                  </a:tcPr>
                </a:tc>
                <a:tc>
                  <a:txBody>
                    <a:bodyPr lIns="85725" tIns="85725" rIns="85725" bIns="85725">
                      <a:noAutofit/>
                    </a:bodyPr>
                    <a:lstStyle/>
                    <a:p>
                      <a:pPr algn="l"/>
                      <a:r>
                        <a:rPr sz="1875" b="0">
                          <a:solidFill>
                            <a:srgbClr val="182C43"/>
                          </a:solidFill>
                          <a:latin typeface="Arial"/>
                          <a:ea typeface="Arial"/>
                          <a:cs typeface="Arial"/>
                        </a:rPr>
                        <a:t>A dated weekly deliverable with an owner</a:t>
                      </a:r>
                    </a:p>
                  </a:txBody>
                  <a:tcPr marL="85725" marR="85725" marT="19050" marB="19050" anchor="ctr">
                    <a:lnR w="6668">
                      <a:solidFill>
                        <a:srgbClr val="D9E0E7"/>
                      </a:solidFill>
                      <a:prstDash val="solid"/>
                    </a:lnR>
                    <a:lnB w="6668">
                      <a:solidFill>
                        <a:srgbClr val="D9E0E7"/>
                      </a:solidFill>
                      <a:prstDash val="solid"/>
                    </a:lnB>
                    <a:solidFill>
                      <a:srgbClr val="F1F4F7"/>
                    </a:solidFill>
                  </a:tcPr>
                </a:tc>
              </a:tr>
            </a:tbl>
          </a:graphicData>
        </a:graphic>
      </p:graphicFrame>
      <p:sp>
        <p:nvSpPr>
          <p:cNvPr id="12" name="What every member should be able to explain">
            <a:extLst xmlns:a="http://schemas.openxmlformats.org/drawingml/2006/main">
              <a:ext uri="{FF2B5EF4-FFF2-40B4-BE49-F238E27FC236}">
                <a16:creationId xmlns:a16="http://schemas.microsoft.com/office/drawing/2014/main" id="{93CD3542-7F1C-4D82-9000-52D9180E8A37}"/>
              </a:ext>
            </a:extLst>
          </p:cNvPr>
          <p:cNvSpPr>
            <a:spLocks xmlns:a="http://schemas.openxmlformats.org/drawingml/2006/main" noGrp="1"/>
          </p:cNvSpPr>
          <p:nvPr/>
        </p:nvSpPr>
        <p:spPr>
          <a:xfrm xmlns:a="http://schemas.openxmlformats.org/drawingml/2006/main">
            <a:off x="609600" y="521970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FF5400"/>
                </a:solidFill>
                <a:latin typeface="Arial"/>
                <a:ea typeface="Arial"/>
                <a:cs typeface="Arial"/>
              </a:defRPr>
            </a:defPPr>
          </a:lstStyle>
          <a:p xmlns:a="http://schemas.openxmlformats.org/drawingml/2006/main">
            <a:pPr algn="l">
              <a:defRPr sz="2100" b="1">
                <a:solidFill>
                  <a:srgbClr val="FF5400"/>
                </a:solidFill>
                <a:latin typeface="Arial"/>
                <a:ea typeface="Arial"/>
                <a:cs typeface="Arial"/>
              </a:defRPr>
            </a:pPr>
            <a:r>
              <a:rPr sz="2100" b="1">
                <a:solidFill>
                  <a:srgbClr val="FF5400"/>
                </a:solidFill>
                <a:latin typeface="Arial"/>
                <a:ea typeface="Arial"/>
                <a:cs typeface="Arial"/>
              </a:rPr>
              <a:t>What every member should be able to explain</a:t>
            </a:r>
          </a:p>
        </p:txBody>
      </p:sp>
      <p:sp>
        <p:nvSpPr>
          <p:cNvPr id="13" name="">
            <a:extLst xmlns:a="http://schemas.openxmlformats.org/drawingml/2006/main">
              <a:ext uri="{FF2B5EF4-FFF2-40B4-BE49-F238E27FC236}">
                <a16:creationId xmlns:a16="http://schemas.microsoft.com/office/drawing/2014/main" id="{28AD544C-44A8-4734-AD95-7C3FE76118E9}"/>
              </a:ext>
            </a:extLst>
          </p:cNvPr>
          <p:cNvSpPr>
            <a:spLocks xmlns:a="http://schemas.openxmlformats.org/drawingml/2006/main" noGrp="1"/>
          </p:cNvSpPr>
          <p:nvPr/>
        </p:nvSpPr>
        <p:spPr>
          <a:xfrm xmlns:a="http://schemas.openxmlformats.org/drawingml/2006/main">
            <a:off x="609600" y="5600700"/>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182C43"/>
                </a:solidFill>
                <a:latin typeface="Arial"/>
                <a:ea typeface="Arial"/>
                <a:cs typeface="Arial"/>
              </a:defRPr>
            </a:defPPr>
          </a:lstStyle>
          <a:p xmlns:a="http://schemas.openxmlformats.org/drawingml/2006/main">
            <a:pPr marL="266700" indent="-152400" algn="l">
              <a:spcAft>
                <a:spcPts val="400"/>
              </a:spcAft>
              <a:buChar char="•"/>
              <a:defRPr sz="1800" b="0">
                <a:solidFill>
                  <a:srgbClr val="182C43"/>
                </a:solidFill>
                <a:latin typeface="Arial"/>
                <a:ea typeface="Arial"/>
                <a:cs typeface="Arial"/>
              </a:defRPr>
            </a:pPr>
            <a:r>
              <a:rPr sz="1800">
                <a:solidFill>
                  <a:srgbClr val="182C43"/>
                </a:solidFill>
                <a:latin typeface="Arial"/>
                <a:ea typeface="Arial"/>
                <a:cs typeface="Arial"/>
              </a:rPr>
              <a:t>The strategy hypothesis, entry and exit rules, main risks and what the latest evidence shows.</a:t>
            </a:r>
          </a:p>
          <a:p xmlns:a="http://schemas.openxmlformats.org/drawingml/2006/main">
            <a:pPr marL="266700" indent="-152400" algn="l">
              <a:spcAft>
                <a:spcPts val="400"/>
              </a:spcAft>
              <a:buChar char="•"/>
              <a:defRPr sz="1800" b="0">
                <a:solidFill>
                  <a:srgbClr val="182C43"/>
                </a:solidFill>
                <a:latin typeface="Arial"/>
                <a:ea typeface="Arial"/>
                <a:cs typeface="Arial"/>
              </a:defRPr>
            </a:pPr>
            <a:r>
              <a:rPr sz="1800" b="1">
                <a:solidFill>
                  <a:srgbClr val="182C43"/>
                </a:solidFill>
                <a:latin typeface="Arial"/>
                <a:ea typeface="Arial"/>
                <a:cs typeface="Arial"/>
              </a:rPr>
              <a:t>Today:</a:t>
            </a:r>
            <a:r>
              <a:rPr sz="1800">
                <a:solidFill>
                  <a:srgbClr val="182C43"/>
                </a:solidFill>
                <a:latin typeface="Arial"/>
                <a:ea typeface="Arial"/>
                <a:cs typeface="Arial"/>
              </a:rPr>
              <a:t> 28 minutes of introduction/course, 2 minutes of buffer and 30 minutes of team work.</a:t>
            </a:r>
          </a:p>
        </p:txBody>
      </p:sp>
    </p:spTree>
    <p:extLst>
      <p:ext uri="{BB962C8B-B14F-4D97-AF65-F5344CB8AC3E}">
        <p14:creationId xmlns:p14="http://schemas.microsoft.com/office/powerpoint/2010/main" val="62605675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EMESTER MILESTONES">
            <a:extLst xmlns:a="http://schemas.openxmlformats.org/drawingml/2006/main">
              <a:ext uri="{FF2B5EF4-FFF2-40B4-BE49-F238E27FC236}">
                <a16:creationId xmlns:a16="http://schemas.microsoft.com/office/drawing/2014/main" id="{6C13A1A1-BB64-4B7D-ABDC-126F5DC0B478}"/>
              </a:ext>
            </a:extLst>
          </p:cNvPr>
          <p:cNvSpPr>
            <a:spLocks xmlns:a="http://schemas.openxmlformats.org/drawingml/2006/main" noGrp="1"/>
          </p:cNvSpPr>
          <p:nvPr/>
        </p:nvSpPr>
        <p:spPr>
          <a:xfrm xmlns:a="http://schemas.openxmlformats.org/drawingml/2006/main">
            <a:off x="609600" y="285750"/>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FF5400"/>
                </a:solidFill>
                <a:latin typeface="Arial"/>
                <a:ea typeface="Arial"/>
                <a:cs typeface="Arial"/>
              </a:defRPr>
            </a:defPPr>
          </a:lstStyle>
          <a:p xmlns:a="http://schemas.openxmlformats.org/drawingml/2006/main">
            <a:pPr algn="l">
              <a:buNone/>
              <a:defRPr sz="1350" b="1">
                <a:solidFill>
                  <a:srgbClr val="FF5400"/>
                </a:solidFill>
                <a:latin typeface="Arial"/>
                <a:ea typeface="Arial"/>
                <a:cs typeface="Arial"/>
              </a:defRPr>
            </a:pPr>
            <a:r>
              <a:rPr sz="1350" b="1">
                <a:solidFill>
                  <a:srgbClr val="FF5400"/>
                </a:solidFill>
                <a:latin typeface="Arial"/>
                <a:ea typeface="Arial"/>
                <a:cs typeface="Arial"/>
              </a:rPr>
              <a:t>SEMESTER MILESTONES</a:t>
            </a:r>
          </a:p>
        </p:txBody>
      </p:sp>
      <p:sp>
        <p:nvSpPr>
          <p:cNvPr id="2" name="Slide title">
            <a:extLst xmlns:a="http://schemas.openxmlformats.org/drawingml/2006/main">
              <a:ext uri="{FF2B5EF4-FFF2-40B4-BE49-F238E27FC236}">
                <a16:creationId xmlns:a16="http://schemas.microsoft.com/office/drawing/2014/main" id="{888707FA-A17B-4215-B56F-92875CDF65FE}"/>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004D73"/>
                </a:solidFill>
                <a:latin typeface="Arial"/>
                <a:ea typeface="Arial"/>
                <a:cs typeface="Arial"/>
              </a:defRPr>
            </a:defPPr>
          </a:lstStyle>
          <a:p xmlns:a="http://schemas.openxmlformats.org/drawingml/2006/main">
            <a:pPr algn="l">
              <a:buNone/>
              <a:defRPr sz="3300" b="1">
                <a:solidFill>
                  <a:srgbClr val="004D73"/>
                </a:solidFill>
                <a:latin typeface="Arial"/>
                <a:ea typeface="Arial"/>
                <a:cs typeface="Arial"/>
              </a:defRPr>
            </a:pPr>
            <a:r>
              <a:rPr sz="3300" b="1">
                <a:solidFill>
                  <a:srgbClr val="004D73"/>
                </a:solidFill>
                <a:latin typeface="Arial"/>
                <a:ea typeface="Arial"/>
                <a:cs typeface="Arial"/>
              </a:rPr>
              <a:t>Roadmap to November 30</a:t>
            </a:r>
          </a:p>
        </p:txBody>
      </p:sp>
      <p:sp>
        <p:nvSpPr>
          <p:cNvPr id="3" name="SHPE CAPITAL    OCTOBER 13, 2026">
            <a:extLst xmlns:a="http://schemas.openxmlformats.org/drawingml/2006/main">
              <a:ext uri="{FF2B5EF4-FFF2-40B4-BE49-F238E27FC236}">
                <a16:creationId xmlns:a16="http://schemas.microsoft.com/office/drawing/2014/main" id="{9412791E-348F-4279-99C7-71F6BC49CE17}"/>
              </a:ext>
            </a:extLst>
          </p:cNvPr>
          <p:cNvSpPr>
            <a:spLocks xmlns:a="http://schemas.openxmlformats.org/drawingml/2006/main" noGrp="1"/>
          </p:cNvSpPr>
          <p:nvPr/>
        </p:nvSpPr>
        <p:spPr>
          <a:xfrm xmlns:a="http://schemas.openxmlformats.org/drawingml/2006/main">
            <a:off x="609600" y="6438900"/>
            <a:ext cx="771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SHPE CAPITAL    OCTOBER 13, 2026</a:t>
            </a:r>
          </a:p>
        </p:txBody>
      </p:sp>
      <p:sp>
        <p:nvSpPr>
          <p:cNvPr id="4" name="12–14 min">
            <a:extLst xmlns:a="http://schemas.openxmlformats.org/drawingml/2006/main">
              <a:ext uri="{FF2B5EF4-FFF2-40B4-BE49-F238E27FC236}">
                <a16:creationId xmlns:a16="http://schemas.microsoft.com/office/drawing/2014/main" id="{B0E8EE38-B352-41E1-A7A8-2387E8BCFCC8}"/>
              </a:ext>
            </a:extLst>
          </p:cNvPr>
          <p:cNvSpPr>
            <a:spLocks xmlns:a="http://schemas.openxmlformats.org/drawingml/2006/main" noGrp="1"/>
          </p:cNvSpPr>
          <p:nvPr/>
        </p:nvSpPr>
        <p:spPr>
          <a:xfrm xmlns:a="http://schemas.openxmlformats.org/drawingml/2006/main">
            <a:off x="9029700" y="643890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9:00-9:30</a:t>
            </a:r>
          </a:p>
        </p:txBody>
      </p:sp>
      <p:sp>
        <p:nvSpPr>
          <p:cNvPr id="5" name="10">
            <a:extLst xmlns:a="http://schemas.openxmlformats.org/drawingml/2006/main">
              <a:ext uri="{FF2B5EF4-FFF2-40B4-BE49-F238E27FC236}">
                <a16:creationId xmlns:a16="http://schemas.microsoft.com/office/drawing/2014/main" id="{5916BD69-648E-4D11-AAE0-B5407FD27110}"/>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11</a:t>
            </a:r>
          </a:p>
        </p:txBody>
      </p:sp>
      <p:graphicFrame>
        <p:nvGraphicFramePr>
          <p:cNvPr id="9" name="">
            <a:extLst xmlns:a="http://schemas.openxmlformats.org/drawingml/2006/main">
              <a:ext uri="{FF2B5EF4-FFF2-40B4-BE49-F238E27FC236}">
                <a16:creationId xmlns:a16="http://schemas.microsoft.com/office/drawing/2014/main" id="{8F528D2B-2982-4262-803C-02C714E6DA45}"/>
              </a:ext>
            </a:extLst>
          </p:cNvPr>
          <p:cNvGraphicFramePr/>
          <p:nvPr/>
        </p:nvGraphicFramePr>
        <p:xfrm>
          <a:off xmlns:a="http://schemas.openxmlformats.org/drawingml/2006/main" x="609600" y="1657350"/>
          <a:ext xmlns:a="http://schemas.openxmlformats.org/drawingml/2006/main" cx="10972800" cy="4010025"/>
        </p:xfrm>
        <a:graphic xmlns:a="http://schemas.openxmlformats.org/drawingml/2006/main">
          <a:graphicData uri="http://schemas.openxmlformats.org/drawingml/2006/table">
            <a:tbl>
              <a:tblPr firstRow="1" bandRow="0"/>
              <a:tblGrid>
                <a:gridCol w="2438400"/>
                <a:gridCol w="2095500"/>
                <a:gridCol w="6438900"/>
              </a:tblGrid>
              <a:tr h="419100">
                <a:tc>
                  <a:txBody>
                    <a:bodyPr lIns="85725" tIns="85725" rIns="85725" bIns="85725">
                      <a:noAutofit/>
                    </a:bodyPr>
                    <a:lstStyle/>
                    <a:p>
                      <a:pPr algn="l"/>
                      <a:r>
                        <a:rPr sz="1800" b="1">
                          <a:solidFill>
                            <a:srgbClr val="FFFFFF"/>
                          </a:solidFill>
                          <a:latin typeface="Arial"/>
                          <a:ea typeface="Arial"/>
                          <a:cs typeface="Arial"/>
                        </a:rPr>
                        <a:t>Phase</a:t>
                      </a:r>
                    </a:p>
                  </a:txBody>
                  <a:tcPr marL="85725" marR="85725" marT="19050" marB="19050" anchor="ctr">
                    <a:lnL w="6668">
                      <a:solidFill>
                        <a:srgbClr val="D9E0E7"/>
                      </a:solidFill>
                      <a:prstDash val="solid"/>
                    </a:lnL>
                    <a:lnR w="6668">
                      <a:solidFill>
                        <a:srgbClr val="D9E0E7"/>
                      </a:solidFill>
                      <a:prstDash val="solid"/>
                    </a:lnR>
                    <a:lnT w="6668">
                      <a:solidFill>
                        <a:srgbClr val="D9E0E7"/>
                      </a:solidFill>
                      <a:prstDash val="solid"/>
                    </a:lnT>
                    <a:lnB w="6668">
                      <a:solidFill>
                        <a:srgbClr val="D9E0E7"/>
                      </a:solidFill>
                      <a:prstDash val="solid"/>
                    </a:lnB>
                    <a:solidFill>
                      <a:srgbClr val="004D73"/>
                    </a:solidFill>
                  </a:tcPr>
                </a:tc>
                <a:tc>
                  <a:txBody>
                    <a:bodyPr lIns="85725" tIns="85725" rIns="85725" bIns="85725">
                      <a:noAutofit/>
                    </a:bodyPr>
                    <a:lstStyle/>
                    <a:p>
                      <a:pPr algn="l"/>
                      <a:r>
                        <a:rPr sz="1800" b="1">
                          <a:solidFill>
                            <a:srgbClr val="FFFFFF"/>
                          </a:solidFill>
                          <a:latin typeface="Arial"/>
                          <a:ea typeface="Arial"/>
                          <a:cs typeface="Arial"/>
                        </a:rPr>
                        <a:t>Dates</a:t>
                      </a:r>
                    </a:p>
                  </a:txBody>
                  <a:tcPr marL="85725" marR="85725" marT="19050" marB="19050" anchor="ctr">
                    <a:lnR w="6668">
                      <a:solidFill>
                        <a:srgbClr val="D9E0E7"/>
                      </a:solidFill>
                      <a:prstDash val="solid"/>
                    </a:lnR>
                    <a:lnT w="6668">
                      <a:solidFill>
                        <a:srgbClr val="D9E0E7"/>
                      </a:solidFill>
                      <a:prstDash val="solid"/>
                    </a:lnT>
                    <a:lnB w="6668">
                      <a:solidFill>
                        <a:srgbClr val="D9E0E7"/>
                      </a:solidFill>
                      <a:prstDash val="solid"/>
                    </a:lnB>
                    <a:solidFill>
                      <a:srgbClr val="004D73"/>
                    </a:solidFill>
                  </a:tcPr>
                </a:tc>
                <a:tc>
                  <a:txBody>
                    <a:bodyPr lIns="85725" tIns="85725" rIns="85725" bIns="85725">
                      <a:noAutofit/>
                    </a:bodyPr>
                    <a:lstStyle/>
                    <a:p>
                      <a:pPr algn="l"/>
                      <a:r>
                        <a:rPr sz="1800" b="1">
                          <a:solidFill>
                            <a:srgbClr val="FFFFFF"/>
                          </a:solidFill>
                          <a:latin typeface="Arial"/>
                          <a:ea typeface="Arial"/>
                          <a:cs typeface="Arial"/>
                        </a:rPr>
                        <a:t>Concrete deliverable</a:t>
                      </a:r>
                    </a:p>
                  </a:txBody>
                  <a:tcPr marL="85725" marR="85725" marT="19050" marB="19050" anchor="ctr">
                    <a:lnR w="6668">
                      <a:solidFill>
                        <a:srgbClr val="D9E0E7"/>
                      </a:solidFill>
                      <a:prstDash val="solid"/>
                    </a:lnR>
                    <a:lnT w="6668">
                      <a:solidFill>
                        <a:srgbClr val="D9E0E7"/>
                      </a:solidFill>
                      <a:prstDash val="solid"/>
                    </a:lnT>
                    <a:lnB w="6668">
                      <a:solidFill>
                        <a:srgbClr val="D9E0E7"/>
                      </a:solidFill>
                      <a:prstDash val="solid"/>
                    </a:lnB>
                    <a:solidFill>
                      <a:srgbClr val="004D73"/>
                    </a:solidFill>
                  </a:tcPr>
                </a:tc>
              </a:tr>
              <a:tr h="598488">
                <a:tc>
                  <a:txBody>
                    <a:bodyPr lIns="85725" tIns="85725" rIns="85725" bIns="85725">
                      <a:noAutofit/>
                    </a:bodyPr>
                    <a:lstStyle/>
                    <a:p>
                      <a:pPr algn="l"/>
                      <a:r>
                        <a:rPr sz="1800" b="1">
                          <a:solidFill>
                            <a:srgbClr val="182C43"/>
                          </a:solidFill>
                          <a:latin typeface="Arial"/>
                          <a:ea typeface="Arial"/>
                          <a:cs typeface="Arial"/>
                        </a:rPr>
                        <a:t>Research</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800" b="0">
                          <a:solidFill>
                            <a:srgbClr val="182C43"/>
                          </a:solidFill>
                          <a:latin typeface="Arial"/>
                          <a:ea typeface="Arial"/>
                          <a:cs typeface="Arial"/>
                        </a:rPr>
                        <a:t>Oct 13-26</a:t>
                      </a:r>
                    </a:p>
                  </a:txBody>
                  <a:tcPr marL="85725" marR="85725" marT="19050" marB="19050" anchor="ctr">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800" b="0">
                          <a:solidFill>
                            <a:srgbClr val="182C43"/>
                          </a:solidFill>
                          <a:latin typeface="Arial"/>
                          <a:ea typeface="Arial"/>
                          <a:cs typeface="Arial"/>
                        </a:rPr>
                        <a:t>Cited hypothesis, baseline rules, worked trade and failure cases</a:t>
                      </a:r>
                    </a:p>
                  </a:txBody>
                  <a:tcPr marL="85725" marR="85725" marT="19050" marB="19050" anchor="ctr">
                    <a:lnR w="6668">
                      <a:solidFill>
                        <a:srgbClr val="D9E0E7"/>
                      </a:solidFill>
                      <a:prstDash val="solid"/>
                    </a:lnR>
                    <a:lnB w="6668">
                      <a:solidFill>
                        <a:srgbClr val="D9E0E7"/>
                      </a:solidFill>
                      <a:prstDash val="solid"/>
                    </a:lnB>
                    <a:solidFill>
                      <a:srgbClr val="FFFFFF"/>
                    </a:solidFill>
                  </a:tcPr>
                </a:tc>
              </a:tr>
              <a:tr h="598488">
                <a:tc>
                  <a:txBody>
                    <a:bodyPr lIns="85725" tIns="85725" rIns="85725" bIns="85725">
                      <a:noAutofit/>
                    </a:bodyPr>
                    <a:lstStyle/>
                    <a:p>
                      <a:pPr algn="l"/>
                      <a:r>
                        <a:rPr sz="1800" b="1">
                          <a:solidFill>
                            <a:srgbClr val="182C43"/>
                          </a:solidFill>
                          <a:latin typeface="Arial"/>
                          <a:ea typeface="Arial"/>
                          <a:cs typeface="Arial"/>
                        </a:rPr>
                        <a:t>Build and backtest</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1F4F7"/>
                    </a:solidFill>
                  </a:tcPr>
                </a:tc>
                <a:tc>
                  <a:txBody>
                    <a:bodyPr lIns="85725" tIns="85725" rIns="85725" bIns="85725">
                      <a:noAutofit/>
                    </a:bodyPr>
                    <a:lstStyle/>
                    <a:p>
                      <a:pPr algn="l"/>
                      <a:r>
                        <a:rPr sz="1800" b="0">
                          <a:solidFill>
                            <a:srgbClr val="182C43"/>
                          </a:solidFill>
                          <a:latin typeface="Arial"/>
                          <a:ea typeface="Arial"/>
                          <a:cs typeface="Arial"/>
                        </a:rPr>
                        <a:t>Oct 27-Nov 2</a:t>
                      </a:r>
                    </a:p>
                  </a:txBody>
                  <a:tcPr marL="85725" marR="85725" marT="19050" marB="19050" anchor="ctr">
                    <a:lnR w="6668">
                      <a:solidFill>
                        <a:srgbClr val="D9E0E7"/>
                      </a:solidFill>
                      <a:prstDash val="solid"/>
                    </a:lnR>
                    <a:lnB w="6668">
                      <a:solidFill>
                        <a:srgbClr val="D9E0E7"/>
                      </a:solidFill>
                      <a:prstDash val="solid"/>
                    </a:lnB>
                    <a:solidFill>
                      <a:srgbClr val="F1F4F7"/>
                    </a:solidFill>
                  </a:tcPr>
                </a:tc>
                <a:tc>
                  <a:txBody>
                    <a:bodyPr lIns="85725" tIns="85725" rIns="85725" bIns="85725">
                      <a:noAutofit/>
                    </a:bodyPr>
                    <a:lstStyle/>
                    <a:p>
                      <a:pPr algn="l"/>
                      <a:r>
                        <a:rPr sz="1800" b="0">
                          <a:solidFill>
                            <a:srgbClr val="182C43"/>
                          </a:solidFill>
                          <a:latin typeface="Arial"/>
                          <a:ea typeface="Arial"/>
                          <a:cs typeface="Arial"/>
                        </a:rPr>
                        <a:t>Working strategy, historical report and comparison with a baseline</a:t>
                      </a:r>
                    </a:p>
                  </a:txBody>
                  <a:tcPr marL="85725" marR="85725" marT="19050" marB="19050" anchor="ctr">
                    <a:lnR w="6668">
                      <a:solidFill>
                        <a:srgbClr val="D9E0E7"/>
                      </a:solidFill>
                      <a:prstDash val="solid"/>
                    </a:lnR>
                    <a:lnB w="6668">
                      <a:solidFill>
                        <a:srgbClr val="D9E0E7"/>
                      </a:solidFill>
                      <a:prstDash val="solid"/>
                    </a:lnB>
                    <a:solidFill>
                      <a:srgbClr val="F1F4F7"/>
                    </a:solidFill>
                  </a:tcPr>
                </a:tc>
              </a:tr>
              <a:tr h="598488">
                <a:tc>
                  <a:txBody>
                    <a:bodyPr lIns="85725" tIns="85725" rIns="85725" bIns="85725">
                      <a:noAutofit/>
                    </a:bodyPr>
                    <a:lstStyle/>
                    <a:p>
                      <a:pPr algn="l"/>
                      <a:r>
                        <a:rPr sz="1800" b="1">
                          <a:solidFill>
                            <a:srgbClr val="182C43"/>
                          </a:solidFill>
                          <a:latin typeface="Arial"/>
                          <a:ea typeface="Arial"/>
                          <a:cs typeface="Arial"/>
                        </a:rPr>
                        <a:t>Refine and local test</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800" b="0">
                          <a:solidFill>
                            <a:srgbClr val="182C43"/>
                          </a:solidFill>
                          <a:latin typeface="Arial"/>
                          <a:ea typeface="Arial"/>
                          <a:cs typeface="Arial"/>
                        </a:rPr>
                        <a:t>Nov 3-8</a:t>
                      </a:r>
                    </a:p>
                  </a:txBody>
                  <a:tcPr marL="85725" marR="85725" marT="19050" marB="19050" anchor="ctr">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800" b="0">
                          <a:solidFill>
                            <a:srgbClr val="182C43"/>
                          </a:solidFill>
                          <a:latin typeface="Arial"/>
                          <a:ea typeface="Arial"/>
                          <a:cs typeface="Arial"/>
                        </a:rPr>
                        <a:t>Bug fixes, order/exit checks, recovery test and paper readiness</a:t>
                      </a:r>
                    </a:p>
                  </a:txBody>
                  <a:tcPr marL="85725" marR="85725" marT="19050" marB="19050" anchor="ctr">
                    <a:lnR w="6668">
                      <a:solidFill>
                        <a:srgbClr val="D9E0E7"/>
                      </a:solidFill>
                      <a:prstDash val="solid"/>
                    </a:lnR>
                    <a:lnB w="6668">
                      <a:solidFill>
                        <a:srgbClr val="D9E0E7"/>
                      </a:solidFill>
                      <a:prstDash val="solid"/>
                    </a:lnB>
                    <a:solidFill>
                      <a:srgbClr val="FFFFFF"/>
                    </a:solidFill>
                  </a:tcPr>
                </a:tc>
              </a:tr>
              <a:tr h="598488">
                <a:tc>
                  <a:txBody>
                    <a:bodyPr lIns="85725" tIns="85725" rIns="85725" bIns="85725">
                      <a:noAutofit/>
                    </a:bodyPr>
                    <a:lstStyle/>
                    <a:p>
                      <a:pPr algn="l"/>
                      <a:r>
                        <a:rPr sz="1800" b="1">
                          <a:solidFill>
                            <a:srgbClr val="182C43"/>
                          </a:solidFill>
                          <a:latin typeface="Arial"/>
                          <a:ea typeface="Arial"/>
                          <a:cs typeface="Arial"/>
                        </a:rPr>
                        <a:t>Monitored online paper</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1F4F7"/>
                    </a:solidFill>
                  </a:tcPr>
                </a:tc>
                <a:tc>
                  <a:txBody>
                    <a:bodyPr lIns="85725" tIns="85725" rIns="85725" bIns="85725">
                      <a:noAutofit/>
                    </a:bodyPr>
                    <a:lstStyle/>
                    <a:p>
                      <a:pPr algn="l"/>
                      <a:r>
                        <a:rPr sz="1800" b="0">
                          <a:solidFill>
                            <a:srgbClr val="182C43"/>
                          </a:solidFill>
                          <a:latin typeface="Arial"/>
                          <a:ea typeface="Arial"/>
                          <a:cs typeface="Arial"/>
                        </a:rPr>
                        <a:t>Nov 9-27</a:t>
                      </a:r>
                    </a:p>
                  </a:txBody>
                  <a:tcPr marL="85725" marR="85725" marT="19050" marB="19050" anchor="ctr">
                    <a:lnR w="6668">
                      <a:solidFill>
                        <a:srgbClr val="D9E0E7"/>
                      </a:solidFill>
                      <a:prstDash val="solid"/>
                    </a:lnR>
                    <a:lnB w="6668">
                      <a:solidFill>
                        <a:srgbClr val="D9E0E7"/>
                      </a:solidFill>
                      <a:prstDash val="solid"/>
                    </a:lnB>
                    <a:solidFill>
                      <a:srgbClr val="F1F4F7"/>
                    </a:solidFill>
                  </a:tcPr>
                </a:tc>
                <a:tc>
                  <a:txBody>
                    <a:bodyPr lIns="85725" tIns="85725" rIns="85725" bIns="85725">
                      <a:noAutofit/>
                    </a:bodyPr>
                    <a:lstStyle/>
                    <a:p>
                      <a:pPr algn="l"/>
                      <a:r>
                        <a:rPr sz="1800" b="0">
                          <a:solidFill>
                            <a:srgbClr val="182C43"/>
                          </a:solidFill>
                          <a:latin typeface="Arial"/>
                          <a:ea typeface="Arial"/>
                          <a:cs typeface="Arial"/>
                        </a:rPr>
                        <a:t>Fixed baseline plus labeled variants, daily ledger and incident log</a:t>
                      </a:r>
                    </a:p>
                  </a:txBody>
                  <a:tcPr marL="85725" marR="85725" marT="19050" marB="19050" anchor="ctr">
                    <a:lnR w="6668">
                      <a:solidFill>
                        <a:srgbClr val="D9E0E7"/>
                      </a:solidFill>
                      <a:prstDash val="solid"/>
                    </a:lnR>
                    <a:lnB w="6668">
                      <a:solidFill>
                        <a:srgbClr val="D9E0E7"/>
                      </a:solidFill>
                      <a:prstDash val="solid"/>
                    </a:lnB>
                    <a:solidFill>
                      <a:srgbClr val="F1F4F7"/>
                    </a:solidFill>
                  </a:tcPr>
                </a:tc>
              </a:tr>
              <a:tr h="598488">
                <a:tc>
                  <a:txBody>
                    <a:bodyPr lIns="85725" tIns="85725" rIns="85725" bIns="85725">
                      <a:noAutofit/>
                    </a:bodyPr>
                    <a:lstStyle/>
                    <a:p>
                      <a:pPr algn="l"/>
                      <a:r>
                        <a:rPr sz="1800" b="1">
                          <a:solidFill>
                            <a:srgbClr val="182C43"/>
                          </a:solidFill>
                          <a:latin typeface="Arial"/>
                          <a:ea typeface="Arial"/>
                          <a:cs typeface="Arial"/>
                        </a:rPr>
                        <a:t>Rehearsal</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800" b="0">
                          <a:solidFill>
                            <a:srgbClr val="182C43"/>
                          </a:solidFill>
                          <a:latin typeface="Arial"/>
                          <a:ea typeface="Arial"/>
                          <a:cs typeface="Arial"/>
                        </a:rPr>
                        <a:t>Nov 24</a:t>
                      </a:r>
                    </a:p>
                  </a:txBody>
                  <a:tcPr marL="85725" marR="85725" marT="19050" marB="19050" anchor="ctr">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800" b="0">
                          <a:solidFill>
                            <a:srgbClr val="182C43"/>
                          </a:solidFill>
                          <a:latin typeface="Arial"/>
                          <a:ea typeface="Arial"/>
                          <a:cs typeface="Arial"/>
                        </a:rPr>
                        <a:t>Draft presentation with findings, uncertainty and next steps</a:t>
                      </a:r>
                    </a:p>
                  </a:txBody>
                  <a:tcPr marL="85725" marR="85725" marT="19050" marB="19050" anchor="ctr">
                    <a:lnR w="6668">
                      <a:solidFill>
                        <a:srgbClr val="D9E0E7"/>
                      </a:solidFill>
                      <a:prstDash val="solid"/>
                    </a:lnR>
                    <a:lnB w="6668">
                      <a:solidFill>
                        <a:srgbClr val="D9E0E7"/>
                      </a:solidFill>
                      <a:prstDash val="solid"/>
                    </a:lnB>
                    <a:solidFill>
                      <a:srgbClr val="FFFFFF"/>
                    </a:solidFill>
                  </a:tcPr>
                </a:tc>
              </a:tr>
              <a:tr h="598488">
                <a:tc>
                  <a:txBody>
                    <a:bodyPr lIns="85725" tIns="85725" rIns="85725" bIns="85725">
                      <a:noAutofit/>
                    </a:bodyPr>
                    <a:lstStyle/>
                    <a:p>
                      <a:pPr algn="l"/>
                      <a:r>
                        <a:rPr sz="1800" b="1">
                          <a:solidFill>
                            <a:srgbClr val="182C43"/>
                          </a:solidFill>
                          <a:latin typeface="Arial"/>
                          <a:ea typeface="Arial"/>
                          <a:cs typeface="Arial"/>
                        </a:rPr>
                        <a:t>Final presentation</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1F4F7"/>
                    </a:solidFill>
                  </a:tcPr>
                </a:tc>
                <a:tc>
                  <a:txBody>
                    <a:bodyPr lIns="85725" tIns="85725" rIns="85725" bIns="85725">
                      <a:noAutofit/>
                    </a:bodyPr>
                    <a:lstStyle/>
                    <a:p>
                      <a:pPr algn="l"/>
                      <a:r>
                        <a:rPr sz="1800" b="0">
                          <a:solidFill>
                            <a:srgbClr val="182C43"/>
                          </a:solidFill>
                          <a:latin typeface="Arial"/>
                          <a:ea typeface="Arial"/>
                          <a:cs typeface="Arial"/>
                        </a:rPr>
                        <a:t>Mon, Nov 30</a:t>
                      </a:r>
                    </a:p>
                  </a:txBody>
                  <a:tcPr marL="85725" marR="85725" marT="19050" marB="19050" anchor="ctr">
                    <a:lnR w="6668">
                      <a:solidFill>
                        <a:srgbClr val="D9E0E7"/>
                      </a:solidFill>
                      <a:prstDash val="solid"/>
                    </a:lnR>
                    <a:lnB w="6668">
                      <a:solidFill>
                        <a:srgbClr val="D9E0E7"/>
                      </a:solidFill>
                      <a:prstDash val="solid"/>
                    </a:lnB>
                    <a:solidFill>
                      <a:srgbClr val="F1F4F7"/>
                    </a:solidFill>
                  </a:tcPr>
                </a:tc>
                <a:tc>
                  <a:txBody>
                    <a:bodyPr lIns="85725" tIns="85725" rIns="85725" bIns="85725">
                      <a:noAutofit/>
                    </a:bodyPr>
                    <a:lstStyle/>
                    <a:p>
                      <a:pPr algn="l"/>
                      <a:r>
                        <a:rPr sz="1800" b="0">
                          <a:solidFill>
                            <a:srgbClr val="182C43"/>
                          </a:solidFill>
                          <a:latin typeface="Arial"/>
                          <a:ea typeface="Arial"/>
                          <a:cs typeface="Arial"/>
                        </a:rPr>
                        <a:t>Research and evidence for SHPE Executive Leadership</a:t>
                      </a:r>
                    </a:p>
                  </a:txBody>
                  <a:tcPr marL="85725" marR="85725" marT="19050" marB="19050" anchor="ctr">
                    <a:lnR w="6668">
                      <a:solidFill>
                        <a:srgbClr val="D9E0E7"/>
                      </a:solidFill>
                      <a:prstDash val="solid"/>
                    </a:lnR>
                    <a:lnB w="6668">
                      <a:solidFill>
                        <a:srgbClr val="D9E0E7"/>
                      </a:solidFill>
                      <a:prstDash val="solid"/>
                    </a:lnB>
                    <a:solidFill>
                      <a:srgbClr val="F1F4F7"/>
                    </a:solidFill>
                  </a:tcPr>
                </a:tc>
              </a:tr>
            </a:tbl>
          </a:graphicData>
        </a:graphic>
      </p:graphicFrame>
      <p:sp>
        <p:nvSpPr>
          <p:cNvPr id="10" name="">
            <a:extLst xmlns:a="http://schemas.openxmlformats.org/drawingml/2006/main">
              <a:ext uri="{FF2B5EF4-FFF2-40B4-BE49-F238E27FC236}">
                <a16:creationId xmlns:a16="http://schemas.microsoft.com/office/drawing/2014/main" id="{1292B8E4-988B-4817-80A9-F9701E508E55}"/>
              </a:ext>
            </a:extLst>
          </p:cNvPr>
          <p:cNvSpPr>
            <a:spLocks xmlns:a="http://schemas.openxmlformats.org/drawingml/2006/main" noGrp="1"/>
          </p:cNvSpPr>
          <p:nvPr/>
        </p:nvSpPr>
        <p:spPr>
          <a:xfrm xmlns:a="http://schemas.openxmlformats.org/drawingml/2006/main">
            <a:off x="609600" y="582930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0">
                <a:solidFill>
                  <a:srgbClr val="182C43"/>
                </a:solidFill>
                <a:latin typeface="Arial"/>
                <a:ea typeface="Arial"/>
                <a:cs typeface="Arial"/>
              </a:defRPr>
            </a:defPPr>
          </a:lstStyle>
          <a:p xmlns:a="http://schemas.openxmlformats.org/drawingml/2006/main">
            <a:pPr marL="266700" indent="-152400" algn="l">
              <a:spcAft>
                <a:spcPts val="200"/>
              </a:spcAft>
              <a:buChar char="•"/>
              <a:defRPr sz="1650" b="0">
                <a:solidFill>
                  <a:srgbClr val="182C43"/>
                </a:solidFill>
                <a:latin typeface="Arial"/>
                <a:ea typeface="Arial"/>
                <a:cs typeface="Arial"/>
              </a:defRPr>
            </a:pPr>
            <a:r>
              <a:rPr sz="1650">
                <a:solidFill>
                  <a:srgbClr val="182C43"/>
                </a:solidFill>
                <a:latin typeface="Arial"/>
                <a:ea typeface="Arial"/>
                <a:cs typeface="Arial"/>
              </a:rPr>
              <a:t>Three calendar weeks of paper results provide operational evidence and an initial performance sample.</a:t>
            </a:r>
          </a:p>
          <a:p xmlns:a="http://schemas.openxmlformats.org/drawingml/2006/main">
            <a:pPr marL="266700" indent="-152400" algn="l">
              <a:spcAft>
                <a:spcPts val="200"/>
              </a:spcAft>
              <a:buChar char="•"/>
              <a:defRPr sz="1650" b="0">
                <a:solidFill>
                  <a:srgbClr val="182C43"/>
                </a:solidFill>
                <a:latin typeface="Arial"/>
                <a:ea typeface="Arial"/>
                <a:cs typeface="Arial"/>
              </a:defRPr>
            </a:pPr>
            <a:r>
              <a:rPr sz="1650">
                <a:solidFill>
                  <a:srgbClr val="182C43"/>
                </a:solidFill>
                <a:latin typeface="Arial"/>
                <a:ea typeface="Arial"/>
                <a:cs typeface="Arial"/>
              </a:rPr>
              <a:t>Continue research after the baseline is stable. Preserve results from failed ideas and tested variants.</a:t>
            </a:r>
          </a:p>
        </p:txBody>
      </p:sp>
    </p:spTree>
    <p:extLst>
      <p:ext uri="{BB962C8B-B14F-4D97-AF65-F5344CB8AC3E}">
        <p14:creationId xmlns:p14="http://schemas.microsoft.com/office/powerpoint/2010/main" val="56440600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EXPERIMENT DESIGN">
            <a:extLst xmlns:a="http://schemas.openxmlformats.org/drawingml/2006/main">
              <a:ext uri="{FF2B5EF4-FFF2-40B4-BE49-F238E27FC236}">
                <a16:creationId xmlns:a16="http://schemas.microsoft.com/office/drawing/2014/main" id="{E3C95128-3DC2-41FD-A424-3755278AD3CF}"/>
              </a:ext>
            </a:extLst>
          </p:cNvPr>
          <p:cNvSpPr>
            <a:spLocks xmlns:a="http://schemas.openxmlformats.org/drawingml/2006/main" noGrp="1"/>
          </p:cNvSpPr>
          <p:nvPr/>
        </p:nvSpPr>
        <p:spPr>
          <a:xfrm xmlns:a="http://schemas.openxmlformats.org/drawingml/2006/main">
            <a:off x="609600" y="285750"/>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FF5400"/>
                </a:solidFill>
                <a:latin typeface="Arial"/>
                <a:ea typeface="Arial"/>
                <a:cs typeface="Arial"/>
              </a:defRPr>
            </a:defPPr>
          </a:lstStyle>
          <a:p xmlns:a="http://schemas.openxmlformats.org/drawingml/2006/main">
            <a:pPr algn="l">
              <a:buNone/>
              <a:defRPr sz="1350" b="1">
                <a:solidFill>
                  <a:srgbClr val="FF5400"/>
                </a:solidFill>
                <a:latin typeface="Arial"/>
                <a:ea typeface="Arial"/>
                <a:cs typeface="Arial"/>
              </a:defRPr>
            </a:pPr>
            <a:r>
              <a:rPr sz="1350" b="1">
                <a:solidFill>
                  <a:srgbClr val="FF5400"/>
                </a:solidFill>
                <a:latin typeface="Arial"/>
                <a:ea typeface="Arial"/>
                <a:cs typeface="Arial"/>
              </a:rPr>
              <a:t>SHARED COURSE</a:t>
            </a:r>
          </a:p>
        </p:txBody>
      </p:sp>
      <p:sp>
        <p:nvSpPr>
          <p:cNvPr id="2" name="Slide title">
            <a:extLst xmlns:a="http://schemas.openxmlformats.org/drawingml/2006/main">
              <a:ext uri="{FF2B5EF4-FFF2-40B4-BE49-F238E27FC236}">
                <a16:creationId xmlns:a16="http://schemas.microsoft.com/office/drawing/2014/main" id="{6FD3F2C3-4ECC-4050-BD5F-5C0A80865B8E}"/>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004D73"/>
                </a:solidFill>
                <a:latin typeface="Arial"/>
                <a:ea typeface="Arial"/>
                <a:cs typeface="Arial"/>
              </a:defRPr>
            </a:defPPr>
          </a:lstStyle>
          <a:p xmlns:a="http://schemas.openxmlformats.org/drawingml/2006/main">
            <a:pPr algn="l">
              <a:buNone/>
              <a:defRPr sz="3300" b="1">
                <a:solidFill>
                  <a:srgbClr val="004D73"/>
                </a:solidFill>
                <a:latin typeface="Arial"/>
                <a:ea typeface="Arial"/>
                <a:cs typeface="Arial"/>
              </a:defRPr>
            </a:pPr>
            <a:r>
              <a:rPr sz="3300" b="1">
                <a:solidFill>
                  <a:srgbClr val="004D73"/>
                </a:solidFill>
                <a:latin typeface="Arial"/>
                <a:ea typeface="Arial"/>
                <a:cs typeface="Arial"/>
              </a:rPr>
              <a:t>Positions, quotes, orders and execution</a:t>
            </a:r>
          </a:p>
        </p:txBody>
      </p:sp>
      <p:sp>
        <p:nvSpPr>
          <p:cNvPr id="3" name="SHPE CAPITAL    OCTOBER 13, 2026">
            <a:extLst xmlns:a="http://schemas.openxmlformats.org/drawingml/2006/main">
              <a:ext uri="{FF2B5EF4-FFF2-40B4-BE49-F238E27FC236}">
                <a16:creationId xmlns:a16="http://schemas.microsoft.com/office/drawing/2014/main" id="{A4C69DA0-71CC-4E0F-9E17-D74952CA825C}"/>
              </a:ext>
            </a:extLst>
          </p:cNvPr>
          <p:cNvSpPr>
            <a:spLocks xmlns:a="http://schemas.openxmlformats.org/drawingml/2006/main" noGrp="1"/>
          </p:cNvSpPr>
          <p:nvPr/>
        </p:nvSpPr>
        <p:spPr>
          <a:xfrm xmlns:a="http://schemas.openxmlformats.org/drawingml/2006/main">
            <a:off x="609600" y="6438900"/>
            <a:ext cx="771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SHPE CAPITAL    OCTOBER 13, 2026</a:t>
            </a:r>
          </a:p>
        </p:txBody>
      </p:sp>
      <p:sp>
        <p:nvSpPr>
          <p:cNvPr id="4" name="14–15 min">
            <a:extLst xmlns:a="http://schemas.openxmlformats.org/drawingml/2006/main">
              <a:ext uri="{FF2B5EF4-FFF2-40B4-BE49-F238E27FC236}">
                <a16:creationId xmlns:a16="http://schemas.microsoft.com/office/drawing/2014/main" id="{6AEC7092-BF50-484B-82F1-F1F10947E3F0}"/>
              </a:ext>
            </a:extLst>
          </p:cNvPr>
          <p:cNvSpPr>
            <a:spLocks xmlns:a="http://schemas.openxmlformats.org/drawingml/2006/main" noGrp="1"/>
          </p:cNvSpPr>
          <p:nvPr/>
        </p:nvSpPr>
        <p:spPr>
          <a:xfrm xmlns:a="http://schemas.openxmlformats.org/drawingml/2006/main">
            <a:off x="9029700" y="643890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9:30-11:30</a:t>
            </a:r>
          </a:p>
        </p:txBody>
      </p:sp>
      <p:sp>
        <p:nvSpPr>
          <p:cNvPr id="5" name="11">
            <a:extLst xmlns:a="http://schemas.openxmlformats.org/drawingml/2006/main">
              <a:ext uri="{FF2B5EF4-FFF2-40B4-BE49-F238E27FC236}">
                <a16:creationId xmlns:a16="http://schemas.microsoft.com/office/drawing/2014/main" id="{35AE613E-5186-4017-8433-BFBD8B1244E1}"/>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12</a:t>
            </a:r>
          </a:p>
        </p:txBody>
      </p:sp>
      <p:sp>
        <p:nvSpPr>
          <p:cNvPr id="11" name="Positions and observed prices">
            <a:extLst xmlns:a="http://schemas.openxmlformats.org/drawingml/2006/main">
              <a:ext uri="{FF2B5EF4-FFF2-40B4-BE49-F238E27FC236}">
                <a16:creationId xmlns:a16="http://schemas.microsoft.com/office/drawing/2014/main" id="{42B30C51-400A-4562-AE3A-F1EAEF52F7E3}"/>
              </a:ext>
            </a:extLst>
          </p:cNvPr>
          <p:cNvSpPr>
            <a:spLocks xmlns:a="http://schemas.openxmlformats.org/drawingml/2006/main" noGrp="1"/>
          </p:cNvSpPr>
          <p:nvPr/>
        </p:nvSpPr>
        <p:spPr>
          <a:xfrm xmlns:a="http://schemas.openxmlformats.org/drawingml/2006/main">
            <a:off x="609600" y="1581150"/>
            <a:ext cx="525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FF5400"/>
                </a:solidFill>
                <a:latin typeface="Arial"/>
                <a:ea typeface="Arial"/>
                <a:cs typeface="Arial"/>
              </a:defRPr>
            </a:defPPr>
          </a:lstStyle>
          <a:p xmlns:a="http://schemas.openxmlformats.org/drawingml/2006/main">
            <a:pPr algn="l">
              <a:defRPr sz="2100" b="1">
                <a:solidFill>
                  <a:srgbClr val="FF5400"/>
                </a:solidFill>
                <a:latin typeface="Arial"/>
                <a:ea typeface="Arial"/>
                <a:cs typeface="Arial"/>
              </a:defRPr>
            </a:pPr>
            <a:r>
              <a:rPr sz="2100" b="1">
                <a:solidFill>
                  <a:srgbClr val="FF5400"/>
                </a:solidFill>
                <a:latin typeface="Arial"/>
                <a:ea typeface="Arial"/>
                <a:cs typeface="Arial"/>
              </a:rPr>
              <a:t>Positions and observed prices</a:t>
            </a:r>
          </a:p>
        </p:txBody>
      </p:sp>
      <p:sp>
        <p:nvSpPr>
          <p:cNvPr id="12" name="">
            <a:extLst xmlns:a="http://schemas.openxmlformats.org/drawingml/2006/main">
              <a:ext uri="{FF2B5EF4-FFF2-40B4-BE49-F238E27FC236}">
                <a16:creationId xmlns:a16="http://schemas.microsoft.com/office/drawing/2014/main" id="{74DDAEA2-F91F-45D3-91E2-1A79FA4989A3}"/>
              </a:ext>
            </a:extLst>
          </p:cNvPr>
          <p:cNvSpPr>
            <a:spLocks xmlns:a="http://schemas.openxmlformats.org/drawingml/2006/main" noGrp="1"/>
          </p:cNvSpPr>
          <p:nvPr/>
        </p:nvSpPr>
        <p:spPr>
          <a:xfrm xmlns:a="http://schemas.openxmlformats.org/drawingml/2006/main">
            <a:off x="609600" y="2019300"/>
            <a:ext cx="5257800" cy="3648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182C43"/>
                </a:solidFill>
                <a:latin typeface="Arial"/>
                <a:ea typeface="Arial"/>
                <a:cs typeface="Arial"/>
              </a:defRPr>
            </a:defPPr>
          </a:lstStyle>
          <a:p xmlns:a="http://schemas.openxmlformats.org/drawingml/2006/main">
            <a:pPr marL="266700" indent="-152400" algn="l">
              <a:spcAft>
                <a:spcPts val="500"/>
              </a:spcAft>
              <a:buChar char="•"/>
              <a:defRPr sz="1875" b="0">
                <a:solidFill>
                  <a:srgbClr val="182C43"/>
                </a:solidFill>
                <a:latin typeface="Arial"/>
                <a:ea typeface="Arial"/>
                <a:cs typeface="Arial"/>
              </a:defRPr>
            </a:pPr>
            <a:r>
              <a:rPr sz="1875" b="1">
                <a:solidFill>
                  <a:srgbClr val="182C43"/>
                </a:solidFill>
                <a:latin typeface="Arial"/>
                <a:ea typeface="Arial"/>
                <a:cs typeface="Arial"/>
              </a:rPr>
              <a:t>Long:</a:t>
            </a:r>
            <a:r>
              <a:rPr sz="1875">
                <a:solidFill>
                  <a:srgbClr val="182C43"/>
                </a:solidFill>
                <a:latin typeface="Arial"/>
                <a:ea typeface="Arial"/>
                <a:cs typeface="Arial"/>
              </a:rPr>
              <a:t> buy, then sell. A rise from $100 to $102 earns $2 per share before costs.</a:t>
            </a:r>
          </a:p>
          <a:p xmlns:a="http://schemas.openxmlformats.org/drawingml/2006/main">
            <a:pPr marL="266700" indent="-152400" algn="l">
              <a:spcAft>
                <a:spcPts val="500"/>
              </a:spcAft>
              <a:buChar char="•"/>
              <a:defRPr sz="1875" b="0">
                <a:solidFill>
                  <a:srgbClr val="182C43"/>
                </a:solidFill>
                <a:latin typeface="Arial"/>
                <a:ea typeface="Arial"/>
                <a:cs typeface="Arial"/>
              </a:defRPr>
            </a:pPr>
            <a:r>
              <a:rPr sz="1875" b="1">
                <a:solidFill>
                  <a:srgbClr val="182C43"/>
                </a:solidFill>
                <a:latin typeface="Arial"/>
                <a:ea typeface="Arial"/>
                <a:cs typeface="Arial"/>
              </a:rPr>
              <a:t>Short:</a:t>
            </a:r>
            <a:r>
              <a:rPr sz="1875">
                <a:solidFill>
                  <a:srgbClr val="182C43"/>
                </a:solidFill>
                <a:latin typeface="Arial"/>
                <a:ea typeface="Arial"/>
                <a:cs typeface="Arial"/>
              </a:rPr>
              <a:t> borrow and sell, then buy to cover. A fall from $100 to $98 earns $2 per share before costs.</a:t>
            </a:r>
          </a:p>
          <a:p xmlns:a="http://schemas.openxmlformats.org/drawingml/2006/main">
            <a:pPr marL="266700" indent="-152400" algn="l">
              <a:spcAft>
                <a:spcPts val="500"/>
              </a:spcAft>
              <a:buChar char="•"/>
              <a:defRPr sz="1875" b="0">
                <a:solidFill>
                  <a:srgbClr val="182C43"/>
                </a:solidFill>
                <a:latin typeface="Arial"/>
                <a:ea typeface="Arial"/>
                <a:cs typeface="Arial"/>
              </a:defRPr>
            </a:pPr>
            <a:r>
              <a:rPr sz="1875" b="1">
                <a:solidFill>
                  <a:srgbClr val="182C43"/>
                </a:solidFill>
                <a:latin typeface="Arial"/>
                <a:ea typeface="Arial"/>
                <a:cs typeface="Arial"/>
              </a:rPr>
              <a:t>Flat / notional:</a:t>
            </a:r>
            <a:r>
              <a:rPr sz="1875">
                <a:solidFill>
                  <a:srgbClr val="182C43"/>
                </a:solidFill>
                <a:latin typeface="Arial"/>
                <a:ea typeface="Arial"/>
                <a:cs typeface="Arial"/>
              </a:rPr>
              <a:t> no position / shares × price. Shorting needs available borrow and buying power.</a:t>
            </a:r>
          </a:p>
          <a:p xmlns:a="http://schemas.openxmlformats.org/drawingml/2006/main">
            <a:pPr marL="266700" indent="-152400" algn="l">
              <a:spcAft>
                <a:spcPts val="500"/>
              </a:spcAft>
              <a:buChar char="•"/>
              <a:defRPr sz="1875" b="0">
                <a:solidFill>
                  <a:srgbClr val="182C43"/>
                </a:solidFill>
                <a:latin typeface="Arial"/>
                <a:ea typeface="Arial"/>
                <a:cs typeface="Arial"/>
              </a:defRPr>
            </a:pPr>
            <a:r>
              <a:rPr sz="1875" b="1">
                <a:solidFill>
                  <a:srgbClr val="182C43"/>
                </a:solidFill>
                <a:latin typeface="Arial"/>
                <a:ea typeface="Arial"/>
                <a:cs typeface="Arial"/>
              </a:rPr>
              <a:t>Quote:</a:t>
            </a:r>
            <a:r>
              <a:rPr sz="1875">
                <a:solidFill>
                  <a:srgbClr val="182C43"/>
                </a:solidFill>
                <a:latin typeface="Arial"/>
                <a:ea typeface="Arial"/>
                <a:cs typeface="Arial"/>
              </a:rPr>
              <a:t> bid (buy offer) and ask (sell offer), with sizes. Midpoint = their average. Spread = ask - bid.</a:t>
            </a:r>
          </a:p>
          <a:p xmlns:a="http://schemas.openxmlformats.org/drawingml/2006/main">
            <a:pPr marL="266700" indent="-152400" algn="l">
              <a:spcAft>
                <a:spcPts val="500"/>
              </a:spcAft>
              <a:buChar char="•"/>
              <a:defRPr sz="1875" b="0">
                <a:solidFill>
                  <a:srgbClr val="182C43"/>
                </a:solidFill>
                <a:latin typeface="Arial"/>
                <a:ea typeface="Arial"/>
                <a:cs typeface="Arial"/>
              </a:defRPr>
            </a:pPr>
            <a:r>
              <a:rPr sz="1875" b="1">
                <a:solidFill>
                  <a:srgbClr val="182C43"/>
                </a:solidFill>
                <a:latin typeface="Arial"/>
                <a:ea typeface="Arial"/>
                <a:cs typeface="Arial"/>
              </a:rPr>
              <a:t>Trade / bar:</a:t>
            </a:r>
            <a:r>
              <a:rPr sz="1875">
                <a:solidFill>
                  <a:srgbClr val="182C43"/>
                </a:solidFill>
                <a:latin typeface="Arial"/>
                <a:ea typeface="Arial"/>
                <a:cs typeface="Arial"/>
              </a:rPr>
              <a:t> an executed transaction / a time-window price and volume summary.</a:t>
            </a:r>
          </a:p>
        </p:txBody>
      </p:sp>
      <p:sp>
        <p:nvSpPr>
          <p:cNvPr id="13" name="Order types and confirmed execution">
            <a:extLst xmlns:a="http://schemas.openxmlformats.org/drawingml/2006/main">
              <a:ext uri="{FF2B5EF4-FFF2-40B4-BE49-F238E27FC236}">
                <a16:creationId xmlns:a16="http://schemas.microsoft.com/office/drawing/2014/main" id="{FC1EDDEA-FD29-476E-A9CE-17D352177854}"/>
              </a:ext>
            </a:extLst>
          </p:cNvPr>
          <p:cNvSpPr>
            <a:spLocks xmlns:a="http://schemas.openxmlformats.org/drawingml/2006/main" noGrp="1"/>
          </p:cNvSpPr>
          <p:nvPr/>
        </p:nvSpPr>
        <p:spPr>
          <a:xfrm xmlns:a="http://schemas.openxmlformats.org/drawingml/2006/main">
            <a:off x="6248400" y="1581150"/>
            <a:ext cx="533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FF5400"/>
                </a:solidFill>
                <a:latin typeface="Arial"/>
                <a:ea typeface="Arial"/>
                <a:cs typeface="Arial"/>
              </a:defRPr>
            </a:defPPr>
          </a:lstStyle>
          <a:p xmlns:a="http://schemas.openxmlformats.org/drawingml/2006/main">
            <a:pPr algn="l">
              <a:defRPr sz="2100" b="1">
                <a:solidFill>
                  <a:srgbClr val="FF5400"/>
                </a:solidFill>
                <a:latin typeface="Arial"/>
                <a:ea typeface="Arial"/>
                <a:cs typeface="Arial"/>
              </a:defRPr>
            </a:pPr>
            <a:r>
              <a:rPr sz="2100" b="1">
                <a:solidFill>
                  <a:srgbClr val="FF5400"/>
                </a:solidFill>
                <a:latin typeface="Arial"/>
                <a:ea typeface="Arial"/>
                <a:cs typeface="Arial"/>
              </a:rPr>
              <a:t>Order types and confirmed execution</a:t>
            </a:r>
          </a:p>
        </p:txBody>
      </p:sp>
      <p:graphicFrame>
        <p:nvGraphicFramePr>
          <p:cNvPr id="14" name="">
            <a:extLst xmlns:a="http://schemas.openxmlformats.org/drawingml/2006/main">
              <a:ext uri="{FF2B5EF4-FFF2-40B4-BE49-F238E27FC236}">
                <a16:creationId xmlns:a16="http://schemas.microsoft.com/office/drawing/2014/main" id="{F32EDD4E-7782-43C9-BECD-BDB3F785FF97}"/>
              </a:ext>
            </a:extLst>
          </p:cNvPr>
          <p:cNvGraphicFramePr/>
          <p:nvPr/>
        </p:nvGraphicFramePr>
        <p:xfrm>
          <a:off xmlns:a="http://schemas.openxmlformats.org/drawingml/2006/main" x="6248400" y="2019300"/>
          <a:ext xmlns:a="http://schemas.openxmlformats.org/drawingml/2006/main" cx="5334000" cy="2876550"/>
        </p:xfrm>
        <a:graphic xmlns:a="http://schemas.openxmlformats.org/drawingml/2006/main">
          <a:graphicData uri="http://schemas.openxmlformats.org/drawingml/2006/table">
            <a:tbl>
              <a:tblPr firstRow="1" bandRow="0"/>
              <a:tblGrid>
                <a:gridCol w="1409700"/>
                <a:gridCol w="3924300"/>
              </a:tblGrid>
              <a:tr h="419100">
                <a:tc>
                  <a:txBody>
                    <a:bodyPr lIns="85725" tIns="85725" rIns="85725" bIns="85725">
                      <a:noAutofit/>
                    </a:bodyPr>
                    <a:lstStyle/>
                    <a:p>
                      <a:pPr algn="l"/>
                      <a:r>
                        <a:rPr sz="1800" b="1">
                          <a:solidFill>
                            <a:srgbClr val="FFFFFF"/>
                          </a:solidFill>
                          <a:latin typeface="Arial"/>
                          <a:ea typeface="Arial"/>
                          <a:cs typeface="Arial"/>
                        </a:rPr>
                        <a:t>Type</a:t>
                      </a:r>
                    </a:p>
                  </a:txBody>
                  <a:tcPr marL="85725" marR="85725" marT="19050" marB="19050" anchor="ctr">
                    <a:lnL w="6668">
                      <a:solidFill>
                        <a:srgbClr val="D9E0E7"/>
                      </a:solidFill>
                      <a:prstDash val="solid"/>
                    </a:lnL>
                    <a:lnR w="6668">
                      <a:solidFill>
                        <a:srgbClr val="D9E0E7"/>
                      </a:solidFill>
                      <a:prstDash val="solid"/>
                    </a:lnR>
                    <a:lnT w="6668">
                      <a:solidFill>
                        <a:srgbClr val="D9E0E7"/>
                      </a:solidFill>
                      <a:prstDash val="solid"/>
                    </a:lnT>
                    <a:lnB w="6668">
                      <a:solidFill>
                        <a:srgbClr val="D9E0E7"/>
                      </a:solidFill>
                      <a:prstDash val="solid"/>
                    </a:lnB>
                    <a:solidFill>
                      <a:srgbClr val="004D73"/>
                    </a:solidFill>
                  </a:tcPr>
                </a:tc>
                <a:tc>
                  <a:txBody>
                    <a:bodyPr lIns="85725" tIns="85725" rIns="85725" bIns="85725">
                      <a:noAutofit/>
                    </a:bodyPr>
                    <a:lstStyle/>
                    <a:p>
                      <a:pPr algn="l"/>
                      <a:r>
                        <a:rPr sz="1800" b="1">
                          <a:solidFill>
                            <a:srgbClr val="FFFFFF"/>
                          </a:solidFill>
                          <a:latin typeface="Arial"/>
                          <a:ea typeface="Arial"/>
                          <a:cs typeface="Arial"/>
                        </a:rPr>
                        <a:t>Behavior / trade-off</a:t>
                      </a:r>
                    </a:p>
                  </a:txBody>
                  <a:tcPr marL="85725" marR="85725" marT="19050" marB="19050" anchor="ctr">
                    <a:lnR w="6668">
                      <a:solidFill>
                        <a:srgbClr val="D9E0E7"/>
                      </a:solidFill>
                      <a:prstDash val="solid"/>
                    </a:lnR>
                    <a:lnT w="6668">
                      <a:solidFill>
                        <a:srgbClr val="D9E0E7"/>
                      </a:solidFill>
                      <a:prstDash val="solid"/>
                    </a:lnT>
                    <a:lnB w="6668">
                      <a:solidFill>
                        <a:srgbClr val="D9E0E7"/>
                      </a:solidFill>
                      <a:prstDash val="solid"/>
                    </a:lnB>
                    <a:solidFill>
                      <a:srgbClr val="004D73"/>
                    </a:solidFill>
                  </a:tcPr>
                </a:tc>
              </a:tr>
              <a:tr h="614363">
                <a:tc>
                  <a:txBody>
                    <a:bodyPr lIns="85725" tIns="85725" rIns="85725" bIns="85725">
                      <a:noAutofit/>
                    </a:bodyPr>
                    <a:lstStyle/>
                    <a:p>
                      <a:pPr algn="l"/>
                      <a:r>
                        <a:rPr sz="1800" b="1">
                          <a:solidFill>
                            <a:srgbClr val="182C43"/>
                          </a:solidFill>
                          <a:latin typeface="Arial"/>
                          <a:ea typeface="Arial"/>
                          <a:cs typeface="Arial"/>
                        </a:rPr>
                        <a:t>Market</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800" b="0">
                          <a:solidFill>
                            <a:srgbClr val="182C43"/>
                          </a:solidFill>
                          <a:latin typeface="Arial"/>
                          <a:ea typeface="Arial"/>
                          <a:cs typeface="Arial"/>
                        </a:rPr>
                        <a:t>Seeks prompt execution. Fill price can vary.</a:t>
                      </a:r>
                    </a:p>
                  </a:txBody>
                  <a:tcPr marL="85725" marR="85725" marT="19050" marB="19050" anchor="ctr">
                    <a:lnR w="6668">
                      <a:solidFill>
                        <a:srgbClr val="D9E0E7"/>
                      </a:solidFill>
                      <a:prstDash val="solid"/>
                    </a:lnR>
                    <a:lnB w="6668">
                      <a:solidFill>
                        <a:srgbClr val="D9E0E7"/>
                      </a:solidFill>
                      <a:prstDash val="solid"/>
                    </a:lnB>
                    <a:solidFill>
                      <a:srgbClr val="FFFFFF"/>
                    </a:solidFill>
                  </a:tcPr>
                </a:tc>
              </a:tr>
              <a:tr h="614363">
                <a:tc>
                  <a:txBody>
                    <a:bodyPr lIns="85725" tIns="85725" rIns="85725" bIns="85725">
                      <a:noAutofit/>
                    </a:bodyPr>
                    <a:lstStyle/>
                    <a:p>
                      <a:pPr algn="l"/>
                      <a:r>
                        <a:rPr sz="1800" b="1">
                          <a:solidFill>
                            <a:srgbClr val="182C43"/>
                          </a:solidFill>
                          <a:latin typeface="Arial"/>
                          <a:ea typeface="Arial"/>
                          <a:cs typeface="Arial"/>
                        </a:rPr>
                        <a:t>Limit</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1F4F7"/>
                    </a:solidFill>
                  </a:tcPr>
                </a:tc>
                <a:tc>
                  <a:txBody>
                    <a:bodyPr lIns="85725" tIns="85725" rIns="85725" bIns="85725">
                      <a:noAutofit/>
                    </a:bodyPr>
                    <a:lstStyle/>
                    <a:p>
                      <a:pPr algn="l"/>
                      <a:r>
                        <a:rPr sz="1800" b="0">
                          <a:solidFill>
                            <a:srgbClr val="182C43"/>
                          </a:solidFill>
                          <a:latin typeface="Arial"/>
                          <a:ea typeface="Arial"/>
                          <a:cs typeface="Arial"/>
                        </a:rPr>
                        <a:t>Price or better. May fill partly or never.</a:t>
                      </a:r>
                    </a:p>
                  </a:txBody>
                  <a:tcPr marL="85725" marR="85725" marT="19050" marB="19050" anchor="ctr">
                    <a:lnR w="6668">
                      <a:solidFill>
                        <a:srgbClr val="D9E0E7"/>
                      </a:solidFill>
                      <a:prstDash val="solid"/>
                    </a:lnR>
                    <a:lnB w="6668">
                      <a:solidFill>
                        <a:srgbClr val="D9E0E7"/>
                      </a:solidFill>
                      <a:prstDash val="solid"/>
                    </a:lnB>
                    <a:solidFill>
                      <a:srgbClr val="F1F4F7"/>
                    </a:solidFill>
                  </a:tcPr>
                </a:tc>
              </a:tr>
              <a:tr h="614363">
                <a:tc>
                  <a:txBody>
                    <a:bodyPr lIns="85725" tIns="85725" rIns="85725" bIns="85725">
                      <a:noAutofit/>
                    </a:bodyPr>
                    <a:lstStyle/>
                    <a:p>
                      <a:pPr algn="l"/>
                      <a:r>
                        <a:rPr sz="1800" b="1">
                          <a:solidFill>
                            <a:srgbClr val="182C43"/>
                          </a:solidFill>
                          <a:latin typeface="Arial"/>
                          <a:ea typeface="Arial"/>
                          <a:cs typeface="Arial"/>
                        </a:rPr>
                        <a:t>Stop</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800" b="0">
                          <a:solidFill>
                            <a:srgbClr val="182C43"/>
                          </a:solidFill>
                          <a:latin typeface="Arial"/>
                          <a:ea typeface="Arial"/>
                          <a:cs typeface="Arial"/>
                        </a:rPr>
                        <a:t>Trigger seeks market execution. The final price can slip.</a:t>
                      </a:r>
                    </a:p>
                  </a:txBody>
                  <a:tcPr marL="85725" marR="85725" marT="19050" marB="19050" anchor="ctr">
                    <a:lnR w="6668">
                      <a:solidFill>
                        <a:srgbClr val="D9E0E7"/>
                      </a:solidFill>
                      <a:prstDash val="solid"/>
                    </a:lnR>
                    <a:lnB w="6668">
                      <a:solidFill>
                        <a:srgbClr val="D9E0E7"/>
                      </a:solidFill>
                      <a:prstDash val="solid"/>
                    </a:lnB>
                    <a:solidFill>
                      <a:srgbClr val="FFFFFF"/>
                    </a:solidFill>
                  </a:tcPr>
                </a:tc>
              </a:tr>
              <a:tr h="614363">
                <a:tc>
                  <a:txBody>
                    <a:bodyPr lIns="85725" tIns="85725" rIns="85725" bIns="85725">
                      <a:noAutofit/>
                    </a:bodyPr>
                    <a:lstStyle/>
                    <a:p>
                      <a:pPr algn="l"/>
                      <a:r>
                        <a:rPr sz="1800" b="1">
                          <a:solidFill>
                            <a:srgbClr val="182C43"/>
                          </a:solidFill>
                          <a:latin typeface="Arial"/>
                          <a:ea typeface="Arial"/>
                          <a:cs typeface="Arial"/>
                        </a:rPr>
                        <a:t>Stop-limit</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1F4F7"/>
                    </a:solidFill>
                  </a:tcPr>
                </a:tc>
                <a:tc>
                  <a:txBody>
                    <a:bodyPr lIns="85725" tIns="85725" rIns="85725" bIns="85725">
                      <a:noAutofit/>
                    </a:bodyPr>
                    <a:lstStyle/>
                    <a:p>
                      <a:pPr algn="l"/>
                      <a:r>
                        <a:rPr sz="1800" b="0">
                          <a:solidFill>
                            <a:srgbClr val="182C43"/>
                          </a:solidFill>
                          <a:latin typeface="Arial"/>
                          <a:ea typeface="Arial"/>
                          <a:cs typeface="Arial"/>
                        </a:rPr>
                        <a:t>Trigger activates a limit. Price control can leave the exit unfilled.</a:t>
                      </a:r>
                    </a:p>
                  </a:txBody>
                  <a:tcPr marL="85725" marR="85725" marT="19050" marB="19050" anchor="ctr">
                    <a:lnR w="6668">
                      <a:solidFill>
                        <a:srgbClr val="D9E0E7"/>
                      </a:solidFill>
                      <a:prstDash val="solid"/>
                    </a:lnR>
                    <a:lnB w="6668">
                      <a:solidFill>
                        <a:srgbClr val="D9E0E7"/>
                      </a:solidFill>
                      <a:prstDash val="solid"/>
                    </a:lnB>
                    <a:solidFill>
                      <a:srgbClr val="F1F4F7"/>
                    </a:solidFill>
                  </a:tcPr>
                </a:tc>
              </a:tr>
            </a:tbl>
          </a:graphicData>
        </a:graphic>
      </p:graphicFrame>
      <p:sp>
        <p:nvSpPr>
          <p:cNvPr id="15" name="">
            <a:extLst xmlns:a="http://schemas.openxmlformats.org/drawingml/2006/main">
              <a:ext uri="{FF2B5EF4-FFF2-40B4-BE49-F238E27FC236}">
                <a16:creationId xmlns:a16="http://schemas.microsoft.com/office/drawing/2014/main" id="{D9A044D3-0EF0-4F86-B723-BC18AA77ECF6}"/>
              </a:ext>
            </a:extLst>
          </p:cNvPr>
          <p:cNvSpPr>
            <a:spLocks xmlns:a="http://schemas.openxmlformats.org/drawingml/2006/main" noGrp="1"/>
          </p:cNvSpPr>
          <p:nvPr/>
        </p:nvSpPr>
        <p:spPr>
          <a:xfrm xmlns:a="http://schemas.openxmlformats.org/drawingml/2006/main">
            <a:off x="6248400" y="5095875"/>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182C43"/>
                </a:solidFill>
                <a:latin typeface="Arial"/>
                <a:ea typeface="Arial"/>
                <a:cs typeface="Arial"/>
              </a:defRPr>
            </a:defPPr>
          </a:lstStyle>
          <a:p xmlns:a="http://schemas.openxmlformats.org/drawingml/2006/main">
            <a:pPr marL="266700" indent="-152400" algn="l">
              <a:spcAft>
                <a:spcPts val="500"/>
              </a:spcAft>
              <a:buChar char="•"/>
              <a:defRPr sz="1800" b="0">
                <a:solidFill>
                  <a:srgbClr val="182C43"/>
                </a:solidFill>
                <a:latin typeface="Arial"/>
                <a:ea typeface="Arial"/>
                <a:cs typeface="Arial"/>
              </a:defRPr>
            </a:pPr>
            <a:r>
              <a:rPr sz="1800" b="1">
                <a:solidFill>
                  <a:srgbClr val="182C43"/>
                </a:solidFill>
                <a:latin typeface="Arial"/>
                <a:ea typeface="Arial"/>
                <a:cs typeface="Arial"/>
              </a:rPr>
              <a:t>Order:</a:t>
            </a:r>
            <a:r>
              <a:rPr sz="1800">
                <a:solidFill>
                  <a:srgbClr val="182C43"/>
                </a:solidFill>
                <a:latin typeface="Arial"/>
                <a:ea typeface="Arial"/>
                <a:cs typeface="Arial"/>
              </a:rPr>
              <a:t> transaction request. Fill: confirmed execution, possibly for only part of the quantity.</a:t>
            </a:r>
          </a:p>
          <a:p xmlns:a="http://schemas.openxmlformats.org/drawingml/2006/main">
            <a:pPr marL="266700" indent="-152400" algn="l">
              <a:spcAft>
                <a:spcPts val="500"/>
              </a:spcAft>
              <a:buChar char="•"/>
              <a:defRPr sz="1800" b="0">
                <a:solidFill>
                  <a:srgbClr val="182C43"/>
                </a:solidFill>
                <a:latin typeface="Arial"/>
                <a:ea typeface="Arial"/>
                <a:cs typeface="Arial"/>
              </a:defRPr>
            </a:pPr>
            <a:r>
              <a:rPr sz="1800" b="1">
                <a:solidFill>
                  <a:srgbClr val="182C43"/>
                </a:solidFill>
                <a:latin typeface="Arial"/>
                <a:ea typeface="Arial"/>
                <a:cs typeface="Arial"/>
              </a:rPr>
              <a:t>Slippage:</a:t>
            </a:r>
            <a:r>
              <a:rPr sz="1800">
                <a:solidFill>
                  <a:srgbClr val="182C43"/>
                </a:solidFill>
                <a:latin typeface="Arial"/>
                <a:ea typeface="Arial"/>
                <a:cs typeface="Arial"/>
              </a:rPr>
              <a:t> fill versus reference price. Spread and delays can consume a small predicted gain.</a:t>
            </a:r>
          </a:p>
        </p:txBody>
      </p:sp>
    </p:spTree>
    <p:extLst>
      <p:ext uri="{BB962C8B-B14F-4D97-AF65-F5344CB8AC3E}">
        <p14:creationId xmlns:p14="http://schemas.microsoft.com/office/powerpoint/2010/main" val="111632730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RESEARCH STANDARDS">
            <a:extLst xmlns:a="http://schemas.openxmlformats.org/drawingml/2006/main">
              <a:ext uri="{FF2B5EF4-FFF2-40B4-BE49-F238E27FC236}">
                <a16:creationId xmlns:a16="http://schemas.microsoft.com/office/drawing/2014/main" id="{F821CD8E-E36F-4141-A572-DF6A7F4405CE}"/>
              </a:ext>
            </a:extLst>
          </p:cNvPr>
          <p:cNvSpPr>
            <a:spLocks xmlns:a="http://schemas.openxmlformats.org/drawingml/2006/main" noGrp="1"/>
          </p:cNvSpPr>
          <p:nvPr/>
        </p:nvSpPr>
        <p:spPr>
          <a:xfrm xmlns:a="http://schemas.openxmlformats.org/drawingml/2006/main">
            <a:off x="609600" y="285750"/>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FF5400"/>
                </a:solidFill>
                <a:latin typeface="Arial"/>
                <a:ea typeface="Arial"/>
                <a:cs typeface="Arial"/>
              </a:defRPr>
            </a:defPPr>
          </a:lstStyle>
          <a:p xmlns:a="http://schemas.openxmlformats.org/drawingml/2006/main">
            <a:pPr algn="l">
              <a:buNone/>
              <a:defRPr sz="1350" b="1">
                <a:solidFill>
                  <a:srgbClr val="FF5400"/>
                </a:solidFill>
                <a:latin typeface="Arial"/>
                <a:ea typeface="Arial"/>
                <a:cs typeface="Arial"/>
              </a:defRPr>
            </a:pPr>
            <a:r>
              <a:rPr sz="1350" b="1">
                <a:solidFill>
                  <a:srgbClr val="FF5400"/>
                </a:solidFill>
                <a:latin typeface="Arial"/>
                <a:ea typeface="Arial"/>
                <a:cs typeface="Arial"/>
              </a:rPr>
              <a:t>SHARED COURSE</a:t>
            </a:r>
          </a:p>
        </p:txBody>
      </p:sp>
      <p:sp>
        <p:nvSpPr>
          <p:cNvPr id="2" name="Slide title">
            <a:extLst xmlns:a="http://schemas.openxmlformats.org/drawingml/2006/main">
              <a:ext uri="{FF2B5EF4-FFF2-40B4-BE49-F238E27FC236}">
                <a16:creationId xmlns:a16="http://schemas.microsoft.com/office/drawing/2014/main" id="{35A0707E-F46E-4808-BB20-19B7DFBCDE47}"/>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004D73"/>
                </a:solidFill>
                <a:latin typeface="Arial"/>
                <a:ea typeface="Arial"/>
                <a:cs typeface="Arial"/>
              </a:defRPr>
            </a:defPPr>
          </a:lstStyle>
          <a:p xmlns:a="http://schemas.openxmlformats.org/drawingml/2006/main">
            <a:pPr algn="l">
              <a:buNone/>
              <a:defRPr sz="3300" b="1">
                <a:solidFill>
                  <a:srgbClr val="004D73"/>
                </a:solidFill>
                <a:latin typeface="Arial"/>
                <a:ea typeface="Arial"/>
                <a:cs typeface="Arial"/>
              </a:defRPr>
            </a:pPr>
            <a:r>
              <a:rPr sz="3300" b="1">
                <a:solidFill>
                  <a:srgbClr val="004D73"/>
                </a:solidFill>
                <a:latin typeface="Arial"/>
                <a:ea typeface="Arial"/>
                <a:cs typeface="Arial"/>
              </a:rPr>
              <a:t>Strategy vocabulary, hypotheses and edge</a:t>
            </a:r>
          </a:p>
        </p:txBody>
      </p:sp>
      <p:sp>
        <p:nvSpPr>
          <p:cNvPr id="3" name="SHPE CAPITAL    OCTOBER 13, 2026">
            <a:extLst xmlns:a="http://schemas.openxmlformats.org/drawingml/2006/main">
              <a:ext uri="{FF2B5EF4-FFF2-40B4-BE49-F238E27FC236}">
                <a16:creationId xmlns:a16="http://schemas.microsoft.com/office/drawing/2014/main" id="{0E09F071-67D8-4BCF-BF97-D32A0A4E9248}"/>
              </a:ext>
            </a:extLst>
          </p:cNvPr>
          <p:cNvSpPr>
            <a:spLocks xmlns:a="http://schemas.openxmlformats.org/drawingml/2006/main" noGrp="1"/>
          </p:cNvSpPr>
          <p:nvPr/>
        </p:nvSpPr>
        <p:spPr>
          <a:xfrm xmlns:a="http://schemas.openxmlformats.org/drawingml/2006/main">
            <a:off x="609600" y="6438900"/>
            <a:ext cx="771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SHPE CAPITAL    OCTOBER 13, 2026</a:t>
            </a:r>
          </a:p>
        </p:txBody>
      </p:sp>
      <p:sp>
        <p:nvSpPr>
          <p:cNvPr id="4" name="15–17 min">
            <a:extLst xmlns:a="http://schemas.openxmlformats.org/drawingml/2006/main">
              <a:ext uri="{FF2B5EF4-FFF2-40B4-BE49-F238E27FC236}">
                <a16:creationId xmlns:a16="http://schemas.microsoft.com/office/drawing/2014/main" id="{49758EA8-F924-4FD9-8575-4FA1F1A70EB2}"/>
              </a:ext>
            </a:extLst>
          </p:cNvPr>
          <p:cNvSpPr>
            <a:spLocks xmlns:a="http://schemas.openxmlformats.org/drawingml/2006/main" noGrp="1"/>
          </p:cNvSpPr>
          <p:nvPr/>
        </p:nvSpPr>
        <p:spPr>
          <a:xfrm xmlns:a="http://schemas.openxmlformats.org/drawingml/2006/main">
            <a:off x="9029700" y="643890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11:30-13:30</a:t>
            </a:r>
          </a:p>
        </p:txBody>
      </p:sp>
      <p:sp>
        <p:nvSpPr>
          <p:cNvPr id="5" name="12">
            <a:extLst xmlns:a="http://schemas.openxmlformats.org/drawingml/2006/main">
              <a:ext uri="{FF2B5EF4-FFF2-40B4-BE49-F238E27FC236}">
                <a16:creationId xmlns:a16="http://schemas.microsoft.com/office/drawing/2014/main" id="{0B307E98-FD23-461C-9D0E-7D4024C37AB4}"/>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13</a:t>
            </a:r>
          </a:p>
        </p:txBody>
      </p:sp>
      <p:sp>
        <p:nvSpPr>
          <p:cNvPr id="23" name="Terms that define the experiment">
            <a:extLst xmlns:a="http://schemas.openxmlformats.org/drawingml/2006/main">
              <a:ext uri="{FF2B5EF4-FFF2-40B4-BE49-F238E27FC236}">
                <a16:creationId xmlns:a16="http://schemas.microsoft.com/office/drawing/2014/main" id="{8EE47B7C-5908-43C9-84C8-2FD21B0B1E2D}"/>
              </a:ext>
            </a:extLst>
          </p:cNvPr>
          <p:cNvSpPr>
            <a:spLocks xmlns:a="http://schemas.openxmlformats.org/drawingml/2006/main" noGrp="1"/>
          </p:cNvSpPr>
          <p:nvPr/>
        </p:nvSpPr>
        <p:spPr>
          <a:xfrm xmlns:a="http://schemas.openxmlformats.org/drawingml/2006/main">
            <a:off x="609600" y="1581150"/>
            <a:ext cx="525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FF5400"/>
                </a:solidFill>
                <a:latin typeface="Arial"/>
                <a:ea typeface="Arial"/>
                <a:cs typeface="Arial"/>
              </a:defRPr>
            </a:defPPr>
          </a:lstStyle>
          <a:p xmlns:a="http://schemas.openxmlformats.org/drawingml/2006/main">
            <a:pPr algn="l">
              <a:defRPr sz="2100" b="1">
                <a:solidFill>
                  <a:srgbClr val="FF5400"/>
                </a:solidFill>
                <a:latin typeface="Arial"/>
                <a:ea typeface="Arial"/>
                <a:cs typeface="Arial"/>
              </a:defRPr>
            </a:pPr>
            <a:r>
              <a:rPr sz="2100" b="1">
                <a:solidFill>
                  <a:srgbClr val="FF5400"/>
                </a:solidFill>
                <a:latin typeface="Arial"/>
                <a:ea typeface="Arial"/>
                <a:cs typeface="Arial"/>
              </a:rPr>
              <a:t>Terms that define the experiment</a:t>
            </a:r>
          </a:p>
        </p:txBody>
      </p:sp>
      <p:graphicFrame>
        <p:nvGraphicFramePr>
          <p:cNvPr id="24" name="">
            <a:extLst xmlns:a="http://schemas.openxmlformats.org/drawingml/2006/main">
              <a:ext uri="{FF2B5EF4-FFF2-40B4-BE49-F238E27FC236}">
                <a16:creationId xmlns:a16="http://schemas.microsoft.com/office/drawing/2014/main" id="{E55200D1-5A14-496B-B3D9-FBF0DCD67AD1}"/>
              </a:ext>
            </a:extLst>
          </p:cNvPr>
          <p:cNvGraphicFramePr/>
          <p:nvPr/>
        </p:nvGraphicFramePr>
        <p:xfrm>
          <a:off xmlns:a="http://schemas.openxmlformats.org/drawingml/2006/main" x="609600" y="2028825"/>
          <a:ext xmlns:a="http://schemas.openxmlformats.org/drawingml/2006/main" cx="5257800" cy="3524250"/>
        </p:xfrm>
        <a:graphic xmlns:a="http://schemas.openxmlformats.org/drawingml/2006/main">
          <a:graphicData uri="http://schemas.openxmlformats.org/drawingml/2006/table">
            <a:tbl>
              <a:tblPr firstRow="1" bandRow="0"/>
              <a:tblGrid>
                <a:gridCol w="1657350"/>
                <a:gridCol w="3600450"/>
              </a:tblGrid>
              <a:tr h="419100">
                <a:tc>
                  <a:txBody>
                    <a:bodyPr lIns="85725" tIns="85725" rIns="85725" bIns="85725">
                      <a:noAutofit/>
                    </a:bodyPr>
                    <a:lstStyle/>
                    <a:p>
                      <a:pPr algn="l"/>
                      <a:r>
                        <a:rPr sz="1800" b="1">
                          <a:solidFill>
                            <a:srgbClr val="FFFFFF"/>
                          </a:solidFill>
                          <a:latin typeface="Arial"/>
                          <a:ea typeface="Arial"/>
                          <a:cs typeface="Arial"/>
                        </a:rPr>
                        <a:t>Term</a:t>
                      </a:r>
                    </a:p>
                  </a:txBody>
                  <a:tcPr marL="85725" marR="85725" marT="19050" marB="19050" anchor="ctr">
                    <a:lnL w="6668">
                      <a:solidFill>
                        <a:srgbClr val="D9E0E7"/>
                      </a:solidFill>
                      <a:prstDash val="solid"/>
                    </a:lnL>
                    <a:lnR w="6668">
                      <a:solidFill>
                        <a:srgbClr val="D9E0E7"/>
                      </a:solidFill>
                      <a:prstDash val="solid"/>
                    </a:lnR>
                    <a:lnT w="6668">
                      <a:solidFill>
                        <a:srgbClr val="D9E0E7"/>
                      </a:solidFill>
                      <a:prstDash val="solid"/>
                    </a:lnT>
                    <a:lnB w="6668">
                      <a:solidFill>
                        <a:srgbClr val="D9E0E7"/>
                      </a:solidFill>
                      <a:prstDash val="solid"/>
                    </a:lnB>
                    <a:solidFill>
                      <a:srgbClr val="004D73"/>
                    </a:solidFill>
                  </a:tcPr>
                </a:tc>
                <a:tc>
                  <a:txBody>
                    <a:bodyPr lIns="85725" tIns="85725" rIns="85725" bIns="85725">
                      <a:noAutofit/>
                    </a:bodyPr>
                    <a:lstStyle/>
                    <a:p>
                      <a:pPr algn="l"/>
                      <a:r>
                        <a:rPr sz="1800" b="1">
                          <a:solidFill>
                            <a:srgbClr val="FFFFFF"/>
                          </a:solidFill>
                          <a:latin typeface="Arial"/>
                          <a:ea typeface="Arial"/>
                          <a:cs typeface="Arial"/>
                        </a:rPr>
                        <a:t>Meaning in strategy design</a:t>
                      </a:r>
                    </a:p>
                  </a:txBody>
                  <a:tcPr marL="85725" marR="85725" marT="19050" marB="19050" anchor="ctr">
                    <a:lnR w="6668">
                      <a:solidFill>
                        <a:srgbClr val="D9E0E7"/>
                      </a:solidFill>
                      <a:prstDash val="solid"/>
                    </a:lnR>
                    <a:lnT w="6668">
                      <a:solidFill>
                        <a:srgbClr val="D9E0E7"/>
                      </a:solidFill>
                      <a:prstDash val="solid"/>
                    </a:lnT>
                    <a:lnB w="6668">
                      <a:solidFill>
                        <a:srgbClr val="D9E0E7"/>
                      </a:solidFill>
                      <a:prstDash val="solid"/>
                    </a:lnB>
                    <a:solidFill>
                      <a:srgbClr val="004D73"/>
                    </a:solidFill>
                  </a:tcPr>
                </a:tc>
              </a:tr>
              <a:tr h="621030">
                <a:tc>
                  <a:txBody>
                    <a:bodyPr lIns="85725" tIns="85725" rIns="85725" bIns="85725">
                      <a:noAutofit/>
                    </a:bodyPr>
                    <a:lstStyle/>
                    <a:p>
                      <a:pPr algn="l"/>
                      <a:r>
                        <a:rPr sz="1800" b="1">
                          <a:solidFill>
                            <a:srgbClr val="182C43"/>
                          </a:solidFill>
                          <a:latin typeface="Arial"/>
                          <a:ea typeface="Arial"/>
                          <a:cs typeface="Arial"/>
                        </a:rPr>
                        <a:t>Feature / target</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800" b="0">
                          <a:solidFill>
                            <a:srgbClr val="182C43"/>
                          </a:solidFill>
                          <a:latin typeface="Arial"/>
                          <a:ea typeface="Arial"/>
                          <a:cs typeface="Arial"/>
                        </a:rPr>
                        <a:t>Observed input / future outcome to predict</a:t>
                      </a:r>
                    </a:p>
                  </a:txBody>
                  <a:tcPr marL="85725" marR="85725" marT="19050" marB="19050" anchor="ctr">
                    <a:lnR w="6668">
                      <a:solidFill>
                        <a:srgbClr val="D9E0E7"/>
                      </a:solidFill>
                      <a:prstDash val="solid"/>
                    </a:lnR>
                    <a:lnB w="6668">
                      <a:solidFill>
                        <a:srgbClr val="D9E0E7"/>
                      </a:solidFill>
                      <a:prstDash val="solid"/>
                    </a:lnB>
                    <a:solidFill>
                      <a:srgbClr val="FFFFFF"/>
                    </a:solidFill>
                  </a:tcPr>
                </a:tc>
              </a:tr>
              <a:tr h="621030">
                <a:tc>
                  <a:txBody>
                    <a:bodyPr lIns="85725" tIns="85725" rIns="85725" bIns="85725">
                      <a:noAutofit/>
                    </a:bodyPr>
                    <a:lstStyle/>
                    <a:p>
                      <a:pPr algn="l"/>
                      <a:r>
                        <a:rPr sz="1800" b="1">
                          <a:solidFill>
                            <a:srgbClr val="182C43"/>
                          </a:solidFill>
                          <a:latin typeface="Arial"/>
                          <a:ea typeface="Arial"/>
                          <a:cs typeface="Arial"/>
                        </a:rPr>
                        <a:t>Signal</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1F4F7"/>
                    </a:solidFill>
                  </a:tcPr>
                </a:tc>
                <a:tc>
                  <a:txBody>
                    <a:bodyPr lIns="85725" tIns="85725" rIns="85725" bIns="85725">
                      <a:noAutofit/>
                    </a:bodyPr>
                    <a:lstStyle/>
                    <a:p>
                      <a:pPr algn="l"/>
                      <a:r>
                        <a:rPr sz="1800" b="0">
                          <a:solidFill>
                            <a:srgbClr val="182C43"/>
                          </a:solidFill>
                          <a:latin typeface="Arial"/>
                          <a:ea typeface="Arial"/>
                          <a:cs typeface="Arial"/>
                        </a:rPr>
                        <a:t>Measured evidence that proposes an action</a:t>
                      </a:r>
                    </a:p>
                  </a:txBody>
                  <a:tcPr marL="85725" marR="85725" marT="19050" marB="19050" anchor="ctr">
                    <a:lnR w="6668">
                      <a:solidFill>
                        <a:srgbClr val="D9E0E7"/>
                      </a:solidFill>
                      <a:prstDash val="solid"/>
                    </a:lnR>
                    <a:lnB w="6668">
                      <a:solidFill>
                        <a:srgbClr val="D9E0E7"/>
                      </a:solidFill>
                      <a:prstDash val="solid"/>
                    </a:lnB>
                    <a:solidFill>
                      <a:srgbClr val="F1F4F7"/>
                    </a:solidFill>
                  </a:tcPr>
                </a:tc>
              </a:tr>
              <a:tr h="621030">
                <a:tc>
                  <a:txBody>
                    <a:bodyPr lIns="85725" tIns="85725" rIns="85725" bIns="85725">
                      <a:noAutofit/>
                    </a:bodyPr>
                    <a:lstStyle/>
                    <a:p>
                      <a:pPr algn="l"/>
                      <a:r>
                        <a:rPr sz="1800" b="1">
                          <a:solidFill>
                            <a:srgbClr val="182C43"/>
                          </a:solidFill>
                          <a:latin typeface="Arial"/>
                          <a:ea typeface="Arial"/>
                          <a:cs typeface="Arial"/>
                        </a:rPr>
                        <a:t>Lookback / horizon</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800" b="0">
                          <a:solidFill>
                            <a:srgbClr val="182C43"/>
                          </a:solidFill>
                          <a:latin typeface="Arial"/>
                          <a:ea typeface="Arial"/>
                          <a:cs typeface="Arial"/>
                        </a:rPr>
                        <a:t>Past window / forecast or holding period</a:t>
                      </a:r>
                    </a:p>
                  </a:txBody>
                  <a:tcPr marL="85725" marR="85725" marT="19050" marB="19050" anchor="ctr">
                    <a:lnR w="6668">
                      <a:solidFill>
                        <a:srgbClr val="D9E0E7"/>
                      </a:solidFill>
                      <a:prstDash val="solid"/>
                    </a:lnR>
                    <a:lnB w="6668">
                      <a:solidFill>
                        <a:srgbClr val="D9E0E7"/>
                      </a:solidFill>
                      <a:prstDash val="solid"/>
                    </a:lnB>
                    <a:solidFill>
                      <a:srgbClr val="FFFFFF"/>
                    </a:solidFill>
                  </a:tcPr>
                </a:tc>
              </a:tr>
              <a:tr h="621030">
                <a:tc>
                  <a:txBody>
                    <a:bodyPr lIns="85725" tIns="85725" rIns="85725" bIns="85725">
                      <a:noAutofit/>
                    </a:bodyPr>
                    <a:lstStyle/>
                    <a:p>
                      <a:pPr algn="l"/>
                      <a:r>
                        <a:rPr sz="1800" b="1">
                          <a:solidFill>
                            <a:srgbClr val="182C43"/>
                          </a:solidFill>
                          <a:latin typeface="Arial"/>
                          <a:ea typeface="Arial"/>
                          <a:cs typeface="Arial"/>
                        </a:rPr>
                        <a:t>Parameter</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1F4F7"/>
                    </a:solidFill>
                  </a:tcPr>
                </a:tc>
                <a:tc>
                  <a:txBody>
                    <a:bodyPr lIns="85725" tIns="85725" rIns="85725" bIns="85725">
                      <a:noAutofit/>
                    </a:bodyPr>
                    <a:lstStyle/>
                    <a:p>
                      <a:pPr algn="l"/>
                      <a:r>
                        <a:rPr sz="1800" b="0">
                          <a:solidFill>
                            <a:srgbClr val="182C43"/>
                          </a:solidFill>
                          <a:latin typeface="Arial"/>
                          <a:ea typeface="Arial"/>
                          <a:cs typeface="Arial"/>
                        </a:rPr>
                        <a:t>Chosen setting, such as a window or threshold</a:t>
                      </a:r>
                    </a:p>
                  </a:txBody>
                  <a:tcPr marL="85725" marR="85725" marT="19050" marB="19050" anchor="ctr">
                    <a:lnR w="6668">
                      <a:solidFill>
                        <a:srgbClr val="D9E0E7"/>
                      </a:solidFill>
                      <a:prstDash val="solid"/>
                    </a:lnR>
                    <a:lnB w="6668">
                      <a:solidFill>
                        <a:srgbClr val="D9E0E7"/>
                      </a:solidFill>
                      <a:prstDash val="solid"/>
                    </a:lnB>
                    <a:solidFill>
                      <a:srgbClr val="F1F4F7"/>
                    </a:solidFill>
                  </a:tcPr>
                </a:tc>
              </a:tr>
              <a:tr h="621030">
                <a:tc>
                  <a:txBody>
                    <a:bodyPr lIns="85725" tIns="85725" rIns="85725" bIns="85725">
                      <a:noAutofit/>
                    </a:bodyPr>
                    <a:lstStyle/>
                    <a:p>
                      <a:pPr algn="l"/>
                      <a:r>
                        <a:rPr sz="1800" b="1">
                          <a:solidFill>
                            <a:srgbClr val="182C43"/>
                          </a:solidFill>
                          <a:latin typeface="Arial"/>
                          <a:ea typeface="Arial"/>
                          <a:cs typeface="Arial"/>
                        </a:rPr>
                        <a:t>Filter / regime</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800" b="0">
                          <a:solidFill>
                            <a:srgbClr val="182C43"/>
                          </a:solidFill>
                          <a:latin typeface="Arial"/>
                          <a:ea typeface="Arial"/>
                          <a:cs typeface="Arial"/>
                        </a:rPr>
                        <a:t>Entry restriction / estimated market condition</a:t>
                      </a:r>
                    </a:p>
                  </a:txBody>
                  <a:tcPr marL="85725" marR="85725" marT="19050" marB="19050" anchor="ctr">
                    <a:lnR w="6668">
                      <a:solidFill>
                        <a:srgbClr val="D9E0E7"/>
                      </a:solidFill>
                      <a:prstDash val="solid"/>
                    </a:lnR>
                    <a:lnB w="6668">
                      <a:solidFill>
                        <a:srgbClr val="D9E0E7"/>
                      </a:solidFill>
                      <a:prstDash val="solid"/>
                    </a:lnB>
                    <a:solidFill>
                      <a:srgbClr val="FFFFFF"/>
                    </a:solidFill>
                  </a:tcPr>
                </a:tc>
              </a:tr>
            </a:tbl>
          </a:graphicData>
        </a:graphic>
      </p:graphicFrame>
      <p:sp>
        <p:nvSpPr>
          <p:cNvPr id="25" name="From explanation to expected profit">
            <a:extLst xmlns:a="http://schemas.openxmlformats.org/drawingml/2006/main">
              <a:ext uri="{FF2B5EF4-FFF2-40B4-BE49-F238E27FC236}">
                <a16:creationId xmlns:a16="http://schemas.microsoft.com/office/drawing/2014/main" id="{1E380949-B2AB-4452-99BF-31E9823AA5DA}"/>
              </a:ext>
            </a:extLst>
          </p:cNvPr>
          <p:cNvSpPr>
            <a:spLocks xmlns:a="http://schemas.openxmlformats.org/drawingml/2006/main" noGrp="1"/>
          </p:cNvSpPr>
          <p:nvPr/>
        </p:nvSpPr>
        <p:spPr>
          <a:xfrm xmlns:a="http://schemas.openxmlformats.org/drawingml/2006/main">
            <a:off x="6248400" y="1581150"/>
            <a:ext cx="533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FF5400"/>
                </a:solidFill>
                <a:latin typeface="Arial"/>
                <a:ea typeface="Arial"/>
                <a:cs typeface="Arial"/>
              </a:defRPr>
            </a:defPPr>
          </a:lstStyle>
          <a:p xmlns:a="http://schemas.openxmlformats.org/drawingml/2006/main">
            <a:pPr algn="l">
              <a:defRPr sz="2100" b="1">
                <a:solidFill>
                  <a:srgbClr val="FF5400"/>
                </a:solidFill>
                <a:latin typeface="Arial"/>
                <a:ea typeface="Arial"/>
                <a:cs typeface="Arial"/>
              </a:defRPr>
            </a:pPr>
            <a:r>
              <a:rPr sz="2100" b="1">
                <a:solidFill>
                  <a:srgbClr val="FF5400"/>
                </a:solidFill>
                <a:latin typeface="Arial"/>
                <a:ea typeface="Arial"/>
                <a:cs typeface="Arial"/>
              </a:rPr>
              <a:t>From explanation to expected profit</a:t>
            </a:r>
          </a:p>
        </p:txBody>
      </p:sp>
      <p:sp>
        <p:nvSpPr>
          <p:cNvPr id="26" name="">
            <a:extLst xmlns:a="http://schemas.openxmlformats.org/drawingml/2006/main">
              <a:ext uri="{FF2B5EF4-FFF2-40B4-BE49-F238E27FC236}">
                <a16:creationId xmlns:a16="http://schemas.microsoft.com/office/drawing/2014/main" id="{3FA1BD82-6860-4581-BC21-5DAD1E8D1486}"/>
              </a:ext>
            </a:extLst>
          </p:cNvPr>
          <p:cNvSpPr>
            <a:spLocks xmlns:a="http://schemas.openxmlformats.org/drawingml/2006/main" noGrp="1"/>
          </p:cNvSpPr>
          <p:nvPr/>
        </p:nvSpPr>
        <p:spPr>
          <a:xfrm xmlns:a="http://schemas.openxmlformats.org/drawingml/2006/main">
            <a:off x="6248400" y="2028825"/>
            <a:ext cx="53340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182C43"/>
                </a:solidFill>
                <a:latin typeface="Arial"/>
                <a:ea typeface="Arial"/>
                <a:cs typeface="Arial"/>
              </a:defRPr>
            </a:defPPr>
          </a:lstStyle>
          <a:p xmlns:a="http://schemas.openxmlformats.org/drawingml/2006/main">
            <a:pPr marL="266700" indent="-152400" algn="l">
              <a:spcAft>
                <a:spcPts val="600"/>
              </a:spcAft>
              <a:buChar char="•"/>
              <a:defRPr sz="1875" b="0">
                <a:solidFill>
                  <a:srgbClr val="182C43"/>
                </a:solidFill>
                <a:latin typeface="Arial"/>
                <a:ea typeface="Arial"/>
                <a:cs typeface="Arial"/>
              </a:defRPr>
            </a:pPr>
            <a:r>
              <a:rPr sz="1875" b="1">
                <a:solidFill>
                  <a:srgbClr val="182C43"/>
                </a:solidFill>
                <a:latin typeface="Arial"/>
                <a:ea typeface="Arial"/>
                <a:cs typeface="Arial"/>
              </a:rPr>
              <a:t>Hypothesis:</a:t>
            </a:r>
            <a:r>
              <a:rPr sz="1875">
                <a:solidFill>
                  <a:srgbClr val="182C43"/>
                </a:solidFill>
                <a:latin typeface="Arial"/>
                <a:ea typeface="Arial"/>
                <a:cs typeface="Arial"/>
              </a:rPr>
              <a:t> explain why an effect might exist and what observations could reject it.</a:t>
            </a:r>
          </a:p>
          <a:p xmlns:a="http://schemas.openxmlformats.org/drawingml/2006/main">
            <a:pPr marL="266700" indent="-152400" algn="l">
              <a:spcAft>
                <a:spcPts val="600"/>
              </a:spcAft>
              <a:buChar char="•"/>
              <a:defRPr sz="1875" b="0">
                <a:solidFill>
                  <a:srgbClr val="182C43"/>
                </a:solidFill>
                <a:latin typeface="Arial"/>
                <a:ea typeface="Arial"/>
                <a:cs typeface="Arial"/>
              </a:defRPr>
            </a:pPr>
            <a:r>
              <a:rPr sz="1875" b="1">
                <a:solidFill>
                  <a:srgbClr val="182C43"/>
                </a:solidFill>
                <a:latin typeface="Arial"/>
                <a:ea typeface="Arial"/>
                <a:cs typeface="Arial"/>
              </a:rPr>
              <a:t>Edge:</a:t>
            </a:r>
            <a:r>
              <a:rPr sz="1875">
                <a:solidFill>
                  <a:srgbClr val="182C43"/>
                </a:solidFill>
                <a:latin typeface="Arial"/>
                <a:ea typeface="Arial"/>
                <a:cs typeface="Arial"/>
              </a:rPr>
              <a:t> an estimated advantage after realistic costs, with uncertainty about future results.</a:t>
            </a:r>
          </a:p>
          <a:p xmlns:a="http://schemas.openxmlformats.org/drawingml/2006/main">
            <a:pPr marL="266700" indent="-152400" algn="l">
              <a:spcAft>
                <a:spcPts val="600"/>
              </a:spcAft>
              <a:buChar char="•"/>
              <a:defRPr sz="1875" b="0">
                <a:solidFill>
                  <a:srgbClr val="182C43"/>
                </a:solidFill>
                <a:latin typeface="Arial"/>
                <a:ea typeface="Arial"/>
                <a:cs typeface="Arial"/>
              </a:defRPr>
            </a:pPr>
            <a:r>
              <a:rPr sz="1875" b="1">
                <a:solidFill>
                  <a:srgbClr val="182C43"/>
                </a:solidFill>
                <a:latin typeface="Arial"/>
                <a:ea typeface="Arial"/>
                <a:cs typeface="Arial"/>
              </a:rPr>
              <a:t>Expectancy:</a:t>
            </a:r>
            <a:r>
              <a:rPr sz="1875">
                <a:solidFill>
                  <a:srgbClr val="182C43"/>
                </a:solidFill>
                <a:latin typeface="Arial"/>
                <a:ea typeface="Arial"/>
                <a:cs typeface="Arial"/>
              </a:rPr>
              <a:t> win probability × average win, minus loss probability × average loss.</a:t>
            </a:r>
          </a:p>
          <a:p xmlns:a="http://schemas.openxmlformats.org/drawingml/2006/main">
            <a:pPr marL="266700" indent="-152400" algn="l">
              <a:spcAft>
                <a:spcPts val="600"/>
              </a:spcAft>
              <a:buChar char="•"/>
              <a:defRPr sz="1875" b="0">
                <a:solidFill>
                  <a:srgbClr val="182C43"/>
                </a:solidFill>
                <a:latin typeface="Arial"/>
                <a:ea typeface="Arial"/>
                <a:cs typeface="Arial"/>
              </a:defRPr>
            </a:pPr>
            <a:r>
              <a:rPr sz="1875" b="1">
                <a:solidFill>
                  <a:srgbClr val="182C43"/>
                </a:solidFill>
                <a:latin typeface="Arial"/>
                <a:ea typeface="Arial"/>
                <a:cs typeface="Arial"/>
              </a:rPr>
              <a:t>Example:</a:t>
            </a:r>
            <a:r>
              <a:rPr sz="1875">
                <a:solidFill>
                  <a:srgbClr val="182C43"/>
                </a:solidFill>
                <a:latin typeface="Arial"/>
                <a:ea typeface="Arial"/>
                <a:cs typeface="Arial"/>
              </a:rPr>
              <a:t> 40% wins averaging $30 net and 60% losses averaging $10 net give $6 per trade.</a:t>
            </a:r>
          </a:p>
        </p:txBody>
      </p:sp>
      <p:sp>
        <p:nvSpPr>
          <p:cNvPr id="27" name="0.40 × $30 - 0.60 × $10 = $6">
            <a:extLst xmlns:a="http://schemas.openxmlformats.org/drawingml/2006/main">
              <a:ext uri="{FF2B5EF4-FFF2-40B4-BE49-F238E27FC236}">
                <a16:creationId xmlns:a16="http://schemas.microsoft.com/office/drawing/2014/main" id="{44AF6B03-14AD-4BEB-AEA1-7F62073763E8}"/>
              </a:ext>
            </a:extLst>
          </p:cNvPr>
          <p:cNvSpPr>
            <a:spLocks xmlns:a="http://schemas.openxmlformats.org/drawingml/2006/main" noGrp="1"/>
          </p:cNvSpPr>
          <p:nvPr/>
        </p:nvSpPr>
        <p:spPr>
          <a:xfrm xmlns:a="http://schemas.openxmlformats.org/drawingml/2006/main">
            <a:off x="6248400" y="5638800"/>
            <a:ext cx="533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1">
                <a:solidFill>
                  <a:srgbClr val="004D73"/>
                </a:solidFill>
                <a:latin typeface="Arial"/>
                <a:ea typeface="Arial"/>
                <a:cs typeface="Arial"/>
              </a:defRPr>
            </a:defPPr>
          </a:lstStyle>
          <a:p xmlns:a="http://schemas.openxmlformats.org/drawingml/2006/main">
            <a:pPr algn="l">
              <a:defRPr sz="2250" b="1">
                <a:solidFill>
                  <a:srgbClr val="004D73"/>
                </a:solidFill>
                <a:latin typeface="Arial"/>
                <a:ea typeface="Arial"/>
                <a:cs typeface="Arial"/>
              </a:defRPr>
            </a:pPr>
            <a:r>
              <a:rPr sz="2250" b="1">
                <a:solidFill>
                  <a:srgbClr val="004D73"/>
                </a:solidFill>
                <a:latin typeface="Arial"/>
                <a:ea typeface="Arial"/>
                <a:cs typeface="Arial"/>
              </a:rPr>
              <a:t>0.40 × $30 - 0.60 × $10 = $6</a:t>
            </a:r>
          </a:p>
        </p:txBody>
      </p:sp>
      <p:sp>
        <p:nvSpPr>
          <p:cNvPr id="28" name="">
            <a:extLst xmlns:a="http://schemas.openxmlformats.org/drawingml/2006/main">
              <a:ext uri="{FF2B5EF4-FFF2-40B4-BE49-F238E27FC236}">
                <a16:creationId xmlns:a16="http://schemas.microsoft.com/office/drawing/2014/main" id="{1F563433-85F4-47D8-964F-D91D92557A7A}"/>
              </a:ext>
            </a:extLst>
          </p:cNvPr>
          <p:cNvSpPr>
            <a:spLocks xmlns:a="http://schemas.openxmlformats.org/drawingml/2006/main" noGrp="1"/>
          </p:cNvSpPr>
          <p:nvPr/>
        </p:nvSpPr>
        <p:spPr>
          <a:xfrm xmlns:a="http://schemas.openxmlformats.org/drawingml/2006/main">
            <a:off x="609600" y="5857875"/>
            <a:ext cx="5257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0">
                <a:solidFill>
                  <a:srgbClr val="182C43"/>
                </a:solidFill>
                <a:latin typeface="Arial"/>
                <a:ea typeface="Arial"/>
                <a:cs typeface="Arial"/>
              </a:defRPr>
            </a:defPPr>
          </a:lstStyle>
          <a:p xmlns:a="http://schemas.openxmlformats.org/drawingml/2006/main">
            <a:pPr marL="266700" indent="-152400" algn="l">
              <a:spcAft>
                <a:spcPts val="0"/>
              </a:spcAft>
              <a:buChar char="•"/>
              <a:defRPr sz="1650" b="0">
                <a:solidFill>
                  <a:srgbClr val="182C43"/>
                </a:solidFill>
                <a:latin typeface="Arial"/>
                <a:ea typeface="Arial"/>
                <a:cs typeface="Arial"/>
              </a:defRPr>
            </a:pPr>
            <a:r>
              <a:rPr sz="1650" b="1">
                <a:solidFill>
                  <a:srgbClr val="182C43"/>
                </a:solidFill>
                <a:latin typeface="Arial"/>
                <a:ea typeface="Arial"/>
                <a:cs typeface="Arial"/>
              </a:rPr>
              <a:t>Versioned test:</a:t>
            </a:r>
            <a:r>
              <a:rPr sz="1650">
                <a:solidFill>
                  <a:srgbClr val="182C43"/>
                </a:solidFill>
                <a:latin typeface="Arial"/>
                <a:ea typeface="Arial"/>
                <a:cs typeface="Arial"/>
              </a:rPr>
              <a:t> fixed rules, dates and costs.</a:t>
            </a:r>
          </a:p>
        </p:txBody>
      </p:sp>
    </p:spTree>
    <p:extLst>
      <p:ext uri="{BB962C8B-B14F-4D97-AF65-F5344CB8AC3E}">
        <p14:creationId xmlns:p14="http://schemas.microsoft.com/office/powerpoint/2010/main" val="170561972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HARED COURSE">
            <a:extLst xmlns:a="http://schemas.openxmlformats.org/drawingml/2006/main">
              <a:ext uri="{FF2B5EF4-FFF2-40B4-BE49-F238E27FC236}">
                <a16:creationId xmlns:a16="http://schemas.microsoft.com/office/drawing/2014/main" id="{00F3081A-A957-4B77-A4D0-A1AF86EA5CF4}"/>
              </a:ext>
            </a:extLst>
          </p:cNvPr>
          <p:cNvSpPr>
            <a:spLocks xmlns:a="http://schemas.openxmlformats.org/drawingml/2006/main" noGrp="1"/>
          </p:cNvSpPr>
          <p:nvPr/>
        </p:nvSpPr>
        <p:spPr>
          <a:xfrm xmlns:a="http://schemas.openxmlformats.org/drawingml/2006/main">
            <a:off x="609600" y="285750"/>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FF5400"/>
                </a:solidFill>
                <a:latin typeface="Arial"/>
                <a:ea typeface="Arial"/>
                <a:cs typeface="Arial"/>
              </a:defRPr>
            </a:defPPr>
          </a:lstStyle>
          <a:p xmlns:a="http://schemas.openxmlformats.org/drawingml/2006/main">
            <a:pPr algn="l">
              <a:buNone/>
              <a:defRPr sz="1350" b="1">
                <a:solidFill>
                  <a:srgbClr val="FF5400"/>
                </a:solidFill>
                <a:latin typeface="Arial"/>
                <a:ea typeface="Arial"/>
                <a:cs typeface="Arial"/>
              </a:defRPr>
            </a:pPr>
            <a:r>
              <a:rPr sz="1350" b="1">
                <a:solidFill>
                  <a:srgbClr val="FF5400"/>
                </a:solidFill>
                <a:latin typeface="Arial"/>
                <a:ea typeface="Arial"/>
                <a:cs typeface="Arial"/>
              </a:rPr>
              <a:t>SHARED COURSE</a:t>
            </a:r>
          </a:p>
        </p:txBody>
      </p:sp>
      <p:sp>
        <p:nvSpPr>
          <p:cNvPr id="2" name="Slide title">
            <a:extLst xmlns:a="http://schemas.openxmlformats.org/drawingml/2006/main">
              <a:ext uri="{FF2B5EF4-FFF2-40B4-BE49-F238E27FC236}">
                <a16:creationId xmlns:a16="http://schemas.microsoft.com/office/drawing/2014/main" id="{381F2190-981F-4C05-8E70-CDBC96223566}"/>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004D73"/>
                </a:solidFill>
                <a:latin typeface="Arial"/>
                <a:ea typeface="Arial"/>
                <a:cs typeface="Arial"/>
              </a:defRPr>
            </a:defPPr>
          </a:lstStyle>
          <a:p xmlns:a="http://schemas.openxmlformats.org/drawingml/2006/main">
            <a:pPr algn="l">
              <a:buNone/>
              <a:defRPr sz="3300" b="1">
                <a:solidFill>
                  <a:srgbClr val="004D73"/>
                </a:solidFill>
                <a:latin typeface="Arial"/>
                <a:ea typeface="Arial"/>
                <a:cs typeface="Arial"/>
              </a:defRPr>
            </a:pPr>
            <a:r>
              <a:rPr sz="3300" b="1">
                <a:solidFill>
                  <a:srgbClr val="004D73"/>
                </a:solidFill>
                <a:latin typeface="Arial"/>
                <a:ea typeface="Arial"/>
                <a:cs typeface="Arial"/>
              </a:rPr>
              <a:t>A complete strategy specification</a:t>
            </a:r>
          </a:p>
        </p:txBody>
      </p:sp>
      <p:sp>
        <p:nvSpPr>
          <p:cNvPr id="3" name="SHPE CAPITAL    OCTOBER 13, 2026">
            <a:extLst xmlns:a="http://schemas.openxmlformats.org/drawingml/2006/main">
              <a:ext uri="{FF2B5EF4-FFF2-40B4-BE49-F238E27FC236}">
                <a16:creationId xmlns:a16="http://schemas.microsoft.com/office/drawing/2014/main" id="{776ACD19-E066-41BE-9A97-6C056E80B679}"/>
              </a:ext>
            </a:extLst>
          </p:cNvPr>
          <p:cNvSpPr>
            <a:spLocks xmlns:a="http://schemas.openxmlformats.org/drawingml/2006/main" noGrp="1"/>
          </p:cNvSpPr>
          <p:nvPr/>
        </p:nvSpPr>
        <p:spPr>
          <a:xfrm xmlns:a="http://schemas.openxmlformats.org/drawingml/2006/main">
            <a:off x="609600" y="6438900"/>
            <a:ext cx="771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SHPE CAPITAL    OCTOBER 13, 2026</a:t>
            </a:r>
          </a:p>
        </p:txBody>
      </p:sp>
      <p:sp>
        <p:nvSpPr>
          <p:cNvPr id="4" name="13:00-14:30">
            <a:extLst xmlns:a="http://schemas.openxmlformats.org/drawingml/2006/main">
              <a:ext uri="{FF2B5EF4-FFF2-40B4-BE49-F238E27FC236}">
                <a16:creationId xmlns:a16="http://schemas.microsoft.com/office/drawing/2014/main" id="{754DADFE-211B-4E9C-A2B5-293BCFAA9E28}"/>
              </a:ext>
            </a:extLst>
          </p:cNvPr>
          <p:cNvSpPr>
            <a:spLocks xmlns:a="http://schemas.openxmlformats.org/drawingml/2006/main" noGrp="1"/>
          </p:cNvSpPr>
          <p:nvPr/>
        </p:nvSpPr>
        <p:spPr>
          <a:xfrm xmlns:a="http://schemas.openxmlformats.org/drawingml/2006/main">
            <a:off x="9029700" y="643890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13:30-14:30</a:t>
            </a:r>
          </a:p>
        </p:txBody>
      </p:sp>
      <p:sp>
        <p:nvSpPr>
          <p:cNvPr id="5" name="0">
            <a:extLst xmlns:a="http://schemas.openxmlformats.org/drawingml/2006/main">
              <a:ext uri="{FF2B5EF4-FFF2-40B4-BE49-F238E27FC236}">
                <a16:creationId xmlns:a16="http://schemas.microsoft.com/office/drawing/2014/main" id="{09EF13AD-F5BB-42E5-B5EA-6005FF1E65CE}"/>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14</a:t>
            </a:r>
          </a:p>
        </p:txBody>
      </p:sp>
      <p:graphicFrame>
        <p:nvGraphicFramePr>
          <p:cNvPr id="17" name="">
            <a:extLst xmlns:a="http://schemas.openxmlformats.org/drawingml/2006/main">
              <a:ext uri="{FF2B5EF4-FFF2-40B4-BE49-F238E27FC236}">
                <a16:creationId xmlns:a16="http://schemas.microsoft.com/office/drawing/2014/main" id="{2981D74E-FF77-4072-AC66-16BF65FF1072}"/>
              </a:ext>
            </a:extLst>
          </p:cNvPr>
          <p:cNvGraphicFramePr/>
          <p:nvPr/>
        </p:nvGraphicFramePr>
        <p:xfrm>
          <a:off xmlns:a="http://schemas.openxmlformats.org/drawingml/2006/main" x="609600" y="1676400"/>
          <a:ext xmlns:a="http://schemas.openxmlformats.org/drawingml/2006/main" cx="10972800" cy="3914775"/>
        </p:xfrm>
        <a:graphic xmlns:a="http://schemas.openxmlformats.org/drawingml/2006/main">
          <a:graphicData uri="http://schemas.openxmlformats.org/drawingml/2006/table">
            <a:tbl>
              <a:tblPr firstRow="1" bandRow="0"/>
              <a:tblGrid>
                <a:gridCol w="2095500"/>
                <a:gridCol w="4438650"/>
                <a:gridCol w="4438650"/>
              </a:tblGrid>
              <a:tr h="419100">
                <a:tc>
                  <a:txBody>
                    <a:bodyPr lIns="85725" tIns="85725" rIns="85725" bIns="85725">
                      <a:noAutofit/>
                    </a:bodyPr>
                    <a:lstStyle/>
                    <a:p>
                      <a:pPr algn="l"/>
                      <a:r>
                        <a:rPr sz="1800" b="1">
                          <a:solidFill>
                            <a:srgbClr val="FFFFFF"/>
                          </a:solidFill>
                          <a:latin typeface="Arial"/>
                          <a:ea typeface="Arial"/>
                          <a:cs typeface="Arial"/>
                        </a:rPr>
                        <a:t>Decision</a:t>
                      </a:r>
                    </a:p>
                  </a:txBody>
                  <a:tcPr marL="85725" marR="85725" marT="19050" marB="19050" anchor="ctr">
                    <a:lnL w="6668">
                      <a:solidFill>
                        <a:srgbClr val="D9E0E7"/>
                      </a:solidFill>
                      <a:prstDash val="solid"/>
                    </a:lnL>
                    <a:lnR w="6668">
                      <a:solidFill>
                        <a:srgbClr val="D9E0E7"/>
                      </a:solidFill>
                      <a:prstDash val="solid"/>
                    </a:lnR>
                    <a:lnT w="6668">
                      <a:solidFill>
                        <a:srgbClr val="D9E0E7"/>
                      </a:solidFill>
                      <a:prstDash val="solid"/>
                    </a:lnT>
                    <a:lnB w="6668">
                      <a:solidFill>
                        <a:srgbClr val="D9E0E7"/>
                      </a:solidFill>
                      <a:prstDash val="solid"/>
                    </a:lnB>
                    <a:solidFill>
                      <a:srgbClr val="004D73"/>
                    </a:solidFill>
                  </a:tcPr>
                </a:tc>
                <a:tc>
                  <a:txBody>
                    <a:bodyPr lIns="85725" tIns="85725" rIns="85725" bIns="85725">
                      <a:noAutofit/>
                    </a:bodyPr>
                    <a:lstStyle/>
                    <a:p>
                      <a:pPr algn="l"/>
                      <a:r>
                        <a:rPr sz="1800" b="1">
                          <a:solidFill>
                            <a:srgbClr val="FFFFFF"/>
                          </a:solidFill>
                          <a:latin typeface="Arial"/>
                          <a:ea typeface="Arial"/>
                          <a:cs typeface="Arial"/>
                        </a:rPr>
                        <a:t>What to define</a:t>
                      </a:r>
                    </a:p>
                  </a:txBody>
                  <a:tcPr marL="85725" marR="85725" marT="19050" marB="19050" anchor="ctr">
                    <a:lnR w="6668">
                      <a:solidFill>
                        <a:srgbClr val="D9E0E7"/>
                      </a:solidFill>
                      <a:prstDash val="solid"/>
                    </a:lnR>
                    <a:lnT w="6668">
                      <a:solidFill>
                        <a:srgbClr val="D9E0E7"/>
                      </a:solidFill>
                      <a:prstDash val="solid"/>
                    </a:lnT>
                    <a:lnB w="6668">
                      <a:solidFill>
                        <a:srgbClr val="D9E0E7"/>
                      </a:solidFill>
                      <a:prstDash val="solid"/>
                    </a:lnB>
                    <a:solidFill>
                      <a:srgbClr val="004D73"/>
                    </a:solidFill>
                  </a:tcPr>
                </a:tc>
                <a:tc>
                  <a:txBody>
                    <a:bodyPr lIns="85725" tIns="85725" rIns="85725" bIns="85725">
                      <a:noAutofit/>
                    </a:bodyPr>
                    <a:lstStyle/>
                    <a:p>
                      <a:pPr algn="l"/>
                      <a:r>
                        <a:rPr sz="1800" b="1">
                          <a:solidFill>
                            <a:srgbClr val="FFFFFF"/>
                          </a:solidFill>
                          <a:latin typeface="Arial"/>
                          <a:ea typeface="Arial"/>
                          <a:cs typeface="Arial"/>
                        </a:rPr>
                        <a:t>Illustrative design choice</a:t>
                      </a:r>
                    </a:p>
                  </a:txBody>
                  <a:tcPr marL="85725" marR="85725" marT="19050" marB="19050" anchor="ctr">
                    <a:lnR w="6668">
                      <a:solidFill>
                        <a:srgbClr val="D9E0E7"/>
                      </a:solidFill>
                      <a:prstDash val="solid"/>
                    </a:lnR>
                    <a:lnT w="6668">
                      <a:solidFill>
                        <a:srgbClr val="D9E0E7"/>
                      </a:solidFill>
                      <a:prstDash val="solid"/>
                    </a:lnT>
                    <a:lnB w="6668">
                      <a:solidFill>
                        <a:srgbClr val="D9E0E7"/>
                      </a:solidFill>
                      <a:prstDash val="solid"/>
                    </a:lnB>
                    <a:solidFill>
                      <a:srgbClr val="004D73"/>
                    </a:solidFill>
                  </a:tcPr>
                </a:tc>
              </a:tr>
              <a:tr h="582613">
                <a:tc>
                  <a:txBody>
                    <a:bodyPr lIns="85725" tIns="85725" rIns="85725" bIns="85725">
                      <a:noAutofit/>
                    </a:bodyPr>
                    <a:lstStyle/>
                    <a:p>
                      <a:pPr algn="l"/>
                      <a:r>
                        <a:rPr sz="1800" b="1">
                          <a:solidFill>
                            <a:srgbClr val="182C43"/>
                          </a:solidFill>
                          <a:latin typeface="Arial"/>
                          <a:ea typeface="Arial"/>
                          <a:cs typeface="Arial"/>
                        </a:rPr>
                        <a:t>Universe and inputs</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800" b="0">
                          <a:solidFill>
                            <a:srgbClr val="182C43"/>
                          </a:solidFill>
                          <a:latin typeface="Arial"/>
                          <a:ea typeface="Arial"/>
                          <a:cs typeface="Arial"/>
                        </a:rPr>
                        <a:t>Symbols, feed, session and required history</a:t>
                      </a:r>
                    </a:p>
                  </a:txBody>
                  <a:tcPr marL="85725" marR="85725" marT="19050" marB="19050" anchor="ctr">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800" b="0">
                          <a:solidFill>
                            <a:srgbClr val="182C43"/>
                          </a:solidFill>
                          <a:latin typeface="Arial"/>
                          <a:ea typeface="Arial"/>
                          <a:cs typeface="Arial"/>
                        </a:rPr>
                        <a:t>Liquid stocks on supported IEX data, completed bars</a:t>
                      </a:r>
                    </a:p>
                  </a:txBody>
                  <a:tcPr marL="85725" marR="85725" marT="19050" marB="19050" anchor="ctr">
                    <a:lnR w="6668">
                      <a:solidFill>
                        <a:srgbClr val="D9E0E7"/>
                      </a:solidFill>
                      <a:prstDash val="solid"/>
                    </a:lnR>
                    <a:lnB w="6668">
                      <a:solidFill>
                        <a:srgbClr val="D9E0E7"/>
                      </a:solidFill>
                      <a:prstDash val="solid"/>
                    </a:lnB>
                    <a:solidFill>
                      <a:srgbClr val="FFFFFF"/>
                    </a:solidFill>
                  </a:tcPr>
                </a:tc>
              </a:tr>
              <a:tr h="582613">
                <a:tc>
                  <a:txBody>
                    <a:bodyPr lIns="85725" tIns="85725" rIns="85725" bIns="85725">
                      <a:noAutofit/>
                    </a:bodyPr>
                    <a:lstStyle/>
                    <a:p>
                      <a:pPr algn="l"/>
                      <a:r>
                        <a:rPr sz="1800" b="1">
                          <a:solidFill>
                            <a:srgbClr val="182C43"/>
                          </a:solidFill>
                          <a:latin typeface="Arial"/>
                          <a:ea typeface="Arial"/>
                          <a:cs typeface="Arial"/>
                        </a:rPr>
                        <a:t>Feature and signal</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1F4F7"/>
                    </a:solidFill>
                  </a:tcPr>
                </a:tc>
                <a:tc>
                  <a:txBody>
                    <a:bodyPr lIns="85725" tIns="85725" rIns="85725" bIns="85725">
                      <a:noAutofit/>
                    </a:bodyPr>
                    <a:lstStyle/>
                    <a:p>
                      <a:pPr algn="l"/>
                      <a:r>
                        <a:rPr sz="1800" b="0">
                          <a:solidFill>
                            <a:srgbClr val="182C43"/>
                          </a:solidFill>
                          <a:latin typeface="Arial"/>
                          <a:ea typeface="Arial"/>
                          <a:cs typeface="Arial"/>
                        </a:rPr>
                        <a:t>Calculation, window, units and entry threshold</a:t>
                      </a:r>
                    </a:p>
                  </a:txBody>
                  <a:tcPr marL="85725" marR="85725" marT="19050" marB="19050" anchor="ctr">
                    <a:lnR w="6668">
                      <a:solidFill>
                        <a:srgbClr val="D9E0E7"/>
                      </a:solidFill>
                      <a:prstDash val="solid"/>
                    </a:lnR>
                    <a:lnB w="6668">
                      <a:solidFill>
                        <a:srgbClr val="D9E0E7"/>
                      </a:solidFill>
                      <a:prstDash val="solid"/>
                    </a:lnB>
                    <a:solidFill>
                      <a:srgbClr val="F1F4F7"/>
                    </a:solidFill>
                  </a:tcPr>
                </a:tc>
                <a:tc>
                  <a:txBody>
                    <a:bodyPr lIns="85725" tIns="85725" rIns="85725" bIns="85725">
                      <a:noAutofit/>
                    </a:bodyPr>
                    <a:lstStyle/>
                    <a:p>
                      <a:pPr algn="l"/>
                      <a:r>
                        <a:rPr sz="1800" b="0">
                          <a:solidFill>
                            <a:srgbClr val="182C43"/>
                          </a:solidFill>
                          <a:latin typeface="Arial"/>
                          <a:ea typeface="Arial"/>
                          <a:cs typeface="Arial"/>
                        </a:rPr>
                        <a:t>Pair residual z-score calculated from earlier observations</a:t>
                      </a:r>
                    </a:p>
                  </a:txBody>
                  <a:tcPr marL="85725" marR="85725" marT="19050" marB="19050" anchor="ctr">
                    <a:lnR w="6668">
                      <a:solidFill>
                        <a:srgbClr val="D9E0E7"/>
                      </a:solidFill>
                      <a:prstDash val="solid"/>
                    </a:lnR>
                    <a:lnB w="6668">
                      <a:solidFill>
                        <a:srgbClr val="D9E0E7"/>
                      </a:solidFill>
                      <a:prstDash val="solid"/>
                    </a:lnB>
                    <a:solidFill>
                      <a:srgbClr val="F1F4F7"/>
                    </a:solidFill>
                  </a:tcPr>
                </a:tc>
              </a:tr>
              <a:tr h="582613">
                <a:tc>
                  <a:txBody>
                    <a:bodyPr lIns="85725" tIns="85725" rIns="85725" bIns="85725">
                      <a:noAutofit/>
                    </a:bodyPr>
                    <a:lstStyle/>
                    <a:p>
                      <a:pPr algn="l"/>
                      <a:r>
                        <a:rPr sz="1800" b="1">
                          <a:solidFill>
                            <a:srgbClr val="182C43"/>
                          </a:solidFill>
                          <a:latin typeface="Arial"/>
                          <a:ea typeface="Arial"/>
                          <a:cs typeface="Arial"/>
                        </a:rPr>
                        <a:t>Eligibility filters</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800" b="0">
                          <a:solidFill>
                            <a:srgbClr val="182C43"/>
                          </a:solidFill>
                          <a:latin typeface="Arial"/>
                          <a:ea typeface="Arial"/>
                          <a:cs typeface="Arial"/>
                        </a:rPr>
                        <a:t>Conditions that permit a candidate entry</a:t>
                      </a:r>
                    </a:p>
                  </a:txBody>
                  <a:tcPr marL="85725" marR="85725" marT="19050" marB="19050" anchor="ctr">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800" b="0">
                          <a:solidFill>
                            <a:srgbClr val="182C43"/>
                          </a:solidFill>
                          <a:latin typeface="Arial"/>
                          <a:ea typeface="Arial"/>
                          <a:cs typeface="Arial"/>
                        </a:rPr>
                        <a:t>Enough history, fresh data and a tested liquidity rule</a:t>
                      </a:r>
                    </a:p>
                  </a:txBody>
                  <a:tcPr marL="85725" marR="85725" marT="19050" marB="19050" anchor="ctr">
                    <a:lnR w="6668">
                      <a:solidFill>
                        <a:srgbClr val="D9E0E7"/>
                      </a:solidFill>
                      <a:prstDash val="solid"/>
                    </a:lnR>
                    <a:lnB w="6668">
                      <a:solidFill>
                        <a:srgbClr val="D9E0E7"/>
                      </a:solidFill>
                      <a:prstDash val="solid"/>
                    </a:lnB>
                    <a:solidFill>
                      <a:srgbClr val="FFFFFF"/>
                    </a:solidFill>
                  </a:tcPr>
                </a:tc>
              </a:tr>
              <a:tr h="582613">
                <a:tc>
                  <a:txBody>
                    <a:bodyPr lIns="85725" tIns="85725" rIns="85725" bIns="85725">
                      <a:noAutofit/>
                    </a:bodyPr>
                    <a:lstStyle/>
                    <a:p>
                      <a:pPr algn="l"/>
                      <a:r>
                        <a:rPr sz="1800" b="1">
                          <a:solidFill>
                            <a:srgbClr val="182C43"/>
                          </a:solidFill>
                          <a:latin typeface="Arial"/>
                          <a:ea typeface="Arial"/>
                          <a:cs typeface="Arial"/>
                        </a:rPr>
                        <a:t>Sizing and execution</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1F4F7"/>
                    </a:solidFill>
                  </a:tcPr>
                </a:tc>
                <a:tc>
                  <a:txBody>
                    <a:bodyPr lIns="85725" tIns="85725" rIns="85725" bIns="85725">
                      <a:noAutofit/>
                    </a:bodyPr>
                    <a:lstStyle/>
                    <a:p>
                      <a:pPr algn="l"/>
                      <a:r>
                        <a:rPr sz="1800" b="0">
                          <a:solidFill>
                            <a:srgbClr val="182C43"/>
                          </a:solidFill>
                          <a:latin typeface="Arial"/>
                          <a:ea typeface="Arial"/>
                          <a:cs typeface="Arial"/>
                        </a:rPr>
                        <a:t>Share/notional limits, order type and expiry</a:t>
                      </a:r>
                    </a:p>
                  </a:txBody>
                  <a:tcPr marL="85725" marR="85725" marT="19050" marB="19050" anchor="ctr">
                    <a:lnR w="6668">
                      <a:solidFill>
                        <a:srgbClr val="D9E0E7"/>
                      </a:solidFill>
                      <a:prstDash val="solid"/>
                    </a:lnR>
                    <a:lnB w="6668">
                      <a:solidFill>
                        <a:srgbClr val="D9E0E7"/>
                      </a:solidFill>
                      <a:prstDash val="solid"/>
                    </a:lnB>
                    <a:solidFill>
                      <a:srgbClr val="F1F4F7"/>
                    </a:solidFill>
                  </a:tcPr>
                </a:tc>
                <a:tc>
                  <a:txBody>
                    <a:bodyPr lIns="85725" tIns="85725" rIns="85725" bIns="85725">
                      <a:noAutofit/>
                    </a:bodyPr>
                    <a:lstStyle/>
                    <a:p>
                      <a:pPr algn="l"/>
                      <a:r>
                        <a:rPr sz="1800" b="0">
                          <a:solidFill>
                            <a:srgbClr val="182C43"/>
                          </a:solidFill>
                          <a:latin typeface="Arial"/>
                          <a:ea typeface="Arial"/>
                          <a:cs typeface="Arial"/>
                        </a:rPr>
                        <a:t>Risk-based shares capped by allocated capital</a:t>
                      </a:r>
                    </a:p>
                  </a:txBody>
                  <a:tcPr marL="85725" marR="85725" marT="19050" marB="19050" anchor="ctr">
                    <a:lnR w="6668">
                      <a:solidFill>
                        <a:srgbClr val="D9E0E7"/>
                      </a:solidFill>
                      <a:prstDash val="solid"/>
                    </a:lnR>
                    <a:lnB w="6668">
                      <a:solidFill>
                        <a:srgbClr val="D9E0E7"/>
                      </a:solidFill>
                      <a:prstDash val="solid"/>
                    </a:lnB>
                    <a:solidFill>
                      <a:srgbClr val="F1F4F7"/>
                    </a:solidFill>
                  </a:tcPr>
                </a:tc>
              </a:tr>
              <a:tr h="582613">
                <a:tc>
                  <a:txBody>
                    <a:bodyPr lIns="85725" tIns="85725" rIns="85725" bIns="85725">
                      <a:noAutofit/>
                    </a:bodyPr>
                    <a:lstStyle/>
                    <a:p>
                      <a:pPr algn="l"/>
                      <a:r>
                        <a:rPr sz="1800" b="1">
                          <a:solidFill>
                            <a:srgbClr val="182C43"/>
                          </a:solidFill>
                          <a:latin typeface="Arial"/>
                          <a:ea typeface="Arial"/>
                          <a:cs typeface="Arial"/>
                        </a:rPr>
                        <a:t>Exits and protection</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800" b="0">
                          <a:solidFill>
                            <a:srgbClr val="182C43"/>
                          </a:solidFill>
                          <a:latin typeface="Arial"/>
                          <a:ea typeface="Arial"/>
                          <a:cs typeface="Arial"/>
                        </a:rPr>
                        <a:t>Profit, loss, time, session and failure behavior</a:t>
                      </a:r>
                    </a:p>
                  </a:txBody>
                  <a:tcPr marL="85725" marR="85725" marT="19050" marB="19050" anchor="ctr">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800" b="0">
                          <a:solidFill>
                            <a:srgbClr val="182C43"/>
                          </a:solidFill>
                          <a:latin typeface="Arial"/>
                          <a:ea typeface="Arial"/>
                          <a:cs typeface="Arial"/>
                        </a:rPr>
                        <a:t>Convergence exit, loss threshold and pre-close flatten</a:t>
                      </a:r>
                    </a:p>
                  </a:txBody>
                  <a:tcPr marL="85725" marR="85725" marT="19050" marB="19050" anchor="ctr">
                    <a:lnR w="6668">
                      <a:solidFill>
                        <a:srgbClr val="D9E0E7"/>
                      </a:solidFill>
                      <a:prstDash val="solid"/>
                    </a:lnR>
                    <a:lnB w="6668">
                      <a:solidFill>
                        <a:srgbClr val="D9E0E7"/>
                      </a:solidFill>
                      <a:prstDash val="solid"/>
                    </a:lnB>
                    <a:solidFill>
                      <a:srgbClr val="FFFFFF"/>
                    </a:solidFill>
                  </a:tcPr>
                </a:tc>
              </a:tr>
              <a:tr h="582613">
                <a:tc>
                  <a:txBody>
                    <a:bodyPr lIns="85725" tIns="85725" rIns="85725" bIns="85725">
                      <a:noAutofit/>
                    </a:bodyPr>
                    <a:lstStyle/>
                    <a:p>
                      <a:pPr algn="l"/>
                      <a:r>
                        <a:rPr sz="1800" b="1">
                          <a:solidFill>
                            <a:srgbClr val="182C43"/>
                          </a:solidFill>
                          <a:latin typeface="Arial"/>
                          <a:ea typeface="Arial"/>
                          <a:cs typeface="Arial"/>
                        </a:rPr>
                        <a:t>Evaluation</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1F4F7"/>
                    </a:solidFill>
                  </a:tcPr>
                </a:tc>
                <a:tc>
                  <a:txBody>
                    <a:bodyPr lIns="85725" tIns="85725" rIns="85725" bIns="85725">
                      <a:noAutofit/>
                    </a:bodyPr>
                    <a:lstStyle/>
                    <a:p>
                      <a:pPr algn="l"/>
                      <a:r>
                        <a:rPr sz="1800" b="0">
                          <a:solidFill>
                            <a:srgbClr val="182C43"/>
                          </a:solidFill>
                          <a:latin typeface="Arial"/>
                          <a:ea typeface="Arial"/>
                          <a:cs typeface="Arial"/>
                        </a:rPr>
                        <a:t>Baseline, date splits, costs and recorded outputs</a:t>
                      </a:r>
                    </a:p>
                  </a:txBody>
                  <a:tcPr marL="85725" marR="85725" marT="19050" marB="19050" anchor="ctr">
                    <a:lnR w="6668">
                      <a:solidFill>
                        <a:srgbClr val="D9E0E7"/>
                      </a:solidFill>
                      <a:prstDash val="solid"/>
                    </a:lnR>
                    <a:lnB w="6668">
                      <a:solidFill>
                        <a:srgbClr val="D9E0E7"/>
                      </a:solidFill>
                      <a:prstDash val="solid"/>
                    </a:lnB>
                    <a:solidFill>
                      <a:srgbClr val="F1F4F7"/>
                    </a:solidFill>
                  </a:tcPr>
                </a:tc>
                <a:tc>
                  <a:txBody>
                    <a:bodyPr lIns="85725" tIns="85725" rIns="85725" bIns="85725">
                      <a:noAutofit/>
                    </a:bodyPr>
                    <a:lstStyle/>
                    <a:p>
                      <a:pPr algn="l"/>
                      <a:r>
                        <a:rPr sz="1800" b="0">
                          <a:solidFill>
                            <a:srgbClr val="182C43"/>
                          </a:solidFill>
                          <a:latin typeface="Arial"/>
                          <a:ea typeface="Arial"/>
                          <a:cs typeface="Arial"/>
                        </a:rPr>
                        <a:t>Locked test, net results and per-trade audit</a:t>
                      </a:r>
                    </a:p>
                  </a:txBody>
                  <a:tcPr marL="85725" marR="85725" marT="19050" marB="19050" anchor="ctr">
                    <a:lnR w="6668">
                      <a:solidFill>
                        <a:srgbClr val="D9E0E7"/>
                      </a:solidFill>
                      <a:prstDash val="solid"/>
                    </a:lnR>
                    <a:lnB w="6668">
                      <a:solidFill>
                        <a:srgbClr val="D9E0E7"/>
                      </a:solidFill>
                      <a:prstDash val="solid"/>
                    </a:lnB>
                    <a:solidFill>
                      <a:srgbClr val="F1F4F7"/>
                    </a:solidFill>
                  </a:tcPr>
                </a:tc>
              </a:tr>
            </a:tbl>
          </a:graphicData>
        </a:graphic>
      </p:graphicFrame>
      <p:sp>
        <p:nvSpPr>
          <p:cNvPr id="18" name="">
            <a:extLst xmlns:a="http://schemas.openxmlformats.org/drawingml/2006/main">
              <a:ext uri="{FF2B5EF4-FFF2-40B4-BE49-F238E27FC236}">
                <a16:creationId xmlns:a16="http://schemas.microsoft.com/office/drawing/2014/main" id="{62982D60-FE7B-43A4-A6A9-B81035F2D030}"/>
              </a:ext>
            </a:extLst>
          </p:cNvPr>
          <p:cNvSpPr>
            <a:spLocks xmlns:a="http://schemas.openxmlformats.org/drawingml/2006/main" noGrp="1"/>
          </p:cNvSpPr>
          <p:nvPr/>
        </p:nvSpPr>
        <p:spPr>
          <a:xfrm xmlns:a="http://schemas.openxmlformats.org/drawingml/2006/main">
            <a:off x="609600" y="57912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182C43"/>
                </a:solidFill>
                <a:latin typeface="Arial"/>
                <a:ea typeface="Arial"/>
                <a:cs typeface="Arial"/>
              </a:defRPr>
            </a:defPPr>
          </a:lstStyle>
          <a:p xmlns:a="http://schemas.openxmlformats.org/drawingml/2006/main">
            <a:pPr marL="266700" indent="-152400" algn="l">
              <a:spcAft>
                <a:spcPts val="300"/>
              </a:spcAft>
              <a:buChar char="•"/>
              <a:defRPr sz="1725" b="0">
                <a:solidFill>
                  <a:srgbClr val="182C43"/>
                </a:solidFill>
                <a:latin typeface="Arial"/>
                <a:ea typeface="Arial"/>
                <a:cs typeface="Arial"/>
              </a:defRPr>
            </a:pPr>
            <a:r>
              <a:rPr sz="1725" b="1">
                <a:solidFill>
                  <a:srgbClr val="182C43"/>
                </a:solidFill>
                <a:latin typeface="Arial"/>
                <a:ea typeface="Arial"/>
                <a:cs typeface="Arial"/>
              </a:rPr>
              <a:t>Configuration:</a:t>
            </a:r>
            <a:r>
              <a:rPr sz="1725">
                <a:solidFill>
                  <a:srgbClr val="182C43"/>
                </a:solidFill>
                <a:latin typeface="Arial"/>
                <a:ea typeface="Arial"/>
                <a:cs typeface="Arial"/>
              </a:rPr>
              <a:t> separate tunable thresholds from the core algorithm. Record every tested version.</a:t>
            </a:r>
          </a:p>
          <a:p xmlns:a="http://schemas.openxmlformats.org/drawingml/2006/main">
            <a:pPr marL="266700" indent="-152400" algn="l">
              <a:spcAft>
                <a:spcPts val="300"/>
              </a:spcAft>
              <a:buChar char="•"/>
              <a:defRPr sz="1725" b="0">
                <a:solidFill>
                  <a:srgbClr val="182C43"/>
                </a:solidFill>
                <a:latin typeface="Arial"/>
                <a:ea typeface="Arial"/>
                <a:cs typeface="Arial"/>
              </a:defRPr>
            </a:pPr>
            <a:r>
              <a:rPr sz="1725" b="1">
                <a:solidFill>
                  <a:srgbClr val="182C43"/>
                </a:solidFill>
                <a:latin typeface="Arial"/>
                <a:ea typeface="Arial"/>
                <a:cs typeface="Arial"/>
              </a:rPr>
              <a:t>Reproducibility:</a:t>
            </a:r>
            <a:r>
              <a:rPr sz="1725">
                <a:solidFill>
                  <a:srgbClr val="182C43"/>
                </a:solidFill>
                <a:latin typeface="Arial"/>
                <a:ea typeface="Arial"/>
                <a:cs typeface="Arial"/>
              </a:rPr>
              <a:t> retain data range, parameters, code version and assumptions with every report.</a:t>
            </a:r>
          </a:p>
        </p:txBody>
      </p:sp>
    </p:spTree>
    <p:extLst>
      <p:ext uri="{BB962C8B-B14F-4D97-AF65-F5344CB8AC3E}">
        <p14:creationId xmlns:p14="http://schemas.microsoft.com/office/powerpoint/2010/main" val="36080910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HARED COURSE">
            <a:extLst xmlns:a="http://schemas.openxmlformats.org/drawingml/2006/main">
              <a:ext uri="{FF2B5EF4-FFF2-40B4-BE49-F238E27FC236}">
                <a16:creationId xmlns:a16="http://schemas.microsoft.com/office/drawing/2014/main" id="{2D5E9BC0-BF94-4D09-9F1B-E52356A3FDAD}"/>
              </a:ext>
            </a:extLst>
          </p:cNvPr>
          <p:cNvSpPr>
            <a:spLocks xmlns:a="http://schemas.openxmlformats.org/drawingml/2006/main" noGrp="1"/>
          </p:cNvSpPr>
          <p:nvPr/>
        </p:nvSpPr>
        <p:spPr>
          <a:xfrm xmlns:a="http://schemas.openxmlformats.org/drawingml/2006/main">
            <a:off x="609600" y="285750"/>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FF5400"/>
                </a:solidFill>
                <a:latin typeface="Arial"/>
                <a:ea typeface="Arial"/>
                <a:cs typeface="Arial"/>
              </a:defRPr>
            </a:defPPr>
          </a:lstStyle>
          <a:p xmlns:a="http://schemas.openxmlformats.org/drawingml/2006/main">
            <a:pPr algn="l">
              <a:buNone/>
              <a:defRPr sz="1350" b="1">
                <a:solidFill>
                  <a:srgbClr val="FF5400"/>
                </a:solidFill>
                <a:latin typeface="Arial"/>
                <a:ea typeface="Arial"/>
                <a:cs typeface="Arial"/>
              </a:defRPr>
            </a:pPr>
            <a:r>
              <a:rPr sz="1350" b="1">
                <a:solidFill>
                  <a:srgbClr val="FF5400"/>
                </a:solidFill>
                <a:latin typeface="Arial"/>
                <a:ea typeface="Arial"/>
                <a:cs typeface="Arial"/>
              </a:rPr>
              <a:t>SHARED COURSE</a:t>
            </a:r>
          </a:p>
        </p:txBody>
      </p:sp>
      <p:sp>
        <p:nvSpPr>
          <p:cNvPr id="2" name="Slide title">
            <a:extLst xmlns:a="http://schemas.openxmlformats.org/drawingml/2006/main">
              <a:ext uri="{FF2B5EF4-FFF2-40B4-BE49-F238E27FC236}">
                <a16:creationId xmlns:a16="http://schemas.microsoft.com/office/drawing/2014/main" id="{CD593438-57AC-4066-8A7A-C8603C64B454}"/>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004D73"/>
                </a:solidFill>
                <a:latin typeface="Arial"/>
                <a:ea typeface="Arial"/>
                <a:cs typeface="Arial"/>
              </a:defRPr>
            </a:defPPr>
          </a:lstStyle>
          <a:p xmlns:a="http://schemas.openxmlformats.org/drawingml/2006/main">
            <a:pPr algn="l">
              <a:buNone/>
              <a:defRPr sz="3300" b="1">
                <a:solidFill>
                  <a:srgbClr val="004D73"/>
                </a:solidFill>
                <a:latin typeface="Arial"/>
                <a:ea typeface="Arial"/>
                <a:cs typeface="Arial"/>
              </a:defRPr>
            </a:pPr>
            <a:r>
              <a:rPr sz="3300" b="1">
                <a:solidFill>
                  <a:srgbClr val="004D73"/>
                </a:solidFill>
                <a:latin typeface="Arial"/>
                <a:ea typeface="Arial"/>
                <a:cs typeface="Arial"/>
              </a:rPr>
              <a:t>Volatility in strategy design</a:t>
            </a:r>
          </a:p>
        </p:txBody>
      </p:sp>
      <p:sp>
        <p:nvSpPr>
          <p:cNvPr id="3" name="SHPE CAPITAL    OCTOBER 13, 2026">
            <a:extLst xmlns:a="http://schemas.openxmlformats.org/drawingml/2006/main">
              <a:ext uri="{FF2B5EF4-FFF2-40B4-BE49-F238E27FC236}">
                <a16:creationId xmlns:a16="http://schemas.microsoft.com/office/drawing/2014/main" id="{F97A119F-57AE-4420-B9C8-17A3B3D67FDB}"/>
              </a:ext>
            </a:extLst>
          </p:cNvPr>
          <p:cNvSpPr>
            <a:spLocks xmlns:a="http://schemas.openxmlformats.org/drawingml/2006/main" noGrp="1"/>
          </p:cNvSpPr>
          <p:nvPr/>
        </p:nvSpPr>
        <p:spPr>
          <a:xfrm xmlns:a="http://schemas.openxmlformats.org/drawingml/2006/main">
            <a:off x="609600" y="6438900"/>
            <a:ext cx="771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SHPE CAPITAL    OCTOBER 13, 2026</a:t>
            </a:r>
          </a:p>
        </p:txBody>
      </p:sp>
      <p:sp>
        <p:nvSpPr>
          <p:cNvPr id="4" name="14:30-15:30">
            <a:extLst xmlns:a="http://schemas.openxmlformats.org/drawingml/2006/main">
              <a:ext uri="{FF2B5EF4-FFF2-40B4-BE49-F238E27FC236}">
                <a16:creationId xmlns:a16="http://schemas.microsoft.com/office/drawing/2014/main" id="{C593989E-4012-4A26-9D58-69193F538724}"/>
              </a:ext>
            </a:extLst>
          </p:cNvPr>
          <p:cNvSpPr>
            <a:spLocks xmlns:a="http://schemas.openxmlformats.org/drawingml/2006/main" noGrp="1"/>
          </p:cNvSpPr>
          <p:nvPr/>
        </p:nvSpPr>
        <p:spPr>
          <a:xfrm xmlns:a="http://schemas.openxmlformats.org/drawingml/2006/main">
            <a:off x="9029700" y="643890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14:30-16:30</a:t>
            </a:r>
          </a:p>
        </p:txBody>
      </p:sp>
      <p:sp>
        <p:nvSpPr>
          <p:cNvPr id="5" name="0">
            <a:extLst xmlns:a="http://schemas.openxmlformats.org/drawingml/2006/main">
              <a:ext uri="{FF2B5EF4-FFF2-40B4-BE49-F238E27FC236}">
                <a16:creationId xmlns:a16="http://schemas.microsoft.com/office/drawing/2014/main" id="{A978D3CB-0AE3-4912-8080-CB699F4A1E07}"/>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15</a:t>
            </a:r>
          </a:p>
        </p:txBody>
      </p:sp>
      <p:sp>
        <p:nvSpPr>
          <p:cNvPr id="11" name="Measurement and interpretation">
            <a:extLst xmlns:a="http://schemas.openxmlformats.org/drawingml/2006/main">
              <a:ext uri="{FF2B5EF4-FFF2-40B4-BE49-F238E27FC236}">
                <a16:creationId xmlns:a16="http://schemas.microsoft.com/office/drawing/2014/main" id="{7DB250A7-DF51-4470-A6A7-0CD3B5213219}"/>
              </a:ext>
            </a:extLst>
          </p:cNvPr>
          <p:cNvSpPr>
            <a:spLocks xmlns:a="http://schemas.openxmlformats.org/drawingml/2006/main" noGrp="1"/>
          </p:cNvSpPr>
          <p:nvPr/>
        </p:nvSpPr>
        <p:spPr>
          <a:xfrm xmlns:a="http://schemas.openxmlformats.org/drawingml/2006/main">
            <a:off x="609600" y="1581150"/>
            <a:ext cx="525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FF5400"/>
                </a:solidFill>
                <a:latin typeface="Arial"/>
                <a:ea typeface="Arial"/>
                <a:cs typeface="Arial"/>
              </a:defRPr>
            </a:defPPr>
          </a:lstStyle>
          <a:p xmlns:a="http://schemas.openxmlformats.org/drawingml/2006/main">
            <a:pPr algn="l">
              <a:defRPr sz="2100" b="1">
                <a:solidFill>
                  <a:srgbClr val="FF5400"/>
                </a:solidFill>
                <a:latin typeface="Arial"/>
                <a:ea typeface="Arial"/>
                <a:cs typeface="Arial"/>
              </a:defRPr>
            </a:pPr>
            <a:r>
              <a:rPr sz="2100" b="1">
                <a:solidFill>
                  <a:srgbClr val="FF5400"/>
                </a:solidFill>
                <a:latin typeface="Arial"/>
                <a:ea typeface="Arial"/>
                <a:cs typeface="Arial"/>
              </a:rPr>
              <a:t>Measurement and interpretation</a:t>
            </a:r>
          </a:p>
        </p:txBody>
      </p:sp>
      <p:sp>
        <p:nvSpPr>
          <p:cNvPr id="12" name="">
            <a:extLst xmlns:a="http://schemas.openxmlformats.org/drawingml/2006/main">
              <a:ext uri="{FF2B5EF4-FFF2-40B4-BE49-F238E27FC236}">
                <a16:creationId xmlns:a16="http://schemas.microsoft.com/office/drawing/2014/main" id="{86EA8665-C6F5-4D0F-990B-C231D9EAAD0A}"/>
              </a:ext>
            </a:extLst>
          </p:cNvPr>
          <p:cNvSpPr>
            <a:spLocks xmlns:a="http://schemas.openxmlformats.org/drawingml/2006/main" noGrp="1"/>
          </p:cNvSpPr>
          <p:nvPr/>
        </p:nvSpPr>
        <p:spPr>
          <a:xfrm xmlns:a="http://schemas.openxmlformats.org/drawingml/2006/main">
            <a:off x="609600" y="2019300"/>
            <a:ext cx="5257800"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182C43"/>
                </a:solidFill>
                <a:latin typeface="Arial"/>
                <a:ea typeface="Arial"/>
                <a:cs typeface="Arial"/>
              </a:defRPr>
            </a:defPPr>
          </a:lstStyle>
          <a:p xmlns:a="http://schemas.openxmlformats.org/drawingml/2006/main">
            <a:pPr marL="266700" indent="-152400" algn="l">
              <a:spcAft>
                <a:spcPts val="500"/>
              </a:spcAft>
              <a:buChar char="•"/>
              <a:defRPr sz="1875" b="0">
                <a:solidFill>
                  <a:srgbClr val="182C43"/>
                </a:solidFill>
                <a:latin typeface="Arial"/>
                <a:ea typeface="Arial"/>
                <a:cs typeface="Arial"/>
              </a:defRPr>
            </a:pPr>
            <a:r>
              <a:rPr sz="1875" b="1">
                <a:solidFill>
                  <a:srgbClr val="182C43"/>
                </a:solidFill>
                <a:latin typeface="Arial"/>
                <a:ea typeface="Arial"/>
                <a:cs typeface="Arial"/>
              </a:rPr>
              <a:t>Volatility:</a:t>
            </a:r>
            <a:r>
              <a:rPr sz="1875">
                <a:solidFill>
                  <a:srgbClr val="182C43"/>
                </a:solidFill>
                <a:latin typeface="Arial"/>
                <a:ea typeface="Arial"/>
                <a:cs typeface="Arial"/>
              </a:rPr>
              <a:t> how much returns fluctuate. High volatility can occur during rises or falls.</a:t>
            </a:r>
          </a:p>
          <a:p xmlns:a="http://schemas.openxmlformats.org/drawingml/2006/main">
            <a:pPr marL="266700" indent="-152400" algn="l">
              <a:spcAft>
                <a:spcPts val="500"/>
              </a:spcAft>
              <a:buChar char="•"/>
              <a:defRPr sz="1875" b="0">
                <a:solidFill>
                  <a:srgbClr val="182C43"/>
                </a:solidFill>
                <a:latin typeface="Arial"/>
                <a:ea typeface="Arial"/>
                <a:cs typeface="Arial"/>
              </a:defRPr>
            </a:pPr>
            <a:r>
              <a:rPr sz="1875" b="1">
                <a:solidFill>
                  <a:srgbClr val="182C43"/>
                </a:solidFill>
                <a:latin typeface="Arial"/>
                <a:ea typeface="Arial"/>
                <a:cs typeface="Arial"/>
              </a:rPr>
              <a:t>Rolling estimate:</a:t>
            </a:r>
            <a:r>
              <a:rPr sz="1875">
                <a:solidFill>
                  <a:srgbClr val="182C43"/>
                </a:solidFill>
                <a:latin typeface="Arial"/>
                <a:ea typeface="Arial"/>
                <a:cs typeface="Arial"/>
              </a:rPr>
              <a:t> calculate return variability from a fixed trailing window of completed data.</a:t>
            </a:r>
          </a:p>
          <a:p xmlns:a="http://schemas.openxmlformats.org/drawingml/2006/main">
            <a:pPr marL="266700" indent="-152400" algn="l">
              <a:spcAft>
                <a:spcPts val="500"/>
              </a:spcAft>
              <a:buChar char="•"/>
              <a:defRPr sz="1875" b="0">
                <a:solidFill>
                  <a:srgbClr val="182C43"/>
                </a:solidFill>
                <a:latin typeface="Arial"/>
                <a:ea typeface="Arial"/>
                <a:cs typeface="Arial"/>
              </a:defRPr>
            </a:pPr>
            <a:r>
              <a:rPr sz="1875" b="1">
                <a:solidFill>
                  <a:srgbClr val="182C43"/>
                </a:solidFill>
                <a:latin typeface="Arial"/>
                <a:ea typeface="Arial"/>
                <a:cs typeface="Arial"/>
              </a:rPr>
              <a:t>Units matter:</a:t>
            </a:r>
            <a:r>
              <a:rPr sz="1875">
                <a:solidFill>
                  <a:srgbClr val="182C43"/>
                </a:solidFill>
                <a:latin typeface="Arial"/>
                <a:ea typeface="Arial"/>
                <a:cs typeface="Arial"/>
              </a:rPr>
              <a:t> match sampling interval and horizon. One-minute and daily estimates differ.</a:t>
            </a:r>
          </a:p>
          <a:p xmlns:a="http://schemas.openxmlformats.org/drawingml/2006/main">
            <a:pPr marL="266700" indent="-152400" algn="l">
              <a:spcAft>
                <a:spcPts val="500"/>
              </a:spcAft>
              <a:buChar char="•"/>
              <a:defRPr sz="1875" b="0">
                <a:solidFill>
                  <a:srgbClr val="182C43"/>
                </a:solidFill>
                <a:latin typeface="Arial"/>
                <a:ea typeface="Arial"/>
                <a:cs typeface="Arial"/>
              </a:defRPr>
            </a:pPr>
            <a:r>
              <a:rPr sz="1875" b="1">
                <a:solidFill>
                  <a:srgbClr val="182C43"/>
                </a:solidFill>
                <a:latin typeface="Arial"/>
                <a:ea typeface="Arial"/>
                <a:cs typeface="Arial"/>
              </a:rPr>
              <a:t>Warm-up and stability:</a:t>
            </a:r>
            <a:r>
              <a:rPr sz="1875">
                <a:solidFill>
                  <a:srgbClr val="182C43"/>
                </a:solidFill>
                <a:latin typeface="Arial"/>
                <a:ea typeface="Arial"/>
                <a:cs typeface="Arial"/>
              </a:rPr>
              <a:t> require enough observations, handle missing data and floor tiny estimates.</a:t>
            </a:r>
          </a:p>
          <a:p xmlns:a="http://schemas.openxmlformats.org/drawingml/2006/main">
            <a:pPr marL="266700" indent="-152400" algn="l">
              <a:spcAft>
                <a:spcPts val="500"/>
              </a:spcAft>
              <a:buChar char="•"/>
              <a:defRPr sz="1875" b="0">
                <a:solidFill>
                  <a:srgbClr val="182C43"/>
                </a:solidFill>
                <a:latin typeface="Arial"/>
                <a:ea typeface="Arial"/>
                <a:cs typeface="Arial"/>
              </a:defRPr>
            </a:pPr>
            <a:r>
              <a:rPr sz="1875" b="1">
                <a:solidFill>
                  <a:srgbClr val="182C43"/>
                </a:solidFill>
                <a:latin typeface="Arial"/>
                <a:ea typeface="Arial"/>
                <a:cs typeface="Arial"/>
              </a:rPr>
              <a:t>Seasonality:</a:t>
            </a:r>
            <a:r>
              <a:rPr sz="1875">
                <a:solidFill>
                  <a:srgbClr val="182C43"/>
                </a:solidFill>
                <a:latin typeface="Arial"/>
                <a:ea typeface="Arial"/>
                <a:cs typeface="Arial"/>
              </a:rPr>
              <a:t> compare similar times of day. Opening conditions can differ from midday.</a:t>
            </a:r>
          </a:p>
        </p:txBody>
      </p:sp>
      <p:sp>
        <p:nvSpPr>
          <p:cNvPr id="13" name="How it changes the trading rule">
            <a:extLst xmlns:a="http://schemas.openxmlformats.org/drawingml/2006/main">
              <a:ext uri="{FF2B5EF4-FFF2-40B4-BE49-F238E27FC236}">
                <a16:creationId xmlns:a16="http://schemas.microsoft.com/office/drawing/2014/main" id="{1737D41E-FCC8-4BBF-87FF-F18642FF51B1}"/>
              </a:ext>
            </a:extLst>
          </p:cNvPr>
          <p:cNvSpPr>
            <a:spLocks xmlns:a="http://schemas.openxmlformats.org/drawingml/2006/main" noGrp="1"/>
          </p:cNvSpPr>
          <p:nvPr/>
        </p:nvSpPr>
        <p:spPr>
          <a:xfrm xmlns:a="http://schemas.openxmlformats.org/drawingml/2006/main">
            <a:off x="6248400" y="1581150"/>
            <a:ext cx="533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FF5400"/>
                </a:solidFill>
                <a:latin typeface="Arial"/>
                <a:ea typeface="Arial"/>
                <a:cs typeface="Arial"/>
              </a:defRPr>
            </a:defPPr>
          </a:lstStyle>
          <a:p xmlns:a="http://schemas.openxmlformats.org/drawingml/2006/main">
            <a:pPr algn="l">
              <a:defRPr sz="2100" b="1">
                <a:solidFill>
                  <a:srgbClr val="FF5400"/>
                </a:solidFill>
                <a:latin typeface="Arial"/>
                <a:ea typeface="Arial"/>
                <a:cs typeface="Arial"/>
              </a:defRPr>
            </a:pPr>
            <a:r>
              <a:rPr sz="2100" b="1">
                <a:solidFill>
                  <a:srgbClr val="FF5400"/>
                </a:solidFill>
                <a:latin typeface="Arial"/>
                <a:ea typeface="Arial"/>
                <a:cs typeface="Arial"/>
              </a:rPr>
              <a:t>How it changes the trading rule</a:t>
            </a:r>
          </a:p>
        </p:txBody>
      </p:sp>
      <p:graphicFrame>
        <p:nvGraphicFramePr>
          <p:cNvPr id="14" name="">
            <a:extLst xmlns:a="http://schemas.openxmlformats.org/drawingml/2006/main">
              <a:ext uri="{FF2B5EF4-FFF2-40B4-BE49-F238E27FC236}">
                <a16:creationId xmlns:a16="http://schemas.microsoft.com/office/drawing/2014/main" id="{1EA0E195-38B9-4488-8950-A2FD597B82C4}"/>
              </a:ext>
            </a:extLst>
          </p:cNvPr>
          <p:cNvGraphicFramePr/>
          <p:nvPr/>
        </p:nvGraphicFramePr>
        <p:xfrm>
          <a:off xmlns:a="http://schemas.openxmlformats.org/drawingml/2006/main" x="6248400" y="2019300"/>
          <a:ext xmlns:a="http://schemas.openxmlformats.org/drawingml/2006/main" cx="5334000" cy="3381375"/>
        </p:xfrm>
        <a:graphic xmlns:a="http://schemas.openxmlformats.org/drawingml/2006/main">
          <a:graphicData uri="http://schemas.openxmlformats.org/drawingml/2006/table">
            <a:tbl>
              <a:tblPr firstRow="1" bandRow="0"/>
              <a:tblGrid>
                <a:gridCol w="1476375"/>
                <a:gridCol w="3857625"/>
              </a:tblGrid>
              <a:tr h="419100">
                <a:tc>
                  <a:txBody>
                    <a:bodyPr lIns="85725" tIns="85725" rIns="85725" bIns="85725">
                      <a:noAutofit/>
                    </a:bodyPr>
                    <a:lstStyle/>
                    <a:p>
                      <a:pPr algn="l"/>
                      <a:r>
                        <a:rPr sz="1800" b="1">
                          <a:solidFill>
                            <a:srgbClr val="FFFFFF"/>
                          </a:solidFill>
                          <a:latin typeface="Arial"/>
                          <a:ea typeface="Arial"/>
                          <a:cs typeface="Arial"/>
                        </a:rPr>
                        <a:t>Use</a:t>
                      </a:r>
                    </a:p>
                  </a:txBody>
                  <a:tcPr marL="85725" marR="85725" marT="19050" marB="19050" anchor="ctr">
                    <a:lnL w="6668">
                      <a:solidFill>
                        <a:srgbClr val="D9E0E7"/>
                      </a:solidFill>
                      <a:prstDash val="solid"/>
                    </a:lnL>
                    <a:lnR w="6668">
                      <a:solidFill>
                        <a:srgbClr val="D9E0E7"/>
                      </a:solidFill>
                      <a:prstDash val="solid"/>
                    </a:lnR>
                    <a:lnT w="6668">
                      <a:solidFill>
                        <a:srgbClr val="D9E0E7"/>
                      </a:solidFill>
                      <a:prstDash val="solid"/>
                    </a:lnT>
                    <a:lnB w="6668">
                      <a:solidFill>
                        <a:srgbClr val="D9E0E7"/>
                      </a:solidFill>
                      <a:prstDash val="solid"/>
                    </a:lnB>
                    <a:solidFill>
                      <a:srgbClr val="004D73"/>
                    </a:solidFill>
                  </a:tcPr>
                </a:tc>
                <a:tc>
                  <a:txBody>
                    <a:bodyPr lIns="85725" tIns="85725" rIns="85725" bIns="85725">
                      <a:noAutofit/>
                    </a:bodyPr>
                    <a:lstStyle/>
                    <a:p>
                      <a:pPr algn="l"/>
                      <a:r>
                        <a:rPr sz="1800" b="1">
                          <a:solidFill>
                            <a:srgbClr val="FFFFFF"/>
                          </a:solidFill>
                          <a:latin typeface="Arial"/>
                          <a:ea typeface="Arial"/>
                          <a:cs typeface="Arial"/>
                        </a:rPr>
                        <a:t>Concrete design choice</a:t>
                      </a:r>
                    </a:p>
                  </a:txBody>
                  <a:tcPr marL="85725" marR="85725" marT="19050" marB="19050" anchor="ctr">
                    <a:lnR w="6668">
                      <a:solidFill>
                        <a:srgbClr val="D9E0E7"/>
                      </a:solidFill>
                      <a:prstDash val="solid"/>
                    </a:lnR>
                    <a:lnT w="6668">
                      <a:solidFill>
                        <a:srgbClr val="D9E0E7"/>
                      </a:solidFill>
                      <a:prstDash val="solid"/>
                    </a:lnT>
                    <a:lnB w="6668">
                      <a:solidFill>
                        <a:srgbClr val="D9E0E7"/>
                      </a:solidFill>
                      <a:prstDash val="solid"/>
                    </a:lnB>
                    <a:solidFill>
                      <a:srgbClr val="004D73"/>
                    </a:solidFill>
                  </a:tcPr>
                </a:tc>
              </a:tr>
              <a:tr h="740569">
                <a:tc>
                  <a:txBody>
                    <a:bodyPr lIns="85725" tIns="85725" rIns="85725" bIns="85725">
                      <a:noAutofit/>
                    </a:bodyPr>
                    <a:lstStyle/>
                    <a:p>
                      <a:pPr algn="l"/>
                      <a:r>
                        <a:rPr sz="1800" b="1">
                          <a:solidFill>
                            <a:srgbClr val="182C43"/>
                          </a:solidFill>
                          <a:latin typeface="Arial"/>
                          <a:ea typeface="Arial"/>
                          <a:cs typeface="Arial"/>
                        </a:rPr>
                        <a:t>Signal scale</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800" b="0">
                          <a:solidFill>
                            <a:srgbClr val="182C43"/>
                          </a:solidFill>
                          <a:latin typeface="Arial"/>
                          <a:ea typeface="Arial"/>
                          <a:cs typeface="Arial"/>
                        </a:rPr>
                        <a:t>Divide move or residual by its estimated variability.</a:t>
                      </a:r>
                    </a:p>
                  </a:txBody>
                  <a:tcPr marL="85725" marR="85725" marT="19050" marB="19050" anchor="ctr">
                    <a:lnR w="6668">
                      <a:solidFill>
                        <a:srgbClr val="D9E0E7"/>
                      </a:solidFill>
                      <a:prstDash val="solid"/>
                    </a:lnR>
                    <a:lnB w="6668">
                      <a:solidFill>
                        <a:srgbClr val="D9E0E7"/>
                      </a:solidFill>
                      <a:prstDash val="solid"/>
                    </a:lnB>
                    <a:solidFill>
                      <a:srgbClr val="FFFFFF"/>
                    </a:solidFill>
                  </a:tcPr>
                </a:tc>
              </a:tr>
              <a:tr h="740569">
                <a:tc>
                  <a:txBody>
                    <a:bodyPr lIns="85725" tIns="85725" rIns="85725" bIns="85725">
                      <a:noAutofit/>
                    </a:bodyPr>
                    <a:lstStyle/>
                    <a:p>
                      <a:pPr algn="l"/>
                      <a:r>
                        <a:rPr sz="1800" b="1">
                          <a:solidFill>
                            <a:srgbClr val="182C43"/>
                          </a:solidFill>
                          <a:latin typeface="Arial"/>
                          <a:ea typeface="Arial"/>
                          <a:cs typeface="Arial"/>
                        </a:rPr>
                        <a:t>Position size</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1F4F7"/>
                    </a:solidFill>
                  </a:tcPr>
                </a:tc>
                <a:tc>
                  <a:txBody>
                    <a:bodyPr lIns="85725" tIns="85725" rIns="85725" bIns="85725">
                      <a:noAutofit/>
                    </a:bodyPr>
                    <a:lstStyle/>
                    <a:p>
                      <a:pPr algn="l"/>
                      <a:r>
                        <a:rPr sz="1800" b="0">
                          <a:solidFill>
                            <a:srgbClr val="182C43"/>
                          </a:solidFill>
                          <a:latin typeface="Arial"/>
                          <a:ea typeface="Arial"/>
                          <a:cs typeface="Arial"/>
                        </a:rPr>
                        <a:t>Reduce exposure as estimated risk rises, with hard caps.</a:t>
                      </a:r>
                    </a:p>
                  </a:txBody>
                  <a:tcPr marL="85725" marR="85725" marT="19050" marB="19050" anchor="ctr">
                    <a:lnR w="6668">
                      <a:solidFill>
                        <a:srgbClr val="D9E0E7"/>
                      </a:solidFill>
                      <a:prstDash val="solid"/>
                    </a:lnR>
                    <a:lnB w="6668">
                      <a:solidFill>
                        <a:srgbClr val="D9E0E7"/>
                      </a:solidFill>
                      <a:prstDash val="solid"/>
                    </a:lnB>
                    <a:solidFill>
                      <a:srgbClr val="F1F4F7"/>
                    </a:solidFill>
                  </a:tcPr>
                </a:tc>
              </a:tr>
              <a:tr h="740569">
                <a:tc>
                  <a:txBody>
                    <a:bodyPr lIns="85725" tIns="85725" rIns="85725" bIns="85725">
                      <a:noAutofit/>
                    </a:bodyPr>
                    <a:lstStyle/>
                    <a:p>
                      <a:pPr algn="l"/>
                      <a:r>
                        <a:rPr sz="1800" b="1">
                          <a:solidFill>
                            <a:srgbClr val="182C43"/>
                          </a:solidFill>
                          <a:latin typeface="Arial"/>
                          <a:ea typeface="Arial"/>
                          <a:cs typeface="Arial"/>
                        </a:rPr>
                        <a:t>Stop distance</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800" b="0">
                          <a:solidFill>
                            <a:srgbClr val="182C43"/>
                          </a:solidFill>
                          <a:latin typeface="Arial"/>
                          <a:ea typeface="Arial"/>
                          <a:cs typeface="Arial"/>
                        </a:rPr>
                        <a:t>Test a multiple of recent price variability instead of fixed cents.</a:t>
                      </a:r>
                    </a:p>
                  </a:txBody>
                  <a:tcPr marL="85725" marR="85725" marT="19050" marB="19050" anchor="ctr">
                    <a:lnR w="6668">
                      <a:solidFill>
                        <a:srgbClr val="D9E0E7"/>
                      </a:solidFill>
                      <a:prstDash val="solid"/>
                    </a:lnR>
                    <a:lnB w="6668">
                      <a:solidFill>
                        <a:srgbClr val="D9E0E7"/>
                      </a:solidFill>
                      <a:prstDash val="solid"/>
                    </a:lnB>
                    <a:solidFill>
                      <a:srgbClr val="FFFFFF"/>
                    </a:solidFill>
                  </a:tcPr>
                </a:tc>
              </a:tr>
              <a:tr h="740569">
                <a:tc>
                  <a:txBody>
                    <a:bodyPr lIns="85725" tIns="85725" rIns="85725" bIns="85725">
                      <a:noAutofit/>
                    </a:bodyPr>
                    <a:lstStyle/>
                    <a:p>
                      <a:pPr algn="l"/>
                      <a:r>
                        <a:rPr sz="1800" b="1">
                          <a:solidFill>
                            <a:srgbClr val="182C43"/>
                          </a:solidFill>
                          <a:latin typeface="Arial"/>
                          <a:ea typeface="Arial"/>
                          <a:cs typeface="Arial"/>
                        </a:rPr>
                        <a:t>Entry filter</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1F4F7"/>
                    </a:solidFill>
                  </a:tcPr>
                </a:tc>
                <a:tc>
                  <a:txBody>
                    <a:bodyPr lIns="85725" tIns="85725" rIns="85725" bIns="85725">
                      <a:noAutofit/>
                    </a:bodyPr>
                    <a:lstStyle/>
                    <a:p>
                      <a:pPr algn="l"/>
                      <a:r>
                        <a:rPr sz="1800" b="0">
                          <a:solidFill>
                            <a:srgbClr val="182C43"/>
                          </a:solidFill>
                          <a:latin typeface="Arial"/>
                          <a:ea typeface="Arial"/>
                          <a:cs typeface="Arial"/>
                        </a:rPr>
                        <a:t>Test whether the strategy survives selected volatility conditions.</a:t>
                      </a:r>
                    </a:p>
                  </a:txBody>
                  <a:tcPr marL="85725" marR="85725" marT="19050" marB="19050" anchor="ctr">
                    <a:lnR w="6668">
                      <a:solidFill>
                        <a:srgbClr val="D9E0E7"/>
                      </a:solidFill>
                      <a:prstDash val="solid"/>
                    </a:lnR>
                    <a:lnB w="6668">
                      <a:solidFill>
                        <a:srgbClr val="D9E0E7"/>
                      </a:solidFill>
                      <a:prstDash val="solid"/>
                    </a:lnB>
                    <a:solidFill>
                      <a:srgbClr val="F1F4F7"/>
                    </a:solidFill>
                  </a:tcPr>
                </a:tc>
              </a:tr>
            </a:tbl>
          </a:graphicData>
        </a:graphic>
      </p:graphicFrame>
      <p:sp>
        <p:nvSpPr>
          <p:cNvPr id="15" name="Example: a 0.40% move is 2 volatility units w">
            <a:extLst xmlns:a="http://schemas.openxmlformats.org/drawingml/2006/main">
              <a:ext uri="{FF2B5EF4-FFF2-40B4-BE49-F238E27FC236}">
                <a16:creationId xmlns:a16="http://schemas.microsoft.com/office/drawing/2014/main" id="{DC417027-5CEA-456E-A1D4-C0599FC7C537}"/>
              </a:ext>
            </a:extLst>
          </p:cNvPr>
          <p:cNvSpPr>
            <a:spLocks xmlns:a="http://schemas.openxmlformats.org/drawingml/2006/main" noGrp="1"/>
          </p:cNvSpPr>
          <p:nvPr/>
        </p:nvSpPr>
        <p:spPr>
          <a:xfrm xmlns:a="http://schemas.openxmlformats.org/drawingml/2006/main">
            <a:off x="609600" y="5753100"/>
            <a:ext cx="109728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1">
                <a:solidFill>
                  <a:srgbClr val="004D73"/>
                </a:solidFill>
                <a:latin typeface="Arial"/>
                <a:ea typeface="Arial"/>
                <a:cs typeface="Arial"/>
              </a:defRPr>
            </a:defPPr>
          </a:lstStyle>
          <a:p xmlns:a="http://schemas.openxmlformats.org/drawingml/2006/main">
            <a:pPr algn="l">
              <a:defRPr sz="1875" b="1">
                <a:solidFill>
                  <a:srgbClr val="004D73"/>
                </a:solidFill>
                <a:latin typeface="Arial"/>
                <a:ea typeface="Arial"/>
                <a:cs typeface="Arial"/>
              </a:defRPr>
            </a:pPr>
            <a:r>
              <a:rPr sz="1875" b="1">
                <a:solidFill>
                  <a:srgbClr val="004D73"/>
                </a:solidFill>
                <a:latin typeface="Arial"/>
                <a:ea typeface="Arial"/>
                <a:cs typeface="Arial"/>
              </a:rPr>
              <a:t>Example: a 0.40% move is 2 volatility units when the matched estimate is 0.20%, but 0.5 units at 0.80%.</a:t>
            </a:r>
          </a:p>
        </p:txBody>
      </p:sp>
    </p:spTree>
    <p:extLst>
      <p:ext uri="{BB962C8B-B14F-4D97-AF65-F5344CB8AC3E}">
        <p14:creationId xmlns:p14="http://schemas.microsoft.com/office/powerpoint/2010/main" val="30500602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HARED COURSE">
            <a:extLst xmlns:a="http://schemas.openxmlformats.org/drawingml/2006/main">
              <a:ext uri="{FF2B5EF4-FFF2-40B4-BE49-F238E27FC236}">
                <a16:creationId xmlns:a16="http://schemas.microsoft.com/office/drawing/2014/main" id="{5CAF42E5-AB18-4FC9-835F-B389F9498354}"/>
              </a:ext>
            </a:extLst>
          </p:cNvPr>
          <p:cNvSpPr>
            <a:spLocks xmlns:a="http://schemas.openxmlformats.org/drawingml/2006/main" noGrp="1"/>
          </p:cNvSpPr>
          <p:nvPr/>
        </p:nvSpPr>
        <p:spPr>
          <a:xfrm xmlns:a="http://schemas.openxmlformats.org/drawingml/2006/main">
            <a:off x="609600" y="285750"/>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FF5400"/>
                </a:solidFill>
                <a:latin typeface="Arial"/>
                <a:ea typeface="Arial"/>
                <a:cs typeface="Arial"/>
              </a:defRPr>
            </a:defPPr>
          </a:lstStyle>
          <a:p xmlns:a="http://schemas.openxmlformats.org/drawingml/2006/main">
            <a:pPr algn="l">
              <a:buNone/>
              <a:defRPr sz="1350" b="1">
                <a:solidFill>
                  <a:srgbClr val="FF5400"/>
                </a:solidFill>
                <a:latin typeface="Arial"/>
                <a:ea typeface="Arial"/>
                <a:cs typeface="Arial"/>
              </a:defRPr>
            </a:pPr>
            <a:r>
              <a:rPr sz="1350" b="1">
                <a:solidFill>
                  <a:srgbClr val="FF5400"/>
                </a:solidFill>
                <a:latin typeface="Arial"/>
                <a:ea typeface="Arial"/>
                <a:cs typeface="Arial"/>
              </a:rPr>
              <a:t>SHARED COURSE</a:t>
            </a:r>
          </a:p>
        </p:txBody>
      </p:sp>
      <p:sp>
        <p:nvSpPr>
          <p:cNvPr id="2" name="Slide title">
            <a:extLst xmlns:a="http://schemas.openxmlformats.org/drawingml/2006/main">
              <a:ext uri="{FF2B5EF4-FFF2-40B4-BE49-F238E27FC236}">
                <a16:creationId xmlns:a16="http://schemas.microsoft.com/office/drawing/2014/main" id="{108D8A5E-4D17-4409-A311-27A571F82D8E}"/>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004D73"/>
                </a:solidFill>
                <a:latin typeface="Arial"/>
                <a:ea typeface="Arial"/>
                <a:cs typeface="Arial"/>
              </a:defRPr>
            </a:defPPr>
          </a:lstStyle>
          <a:p xmlns:a="http://schemas.openxmlformats.org/drawingml/2006/main">
            <a:pPr algn="l">
              <a:buNone/>
              <a:defRPr sz="3300" b="1">
                <a:solidFill>
                  <a:srgbClr val="004D73"/>
                </a:solidFill>
                <a:latin typeface="Arial"/>
                <a:ea typeface="Arial"/>
                <a:cs typeface="Arial"/>
              </a:defRPr>
            </a:pPr>
            <a:r>
              <a:rPr sz="3300" b="1">
                <a:solidFill>
                  <a:srgbClr val="004D73"/>
                </a:solidFill>
                <a:latin typeface="Arial"/>
                <a:ea typeface="Arial"/>
                <a:cs typeface="Arial"/>
              </a:rPr>
              <a:t>Exits, position sizing and portfolio risk</a:t>
            </a:r>
          </a:p>
        </p:txBody>
      </p:sp>
      <p:sp>
        <p:nvSpPr>
          <p:cNvPr id="3" name="SHPE CAPITAL    OCTOBER 13, 2026">
            <a:extLst xmlns:a="http://schemas.openxmlformats.org/drawingml/2006/main">
              <a:ext uri="{FF2B5EF4-FFF2-40B4-BE49-F238E27FC236}">
                <a16:creationId xmlns:a16="http://schemas.microsoft.com/office/drawing/2014/main" id="{71DE4260-25A1-48F6-8ADD-4A4FFDA76C72}"/>
              </a:ext>
            </a:extLst>
          </p:cNvPr>
          <p:cNvSpPr>
            <a:spLocks xmlns:a="http://schemas.openxmlformats.org/drawingml/2006/main" noGrp="1"/>
          </p:cNvSpPr>
          <p:nvPr/>
        </p:nvSpPr>
        <p:spPr>
          <a:xfrm xmlns:a="http://schemas.openxmlformats.org/drawingml/2006/main">
            <a:off x="609600" y="6438900"/>
            <a:ext cx="771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SHPE CAPITAL    OCTOBER 13, 2026</a:t>
            </a:r>
          </a:p>
        </p:txBody>
      </p:sp>
      <p:sp>
        <p:nvSpPr>
          <p:cNvPr id="4" name="15:30-17:30">
            <a:extLst xmlns:a="http://schemas.openxmlformats.org/drawingml/2006/main">
              <a:ext uri="{FF2B5EF4-FFF2-40B4-BE49-F238E27FC236}">
                <a16:creationId xmlns:a16="http://schemas.microsoft.com/office/drawing/2014/main" id="{63134180-E438-4A5C-8E8A-F552D00B2FA4}"/>
              </a:ext>
            </a:extLst>
          </p:cNvPr>
          <p:cNvSpPr>
            <a:spLocks xmlns:a="http://schemas.openxmlformats.org/drawingml/2006/main" noGrp="1"/>
          </p:cNvSpPr>
          <p:nvPr/>
        </p:nvSpPr>
        <p:spPr>
          <a:xfrm xmlns:a="http://schemas.openxmlformats.org/drawingml/2006/main">
            <a:off x="9029700" y="643890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16:30-18:00</a:t>
            </a:r>
          </a:p>
        </p:txBody>
      </p:sp>
      <p:sp>
        <p:nvSpPr>
          <p:cNvPr id="5" name="0">
            <a:extLst xmlns:a="http://schemas.openxmlformats.org/drawingml/2006/main">
              <a:ext uri="{FF2B5EF4-FFF2-40B4-BE49-F238E27FC236}">
                <a16:creationId xmlns:a16="http://schemas.microsoft.com/office/drawing/2014/main" id="{629FBEB0-4589-4B5F-B2E6-179C57F9409B}"/>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16</a:t>
            </a:r>
          </a:p>
        </p:txBody>
      </p:sp>
      <p:sp>
        <p:nvSpPr>
          <p:cNvPr id="10" name="Trade exits and position sizing">
            <a:extLst xmlns:a="http://schemas.openxmlformats.org/drawingml/2006/main">
              <a:ext uri="{FF2B5EF4-FFF2-40B4-BE49-F238E27FC236}">
                <a16:creationId xmlns:a16="http://schemas.microsoft.com/office/drawing/2014/main" id="{5EDE103F-3EEE-4EE9-B662-57C4814E2420}"/>
              </a:ext>
            </a:extLst>
          </p:cNvPr>
          <p:cNvSpPr>
            <a:spLocks xmlns:a="http://schemas.openxmlformats.org/drawingml/2006/main" noGrp="1"/>
          </p:cNvSpPr>
          <p:nvPr/>
        </p:nvSpPr>
        <p:spPr>
          <a:xfrm xmlns:a="http://schemas.openxmlformats.org/drawingml/2006/main">
            <a:off x="609600" y="1581150"/>
            <a:ext cx="525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FF5400"/>
                </a:solidFill>
                <a:latin typeface="Arial"/>
                <a:ea typeface="Arial"/>
                <a:cs typeface="Arial"/>
              </a:defRPr>
            </a:defPPr>
          </a:lstStyle>
          <a:p xmlns:a="http://schemas.openxmlformats.org/drawingml/2006/main">
            <a:pPr algn="l">
              <a:defRPr sz="2100" b="1">
                <a:solidFill>
                  <a:srgbClr val="FF5400"/>
                </a:solidFill>
                <a:latin typeface="Arial"/>
                <a:ea typeface="Arial"/>
                <a:cs typeface="Arial"/>
              </a:defRPr>
            </a:pPr>
            <a:r>
              <a:rPr sz="2100" b="1">
                <a:solidFill>
                  <a:srgbClr val="FF5400"/>
                </a:solidFill>
                <a:latin typeface="Arial"/>
                <a:ea typeface="Arial"/>
                <a:cs typeface="Arial"/>
              </a:rPr>
              <a:t>Trade exits and position sizing</a:t>
            </a:r>
          </a:p>
        </p:txBody>
      </p:sp>
      <p:sp>
        <p:nvSpPr>
          <p:cNvPr id="11" name="">
            <a:extLst xmlns:a="http://schemas.openxmlformats.org/drawingml/2006/main">
              <a:ext uri="{FF2B5EF4-FFF2-40B4-BE49-F238E27FC236}">
                <a16:creationId xmlns:a16="http://schemas.microsoft.com/office/drawing/2014/main" id="{6026F426-FB04-4532-B0E1-6795604D5C90}"/>
              </a:ext>
            </a:extLst>
          </p:cNvPr>
          <p:cNvSpPr>
            <a:spLocks xmlns:a="http://schemas.openxmlformats.org/drawingml/2006/main" noGrp="1"/>
          </p:cNvSpPr>
          <p:nvPr/>
        </p:nvSpPr>
        <p:spPr>
          <a:xfrm xmlns:a="http://schemas.openxmlformats.org/drawingml/2006/main">
            <a:off x="609600" y="2009775"/>
            <a:ext cx="52578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182C43"/>
                </a:solidFill>
                <a:latin typeface="Arial"/>
                <a:ea typeface="Arial"/>
                <a:cs typeface="Arial"/>
              </a:defRPr>
            </a:defPPr>
          </a:lstStyle>
          <a:p xmlns:a="http://schemas.openxmlformats.org/drawingml/2006/main">
            <a:pPr marL="266700" indent="-152400" algn="l">
              <a:spcAft>
                <a:spcPts val="500"/>
              </a:spcAft>
              <a:buChar char="•"/>
              <a:defRPr sz="1875" b="0">
                <a:solidFill>
                  <a:srgbClr val="182C43"/>
                </a:solidFill>
                <a:latin typeface="Arial"/>
                <a:ea typeface="Arial"/>
                <a:cs typeface="Arial"/>
              </a:defRPr>
            </a:pPr>
            <a:r>
              <a:rPr sz="1875" b="1">
                <a:solidFill>
                  <a:srgbClr val="182C43"/>
                </a:solidFill>
                <a:latin typeface="Arial"/>
                <a:ea typeface="Arial"/>
                <a:cs typeface="Arial"/>
              </a:rPr>
              <a:t>Loss exit:</a:t>
            </a:r>
            <a:r>
              <a:rPr sz="1875">
                <a:solidFill>
                  <a:srgbClr val="182C43"/>
                </a:solidFill>
                <a:latin typeface="Arial"/>
                <a:ea typeface="Arial"/>
                <a:cs typeface="Arial"/>
              </a:rPr>
              <a:t> fixed, volatility-based or trailing stop. State the trigger and execution behavior.</a:t>
            </a:r>
          </a:p>
          <a:p xmlns:a="http://schemas.openxmlformats.org/drawingml/2006/main">
            <a:pPr marL="266700" indent="-152400" algn="l">
              <a:spcAft>
                <a:spcPts val="500"/>
              </a:spcAft>
              <a:buChar char="•"/>
              <a:defRPr sz="1875" b="0">
                <a:solidFill>
                  <a:srgbClr val="182C43"/>
                </a:solidFill>
                <a:latin typeface="Arial"/>
                <a:ea typeface="Arial"/>
                <a:cs typeface="Arial"/>
              </a:defRPr>
            </a:pPr>
            <a:r>
              <a:rPr sz="1875" b="1">
                <a:solidFill>
                  <a:srgbClr val="182C43"/>
                </a:solidFill>
                <a:latin typeface="Arial"/>
                <a:ea typeface="Arial"/>
                <a:cs typeface="Arial"/>
              </a:rPr>
              <a:t>Profit / thesis exit:</a:t>
            </a:r>
            <a:r>
              <a:rPr sz="1875">
                <a:solidFill>
                  <a:srgbClr val="182C43"/>
                </a:solidFill>
                <a:latin typeface="Arial"/>
                <a:ea typeface="Arial"/>
                <a:cs typeface="Arial"/>
              </a:rPr>
              <a:t> target gain, spread convergence or loss of the original signal.</a:t>
            </a:r>
          </a:p>
          <a:p xmlns:a="http://schemas.openxmlformats.org/drawingml/2006/main">
            <a:pPr marL="266700" indent="-152400" algn="l">
              <a:spcAft>
                <a:spcPts val="500"/>
              </a:spcAft>
              <a:buChar char="•"/>
              <a:defRPr sz="1875" b="0">
                <a:solidFill>
                  <a:srgbClr val="182C43"/>
                </a:solidFill>
                <a:latin typeface="Arial"/>
                <a:ea typeface="Arial"/>
                <a:cs typeface="Arial"/>
              </a:defRPr>
            </a:pPr>
            <a:r>
              <a:rPr sz="1875" b="1">
                <a:solidFill>
                  <a:srgbClr val="182C43"/>
                </a:solidFill>
                <a:latin typeface="Arial"/>
                <a:ea typeface="Arial"/>
                <a:cs typeface="Arial"/>
              </a:rPr>
              <a:t>Time / session exit:</a:t>
            </a:r>
            <a:r>
              <a:rPr sz="1875">
                <a:solidFill>
                  <a:srgbClr val="182C43"/>
                </a:solidFill>
                <a:latin typeface="Arial"/>
                <a:ea typeface="Arial"/>
                <a:cs typeface="Arial"/>
              </a:rPr>
              <a:t> cap holding time and confirm flat positions before the actual close.</a:t>
            </a:r>
          </a:p>
          <a:p xmlns:a="http://schemas.openxmlformats.org/drawingml/2006/main">
            <a:pPr marL="266700" indent="-152400" algn="l">
              <a:spcAft>
                <a:spcPts val="500"/>
              </a:spcAft>
              <a:buChar char="•"/>
              <a:defRPr sz="1875" b="0">
                <a:solidFill>
                  <a:srgbClr val="182C43"/>
                </a:solidFill>
                <a:latin typeface="Arial"/>
                <a:ea typeface="Arial"/>
                <a:cs typeface="Arial"/>
              </a:defRPr>
            </a:pPr>
            <a:r>
              <a:rPr sz="1875" b="1">
                <a:solidFill>
                  <a:srgbClr val="182C43"/>
                </a:solidFill>
                <a:latin typeface="Arial"/>
                <a:ea typeface="Arial"/>
                <a:cs typeface="Arial"/>
              </a:rPr>
              <a:t>Sizing:</a:t>
            </a:r>
            <a:r>
              <a:rPr sz="1875">
                <a:solidFill>
                  <a:srgbClr val="182C43"/>
                </a:solidFill>
                <a:latin typeface="Arial"/>
                <a:ea typeface="Arial"/>
                <a:cs typeface="Arial"/>
              </a:rPr>
              <a:t> intended loss budget ÷ stop distance, then apply share and notional caps.</a:t>
            </a:r>
          </a:p>
          <a:p xmlns:a="http://schemas.openxmlformats.org/drawingml/2006/main">
            <a:pPr marL="266700" indent="-152400" algn="l">
              <a:spcAft>
                <a:spcPts val="500"/>
              </a:spcAft>
              <a:buChar char="•"/>
              <a:defRPr sz="1875" b="0">
                <a:solidFill>
                  <a:srgbClr val="182C43"/>
                </a:solidFill>
                <a:latin typeface="Arial"/>
                <a:ea typeface="Arial"/>
                <a:cs typeface="Arial"/>
              </a:defRPr>
            </a:pPr>
            <a:r>
              <a:rPr sz="1875" b="1">
                <a:solidFill>
                  <a:srgbClr val="182C43"/>
                </a:solidFill>
                <a:latin typeface="Arial"/>
                <a:ea typeface="Arial"/>
                <a:cs typeface="Arial"/>
              </a:rPr>
              <a:t>Execution risk:</a:t>
            </a:r>
            <a:r>
              <a:rPr sz="1875">
                <a:solidFill>
                  <a:srgbClr val="182C43"/>
                </a:solidFill>
                <a:latin typeface="Arial"/>
                <a:ea typeface="Arial"/>
                <a:cs typeface="Arial"/>
              </a:rPr>
              <a:t> stops can slip. Partial fills and one-leg exposure need explicit handling.</a:t>
            </a:r>
          </a:p>
        </p:txBody>
      </p:sp>
      <p:sp>
        <p:nvSpPr>
          <p:cNvPr id="12" name="Portfolio and operational controls">
            <a:extLst xmlns:a="http://schemas.openxmlformats.org/drawingml/2006/main">
              <a:ext uri="{FF2B5EF4-FFF2-40B4-BE49-F238E27FC236}">
                <a16:creationId xmlns:a16="http://schemas.microsoft.com/office/drawing/2014/main" id="{2257A04D-B74A-4CA3-A69E-5CFB313CBD3B}"/>
              </a:ext>
            </a:extLst>
          </p:cNvPr>
          <p:cNvSpPr>
            <a:spLocks xmlns:a="http://schemas.openxmlformats.org/drawingml/2006/main" noGrp="1"/>
          </p:cNvSpPr>
          <p:nvPr/>
        </p:nvSpPr>
        <p:spPr>
          <a:xfrm xmlns:a="http://schemas.openxmlformats.org/drawingml/2006/main">
            <a:off x="6248400" y="1581150"/>
            <a:ext cx="533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FF5400"/>
                </a:solidFill>
                <a:latin typeface="Arial"/>
                <a:ea typeface="Arial"/>
                <a:cs typeface="Arial"/>
              </a:defRPr>
            </a:defPPr>
          </a:lstStyle>
          <a:p xmlns:a="http://schemas.openxmlformats.org/drawingml/2006/main">
            <a:pPr algn="l">
              <a:defRPr sz="2100" b="1">
                <a:solidFill>
                  <a:srgbClr val="FF5400"/>
                </a:solidFill>
                <a:latin typeface="Arial"/>
                <a:ea typeface="Arial"/>
                <a:cs typeface="Arial"/>
              </a:defRPr>
            </a:pPr>
            <a:r>
              <a:rPr sz="2100" b="1">
                <a:solidFill>
                  <a:srgbClr val="FF5400"/>
                </a:solidFill>
                <a:latin typeface="Arial"/>
                <a:ea typeface="Arial"/>
                <a:cs typeface="Arial"/>
              </a:rPr>
              <a:t>Portfolio and operational controls</a:t>
            </a:r>
          </a:p>
        </p:txBody>
      </p:sp>
      <p:sp>
        <p:nvSpPr>
          <p:cNvPr id="13" name="">
            <a:extLst xmlns:a="http://schemas.openxmlformats.org/drawingml/2006/main">
              <a:ext uri="{FF2B5EF4-FFF2-40B4-BE49-F238E27FC236}">
                <a16:creationId xmlns:a16="http://schemas.microsoft.com/office/drawing/2014/main" id="{2A5F330D-3A51-4D86-8317-51E80E23F725}"/>
              </a:ext>
            </a:extLst>
          </p:cNvPr>
          <p:cNvSpPr>
            <a:spLocks xmlns:a="http://schemas.openxmlformats.org/drawingml/2006/main" noGrp="1"/>
          </p:cNvSpPr>
          <p:nvPr/>
        </p:nvSpPr>
        <p:spPr>
          <a:xfrm xmlns:a="http://schemas.openxmlformats.org/drawingml/2006/main">
            <a:off x="6248400" y="2009775"/>
            <a:ext cx="53340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182C43"/>
                </a:solidFill>
                <a:latin typeface="Arial"/>
                <a:ea typeface="Arial"/>
                <a:cs typeface="Arial"/>
              </a:defRPr>
            </a:defPPr>
          </a:lstStyle>
          <a:p xmlns:a="http://schemas.openxmlformats.org/drawingml/2006/main">
            <a:pPr marL="266700" indent="-152400" algn="l">
              <a:spcAft>
                <a:spcPts val="500"/>
              </a:spcAft>
              <a:buChar char="•"/>
              <a:defRPr sz="1875" b="0">
                <a:solidFill>
                  <a:srgbClr val="182C43"/>
                </a:solidFill>
                <a:latin typeface="Arial"/>
                <a:ea typeface="Arial"/>
                <a:cs typeface="Arial"/>
              </a:defRPr>
            </a:pPr>
            <a:r>
              <a:rPr sz="1875" b="1">
                <a:solidFill>
                  <a:srgbClr val="182C43"/>
                </a:solidFill>
                <a:latin typeface="Arial"/>
                <a:ea typeface="Arial"/>
                <a:cs typeface="Arial"/>
              </a:rPr>
              <a:t>Gross / net exposure:</a:t>
            </a:r>
            <a:r>
              <a:rPr sz="1875">
                <a:solidFill>
                  <a:srgbClr val="182C43"/>
                </a:solidFill>
                <a:latin typeface="Arial"/>
                <a:ea typeface="Arial"/>
                <a:cs typeface="Arial"/>
              </a:rPr>
              <a:t> total absolute positions / longs minus shorts. Monitor both.</a:t>
            </a:r>
          </a:p>
          <a:p xmlns:a="http://schemas.openxmlformats.org/drawingml/2006/main">
            <a:pPr marL="266700" indent="-152400" algn="l">
              <a:spcAft>
                <a:spcPts val="500"/>
              </a:spcAft>
              <a:buChar char="•"/>
              <a:defRPr sz="1875" b="0">
                <a:solidFill>
                  <a:srgbClr val="182C43"/>
                </a:solidFill>
                <a:latin typeface="Arial"/>
                <a:ea typeface="Arial"/>
                <a:cs typeface="Arial"/>
              </a:defRPr>
            </a:pPr>
            <a:r>
              <a:rPr sz="1875" b="1">
                <a:solidFill>
                  <a:srgbClr val="182C43"/>
                </a:solidFill>
                <a:latin typeface="Arial"/>
                <a:ea typeface="Arial"/>
                <a:cs typeface="Arial"/>
              </a:rPr>
              <a:t>Concentration:</a:t>
            </a:r>
            <a:r>
              <a:rPr sz="1875">
                <a:solidFill>
                  <a:srgbClr val="182C43"/>
                </a:solidFill>
                <a:latin typeface="Arial"/>
                <a:ea typeface="Arial"/>
                <a:cs typeface="Arial"/>
              </a:rPr>
              <a:t> cap a symbol, sector or correlated group so positions do not duplicate one risk.</a:t>
            </a:r>
          </a:p>
          <a:p xmlns:a="http://schemas.openxmlformats.org/drawingml/2006/main">
            <a:pPr marL="266700" indent="-152400" algn="l">
              <a:spcAft>
                <a:spcPts val="500"/>
              </a:spcAft>
              <a:buChar char="•"/>
              <a:defRPr sz="1875" b="0">
                <a:solidFill>
                  <a:srgbClr val="182C43"/>
                </a:solidFill>
                <a:latin typeface="Arial"/>
                <a:ea typeface="Arial"/>
                <a:cs typeface="Arial"/>
              </a:defRPr>
            </a:pPr>
            <a:r>
              <a:rPr sz="1875" b="1">
                <a:solidFill>
                  <a:srgbClr val="182C43"/>
                </a:solidFill>
                <a:latin typeface="Arial"/>
                <a:ea typeface="Arial"/>
                <a:cs typeface="Arial"/>
              </a:rPr>
              <a:t>Loss limits:</a:t>
            </a:r>
            <a:r>
              <a:rPr sz="1875">
                <a:solidFill>
                  <a:srgbClr val="182C43"/>
                </a:solidFill>
                <a:latin typeface="Arial"/>
                <a:ea typeface="Arial"/>
                <a:cs typeface="Arial"/>
              </a:rPr>
              <a:t> define a daily loss or drawdown response before trading starts.</a:t>
            </a:r>
          </a:p>
          <a:p xmlns:a="http://schemas.openxmlformats.org/drawingml/2006/main">
            <a:pPr marL="266700" indent="-152400" algn="l">
              <a:spcAft>
                <a:spcPts val="500"/>
              </a:spcAft>
              <a:buChar char="•"/>
              <a:defRPr sz="1875" b="0">
                <a:solidFill>
                  <a:srgbClr val="182C43"/>
                </a:solidFill>
                <a:latin typeface="Arial"/>
                <a:ea typeface="Arial"/>
                <a:cs typeface="Arial"/>
              </a:defRPr>
            </a:pPr>
            <a:r>
              <a:rPr sz="1875" b="1">
                <a:solidFill>
                  <a:srgbClr val="182C43"/>
                </a:solidFill>
                <a:latin typeface="Arial"/>
                <a:ea typeface="Arial"/>
                <a:cs typeface="Arial"/>
              </a:rPr>
              <a:t>Kill switch and recovery:</a:t>
            </a:r>
            <a:r>
              <a:rPr sz="1875">
                <a:solidFill>
                  <a:srgbClr val="182C43"/>
                </a:solidFill>
                <a:latin typeface="Arial"/>
                <a:ea typeface="Arial"/>
                <a:cs typeface="Arial"/>
              </a:rPr>
              <a:t> block entries, handle orders and reconcile state before restart.</a:t>
            </a:r>
          </a:p>
          <a:p xmlns:a="http://schemas.openxmlformats.org/drawingml/2006/main">
            <a:pPr marL="266700" indent="-152400" algn="l">
              <a:spcAft>
                <a:spcPts val="500"/>
              </a:spcAft>
              <a:buChar char="•"/>
              <a:defRPr sz="1875" b="0">
                <a:solidFill>
                  <a:srgbClr val="182C43"/>
                </a:solidFill>
                <a:latin typeface="Arial"/>
                <a:ea typeface="Arial"/>
                <a:cs typeface="Arial"/>
              </a:defRPr>
            </a:pPr>
            <a:r>
              <a:rPr sz="1875" b="1">
                <a:solidFill>
                  <a:srgbClr val="182C43"/>
                </a:solidFill>
                <a:latin typeface="Arial"/>
                <a:ea typeface="Arial"/>
                <a:cs typeface="Arial"/>
              </a:rPr>
              <a:t>Pending orders:</a:t>
            </a:r>
            <a:r>
              <a:rPr sz="1875">
                <a:solidFill>
                  <a:srgbClr val="182C43"/>
                </a:solidFill>
                <a:latin typeface="Arial"/>
                <a:ea typeface="Arial"/>
                <a:cs typeface="Arial"/>
              </a:rPr>
              <a:t> reserve their potential exposure and monitor rejections or stale orders.</a:t>
            </a:r>
          </a:p>
        </p:txBody>
      </p:sp>
      <p:sp>
        <p:nvSpPr>
          <p:cNvPr id="14" name="Sizing example: $25 ÷ $0.50 = 50 shares. A $2">
            <a:extLst xmlns:a="http://schemas.openxmlformats.org/drawingml/2006/main">
              <a:ext uri="{FF2B5EF4-FFF2-40B4-BE49-F238E27FC236}">
                <a16:creationId xmlns:a16="http://schemas.microsoft.com/office/drawing/2014/main" id="{284FF0B0-713A-4AC5-99A6-C903B21D44E2}"/>
              </a:ext>
            </a:extLst>
          </p:cNvPr>
          <p:cNvSpPr>
            <a:spLocks xmlns:a="http://schemas.openxmlformats.org/drawingml/2006/main" noGrp="1"/>
          </p:cNvSpPr>
          <p:nvPr/>
        </p:nvSpPr>
        <p:spPr>
          <a:xfrm xmlns:a="http://schemas.openxmlformats.org/drawingml/2006/main">
            <a:off x="609600" y="574357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1">
                <a:solidFill>
                  <a:srgbClr val="004D73"/>
                </a:solidFill>
                <a:latin typeface="Arial"/>
                <a:ea typeface="Arial"/>
                <a:cs typeface="Arial"/>
              </a:defRPr>
            </a:defPPr>
          </a:lstStyle>
          <a:p xmlns:a="http://schemas.openxmlformats.org/drawingml/2006/main">
            <a:pPr algn="l">
              <a:defRPr sz="1875" b="1">
                <a:solidFill>
                  <a:srgbClr val="004D73"/>
                </a:solidFill>
                <a:latin typeface="Arial"/>
                <a:ea typeface="Arial"/>
                <a:cs typeface="Arial"/>
              </a:defRPr>
            </a:pPr>
            <a:r>
              <a:rPr sz="1875" b="1">
                <a:solidFill>
                  <a:srgbClr val="004D73"/>
                </a:solidFill>
                <a:latin typeface="Arial"/>
                <a:ea typeface="Arial"/>
                <a:cs typeface="Arial"/>
              </a:rPr>
              <a:t>Sizing example: $25 ÷ $0.50 = 50 shares. A $2,000 cap at $100 allows 20, so use 20.</a:t>
            </a:r>
          </a:p>
          <a:p xmlns:a="http://schemas.openxmlformats.org/drawingml/2006/main">
            <a:pPr algn="l">
              <a:defRPr sz="1875" b="1">
                <a:solidFill>
                  <a:srgbClr val="004D73"/>
                </a:solidFill>
                <a:latin typeface="Arial"/>
                <a:ea typeface="Arial"/>
                <a:cs typeface="Arial"/>
              </a:defRPr>
            </a:pPr>
            <a:r>
              <a:rPr sz="1875" b="1">
                <a:solidFill>
                  <a:srgbClr val="004D73"/>
                </a:solidFill>
                <a:latin typeface="Arial"/>
                <a:ea typeface="Arial"/>
                <a:cs typeface="Arial"/>
              </a:rPr>
              <a:t>Stops limit intended risk. They do not guarantee a maximum realized loss.</a:t>
            </a:r>
          </a:p>
        </p:txBody>
      </p:sp>
    </p:spTree>
    <p:extLst>
      <p:ext uri="{BB962C8B-B14F-4D97-AF65-F5344CB8AC3E}">
        <p14:creationId xmlns:p14="http://schemas.microsoft.com/office/powerpoint/2010/main" val="185344968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HARED COURSE">
            <a:extLst xmlns:a="http://schemas.openxmlformats.org/drawingml/2006/main">
              <a:ext uri="{FF2B5EF4-FFF2-40B4-BE49-F238E27FC236}">
                <a16:creationId xmlns:a16="http://schemas.microsoft.com/office/drawing/2014/main" id="{ECE22C77-3D78-4D54-A151-3681D25B91C5}"/>
              </a:ext>
            </a:extLst>
          </p:cNvPr>
          <p:cNvSpPr>
            <a:spLocks xmlns:a="http://schemas.openxmlformats.org/drawingml/2006/main" noGrp="1"/>
          </p:cNvSpPr>
          <p:nvPr/>
        </p:nvSpPr>
        <p:spPr>
          <a:xfrm xmlns:a="http://schemas.openxmlformats.org/drawingml/2006/main">
            <a:off x="609600" y="285750"/>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FF5400"/>
                </a:solidFill>
                <a:latin typeface="Arial"/>
                <a:ea typeface="Arial"/>
                <a:cs typeface="Arial"/>
              </a:defRPr>
            </a:defPPr>
          </a:lstStyle>
          <a:p xmlns:a="http://schemas.openxmlformats.org/drawingml/2006/main">
            <a:pPr algn="l">
              <a:buNone/>
              <a:defRPr sz="1350" b="1">
                <a:solidFill>
                  <a:srgbClr val="FF5400"/>
                </a:solidFill>
                <a:latin typeface="Arial"/>
                <a:ea typeface="Arial"/>
                <a:cs typeface="Arial"/>
              </a:defRPr>
            </a:pPr>
            <a:r>
              <a:rPr sz="1350" b="1">
                <a:solidFill>
                  <a:srgbClr val="FF5400"/>
                </a:solidFill>
                <a:latin typeface="Arial"/>
                <a:ea typeface="Arial"/>
                <a:cs typeface="Arial"/>
              </a:rPr>
              <a:t>SHARED COURSE</a:t>
            </a:r>
          </a:p>
        </p:txBody>
      </p:sp>
      <p:sp>
        <p:nvSpPr>
          <p:cNvPr id="2" name="Slide title">
            <a:extLst xmlns:a="http://schemas.openxmlformats.org/drawingml/2006/main">
              <a:ext uri="{FF2B5EF4-FFF2-40B4-BE49-F238E27FC236}">
                <a16:creationId xmlns:a16="http://schemas.microsoft.com/office/drawing/2014/main" id="{AE10E455-62E4-40A4-8129-7A1D6435450E}"/>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004D73"/>
                </a:solidFill>
                <a:latin typeface="Arial"/>
                <a:ea typeface="Arial"/>
                <a:cs typeface="Arial"/>
              </a:defRPr>
            </a:defPPr>
          </a:lstStyle>
          <a:p xmlns:a="http://schemas.openxmlformats.org/drawingml/2006/main">
            <a:pPr algn="l">
              <a:buNone/>
              <a:defRPr sz="3300" b="1">
                <a:solidFill>
                  <a:srgbClr val="004D73"/>
                </a:solidFill>
                <a:latin typeface="Arial"/>
                <a:ea typeface="Arial"/>
                <a:cs typeface="Arial"/>
              </a:defRPr>
            </a:pPr>
            <a:r>
              <a:rPr sz="3300" b="1">
                <a:solidFill>
                  <a:srgbClr val="004D73"/>
                </a:solidFill>
                <a:latin typeface="Arial"/>
                <a:ea typeface="Arial"/>
                <a:cs typeface="Arial"/>
              </a:rPr>
              <a:t>Regimes, factors and volatility forecasts</a:t>
            </a:r>
          </a:p>
        </p:txBody>
      </p:sp>
      <p:sp>
        <p:nvSpPr>
          <p:cNvPr id="3" name="SHPE CAPITAL    OCTOBER 13, 2026">
            <a:extLst xmlns:a="http://schemas.openxmlformats.org/drawingml/2006/main">
              <a:ext uri="{FF2B5EF4-FFF2-40B4-BE49-F238E27FC236}">
                <a16:creationId xmlns:a16="http://schemas.microsoft.com/office/drawing/2014/main" id="{71FE4826-4FBB-48F0-B3A2-BBB90CC5DECA}"/>
              </a:ext>
            </a:extLst>
          </p:cNvPr>
          <p:cNvSpPr>
            <a:spLocks xmlns:a="http://schemas.openxmlformats.org/drawingml/2006/main" noGrp="1"/>
          </p:cNvSpPr>
          <p:nvPr/>
        </p:nvSpPr>
        <p:spPr>
          <a:xfrm xmlns:a="http://schemas.openxmlformats.org/drawingml/2006/main">
            <a:off x="609600" y="6438900"/>
            <a:ext cx="771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SHPE CAPITAL    OCTOBER 13, 2026</a:t>
            </a:r>
          </a:p>
        </p:txBody>
      </p:sp>
      <p:sp>
        <p:nvSpPr>
          <p:cNvPr id="4" name="17:30-19:00">
            <a:extLst xmlns:a="http://schemas.openxmlformats.org/drawingml/2006/main">
              <a:ext uri="{FF2B5EF4-FFF2-40B4-BE49-F238E27FC236}">
                <a16:creationId xmlns:a16="http://schemas.microsoft.com/office/drawing/2014/main" id="{8F314266-F61E-46C6-BAF3-39F06F5544BD}"/>
              </a:ext>
            </a:extLst>
          </p:cNvPr>
          <p:cNvSpPr>
            <a:spLocks xmlns:a="http://schemas.openxmlformats.org/drawingml/2006/main" noGrp="1"/>
          </p:cNvSpPr>
          <p:nvPr/>
        </p:nvSpPr>
        <p:spPr>
          <a:xfrm xmlns:a="http://schemas.openxmlformats.org/drawingml/2006/main">
            <a:off x="9029700" y="643890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18:00-19:00</a:t>
            </a:r>
          </a:p>
        </p:txBody>
      </p:sp>
      <p:sp>
        <p:nvSpPr>
          <p:cNvPr id="5" name="0">
            <a:extLst xmlns:a="http://schemas.openxmlformats.org/drawingml/2006/main">
              <a:ext uri="{FF2B5EF4-FFF2-40B4-BE49-F238E27FC236}">
                <a16:creationId xmlns:a16="http://schemas.microsoft.com/office/drawing/2014/main" id="{9561A9A3-A3A5-48D0-8D3F-7860EF5442E2}"/>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17</a:t>
            </a:r>
          </a:p>
        </p:txBody>
      </p:sp>
      <p:graphicFrame>
        <p:nvGraphicFramePr>
          <p:cNvPr id="9" name="">
            <a:extLst xmlns:a="http://schemas.openxmlformats.org/drawingml/2006/main">
              <a:ext uri="{FF2B5EF4-FFF2-40B4-BE49-F238E27FC236}">
                <a16:creationId xmlns:a16="http://schemas.microsoft.com/office/drawing/2014/main" id="{FDD5DF09-299E-4435-98D6-F449112F054A}"/>
              </a:ext>
            </a:extLst>
          </p:cNvPr>
          <p:cNvGraphicFramePr/>
          <p:nvPr/>
        </p:nvGraphicFramePr>
        <p:xfrm>
          <a:off xmlns:a="http://schemas.openxmlformats.org/drawingml/2006/main" x="609600" y="1762125"/>
          <a:ext xmlns:a="http://schemas.openxmlformats.org/drawingml/2006/main" cx="10972800" cy="2952750"/>
        </p:xfrm>
        <a:graphic xmlns:a="http://schemas.openxmlformats.org/drawingml/2006/main">
          <a:graphicData uri="http://schemas.openxmlformats.org/drawingml/2006/table">
            <a:tbl>
              <a:tblPr firstRow="1" bandRow="0"/>
              <a:tblGrid>
                <a:gridCol w="2190750"/>
                <a:gridCol w="4381500"/>
                <a:gridCol w="4400550"/>
              </a:tblGrid>
              <a:tr h="419100">
                <a:tc>
                  <a:txBody>
                    <a:bodyPr lIns="85725" tIns="85725" rIns="85725" bIns="85725">
                      <a:noAutofit/>
                    </a:bodyPr>
                    <a:lstStyle/>
                    <a:p>
                      <a:pPr algn="l"/>
                      <a:r>
                        <a:rPr sz="1875" b="1">
                          <a:solidFill>
                            <a:srgbClr val="FFFFFF"/>
                          </a:solidFill>
                          <a:latin typeface="Arial"/>
                          <a:ea typeface="Arial"/>
                          <a:cs typeface="Arial"/>
                        </a:rPr>
                        <a:t>Concept</a:t>
                      </a:r>
                    </a:p>
                  </a:txBody>
                  <a:tcPr marL="85725" marR="85725" marT="19050" marB="19050" anchor="ctr">
                    <a:lnL w="6668">
                      <a:solidFill>
                        <a:srgbClr val="D9E0E7"/>
                      </a:solidFill>
                      <a:prstDash val="solid"/>
                    </a:lnL>
                    <a:lnR w="6668">
                      <a:solidFill>
                        <a:srgbClr val="D9E0E7"/>
                      </a:solidFill>
                      <a:prstDash val="solid"/>
                    </a:lnR>
                    <a:lnT w="6668">
                      <a:solidFill>
                        <a:srgbClr val="D9E0E7"/>
                      </a:solidFill>
                      <a:prstDash val="solid"/>
                    </a:lnT>
                    <a:lnB w="6668">
                      <a:solidFill>
                        <a:srgbClr val="D9E0E7"/>
                      </a:solidFill>
                      <a:prstDash val="solid"/>
                    </a:lnB>
                    <a:solidFill>
                      <a:srgbClr val="004D73"/>
                    </a:solidFill>
                  </a:tcPr>
                </a:tc>
                <a:tc>
                  <a:txBody>
                    <a:bodyPr lIns="85725" tIns="85725" rIns="85725" bIns="85725">
                      <a:noAutofit/>
                    </a:bodyPr>
                    <a:lstStyle/>
                    <a:p>
                      <a:pPr algn="l"/>
                      <a:r>
                        <a:rPr sz="1875" b="1">
                          <a:solidFill>
                            <a:srgbClr val="FFFFFF"/>
                          </a:solidFill>
                          <a:latin typeface="Arial"/>
                          <a:ea typeface="Arial"/>
                          <a:cs typeface="Arial"/>
                        </a:rPr>
                        <a:t>Definition / measurement</a:t>
                      </a:r>
                    </a:p>
                  </a:txBody>
                  <a:tcPr marL="85725" marR="85725" marT="19050" marB="19050" anchor="ctr">
                    <a:lnR w="6668">
                      <a:solidFill>
                        <a:srgbClr val="D9E0E7"/>
                      </a:solidFill>
                      <a:prstDash val="solid"/>
                    </a:lnR>
                    <a:lnT w="6668">
                      <a:solidFill>
                        <a:srgbClr val="D9E0E7"/>
                      </a:solidFill>
                      <a:prstDash val="solid"/>
                    </a:lnT>
                    <a:lnB w="6668">
                      <a:solidFill>
                        <a:srgbClr val="D9E0E7"/>
                      </a:solidFill>
                      <a:prstDash val="solid"/>
                    </a:lnB>
                    <a:solidFill>
                      <a:srgbClr val="004D73"/>
                    </a:solidFill>
                  </a:tcPr>
                </a:tc>
                <a:tc>
                  <a:txBody>
                    <a:bodyPr lIns="85725" tIns="85725" rIns="85725" bIns="85725">
                      <a:noAutofit/>
                    </a:bodyPr>
                    <a:lstStyle/>
                    <a:p>
                      <a:pPr algn="l"/>
                      <a:r>
                        <a:rPr sz="1875" b="1">
                          <a:solidFill>
                            <a:srgbClr val="FFFFFF"/>
                          </a:solidFill>
                          <a:latin typeface="Arial"/>
                          <a:ea typeface="Arial"/>
                          <a:cs typeface="Arial"/>
                        </a:rPr>
                        <a:t>Use in an experiment</a:t>
                      </a:r>
                    </a:p>
                  </a:txBody>
                  <a:tcPr marL="85725" marR="85725" marT="19050" marB="19050" anchor="ctr">
                    <a:lnR w="6668">
                      <a:solidFill>
                        <a:srgbClr val="D9E0E7"/>
                      </a:solidFill>
                      <a:prstDash val="solid"/>
                    </a:lnR>
                    <a:lnT w="6668">
                      <a:solidFill>
                        <a:srgbClr val="D9E0E7"/>
                      </a:solidFill>
                      <a:prstDash val="solid"/>
                    </a:lnT>
                    <a:lnB w="6668">
                      <a:solidFill>
                        <a:srgbClr val="D9E0E7"/>
                      </a:solidFill>
                      <a:prstDash val="solid"/>
                    </a:lnB>
                    <a:solidFill>
                      <a:srgbClr val="004D73"/>
                    </a:solidFill>
                  </a:tcPr>
                </a:tc>
              </a:tr>
              <a:tr h="633413">
                <a:tc>
                  <a:txBody>
                    <a:bodyPr lIns="85725" tIns="85725" rIns="85725" bIns="85725">
                      <a:noAutofit/>
                    </a:bodyPr>
                    <a:lstStyle/>
                    <a:p>
                      <a:pPr algn="l"/>
                      <a:r>
                        <a:rPr sz="1875" b="1">
                          <a:solidFill>
                            <a:srgbClr val="182C43"/>
                          </a:solidFill>
                          <a:latin typeface="Arial"/>
                          <a:ea typeface="Arial"/>
                          <a:cs typeface="Arial"/>
                        </a:rPr>
                        <a:t>Regime modeling</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875" b="0">
                          <a:solidFill>
                            <a:srgbClr val="182C43"/>
                          </a:solidFill>
                          <a:latin typeface="Arial"/>
                          <a:ea typeface="Arial"/>
                          <a:cs typeface="Arial"/>
                        </a:rPr>
                        <a:t>Estimate conditions such as trending/choppy or liquid/illiquid</a:t>
                      </a:r>
                    </a:p>
                  </a:txBody>
                  <a:tcPr marL="85725" marR="85725" marT="19050" marB="19050" anchor="ctr">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875" b="0">
                          <a:solidFill>
                            <a:srgbClr val="182C43"/>
                          </a:solidFill>
                          <a:latin typeface="Arial"/>
                          <a:ea typeface="Arial"/>
                          <a:cs typeface="Arial"/>
                        </a:rPr>
                        <a:t>Compare the baseline with a fixed eligibility rule</a:t>
                      </a:r>
                    </a:p>
                  </a:txBody>
                  <a:tcPr marL="85725" marR="85725" marT="19050" marB="19050" anchor="ctr">
                    <a:lnR w="6668">
                      <a:solidFill>
                        <a:srgbClr val="D9E0E7"/>
                      </a:solidFill>
                      <a:prstDash val="solid"/>
                    </a:lnR>
                    <a:lnB w="6668">
                      <a:solidFill>
                        <a:srgbClr val="D9E0E7"/>
                      </a:solidFill>
                      <a:prstDash val="solid"/>
                    </a:lnB>
                    <a:solidFill>
                      <a:srgbClr val="FFFFFF"/>
                    </a:solidFill>
                  </a:tcPr>
                </a:tc>
              </a:tr>
              <a:tr h="633413">
                <a:tc>
                  <a:txBody>
                    <a:bodyPr lIns="85725" tIns="85725" rIns="85725" bIns="85725">
                      <a:noAutofit/>
                    </a:bodyPr>
                    <a:lstStyle/>
                    <a:p>
                      <a:pPr algn="l"/>
                      <a:r>
                        <a:rPr sz="1875" b="1">
                          <a:solidFill>
                            <a:srgbClr val="182C43"/>
                          </a:solidFill>
                          <a:latin typeface="Arial"/>
                          <a:ea typeface="Arial"/>
                          <a:cs typeface="Arial"/>
                        </a:rPr>
                        <a:t>Market / sector factors</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1F4F7"/>
                    </a:solidFill>
                  </a:tcPr>
                </a:tc>
                <a:tc>
                  <a:txBody>
                    <a:bodyPr lIns="85725" tIns="85725" rIns="85725" bIns="85725">
                      <a:noAutofit/>
                    </a:bodyPr>
                    <a:lstStyle/>
                    <a:p>
                      <a:pPr algn="l"/>
                      <a:r>
                        <a:rPr sz="1875" b="0">
                          <a:solidFill>
                            <a:srgbClr val="182C43"/>
                          </a:solidFill>
                          <a:latin typeface="Arial"/>
                          <a:ea typeface="Arial"/>
                          <a:cs typeface="Arial"/>
                        </a:rPr>
                        <a:t>Shared drivers, measured with index/sector returns and beta</a:t>
                      </a:r>
                    </a:p>
                  </a:txBody>
                  <a:tcPr marL="85725" marR="85725" marT="19050" marB="19050" anchor="ctr">
                    <a:lnR w="6668">
                      <a:solidFill>
                        <a:srgbClr val="D9E0E7"/>
                      </a:solidFill>
                      <a:prstDash val="solid"/>
                    </a:lnR>
                    <a:lnB w="6668">
                      <a:solidFill>
                        <a:srgbClr val="D9E0E7"/>
                      </a:solidFill>
                      <a:prstDash val="solid"/>
                    </a:lnB>
                    <a:solidFill>
                      <a:srgbClr val="F1F4F7"/>
                    </a:solidFill>
                  </a:tcPr>
                </a:tc>
                <a:tc>
                  <a:txBody>
                    <a:bodyPr lIns="85725" tIns="85725" rIns="85725" bIns="85725">
                      <a:noAutofit/>
                    </a:bodyPr>
                    <a:lstStyle/>
                    <a:p>
                      <a:pPr algn="l"/>
                      <a:r>
                        <a:rPr sz="1875" b="0">
                          <a:solidFill>
                            <a:srgbClr val="182C43"/>
                          </a:solidFill>
                          <a:latin typeface="Arial"/>
                          <a:ea typeface="Arial"/>
                          <a:cs typeface="Arial"/>
                        </a:rPr>
                        <a:t>Separate stock-specific signals from common exposure</a:t>
                      </a:r>
                    </a:p>
                  </a:txBody>
                  <a:tcPr marL="85725" marR="85725" marT="19050" marB="19050" anchor="ctr">
                    <a:lnR w="6668">
                      <a:solidFill>
                        <a:srgbClr val="D9E0E7"/>
                      </a:solidFill>
                      <a:prstDash val="solid"/>
                    </a:lnR>
                    <a:lnB w="6668">
                      <a:solidFill>
                        <a:srgbClr val="D9E0E7"/>
                      </a:solidFill>
                      <a:prstDash val="solid"/>
                    </a:lnB>
                    <a:solidFill>
                      <a:srgbClr val="F1F4F7"/>
                    </a:solidFill>
                  </a:tcPr>
                </a:tc>
              </a:tr>
              <a:tr h="633413">
                <a:tc>
                  <a:txBody>
                    <a:bodyPr lIns="85725" tIns="85725" rIns="85725" bIns="85725">
                      <a:noAutofit/>
                    </a:bodyPr>
                    <a:lstStyle/>
                    <a:p>
                      <a:pPr algn="l"/>
                      <a:r>
                        <a:rPr sz="1875" b="1">
                          <a:solidFill>
                            <a:srgbClr val="182C43"/>
                          </a:solidFill>
                          <a:latin typeface="Arial"/>
                          <a:ea typeface="Arial"/>
                          <a:cs typeface="Arial"/>
                        </a:rPr>
                        <a:t>Volatility forecast</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875" b="0">
                          <a:solidFill>
                            <a:srgbClr val="182C43"/>
                          </a:solidFill>
                          <a:latin typeface="Arial"/>
                          <a:ea typeface="Arial"/>
                          <a:cs typeface="Arial"/>
                        </a:rPr>
                        <a:t>Estimate future variability from past returns and market conditions</a:t>
                      </a:r>
                    </a:p>
                  </a:txBody>
                  <a:tcPr marL="85725" marR="85725" marT="19050" marB="19050" anchor="ctr">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875" b="0">
                          <a:solidFill>
                            <a:srgbClr val="182C43"/>
                          </a:solidFill>
                          <a:latin typeface="Arial"/>
                          <a:ea typeface="Arial"/>
                          <a:cs typeface="Arial"/>
                        </a:rPr>
                        <a:t>Test sizing or stop decisions against a rolling-vol baseline</a:t>
                      </a:r>
                    </a:p>
                  </a:txBody>
                  <a:tcPr marL="85725" marR="85725" marT="19050" marB="19050" anchor="ctr">
                    <a:lnR w="6668">
                      <a:solidFill>
                        <a:srgbClr val="D9E0E7"/>
                      </a:solidFill>
                      <a:prstDash val="solid"/>
                    </a:lnR>
                    <a:lnB w="6668">
                      <a:solidFill>
                        <a:srgbClr val="D9E0E7"/>
                      </a:solidFill>
                      <a:prstDash val="solid"/>
                    </a:lnB>
                    <a:solidFill>
                      <a:srgbClr val="FFFFFF"/>
                    </a:solidFill>
                  </a:tcPr>
                </a:tc>
              </a:tr>
              <a:tr h="633413">
                <a:tc>
                  <a:txBody>
                    <a:bodyPr lIns="85725" tIns="85725" rIns="85725" bIns="85725">
                      <a:noAutofit/>
                    </a:bodyPr>
                    <a:lstStyle/>
                    <a:p>
                      <a:pPr algn="l"/>
                      <a:r>
                        <a:rPr sz="1875" b="1">
                          <a:solidFill>
                            <a:srgbClr val="182C43"/>
                          </a:solidFill>
                          <a:latin typeface="Arial"/>
                          <a:ea typeface="Arial"/>
                          <a:cs typeface="Arial"/>
                        </a:rPr>
                        <a:t>Time of day / lead-lag</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1F4F7"/>
                    </a:solidFill>
                  </a:tcPr>
                </a:tc>
                <a:tc>
                  <a:txBody>
                    <a:bodyPr lIns="85725" tIns="85725" rIns="85725" bIns="85725">
                      <a:noAutofit/>
                    </a:bodyPr>
                    <a:lstStyle/>
                    <a:p>
                      <a:pPr algn="l"/>
                      <a:r>
                        <a:rPr sz="1875" b="0">
                          <a:solidFill>
                            <a:srgbClr val="182C43"/>
                          </a:solidFill>
                          <a:latin typeface="Arial"/>
                          <a:ea typeface="Arial"/>
                          <a:cs typeface="Arial"/>
                        </a:rPr>
                        <a:t>Session window / one asset observed before another moves</a:t>
                      </a:r>
                    </a:p>
                  </a:txBody>
                  <a:tcPr marL="85725" marR="85725" marT="19050" marB="19050" anchor="ctr">
                    <a:lnR w="6668">
                      <a:solidFill>
                        <a:srgbClr val="D9E0E7"/>
                      </a:solidFill>
                      <a:prstDash val="solid"/>
                    </a:lnR>
                    <a:lnB w="6668">
                      <a:solidFill>
                        <a:srgbClr val="D9E0E7"/>
                      </a:solidFill>
                      <a:prstDash val="solid"/>
                    </a:lnB>
                    <a:solidFill>
                      <a:srgbClr val="F1F4F7"/>
                    </a:solidFill>
                  </a:tcPr>
                </a:tc>
                <a:tc>
                  <a:txBody>
                    <a:bodyPr lIns="85725" tIns="85725" rIns="85725" bIns="85725">
                      <a:noAutofit/>
                    </a:bodyPr>
                    <a:lstStyle/>
                    <a:p>
                      <a:pPr algn="l"/>
                      <a:r>
                        <a:rPr sz="1875" b="0">
                          <a:solidFill>
                            <a:srgbClr val="182C43"/>
                          </a:solidFill>
                          <a:latin typeface="Arial"/>
                          <a:ea typeface="Arial"/>
                          <a:cs typeface="Arial"/>
                        </a:rPr>
                        <a:t>Test comparable windows or causal cross-asset features</a:t>
                      </a:r>
                    </a:p>
                  </a:txBody>
                  <a:tcPr marL="85725" marR="85725" marT="19050" marB="19050" anchor="ctr">
                    <a:lnR w="6668">
                      <a:solidFill>
                        <a:srgbClr val="D9E0E7"/>
                      </a:solidFill>
                      <a:prstDash val="solid"/>
                    </a:lnR>
                    <a:lnB w="6668">
                      <a:solidFill>
                        <a:srgbClr val="D9E0E7"/>
                      </a:solidFill>
                      <a:prstDash val="solid"/>
                    </a:lnB>
                    <a:solidFill>
                      <a:srgbClr val="F1F4F7"/>
                    </a:solidFill>
                  </a:tcPr>
                </a:tc>
              </a:tr>
            </a:tbl>
          </a:graphicData>
        </a:graphic>
      </p:graphicFrame>
      <p:sp>
        <p:nvSpPr>
          <p:cNvPr id="10" name="A controlled improvement">
            <a:extLst xmlns:a="http://schemas.openxmlformats.org/drawingml/2006/main">
              <a:ext uri="{FF2B5EF4-FFF2-40B4-BE49-F238E27FC236}">
                <a16:creationId xmlns:a16="http://schemas.microsoft.com/office/drawing/2014/main" id="{8888BC0C-8EC7-4E54-9AD6-61CCF15F7782}"/>
              </a:ext>
            </a:extLst>
          </p:cNvPr>
          <p:cNvSpPr>
            <a:spLocks xmlns:a="http://schemas.openxmlformats.org/drawingml/2006/main" noGrp="1"/>
          </p:cNvSpPr>
          <p:nvPr/>
        </p:nvSpPr>
        <p:spPr>
          <a:xfrm xmlns:a="http://schemas.openxmlformats.org/drawingml/2006/main">
            <a:off x="609600" y="50006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FF5400"/>
                </a:solidFill>
                <a:latin typeface="Arial"/>
                <a:ea typeface="Arial"/>
                <a:cs typeface="Arial"/>
              </a:defRPr>
            </a:defPPr>
          </a:lstStyle>
          <a:p xmlns:a="http://schemas.openxmlformats.org/drawingml/2006/main">
            <a:pPr algn="l">
              <a:defRPr sz="2100" b="1">
                <a:solidFill>
                  <a:srgbClr val="FF5400"/>
                </a:solidFill>
                <a:latin typeface="Arial"/>
                <a:ea typeface="Arial"/>
                <a:cs typeface="Arial"/>
              </a:defRPr>
            </a:pPr>
            <a:r>
              <a:rPr sz="2100" b="1">
                <a:solidFill>
                  <a:srgbClr val="FF5400"/>
                </a:solidFill>
                <a:latin typeface="Arial"/>
                <a:ea typeface="Arial"/>
                <a:cs typeface="Arial"/>
              </a:rPr>
              <a:t>A controlled improvement</a:t>
            </a:r>
          </a:p>
        </p:txBody>
      </p:sp>
      <p:sp>
        <p:nvSpPr>
          <p:cNvPr id="11" name="">
            <a:extLst xmlns:a="http://schemas.openxmlformats.org/drawingml/2006/main">
              <a:ext uri="{FF2B5EF4-FFF2-40B4-BE49-F238E27FC236}">
                <a16:creationId xmlns:a16="http://schemas.microsoft.com/office/drawing/2014/main" id="{7738B3FB-2E01-4984-9C07-D65FE3BFA495}"/>
              </a:ext>
            </a:extLst>
          </p:cNvPr>
          <p:cNvSpPr>
            <a:spLocks xmlns:a="http://schemas.openxmlformats.org/drawingml/2006/main" noGrp="1"/>
          </p:cNvSpPr>
          <p:nvPr/>
        </p:nvSpPr>
        <p:spPr>
          <a:xfrm xmlns:a="http://schemas.openxmlformats.org/drawingml/2006/main">
            <a:off x="609600" y="53911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182C43"/>
                </a:solidFill>
                <a:latin typeface="Arial"/>
                <a:ea typeface="Arial"/>
                <a:cs typeface="Arial"/>
              </a:defRPr>
            </a:defPPr>
          </a:lstStyle>
          <a:p xmlns:a="http://schemas.openxmlformats.org/drawingml/2006/main">
            <a:pPr marL="266700" indent="-152400" algn="l">
              <a:spcAft>
                <a:spcPts val="300"/>
              </a:spcAft>
              <a:buChar char="•"/>
              <a:defRPr sz="1725" b="0">
                <a:solidFill>
                  <a:srgbClr val="182C43"/>
                </a:solidFill>
                <a:latin typeface="Arial"/>
                <a:ea typeface="Arial"/>
                <a:cs typeface="Arial"/>
              </a:defRPr>
            </a:pPr>
            <a:r>
              <a:rPr sz="1725" b="1">
                <a:solidFill>
                  <a:srgbClr val="182C43"/>
                </a:solidFill>
                <a:latin typeface="Arial"/>
                <a:ea typeface="Arial"/>
                <a:cs typeface="Arial"/>
              </a:rPr>
              <a:t>Fixed regimes:</a:t>
            </a:r>
            <a:r>
              <a:rPr sz="1725">
                <a:solidFill>
                  <a:srgbClr val="182C43"/>
                </a:solidFill>
                <a:latin typeface="Arial"/>
                <a:ea typeface="Arial"/>
                <a:cs typeface="Arial"/>
              </a:rPr>
              <a:t> fit on earlier data and label conditions using information available at the time.</a:t>
            </a:r>
          </a:p>
          <a:p xmlns:a="http://schemas.openxmlformats.org/drawingml/2006/main">
            <a:pPr marL="266700" indent="-152400" algn="l">
              <a:spcAft>
                <a:spcPts val="300"/>
              </a:spcAft>
              <a:buChar char="•"/>
              <a:defRPr sz="1725" b="0">
                <a:solidFill>
                  <a:srgbClr val="182C43"/>
                </a:solidFill>
                <a:latin typeface="Arial"/>
                <a:ea typeface="Arial"/>
                <a:cs typeface="Arial"/>
              </a:defRPr>
            </a:pPr>
            <a:r>
              <a:rPr sz="1725" b="1">
                <a:solidFill>
                  <a:srgbClr val="182C43"/>
                </a:solidFill>
                <a:latin typeface="Arial"/>
                <a:ea typeface="Arial"/>
                <a:cs typeface="Arial"/>
              </a:rPr>
              <a:t>Controlled comparison:</a:t>
            </a:r>
            <a:r>
              <a:rPr sz="1725">
                <a:solidFill>
                  <a:srgbClr val="182C43"/>
                </a:solidFill>
                <a:latin typeface="Arial"/>
                <a:ea typeface="Arial"/>
                <a:cs typeface="Arial"/>
              </a:rPr>
              <a:t> change one component and compare net return and risk with the baseline.</a:t>
            </a:r>
          </a:p>
          <a:p xmlns:a="http://schemas.openxmlformats.org/drawingml/2006/main">
            <a:pPr marL="266700" indent="-152400" algn="l">
              <a:spcAft>
                <a:spcPts val="300"/>
              </a:spcAft>
              <a:buChar char="•"/>
              <a:defRPr sz="1725" b="0">
                <a:solidFill>
                  <a:srgbClr val="182C43"/>
                </a:solidFill>
                <a:latin typeface="Arial"/>
                <a:ea typeface="Arial"/>
                <a:cs typeface="Arial"/>
              </a:defRPr>
            </a:pPr>
            <a:r>
              <a:rPr sz="1725" b="1">
                <a:solidFill>
                  <a:srgbClr val="182C43"/>
                </a:solidFill>
                <a:latin typeface="Arial"/>
                <a:ea typeface="Arial"/>
                <a:cs typeface="Arial"/>
              </a:rPr>
              <a:t>Forecasts:</a:t>
            </a:r>
            <a:r>
              <a:rPr sz="1725">
                <a:solidFill>
                  <a:srgbClr val="182C43"/>
                </a:solidFill>
                <a:latin typeface="Arial"/>
                <a:ea typeface="Arial"/>
                <a:cs typeface="Arial"/>
              </a:rPr>
              <a:t> try weighted past returns first. GARCH models how past shocks change future variance.</a:t>
            </a:r>
          </a:p>
        </p:txBody>
      </p:sp>
    </p:spTree>
    <p:extLst>
      <p:ext uri="{BB962C8B-B14F-4D97-AF65-F5344CB8AC3E}">
        <p14:creationId xmlns:p14="http://schemas.microsoft.com/office/powerpoint/2010/main" val="207596084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HARED COURSE">
            <a:extLst xmlns:a="http://schemas.openxmlformats.org/drawingml/2006/main">
              <a:ext uri="{FF2B5EF4-FFF2-40B4-BE49-F238E27FC236}">
                <a16:creationId xmlns:a16="http://schemas.microsoft.com/office/drawing/2014/main" id="{E4EA2173-993C-4E29-B628-258B60F2140C}"/>
              </a:ext>
            </a:extLst>
          </p:cNvPr>
          <p:cNvSpPr>
            <a:spLocks xmlns:a="http://schemas.openxmlformats.org/drawingml/2006/main" noGrp="1"/>
          </p:cNvSpPr>
          <p:nvPr/>
        </p:nvSpPr>
        <p:spPr>
          <a:xfrm xmlns:a="http://schemas.openxmlformats.org/drawingml/2006/main">
            <a:off x="609600" y="285750"/>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FF5400"/>
                </a:solidFill>
                <a:latin typeface="Arial"/>
                <a:ea typeface="Arial"/>
                <a:cs typeface="Arial"/>
              </a:defRPr>
            </a:defPPr>
          </a:lstStyle>
          <a:p xmlns:a="http://schemas.openxmlformats.org/drawingml/2006/main">
            <a:pPr algn="l">
              <a:buNone/>
              <a:defRPr sz="1350" b="1">
                <a:solidFill>
                  <a:srgbClr val="FF5400"/>
                </a:solidFill>
                <a:latin typeface="Arial"/>
                <a:ea typeface="Arial"/>
                <a:cs typeface="Arial"/>
              </a:defRPr>
            </a:pPr>
            <a:r>
              <a:rPr sz="1350" b="1">
                <a:solidFill>
                  <a:srgbClr val="FF5400"/>
                </a:solidFill>
                <a:latin typeface="Arial"/>
                <a:ea typeface="Arial"/>
                <a:cs typeface="Arial"/>
              </a:rPr>
              <a:t>SHARED COURSE</a:t>
            </a:r>
          </a:p>
        </p:txBody>
      </p:sp>
      <p:sp>
        <p:nvSpPr>
          <p:cNvPr id="2" name="Slide title">
            <a:extLst xmlns:a="http://schemas.openxmlformats.org/drawingml/2006/main">
              <a:ext uri="{FF2B5EF4-FFF2-40B4-BE49-F238E27FC236}">
                <a16:creationId xmlns:a16="http://schemas.microsoft.com/office/drawing/2014/main" id="{DACB4525-2A3A-4F73-953F-359EBA297B15}"/>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004D73"/>
                </a:solidFill>
                <a:latin typeface="Arial"/>
                <a:ea typeface="Arial"/>
                <a:cs typeface="Arial"/>
              </a:defRPr>
            </a:defPPr>
          </a:lstStyle>
          <a:p xmlns:a="http://schemas.openxmlformats.org/drawingml/2006/main">
            <a:pPr algn="l">
              <a:buNone/>
              <a:defRPr sz="3300" b="1">
                <a:solidFill>
                  <a:srgbClr val="004D73"/>
                </a:solidFill>
                <a:latin typeface="Arial"/>
                <a:ea typeface="Arial"/>
                <a:cs typeface="Arial"/>
              </a:defRPr>
            </a:pPr>
            <a:r>
              <a:rPr sz="3300" b="1">
                <a:solidFill>
                  <a:srgbClr val="004D73"/>
                </a:solidFill>
                <a:latin typeface="Arial"/>
                <a:ea typeface="Arial"/>
                <a:cs typeface="Arial"/>
              </a:rPr>
              <a:t>Backtesting, paper trading and overfitting</a:t>
            </a:r>
          </a:p>
        </p:txBody>
      </p:sp>
      <p:sp>
        <p:nvSpPr>
          <p:cNvPr id="3" name="SHPE CAPITAL    OCTOBER 13, 2026">
            <a:extLst xmlns:a="http://schemas.openxmlformats.org/drawingml/2006/main">
              <a:ext uri="{FF2B5EF4-FFF2-40B4-BE49-F238E27FC236}">
                <a16:creationId xmlns:a16="http://schemas.microsoft.com/office/drawing/2014/main" id="{32DB54E5-CE7F-4724-9F22-6AF1D0B9CDF9}"/>
              </a:ext>
            </a:extLst>
          </p:cNvPr>
          <p:cNvSpPr>
            <a:spLocks xmlns:a="http://schemas.openxmlformats.org/drawingml/2006/main" noGrp="1"/>
          </p:cNvSpPr>
          <p:nvPr/>
        </p:nvSpPr>
        <p:spPr>
          <a:xfrm xmlns:a="http://schemas.openxmlformats.org/drawingml/2006/main">
            <a:off x="609600" y="6438900"/>
            <a:ext cx="771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SHPE CAPITAL    OCTOBER 13, 2026</a:t>
            </a:r>
          </a:p>
        </p:txBody>
      </p:sp>
      <p:sp>
        <p:nvSpPr>
          <p:cNvPr id="4" name="19:00-21:00">
            <a:extLst xmlns:a="http://schemas.openxmlformats.org/drawingml/2006/main">
              <a:ext uri="{FF2B5EF4-FFF2-40B4-BE49-F238E27FC236}">
                <a16:creationId xmlns:a16="http://schemas.microsoft.com/office/drawing/2014/main" id="{4AE43EAD-52AA-48EF-AC6D-D73261453760}"/>
              </a:ext>
            </a:extLst>
          </p:cNvPr>
          <p:cNvSpPr>
            <a:spLocks xmlns:a="http://schemas.openxmlformats.org/drawingml/2006/main" noGrp="1"/>
          </p:cNvSpPr>
          <p:nvPr/>
        </p:nvSpPr>
        <p:spPr>
          <a:xfrm xmlns:a="http://schemas.openxmlformats.org/drawingml/2006/main">
            <a:off x="9029700" y="643890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19:00-21:00</a:t>
            </a:r>
          </a:p>
        </p:txBody>
      </p:sp>
      <p:sp>
        <p:nvSpPr>
          <p:cNvPr id="5" name="0">
            <a:extLst xmlns:a="http://schemas.openxmlformats.org/drawingml/2006/main">
              <a:ext uri="{FF2B5EF4-FFF2-40B4-BE49-F238E27FC236}">
                <a16:creationId xmlns:a16="http://schemas.microsoft.com/office/drawing/2014/main" id="{8BBCF6E3-494A-4C43-A3DF-0724FCAF2871}"/>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18</a:t>
            </a:r>
          </a:p>
        </p:txBody>
      </p:sp>
      <p:graphicFrame>
        <p:nvGraphicFramePr>
          <p:cNvPr id="10" name="">
            <a:extLst xmlns:a="http://schemas.openxmlformats.org/drawingml/2006/main">
              <a:ext uri="{FF2B5EF4-FFF2-40B4-BE49-F238E27FC236}">
                <a16:creationId xmlns:a16="http://schemas.microsoft.com/office/drawing/2014/main" id="{8C54AA68-F219-4D1A-980A-C6450F85C741}"/>
              </a:ext>
            </a:extLst>
          </p:cNvPr>
          <p:cNvGraphicFramePr/>
          <p:nvPr/>
        </p:nvGraphicFramePr>
        <p:xfrm>
          <a:off xmlns:a="http://schemas.openxmlformats.org/drawingml/2006/main" x="609600" y="1724025"/>
          <a:ext xmlns:a="http://schemas.openxmlformats.org/drawingml/2006/main" cx="10972800" cy="3038475"/>
        </p:xfrm>
        <a:graphic xmlns:a="http://schemas.openxmlformats.org/drawingml/2006/main">
          <a:graphicData uri="http://schemas.openxmlformats.org/drawingml/2006/table">
            <a:tbl>
              <a:tblPr firstRow="1" bandRow="0"/>
              <a:tblGrid>
                <a:gridCol w="1981200"/>
                <a:gridCol w="4429125"/>
                <a:gridCol w="4562475"/>
              </a:tblGrid>
              <a:tr h="419100">
                <a:tc>
                  <a:txBody>
                    <a:bodyPr lIns="85725" tIns="85725" rIns="85725" bIns="85725">
                      <a:noAutofit/>
                    </a:bodyPr>
                    <a:lstStyle/>
                    <a:p>
                      <a:pPr algn="l"/>
                      <a:r>
                        <a:rPr sz="1875" b="1">
                          <a:solidFill>
                            <a:srgbClr val="FFFFFF"/>
                          </a:solidFill>
                          <a:latin typeface="Arial"/>
                          <a:ea typeface="Arial"/>
                          <a:cs typeface="Arial"/>
                        </a:rPr>
                        <a:t>Stage</a:t>
                      </a:r>
                    </a:p>
                  </a:txBody>
                  <a:tcPr marL="85725" marR="85725" marT="19050" marB="19050" anchor="ctr">
                    <a:lnL w="6668">
                      <a:solidFill>
                        <a:srgbClr val="D9E0E7"/>
                      </a:solidFill>
                      <a:prstDash val="solid"/>
                    </a:lnL>
                    <a:lnR w="6668">
                      <a:solidFill>
                        <a:srgbClr val="D9E0E7"/>
                      </a:solidFill>
                      <a:prstDash val="solid"/>
                    </a:lnR>
                    <a:lnT w="6668">
                      <a:solidFill>
                        <a:srgbClr val="D9E0E7"/>
                      </a:solidFill>
                      <a:prstDash val="solid"/>
                    </a:lnT>
                    <a:lnB w="6668">
                      <a:solidFill>
                        <a:srgbClr val="D9E0E7"/>
                      </a:solidFill>
                      <a:prstDash val="solid"/>
                    </a:lnB>
                    <a:solidFill>
                      <a:srgbClr val="004D73"/>
                    </a:solidFill>
                  </a:tcPr>
                </a:tc>
                <a:tc>
                  <a:txBody>
                    <a:bodyPr lIns="85725" tIns="85725" rIns="85725" bIns="85725">
                      <a:noAutofit/>
                    </a:bodyPr>
                    <a:lstStyle/>
                    <a:p>
                      <a:pPr algn="l"/>
                      <a:r>
                        <a:rPr sz="1875" b="1">
                          <a:solidFill>
                            <a:srgbClr val="FFFFFF"/>
                          </a:solidFill>
                          <a:latin typeface="Arial"/>
                          <a:ea typeface="Arial"/>
                          <a:cs typeface="Arial"/>
                        </a:rPr>
                        <a:t>What happens</a:t>
                      </a:r>
                    </a:p>
                  </a:txBody>
                  <a:tcPr marL="85725" marR="85725" marT="19050" marB="19050" anchor="ctr">
                    <a:lnR w="6668">
                      <a:solidFill>
                        <a:srgbClr val="D9E0E7"/>
                      </a:solidFill>
                      <a:prstDash val="solid"/>
                    </a:lnR>
                    <a:lnT w="6668">
                      <a:solidFill>
                        <a:srgbClr val="D9E0E7"/>
                      </a:solidFill>
                      <a:prstDash val="solid"/>
                    </a:lnT>
                    <a:lnB w="6668">
                      <a:solidFill>
                        <a:srgbClr val="D9E0E7"/>
                      </a:solidFill>
                      <a:prstDash val="solid"/>
                    </a:lnB>
                    <a:solidFill>
                      <a:srgbClr val="004D73"/>
                    </a:solidFill>
                  </a:tcPr>
                </a:tc>
                <a:tc>
                  <a:txBody>
                    <a:bodyPr lIns="85725" tIns="85725" rIns="85725" bIns="85725">
                      <a:noAutofit/>
                    </a:bodyPr>
                    <a:lstStyle/>
                    <a:p>
                      <a:pPr algn="l"/>
                      <a:r>
                        <a:rPr sz="1875" b="1">
                          <a:solidFill>
                            <a:srgbClr val="FFFFFF"/>
                          </a:solidFill>
                          <a:latin typeface="Arial"/>
                          <a:ea typeface="Arial"/>
                          <a:cs typeface="Arial"/>
                        </a:rPr>
                        <a:t>Required discipline</a:t>
                      </a:r>
                    </a:p>
                  </a:txBody>
                  <a:tcPr marL="85725" marR="85725" marT="19050" marB="19050" anchor="ctr">
                    <a:lnR w="6668">
                      <a:solidFill>
                        <a:srgbClr val="D9E0E7"/>
                      </a:solidFill>
                      <a:prstDash val="solid"/>
                    </a:lnR>
                    <a:lnT w="6668">
                      <a:solidFill>
                        <a:srgbClr val="D9E0E7"/>
                      </a:solidFill>
                      <a:prstDash val="solid"/>
                    </a:lnT>
                    <a:lnB w="6668">
                      <a:solidFill>
                        <a:srgbClr val="D9E0E7"/>
                      </a:solidFill>
                      <a:prstDash val="solid"/>
                    </a:lnB>
                    <a:solidFill>
                      <a:srgbClr val="004D73"/>
                    </a:solidFill>
                  </a:tcPr>
                </a:tc>
              </a:tr>
              <a:tr h="654844">
                <a:tc>
                  <a:txBody>
                    <a:bodyPr lIns="85725" tIns="85725" rIns="85725" bIns="85725">
                      <a:noAutofit/>
                    </a:bodyPr>
                    <a:lstStyle/>
                    <a:p>
                      <a:pPr algn="l"/>
                      <a:r>
                        <a:rPr sz="1875" b="1">
                          <a:solidFill>
                            <a:srgbClr val="182C43"/>
                          </a:solidFill>
                          <a:latin typeface="Arial"/>
                          <a:ea typeface="Arial"/>
                          <a:cs typeface="Arial"/>
                        </a:rPr>
                        <a:t>Training</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875" b="0">
                          <a:solidFill>
                            <a:srgbClr val="182C43"/>
                          </a:solidFill>
                          <a:latin typeface="Arial"/>
                          <a:ea typeface="Arial"/>
                          <a:cs typeface="Arial"/>
                        </a:rPr>
                        <a:t>Fit relationships, feature scales or model coefficients</a:t>
                      </a:r>
                    </a:p>
                  </a:txBody>
                  <a:tcPr marL="85725" marR="85725" marT="19050" marB="19050" anchor="ctr">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875" b="0">
                          <a:solidFill>
                            <a:srgbClr val="182C43"/>
                          </a:solidFill>
                          <a:latin typeface="Arial"/>
                          <a:ea typeface="Arial"/>
                          <a:cs typeface="Arial"/>
                        </a:rPr>
                        <a:t>Earlier observations only, including preprocessing</a:t>
                      </a:r>
                    </a:p>
                  </a:txBody>
                  <a:tcPr marL="85725" marR="85725" marT="19050" marB="19050" anchor="ctr">
                    <a:lnR w="6668">
                      <a:solidFill>
                        <a:srgbClr val="D9E0E7"/>
                      </a:solidFill>
                      <a:prstDash val="solid"/>
                    </a:lnR>
                    <a:lnB w="6668">
                      <a:solidFill>
                        <a:srgbClr val="D9E0E7"/>
                      </a:solidFill>
                      <a:prstDash val="solid"/>
                    </a:lnB>
                    <a:solidFill>
                      <a:srgbClr val="FFFFFF"/>
                    </a:solidFill>
                  </a:tcPr>
                </a:tc>
              </a:tr>
              <a:tr h="654844">
                <a:tc>
                  <a:txBody>
                    <a:bodyPr lIns="85725" tIns="85725" rIns="85725" bIns="85725">
                      <a:noAutofit/>
                    </a:bodyPr>
                    <a:lstStyle/>
                    <a:p>
                      <a:pPr algn="l"/>
                      <a:r>
                        <a:rPr sz="1875" b="1">
                          <a:solidFill>
                            <a:srgbClr val="182C43"/>
                          </a:solidFill>
                          <a:latin typeface="Arial"/>
                          <a:ea typeface="Arial"/>
                          <a:cs typeface="Arial"/>
                        </a:rPr>
                        <a:t>Validation</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1F4F7"/>
                    </a:solidFill>
                  </a:tcPr>
                </a:tc>
                <a:tc>
                  <a:txBody>
                    <a:bodyPr lIns="85725" tIns="85725" rIns="85725" bIns="85725">
                      <a:noAutofit/>
                    </a:bodyPr>
                    <a:lstStyle/>
                    <a:p>
                      <a:pPr algn="l"/>
                      <a:r>
                        <a:rPr sz="1875" b="0">
                          <a:solidFill>
                            <a:srgbClr val="182C43"/>
                          </a:solidFill>
                          <a:latin typeface="Arial"/>
                          <a:ea typeface="Arial"/>
                          <a:cs typeface="Arial"/>
                        </a:rPr>
                        <a:t>Compare a small declared set of variants</a:t>
                      </a:r>
                    </a:p>
                  </a:txBody>
                  <a:tcPr marL="85725" marR="85725" marT="19050" marB="19050" anchor="ctr">
                    <a:lnR w="6668">
                      <a:solidFill>
                        <a:srgbClr val="D9E0E7"/>
                      </a:solidFill>
                      <a:prstDash val="solid"/>
                    </a:lnR>
                    <a:lnB w="6668">
                      <a:solidFill>
                        <a:srgbClr val="D9E0E7"/>
                      </a:solidFill>
                      <a:prstDash val="solid"/>
                    </a:lnB>
                    <a:solidFill>
                      <a:srgbClr val="F1F4F7"/>
                    </a:solidFill>
                  </a:tcPr>
                </a:tc>
                <a:tc>
                  <a:txBody>
                    <a:bodyPr lIns="85725" tIns="85725" rIns="85725" bIns="85725">
                      <a:noAutofit/>
                    </a:bodyPr>
                    <a:lstStyle/>
                    <a:p>
                      <a:pPr algn="l"/>
                      <a:r>
                        <a:rPr sz="1875" b="0">
                          <a:solidFill>
                            <a:srgbClr val="182C43"/>
                          </a:solidFill>
                          <a:latin typeface="Arial"/>
                          <a:ea typeface="Arial"/>
                          <a:cs typeface="Arial"/>
                        </a:rPr>
                        <a:t>Keep experiment log and choose before the final test</a:t>
                      </a:r>
                    </a:p>
                  </a:txBody>
                  <a:tcPr marL="85725" marR="85725" marT="19050" marB="19050" anchor="ctr">
                    <a:lnR w="6668">
                      <a:solidFill>
                        <a:srgbClr val="D9E0E7"/>
                      </a:solidFill>
                      <a:prstDash val="solid"/>
                    </a:lnR>
                    <a:lnB w="6668">
                      <a:solidFill>
                        <a:srgbClr val="D9E0E7"/>
                      </a:solidFill>
                      <a:prstDash val="solid"/>
                    </a:lnB>
                    <a:solidFill>
                      <a:srgbClr val="F1F4F7"/>
                    </a:solidFill>
                  </a:tcPr>
                </a:tc>
              </a:tr>
              <a:tr h="654844">
                <a:tc>
                  <a:txBody>
                    <a:bodyPr lIns="85725" tIns="85725" rIns="85725" bIns="85725">
                      <a:noAutofit/>
                    </a:bodyPr>
                    <a:lstStyle/>
                    <a:p>
                      <a:pPr algn="l"/>
                      <a:r>
                        <a:rPr sz="1875" b="1">
                          <a:solidFill>
                            <a:srgbClr val="182C43"/>
                          </a:solidFill>
                          <a:latin typeface="Arial"/>
                          <a:ea typeface="Arial"/>
                          <a:cs typeface="Arial"/>
                        </a:rPr>
                        <a:t>Untouched test</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875" b="0">
                          <a:solidFill>
                            <a:srgbClr val="182C43"/>
                          </a:solidFill>
                          <a:latin typeface="Arial"/>
                          <a:ea typeface="Arial"/>
                          <a:cs typeface="Arial"/>
                        </a:rPr>
                        <a:t>Evaluate fixed rules on later data</a:t>
                      </a:r>
                    </a:p>
                  </a:txBody>
                  <a:tcPr marL="85725" marR="85725" marT="19050" marB="19050" anchor="ctr">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875" b="0">
                          <a:solidFill>
                            <a:srgbClr val="182C43"/>
                          </a:solidFill>
                          <a:latin typeface="Arial"/>
                          <a:ea typeface="Arial"/>
                          <a:cs typeface="Arial"/>
                        </a:rPr>
                        <a:t>Report net results and uncertainty without retuning</a:t>
                      </a:r>
                    </a:p>
                  </a:txBody>
                  <a:tcPr marL="85725" marR="85725" marT="19050" marB="19050" anchor="ctr">
                    <a:lnR w="6668">
                      <a:solidFill>
                        <a:srgbClr val="D9E0E7"/>
                      </a:solidFill>
                      <a:prstDash val="solid"/>
                    </a:lnR>
                    <a:lnB w="6668">
                      <a:solidFill>
                        <a:srgbClr val="D9E0E7"/>
                      </a:solidFill>
                      <a:prstDash val="solid"/>
                    </a:lnB>
                    <a:solidFill>
                      <a:srgbClr val="FFFFFF"/>
                    </a:solidFill>
                  </a:tcPr>
                </a:tc>
              </a:tr>
              <a:tr h="654844">
                <a:tc>
                  <a:txBody>
                    <a:bodyPr lIns="85725" tIns="85725" rIns="85725" bIns="85725">
                      <a:noAutofit/>
                    </a:bodyPr>
                    <a:lstStyle/>
                    <a:p>
                      <a:pPr algn="l"/>
                      <a:r>
                        <a:rPr sz="1875" b="1">
                          <a:solidFill>
                            <a:srgbClr val="182C43"/>
                          </a:solidFill>
                          <a:latin typeface="Arial"/>
                          <a:ea typeface="Arial"/>
                          <a:cs typeface="Arial"/>
                        </a:rPr>
                        <a:t>Online paper</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1F4F7"/>
                    </a:solidFill>
                  </a:tcPr>
                </a:tc>
                <a:tc>
                  <a:txBody>
                    <a:bodyPr lIns="85725" tIns="85725" rIns="85725" bIns="85725">
                      <a:noAutofit/>
                    </a:bodyPr>
                    <a:lstStyle/>
                    <a:p>
                      <a:pPr algn="l"/>
                      <a:r>
                        <a:rPr sz="1875" b="0">
                          <a:solidFill>
                            <a:srgbClr val="182C43"/>
                          </a:solidFill>
                          <a:latin typeface="Arial"/>
                          <a:ea typeface="Arial"/>
                          <a:cs typeface="Arial"/>
                        </a:rPr>
                        <a:t>Run incoming data through the actual implementation</a:t>
                      </a:r>
                    </a:p>
                  </a:txBody>
                  <a:tcPr marL="85725" marR="85725" marT="19050" marB="19050" anchor="ctr">
                    <a:lnR w="6668">
                      <a:solidFill>
                        <a:srgbClr val="D9E0E7"/>
                      </a:solidFill>
                      <a:prstDash val="solid"/>
                    </a:lnR>
                    <a:lnB w="6668">
                      <a:solidFill>
                        <a:srgbClr val="D9E0E7"/>
                      </a:solidFill>
                      <a:prstDash val="solid"/>
                    </a:lnB>
                    <a:solidFill>
                      <a:srgbClr val="F1F4F7"/>
                    </a:solidFill>
                  </a:tcPr>
                </a:tc>
                <a:tc>
                  <a:txBody>
                    <a:bodyPr lIns="85725" tIns="85725" rIns="85725" bIns="85725">
                      <a:noAutofit/>
                    </a:bodyPr>
                    <a:lstStyle/>
                    <a:p>
                      <a:pPr algn="l"/>
                      <a:r>
                        <a:rPr sz="1875" b="0">
                          <a:solidFill>
                            <a:srgbClr val="182C43"/>
                          </a:solidFill>
                          <a:latin typeface="Arial"/>
                          <a:ea typeface="Arial"/>
                          <a:cs typeface="Arial"/>
                        </a:rPr>
                        <a:t>Keep a fixed baseline, monitor fills, positions and failures</a:t>
                      </a:r>
                    </a:p>
                  </a:txBody>
                  <a:tcPr marL="85725" marR="85725" marT="19050" marB="19050" anchor="ctr">
                    <a:lnR w="6668">
                      <a:solidFill>
                        <a:srgbClr val="D9E0E7"/>
                      </a:solidFill>
                      <a:prstDash val="solid"/>
                    </a:lnR>
                    <a:lnB w="6668">
                      <a:solidFill>
                        <a:srgbClr val="D9E0E7"/>
                      </a:solidFill>
                      <a:prstDash val="solid"/>
                    </a:lnB>
                    <a:solidFill>
                      <a:srgbClr val="F1F4F7"/>
                    </a:solidFill>
                  </a:tcPr>
                </a:tc>
              </a:tr>
            </a:tbl>
          </a:graphicData>
        </a:graphic>
      </p:graphicFrame>
      <p:sp>
        <p:nvSpPr>
          <p:cNvPr id="11" name="Errors the team must actively test for">
            <a:extLst xmlns:a="http://schemas.openxmlformats.org/drawingml/2006/main">
              <a:ext uri="{FF2B5EF4-FFF2-40B4-BE49-F238E27FC236}">
                <a16:creationId xmlns:a16="http://schemas.microsoft.com/office/drawing/2014/main" id="{93757711-608D-498A-8775-11A931735280}"/>
              </a:ext>
            </a:extLst>
          </p:cNvPr>
          <p:cNvSpPr>
            <a:spLocks xmlns:a="http://schemas.openxmlformats.org/drawingml/2006/main" noGrp="1"/>
          </p:cNvSpPr>
          <p:nvPr/>
        </p:nvSpPr>
        <p:spPr>
          <a:xfrm xmlns:a="http://schemas.openxmlformats.org/drawingml/2006/main">
            <a:off x="609600" y="50006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FF5400"/>
                </a:solidFill>
                <a:latin typeface="Arial"/>
                <a:ea typeface="Arial"/>
                <a:cs typeface="Arial"/>
              </a:defRPr>
            </a:defPPr>
          </a:lstStyle>
          <a:p xmlns:a="http://schemas.openxmlformats.org/drawingml/2006/main">
            <a:pPr algn="l">
              <a:defRPr sz="2100" b="1">
                <a:solidFill>
                  <a:srgbClr val="FF5400"/>
                </a:solidFill>
                <a:latin typeface="Arial"/>
                <a:ea typeface="Arial"/>
                <a:cs typeface="Arial"/>
              </a:defRPr>
            </a:pPr>
            <a:r>
              <a:rPr sz="2100" b="1">
                <a:solidFill>
                  <a:srgbClr val="FF5400"/>
                </a:solidFill>
                <a:latin typeface="Arial"/>
                <a:ea typeface="Arial"/>
                <a:cs typeface="Arial"/>
              </a:rPr>
              <a:t>Errors the team must actively test for</a:t>
            </a:r>
          </a:p>
        </p:txBody>
      </p:sp>
      <p:sp>
        <p:nvSpPr>
          <p:cNvPr id="12" name="">
            <a:extLst xmlns:a="http://schemas.openxmlformats.org/drawingml/2006/main">
              <a:ext uri="{FF2B5EF4-FFF2-40B4-BE49-F238E27FC236}">
                <a16:creationId xmlns:a16="http://schemas.microsoft.com/office/drawing/2014/main" id="{126EE8AB-6FBE-4F89-BFAD-872FDEF33FD2}"/>
              </a:ext>
            </a:extLst>
          </p:cNvPr>
          <p:cNvSpPr>
            <a:spLocks xmlns:a="http://schemas.openxmlformats.org/drawingml/2006/main" noGrp="1"/>
          </p:cNvSpPr>
          <p:nvPr/>
        </p:nvSpPr>
        <p:spPr>
          <a:xfrm xmlns:a="http://schemas.openxmlformats.org/drawingml/2006/main">
            <a:off x="609600" y="53911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182C43"/>
                </a:solidFill>
                <a:latin typeface="Arial"/>
                <a:ea typeface="Arial"/>
                <a:cs typeface="Arial"/>
              </a:defRPr>
            </a:defPPr>
          </a:lstStyle>
          <a:p xmlns:a="http://schemas.openxmlformats.org/drawingml/2006/main">
            <a:pPr marL="266700" indent="-152400" algn="l">
              <a:spcAft>
                <a:spcPts val="300"/>
              </a:spcAft>
              <a:buChar char="•"/>
              <a:defRPr sz="1800" b="0">
                <a:solidFill>
                  <a:srgbClr val="182C43"/>
                </a:solidFill>
                <a:latin typeface="Arial"/>
                <a:ea typeface="Arial"/>
                <a:cs typeface="Arial"/>
              </a:defRPr>
            </a:pPr>
            <a:r>
              <a:rPr sz="1800" b="1">
                <a:solidFill>
                  <a:srgbClr val="182C43"/>
                </a:solidFill>
                <a:latin typeface="Arial"/>
                <a:ea typeface="Arial"/>
                <a:cs typeface="Arial"/>
              </a:rPr>
              <a:t>Look-ahead:</a:t>
            </a:r>
            <a:r>
              <a:rPr sz="1800">
                <a:solidFill>
                  <a:srgbClr val="182C43"/>
                </a:solidFill>
                <a:latin typeface="Arial"/>
                <a:ea typeface="Arial"/>
                <a:cs typeface="Arial"/>
              </a:rPr>
              <a:t> using future bars, future-normalized features or overlapping labels at a split.</a:t>
            </a:r>
          </a:p>
          <a:p xmlns:a="http://schemas.openxmlformats.org/drawingml/2006/main">
            <a:pPr marL="266700" indent="-152400" algn="l">
              <a:spcAft>
                <a:spcPts val="300"/>
              </a:spcAft>
              <a:buChar char="•"/>
              <a:defRPr sz="1800" b="0">
                <a:solidFill>
                  <a:srgbClr val="182C43"/>
                </a:solidFill>
                <a:latin typeface="Arial"/>
                <a:ea typeface="Arial"/>
                <a:cs typeface="Arial"/>
              </a:defRPr>
            </a:pPr>
            <a:r>
              <a:rPr sz="1800" b="1">
                <a:solidFill>
                  <a:srgbClr val="182C43"/>
                </a:solidFill>
                <a:latin typeface="Arial"/>
                <a:ea typeface="Arial"/>
                <a:cs typeface="Arial"/>
              </a:rPr>
              <a:t>Overfitting and selection:</a:t>
            </a:r>
            <a:r>
              <a:rPr sz="1800">
                <a:solidFill>
                  <a:srgbClr val="182C43"/>
                </a:solidFill>
                <a:latin typeface="Arial"/>
                <a:ea typeface="Arial"/>
                <a:cs typeface="Arial"/>
              </a:rPr>
              <a:t> trying many variants or reporting only the best symbols or periods.</a:t>
            </a:r>
          </a:p>
          <a:p xmlns:a="http://schemas.openxmlformats.org/drawingml/2006/main">
            <a:pPr marL="266700" indent="-152400" algn="l">
              <a:spcAft>
                <a:spcPts val="300"/>
              </a:spcAft>
              <a:buChar char="•"/>
              <a:defRPr sz="1800" b="0">
                <a:solidFill>
                  <a:srgbClr val="182C43"/>
                </a:solidFill>
                <a:latin typeface="Arial"/>
                <a:ea typeface="Arial"/>
                <a:cs typeface="Arial"/>
              </a:defRPr>
            </a:pPr>
            <a:r>
              <a:rPr sz="1800" b="1">
                <a:solidFill>
                  <a:srgbClr val="182C43"/>
                </a:solidFill>
                <a:latin typeface="Arial"/>
                <a:ea typeface="Arial"/>
                <a:cs typeface="Arial"/>
              </a:rPr>
              <a:t>Unrealistic execution:</a:t>
            </a:r>
            <a:r>
              <a:rPr sz="1800">
                <a:solidFill>
                  <a:srgbClr val="182C43"/>
                </a:solidFill>
                <a:latin typeface="Arial"/>
                <a:ea typeface="Arial"/>
                <a:cs typeface="Arial"/>
              </a:rPr>
              <a:t> fills at unavailable prices, omitted costs or ignored partial fills and delays.</a:t>
            </a:r>
          </a:p>
        </p:txBody>
      </p:sp>
    </p:spTree>
    <p:extLst>
      <p:ext uri="{BB962C8B-B14F-4D97-AF65-F5344CB8AC3E}">
        <p14:creationId xmlns:p14="http://schemas.microsoft.com/office/powerpoint/2010/main" val="152643497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HARED COURSE">
            <a:extLst xmlns:a="http://schemas.openxmlformats.org/drawingml/2006/main">
              <a:ext uri="{FF2B5EF4-FFF2-40B4-BE49-F238E27FC236}">
                <a16:creationId xmlns:a16="http://schemas.microsoft.com/office/drawing/2014/main" id="{65FB1BF0-498E-44D7-84E9-86F868DBA7F6}"/>
              </a:ext>
            </a:extLst>
          </p:cNvPr>
          <p:cNvSpPr>
            <a:spLocks xmlns:a="http://schemas.openxmlformats.org/drawingml/2006/main" noGrp="1"/>
          </p:cNvSpPr>
          <p:nvPr/>
        </p:nvSpPr>
        <p:spPr>
          <a:xfrm xmlns:a="http://schemas.openxmlformats.org/drawingml/2006/main">
            <a:off x="609600" y="285750"/>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FF5400"/>
                </a:solidFill>
                <a:latin typeface="Arial"/>
                <a:ea typeface="Arial"/>
                <a:cs typeface="Arial"/>
              </a:defRPr>
            </a:defPPr>
          </a:lstStyle>
          <a:p xmlns:a="http://schemas.openxmlformats.org/drawingml/2006/main">
            <a:pPr algn="l">
              <a:buNone/>
              <a:defRPr sz="1350" b="1">
                <a:solidFill>
                  <a:srgbClr val="FF5400"/>
                </a:solidFill>
                <a:latin typeface="Arial"/>
                <a:ea typeface="Arial"/>
                <a:cs typeface="Arial"/>
              </a:defRPr>
            </a:pPr>
            <a:r>
              <a:rPr sz="1350" b="1">
                <a:solidFill>
                  <a:srgbClr val="FF5400"/>
                </a:solidFill>
                <a:latin typeface="Arial"/>
                <a:ea typeface="Arial"/>
                <a:cs typeface="Arial"/>
              </a:rPr>
              <a:t>SHARED COURSE</a:t>
            </a:r>
          </a:p>
        </p:txBody>
      </p:sp>
      <p:sp>
        <p:nvSpPr>
          <p:cNvPr id="2" name="Slide title">
            <a:extLst xmlns:a="http://schemas.openxmlformats.org/drawingml/2006/main">
              <a:ext uri="{FF2B5EF4-FFF2-40B4-BE49-F238E27FC236}">
                <a16:creationId xmlns:a16="http://schemas.microsoft.com/office/drawing/2014/main" id="{83E723F4-5C41-438C-8A07-6C3006BE1B5A}"/>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004D73"/>
                </a:solidFill>
                <a:latin typeface="Arial"/>
                <a:ea typeface="Arial"/>
                <a:cs typeface="Arial"/>
              </a:defRPr>
            </a:defPPr>
          </a:lstStyle>
          <a:p xmlns:a="http://schemas.openxmlformats.org/drawingml/2006/main">
            <a:pPr algn="l">
              <a:buNone/>
              <a:defRPr sz="3300" b="1">
                <a:solidFill>
                  <a:srgbClr val="004D73"/>
                </a:solidFill>
                <a:latin typeface="Arial"/>
                <a:ea typeface="Arial"/>
                <a:cs typeface="Arial"/>
              </a:defRPr>
            </a:pPr>
            <a:r>
              <a:rPr sz="3300" b="1">
                <a:solidFill>
                  <a:srgbClr val="004D73"/>
                </a:solidFill>
                <a:latin typeface="Arial"/>
                <a:ea typeface="Arial"/>
                <a:cs typeface="Arial"/>
              </a:rPr>
              <a:t>Performance measures and fair benchmarks</a:t>
            </a:r>
          </a:p>
        </p:txBody>
      </p:sp>
      <p:sp>
        <p:nvSpPr>
          <p:cNvPr id="3" name="SHPE CAPITAL    OCTOBER 13, 2026">
            <a:extLst xmlns:a="http://schemas.openxmlformats.org/drawingml/2006/main">
              <a:ext uri="{FF2B5EF4-FFF2-40B4-BE49-F238E27FC236}">
                <a16:creationId xmlns:a16="http://schemas.microsoft.com/office/drawing/2014/main" id="{5701AC3A-C06B-459B-9B5A-191DA5568D8E}"/>
              </a:ext>
            </a:extLst>
          </p:cNvPr>
          <p:cNvSpPr>
            <a:spLocks xmlns:a="http://schemas.openxmlformats.org/drawingml/2006/main" noGrp="1"/>
          </p:cNvSpPr>
          <p:nvPr/>
        </p:nvSpPr>
        <p:spPr>
          <a:xfrm xmlns:a="http://schemas.openxmlformats.org/drawingml/2006/main">
            <a:off x="609600" y="6438900"/>
            <a:ext cx="771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SHPE CAPITAL    OCTOBER 13, 2026</a:t>
            </a:r>
          </a:p>
        </p:txBody>
      </p:sp>
      <p:sp>
        <p:nvSpPr>
          <p:cNvPr id="4" name="21:00-23:00">
            <a:extLst xmlns:a="http://schemas.openxmlformats.org/drawingml/2006/main">
              <a:ext uri="{FF2B5EF4-FFF2-40B4-BE49-F238E27FC236}">
                <a16:creationId xmlns:a16="http://schemas.microsoft.com/office/drawing/2014/main" id="{76502EBB-6D32-43D9-B823-B71404F7DDF1}"/>
              </a:ext>
            </a:extLst>
          </p:cNvPr>
          <p:cNvSpPr>
            <a:spLocks xmlns:a="http://schemas.openxmlformats.org/drawingml/2006/main" noGrp="1"/>
          </p:cNvSpPr>
          <p:nvPr/>
        </p:nvSpPr>
        <p:spPr>
          <a:xfrm xmlns:a="http://schemas.openxmlformats.org/drawingml/2006/main">
            <a:off x="9029700" y="643890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21:00-23:00</a:t>
            </a:r>
          </a:p>
        </p:txBody>
      </p:sp>
      <p:sp>
        <p:nvSpPr>
          <p:cNvPr id="5" name="0">
            <a:extLst xmlns:a="http://schemas.openxmlformats.org/drawingml/2006/main">
              <a:ext uri="{FF2B5EF4-FFF2-40B4-BE49-F238E27FC236}">
                <a16:creationId xmlns:a16="http://schemas.microsoft.com/office/drawing/2014/main" id="{4D0F18DA-F3DC-48B4-B3D0-51C7963FC636}"/>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19</a:t>
            </a:r>
          </a:p>
        </p:txBody>
      </p:sp>
      <p:graphicFrame>
        <p:nvGraphicFramePr>
          <p:cNvPr id="9" name="">
            <a:extLst xmlns:a="http://schemas.openxmlformats.org/drawingml/2006/main">
              <a:ext uri="{FF2B5EF4-FFF2-40B4-BE49-F238E27FC236}">
                <a16:creationId xmlns:a16="http://schemas.microsoft.com/office/drawing/2014/main" id="{84ADD399-2462-4695-83E3-4F661367A974}"/>
              </a:ext>
            </a:extLst>
          </p:cNvPr>
          <p:cNvGraphicFramePr/>
          <p:nvPr/>
        </p:nvGraphicFramePr>
        <p:xfrm>
          <a:off xmlns:a="http://schemas.openxmlformats.org/drawingml/2006/main" x="609600" y="1676400"/>
          <a:ext xmlns:a="http://schemas.openxmlformats.org/drawingml/2006/main" cx="10972800" cy="3924300"/>
        </p:xfrm>
        <a:graphic xmlns:a="http://schemas.openxmlformats.org/drawingml/2006/main">
          <a:graphicData uri="http://schemas.openxmlformats.org/drawingml/2006/table">
            <a:tbl>
              <a:tblPr firstRow="1" bandRow="0"/>
              <a:tblGrid>
                <a:gridCol w="2181225"/>
                <a:gridCol w="4448175"/>
                <a:gridCol w="4343400"/>
              </a:tblGrid>
              <a:tr h="419100">
                <a:tc>
                  <a:txBody>
                    <a:bodyPr lIns="85725" tIns="85725" rIns="85725" bIns="85725">
                      <a:noAutofit/>
                    </a:bodyPr>
                    <a:lstStyle/>
                    <a:p>
                      <a:pPr algn="l"/>
                      <a:r>
                        <a:rPr sz="1800" b="1">
                          <a:solidFill>
                            <a:srgbClr val="FFFFFF"/>
                          </a:solidFill>
                          <a:latin typeface="Arial"/>
                          <a:ea typeface="Arial"/>
                          <a:cs typeface="Arial"/>
                        </a:rPr>
                        <a:t>Measure</a:t>
                      </a:r>
                    </a:p>
                  </a:txBody>
                  <a:tcPr marL="85725" marR="85725" marT="19050" marB="19050" anchor="ctr">
                    <a:lnL w="6668">
                      <a:solidFill>
                        <a:srgbClr val="D9E0E7"/>
                      </a:solidFill>
                      <a:prstDash val="solid"/>
                    </a:lnL>
                    <a:lnR w="6668">
                      <a:solidFill>
                        <a:srgbClr val="D9E0E7"/>
                      </a:solidFill>
                      <a:prstDash val="solid"/>
                    </a:lnR>
                    <a:lnT w="6668">
                      <a:solidFill>
                        <a:srgbClr val="D9E0E7"/>
                      </a:solidFill>
                      <a:prstDash val="solid"/>
                    </a:lnT>
                    <a:lnB w="6668">
                      <a:solidFill>
                        <a:srgbClr val="D9E0E7"/>
                      </a:solidFill>
                      <a:prstDash val="solid"/>
                    </a:lnB>
                    <a:solidFill>
                      <a:srgbClr val="004D73"/>
                    </a:solidFill>
                  </a:tcPr>
                </a:tc>
                <a:tc>
                  <a:txBody>
                    <a:bodyPr lIns="85725" tIns="85725" rIns="85725" bIns="85725">
                      <a:noAutofit/>
                    </a:bodyPr>
                    <a:lstStyle/>
                    <a:p>
                      <a:pPr algn="l"/>
                      <a:r>
                        <a:rPr sz="1800" b="1">
                          <a:solidFill>
                            <a:srgbClr val="FFFFFF"/>
                          </a:solidFill>
                          <a:latin typeface="Arial"/>
                          <a:ea typeface="Arial"/>
                          <a:cs typeface="Arial"/>
                        </a:rPr>
                        <a:t>Meaning / calculation</a:t>
                      </a:r>
                    </a:p>
                  </a:txBody>
                  <a:tcPr marL="85725" marR="85725" marT="19050" marB="19050" anchor="ctr">
                    <a:lnR w="6668">
                      <a:solidFill>
                        <a:srgbClr val="D9E0E7"/>
                      </a:solidFill>
                      <a:prstDash val="solid"/>
                    </a:lnR>
                    <a:lnT w="6668">
                      <a:solidFill>
                        <a:srgbClr val="D9E0E7"/>
                      </a:solidFill>
                      <a:prstDash val="solid"/>
                    </a:lnT>
                    <a:lnB w="6668">
                      <a:solidFill>
                        <a:srgbClr val="D9E0E7"/>
                      </a:solidFill>
                      <a:prstDash val="solid"/>
                    </a:lnB>
                    <a:solidFill>
                      <a:srgbClr val="004D73"/>
                    </a:solidFill>
                  </a:tcPr>
                </a:tc>
                <a:tc>
                  <a:txBody>
                    <a:bodyPr lIns="85725" tIns="85725" rIns="85725" bIns="85725">
                      <a:noAutofit/>
                    </a:bodyPr>
                    <a:lstStyle/>
                    <a:p>
                      <a:pPr algn="l"/>
                      <a:r>
                        <a:rPr sz="1800" b="1">
                          <a:solidFill>
                            <a:srgbClr val="FFFFFF"/>
                          </a:solidFill>
                          <a:latin typeface="Arial"/>
                          <a:ea typeface="Arial"/>
                          <a:cs typeface="Arial"/>
                        </a:rPr>
                        <a:t>How to use it</a:t>
                      </a:r>
                    </a:p>
                  </a:txBody>
                  <a:tcPr marL="85725" marR="85725" marT="19050" marB="19050" anchor="ctr">
                    <a:lnR w="6668">
                      <a:solidFill>
                        <a:srgbClr val="D9E0E7"/>
                      </a:solidFill>
                      <a:prstDash val="solid"/>
                    </a:lnR>
                    <a:lnT w="6668">
                      <a:solidFill>
                        <a:srgbClr val="D9E0E7"/>
                      </a:solidFill>
                      <a:prstDash val="solid"/>
                    </a:lnT>
                    <a:lnB w="6668">
                      <a:solidFill>
                        <a:srgbClr val="D9E0E7"/>
                      </a:solidFill>
                      <a:prstDash val="solid"/>
                    </a:lnB>
                    <a:solidFill>
                      <a:srgbClr val="004D73"/>
                    </a:solidFill>
                  </a:tcPr>
                </a:tc>
              </a:tr>
              <a:tr h="584200">
                <a:tc>
                  <a:txBody>
                    <a:bodyPr lIns="85725" tIns="85725" rIns="85725" bIns="85725">
                      <a:noAutofit/>
                    </a:bodyPr>
                    <a:lstStyle/>
                    <a:p>
                      <a:pPr algn="l"/>
                      <a:r>
                        <a:rPr sz="1800" b="1">
                          <a:solidFill>
                            <a:srgbClr val="182C43"/>
                          </a:solidFill>
                          <a:latin typeface="Arial"/>
                          <a:ea typeface="Arial"/>
                          <a:cs typeface="Arial"/>
                        </a:rPr>
                        <a:t>Net P&amp;L / return</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800" b="0">
                          <a:solidFill>
                            <a:srgbClr val="182C43"/>
                          </a:solidFill>
                          <a:latin typeface="Arial"/>
                          <a:ea typeface="Arial"/>
                          <a:cs typeface="Arial"/>
                        </a:rPr>
                        <a:t>Gain after costs / gain relative to stated capital</a:t>
                      </a:r>
                    </a:p>
                  </a:txBody>
                  <a:tcPr marL="85725" marR="85725" marT="19050" marB="19050" anchor="ctr">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800" b="0">
                          <a:solidFill>
                            <a:srgbClr val="182C43"/>
                          </a:solidFill>
                          <a:latin typeface="Arial"/>
                          <a:ea typeface="Arial"/>
                          <a:cs typeface="Arial"/>
                        </a:rPr>
                        <a:t>Compare identical periods and allocated capital</a:t>
                      </a:r>
                    </a:p>
                  </a:txBody>
                  <a:tcPr marL="85725" marR="85725" marT="19050" marB="19050" anchor="ctr">
                    <a:lnR w="6668">
                      <a:solidFill>
                        <a:srgbClr val="D9E0E7"/>
                      </a:solidFill>
                      <a:prstDash val="solid"/>
                    </a:lnR>
                    <a:lnB w="6668">
                      <a:solidFill>
                        <a:srgbClr val="D9E0E7"/>
                      </a:solidFill>
                      <a:prstDash val="solid"/>
                    </a:lnB>
                    <a:solidFill>
                      <a:srgbClr val="FFFFFF"/>
                    </a:solidFill>
                  </a:tcPr>
                </a:tc>
              </a:tr>
              <a:tr h="584200">
                <a:tc>
                  <a:txBody>
                    <a:bodyPr lIns="85725" tIns="85725" rIns="85725" bIns="85725">
                      <a:noAutofit/>
                    </a:bodyPr>
                    <a:lstStyle/>
                    <a:p>
                      <a:pPr algn="l"/>
                      <a:r>
                        <a:rPr sz="1800" b="1">
                          <a:solidFill>
                            <a:srgbClr val="182C43"/>
                          </a:solidFill>
                          <a:latin typeface="Arial"/>
                          <a:ea typeface="Arial"/>
                          <a:cs typeface="Arial"/>
                        </a:rPr>
                        <a:t>Max drawdown</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1F4F7"/>
                    </a:solidFill>
                  </a:tcPr>
                </a:tc>
                <a:tc>
                  <a:txBody>
                    <a:bodyPr lIns="85725" tIns="85725" rIns="85725" bIns="85725">
                      <a:noAutofit/>
                    </a:bodyPr>
                    <a:lstStyle/>
                    <a:p>
                      <a:pPr algn="l"/>
                      <a:r>
                        <a:rPr sz="1800" b="0">
                          <a:solidFill>
                            <a:srgbClr val="182C43"/>
                          </a:solidFill>
                          <a:latin typeface="Arial"/>
                          <a:ea typeface="Arial"/>
                          <a:cs typeface="Arial"/>
                        </a:rPr>
                        <a:t>Largest decline from a prior equity peak</a:t>
                      </a:r>
                    </a:p>
                  </a:txBody>
                  <a:tcPr marL="85725" marR="85725" marT="19050" marB="19050" anchor="ctr">
                    <a:lnR w="6668">
                      <a:solidFill>
                        <a:srgbClr val="D9E0E7"/>
                      </a:solidFill>
                      <a:prstDash val="solid"/>
                    </a:lnR>
                    <a:lnB w="6668">
                      <a:solidFill>
                        <a:srgbClr val="D9E0E7"/>
                      </a:solidFill>
                      <a:prstDash val="solid"/>
                    </a:lnB>
                    <a:solidFill>
                      <a:srgbClr val="F1F4F7"/>
                    </a:solidFill>
                  </a:tcPr>
                </a:tc>
                <a:tc>
                  <a:txBody>
                    <a:bodyPr lIns="85725" tIns="85725" rIns="85725" bIns="85725">
                      <a:noAutofit/>
                    </a:bodyPr>
                    <a:lstStyle/>
                    <a:p>
                      <a:pPr algn="l"/>
                      <a:r>
                        <a:rPr sz="1800" b="0">
                          <a:solidFill>
                            <a:srgbClr val="182C43"/>
                          </a:solidFill>
                          <a:latin typeface="Arial"/>
                          <a:ea typeface="Arial"/>
                          <a:cs typeface="Arial"/>
                        </a:rPr>
                        <a:t>Judge the size of losses a strategy must survive</a:t>
                      </a:r>
                    </a:p>
                  </a:txBody>
                  <a:tcPr marL="85725" marR="85725" marT="19050" marB="19050" anchor="ctr">
                    <a:lnR w="6668">
                      <a:solidFill>
                        <a:srgbClr val="D9E0E7"/>
                      </a:solidFill>
                      <a:prstDash val="solid"/>
                    </a:lnR>
                    <a:lnB w="6668">
                      <a:solidFill>
                        <a:srgbClr val="D9E0E7"/>
                      </a:solidFill>
                      <a:prstDash val="solid"/>
                    </a:lnB>
                    <a:solidFill>
                      <a:srgbClr val="F1F4F7"/>
                    </a:solidFill>
                  </a:tcPr>
                </a:tc>
              </a:tr>
              <a:tr h="584200">
                <a:tc>
                  <a:txBody>
                    <a:bodyPr lIns="85725" tIns="85725" rIns="85725" bIns="85725">
                      <a:noAutofit/>
                    </a:bodyPr>
                    <a:lstStyle/>
                    <a:p>
                      <a:pPr algn="l"/>
                      <a:r>
                        <a:rPr sz="1800" b="1">
                          <a:solidFill>
                            <a:srgbClr val="182C43"/>
                          </a:solidFill>
                          <a:latin typeface="Arial"/>
                          <a:ea typeface="Arial"/>
                          <a:cs typeface="Arial"/>
                        </a:rPr>
                        <a:t>Sharpe ratio</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800" b="0">
                          <a:solidFill>
                            <a:srgbClr val="182C43"/>
                          </a:solidFill>
                          <a:latin typeface="Arial"/>
                          <a:ea typeface="Arial"/>
                          <a:cs typeface="Arial"/>
                        </a:rPr>
                        <a:t>Mean excess return ÷ standard deviation</a:t>
                      </a:r>
                    </a:p>
                  </a:txBody>
                  <a:tcPr marL="85725" marR="85725" marT="19050" marB="19050" anchor="ctr">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800" b="0">
                          <a:solidFill>
                            <a:srgbClr val="182C43"/>
                          </a:solidFill>
                          <a:latin typeface="Arial"/>
                          <a:ea typeface="Arial"/>
                          <a:cs typeface="Arial"/>
                        </a:rPr>
                        <a:t>Compare consistent return intervals and risk</a:t>
                      </a:r>
                    </a:p>
                  </a:txBody>
                  <a:tcPr marL="85725" marR="85725" marT="19050" marB="19050" anchor="ctr">
                    <a:lnR w="6668">
                      <a:solidFill>
                        <a:srgbClr val="D9E0E7"/>
                      </a:solidFill>
                      <a:prstDash val="solid"/>
                    </a:lnR>
                    <a:lnB w="6668">
                      <a:solidFill>
                        <a:srgbClr val="D9E0E7"/>
                      </a:solidFill>
                      <a:prstDash val="solid"/>
                    </a:lnB>
                    <a:solidFill>
                      <a:srgbClr val="FFFFFF"/>
                    </a:solidFill>
                  </a:tcPr>
                </a:tc>
              </a:tr>
              <a:tr h="584200">
                <a:tc>
                  <a:txBody>
                    <a:bodyPr lIns="85725" tIns="85725" rIns="85725" bIns="85725">
                      <a:noAutofit/>
                    </a:bodyPr>
                    <a:lstStyle/>
                    <a:p>
                      <a:pPr algn="l"/>
                      <a:r>
                        <a:rPr sz="1800" b="1">
                          <a:solidFill>
                            <a:srgbClr val="182C43"/>
                          </a:solidFill>
                          <a:latin typeface="Arial"/>
                          <a:ea typeface="Arial"/>
                          <a:cs typeface="Arial"/>
                        </a:rPr>
                        <a:t>Sortino ratio</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1F4F7"/>
                    </a:solidFill>
                  </a:tcPr>
                </a:tc>
                <a:tc>
                  <a:txBody>
                    <a:bodyPr lIns="85725" tIns="85725" rIns="85725" bIns="85725">
                      <a:noAutofit/>
                    </a:bodyPr>
                    <a:lstStyle/>
                    <a:p>
                      <a:pPr algn="l"/>
                      <a:r>
                        <a:rPr sz="1800" b="0">
                          <a:solidFill>
                            <a:srgbClr val="182C43"/>
                          </a:solidFill>
                          <a:latin typeface="Arial"/>
                          <a:ea typeface="Arial"/>
                          <a:cs typeface="Arial"/>
                        </a:rPr>
                        <a:t>Return above target ÷ downside deviation</a:t>
                      </a:r>
                    </a:p>
                  </a:txBody>
                  <a:tcPr marL="85725" marR="85725" marT="19050" marB="19050" anchor="ctr">
                    <a:lnR w="6668">
                      <a:solidFill>
                        <a:srgbClr val="D9E0E7"/>
                      </a:solidFill>
                      <a:prstDash val="solid"/>
                    </a:lnR>
                    <a:lnB w="6668">
                      <a:solidFill>
                        <a:srgbClr val="D9E0E7"/>
                      </a:solidFill>
                      <a:prstDash val="solid"/>
                    </a:lnB>
                    <a:solidFill>
                      <a:srgbClr val="F1F4F7"/>
                    </a:solidFill>
                  </a:tcPr>
                </a:tc>
                <a:tc>
                  <a:txBody>
                    <a:bodyPr lIns="85725" tIns="85725" rIns="85725" bIns="85725">
                      <a:noAutofit/>
                    </a:bodyPr>
                    <a:lstStyle/>
                    <a:p>
                      <a:pPr algn="l"/>
                      <a:r>
                        <a:rPr sz="1800" b="0">
                          <a:solidFill>
                            <a:srgbClr val="182C43"/>
                          </a:solidFill>
                          <a:latin typeface="Arial"/>
                          <a:ea typeface="Arial"/>
                          <a:cs typeface="Arial"/>
                        </a:rPr>
                        <a:t>State the target and inspect downside risk</a:t>
                      </a:r>
                    </a:p>
                  </a:txBody>
                  <a:tcPr marL="85725" marR="85725" marT="19050" marB="19050" anchor="ctr">
                    <a:lnR w="6668">
                      <a:solidFill>
                        <a:srgbClr val="D9E0E7"/>
                      </a:solidFill>
                      <a:prstDash val="solid"/>
                    </a:lnR>
                    <a:lnB w="6668">
                      <a:solidFill>
                        <a:srgbClr val="D9E0E7"/>
                      </a:solidFill>
                      <a:prstDash val="solid"/>
                    </a:lnB>
                    <a:solidFill>
                      <a:srgbClr val="F1F4F7"/>
                    </a:solidFill>
                  </a:tcPr>
                </a:tc>
              </a:tr>
              <a:tr h="584200">
                <a:tc>
                  <a:txBody>
                    <a:bodyPr lIns="85725" tIns="85725" rIns="85725" bIns="85725">
                      <a:noAutofit/>
                    </a:bodyPr>
                    <a:lstStyle/>
                    <a:p>
                      <a:pPr algn="l"/>
                      <a:r>
                        <a:rPr sz="1800" b="1">
                          <a:solidFill>
                            <a:srgbClr val="182C43"/>
                          </a:solidFill>
                          <a:latin typeface="Arial"/>
                          <a:ea typeface="Arial"/>
                          <a:cs typeface="Arial"/>
                        </a:rPr>
                        <a:t>Profit factor</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800" b="0">
                          <a:solidFill>
                            <a:srgbClr val="182C43"/>
                          </a:solidFill>
                          <a:latin typeface="Arial"/>
                          <a:ea typeface="Arial"/>
                          <a:cs typeface="Arial"/>
                        </a:rPr>
                        <a:t>Winning profits ÷ absolute losing losses</a:t>
                      </a:r>
                    </a:p>
                  </a:txBody>
                  <a:tcPr marL="85725" marR="85725" marT="19050" marB="19050" anchor="ctr">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800" b="0">
                          <a:solidFill>
                            <a:srgbClr val="182C43"/>
                          </a:solidFill>
                          <a:latin typeface="Arial"/>
                          <a:ea typeface="Arial"/>
                          <a:cs typeface="Arial"/>
                        </a:rPr>
                        <a:t>Read with trade count and loss distribution</a:t>
                      </a:r>
                    </a:p>
                  </a:txBody>
                  <a:tcPr marL="85725" marR="85725" marT="19050" marB="19050" anchor="ctr">
                    <a:lnR w="6668">
                      <a:solidFill>
                        <a:srgbClr val="D9E0E7"/>
                      </a:solidFill>
                      <a:prstDash val="solid"/>
                    </a:lnR>
                    <a:lnB w="6668">
                      <a:solidFill>
                        <a:srgbClr val="D9E0E7"/>
                      </a:solidFill>
                      <a:prstDash val="solid"/>
                    </a:lnB>
                    <a:solidFill>
                      <a:srgbClr val="FFFFFF"/>
                    </a:solidFill>
                  </a:tcPr>
                </a:tc>
              </a:tr>
              <a:tr h="584200">
                <a:tc>
                  <a:txBody>
                    <a:bodyPr lIns="85725" tIns="85725" rIns="85725" bIns="85725">
                      <a:noAutofit/>
                    </a:bodyPr>
                    <a:lstStyle/>
                    <a:p>
                      <a:pPr algn="l"/>
                      <a:r>
                        <a:rPr sz="1800" b="1">
                          <a:solidFill>
                            <a:srgbClr val="182C43"/>
                          </a:solidFill>
                          <a:latin typeface="Arial"/>
                          <a:ea typeface="Arial"/>
                          <a:cs typeface="Arial"/>
                        </a:rPr>
                        <a:t>Win rate / expectancy</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1F4F7"/>
                    </a:solidFill>
                  </a:tcPr>
                </a:tc>
                <a:tc>
                  <a:txBody>
                    <a:bodyPr lIns="85725" tIns="85725" rIns="85725" bIns="85725">
                      <a:noAutofit/>
                    </a:bodyPr>
                    <a:lstStyle/>
                    <a:p>
                      <a:pPr algn="l"/>
                      <a:r>
                        <a:rPr sz="1800" b="0">
                          <a:solidFill>
                            <a:srgbClr val="182C43"/>
                          </a:solidFill>
                          <a:latin typeface="Arial"/>
                          <a:ea typeface="Arial"/>
                          <a:cs typeface="Arial"/>
                        </a:rPr>
                        <a:t>Winning fraction / average net result per trade</a:t>
                      </a:r>
                    </a:p>
                  </a:txBody>
                  <a:tcPr marL="85725" marR="85725" marT="19050" marB="19050" anchor="ctr">
                    <a:lnR w="6668">
                      <a:solidFill>
                        <a:srgbClr val="D9E0E7"/>
                      </a:solidFill>
                      <a:prstDash val="solid"/>
                    </a:lnR>
                    <a:lnB w="6668">
                      <a:solidFill>
                        <a:srgbClr val="D9E0E7"/>
                      </a:solidFill>
                      <a:prstDash val="solid"/>
                    </a:lnB>
                    <a:solidFill>
                      <a:srgbClr val="F1F4F7"/>
                    </a:solidFill>
                  </a:tcPr>
                </a:tc>
                <a:tc>
                  <a:txBody>
                    <a:bodyPr lIns="85725" tIns="85725" rIns="85725" bIns="85725">
                      <a:noAutofit/>
                    </a:bodyPr>
                    <a:lstStyle/>
                    <a:p>
                      <a:pPr algn="l"/>
                      <a:r>
                        <a:rPr sz="1800" b="0">
                          <a:solidFill>
                            <a:srgbClr val="182C43"/>
                          </a:solidFill>
                          <a:latin typeface="Arial"/>
                          <a:ea typeface="Arial"/>
                          <a:cs typeface="Arial"/>
                        </a:rPr>
                        <a:t>Check whether loss sizes overwhelm frequent wins</a:t>
                      </a:r>
                    </a:p>
                  </a:txBody>
                  <a:tcPr marL="85725" marR="85725" marT="19050" marB="19050" anchor="ctr">
                    <a:lnR w="6668">
                      <a:solidFill>
                        <a:srgbClr val="D9E0E7"/>
                      </a:solidFill>
                      <a:prstDash val="solid"/>
                    </a:lnR>
                    <a:lnB w="6668">
                      <a:solidFill>
                        <a:srgbClr val="D9E0E7"/>
                      </a:solidFill>
                      <a:prstDash val="solid"/>
                    </a:lnB>
                    <a:solidFill>
                      <a:srgbClr val="F1F4F7"/>
                    </a:solidFill>
                  </a:tcPr>
                </a:tc>
              </a:tr>
            </a:tbl>
          </a:graphicData>
        </a:graphic>
      </p:graphicFrame>
      <p:sp>
        <p:nvSpPr>
          <p:cNvPr id="10" name="">
            <a:extLst xmlns:a="http://schemas.openxmlformats.org/drawingml/2006/main">
              <a:ext uri="{FF2B5EF4-FFF2-40B4-BE49-F238E27FC236}">
                <a16:creationId xmlns:a16="http://schemas.microsoft.com/office/drawing/2014/main" id="{6E8CA54D-DE75-4847-AFC3-1E8BB48AB49B}"/>
              </a:ext>
            </a:extLst>
          </p:cNvPr>
          <p:cNvSpPr>
            <a:spLocks xmlns:a="http://schemas.openxmlformats.org/drawingml/2006/main" noGrp="1"/>
          </p:cNvSpPr>
          <p:nvPr/>
        </p:nvSpPr>
        <p:spPr>
          <a:xfrm xmlns:a="http://schemas.openxmlformats.org/drawingml/2006/main">
            <a:off x="609600" y="58102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182C43"/>
                </a:solidFill>
                <a:latin typeface="Arial"/>
                <a:ea typeface="Arial"/>
                <a:cs typeface="Arial"/>
              </a:defRPr>
            </a:defPPr>
          </a:lstStyle>
          <a:p xmlns:a="http://schemas.openxmlformats.org/drawingml/2006/main">
            <a:pPr marL="266700" indent="-152400" algn="l">
              <a:spcAft>
                <a:spcPts val="300"/>
              </a:spcAft>
              <a:buChar char="•"/>
              <a:defRPr sz="1725" b="0">
                <a:solidFill>
                  <a:srgbClr val="182C43"/>
                </a:solidFill>
                <a:latin typeface="Arial"/>
                <a:ea typeface="Arial"/>
                <a:cs typeface="Arial"/>
              </a:defRPr>
            </a:pPr>
            <a:r>
              <a:rPr sz="1725" b="1">
                <a:solidFill>
                  <a:srgbClr val="182C43"/>
                </a:solidFill>
                <a:latin typeface="Arial"/>
                <a:ea typeface="Arial"/>
                <a:cs typeface="Arial"/>
              </a:rPr>
              <a:t>Benchmarks:</a:t>
            </a:r>
            <a:r>
              <a:rPr sz="1725">
                <a:solidFill>
                  <a:srgbClr val="182C43"/>
                </a:solidFill>
                <a:latin typeface="Arial"/>
                <a:ea typeface="Arial"/>
                <a:cs typeface="Arial"/>
              </a:rPr>
              <a:t> permanent simple strategy, cash/no trade and an appropriate market reference.</a:t>
            </a:r>
          </a:p>
          <a:p xmlns:a="http://schemas.openxmlformats.org/drawingml/2006/main">
            <a:pPr marL="266700" indent="-152400" algn="l">
              <a:spcAft>
                <a:spcPts val="300"/>
              </a:spcAft>
              <a:buChar char="•"/>
              <a:defRPr sz="1725" b="0">
                <a:solidFill>
                  <a:srgbClr val="182C43"/>
                </a:solidFill>
                <a:latin typeface="Arial"/>
                <a:ea typeface="Arial"/>
                <a:cs typeface="Arial"/>
              </a:defRPr>
            </a:pPr>
            <a:r>
              <a:rPr sz="1725" b="1">
                <a:solidFill>
                  <a:srgbClr val="182C43"/>
                </a:solidFill>
                <a:latin typeface="Arial"/>
                <a:ea typeface="Arial"/>
                <a:cs typeface="Arial"/>
              </a:rPr>
              <a:t>Context:</a:t>
            </a:r>
            <a:r>
              <a:rPr sz="1725">
                <a:solidFill>
                  <a:srgbClr val="182C43"/>
                </a:solidFill>
                <a:latin typeface="Arial"/>
                <a:ea typeface="Arial"/>
                <a:cs typeface="Arial"/>
              </a:rPr>
              <a:t> include trade count, costs, exposure, sample dates and healthy paper sessions.</a:t>
            </a:r>
          </a:p>
        </p:txBody>
      </p:sp>
    </p:spTree>
    <p:extLst>
      <p:ext uri="{BB962C8B-B14F-4D97-AF65-F5344CB8AC3E}">
        <p14:creationId xmlns:p14="http://schemas.microsoft.com/office/powerpoint/2010/main" val="66425626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LOCAL DEVELOPMENT">
            <a:extLst xmlns:a="http://schemas.openxmlformats.org/drawingml/2006/main">
              <a:ext uri="{FF2B5EF4-FFF2-40B4-BE49-F238E27FC236}">
                <a16:creationId xmlns:a16="http://schemas.microsoft.com/office/drawing/2014/main" id="{90110215-5144-4325-9256-9F55F2100BFF}"/>
              </a:ext>
            </a:extLst>
          </p:cNvPr>
          <p:cNvSpPr>
            <a:spLocks xmlns:a="http://schemas.openxmlformats.org/drawingml/2006/main" noGrp="1"/>
          </p:cNvSpPr>
          <p:nvPr/>
        </p:nvSpPr>
        <p:spPr>
          <a:xfrm xmlns:a="http://schemas.openxmlformats.org/drawingml/2006/main">
            <a:off x="609600" y="285750"/>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FF5400"/>
                </a:solidFill>
                <a:latin typeface="Arial"/>
                <a:ea typeface="Arial"/>
                <a:cs typeface="Arial"/>
              </a:defRPr>
            </a:defPPr>
          </a:lstStyle>
          <a:p xmlns:a="http://schemas.openxmlformats.org/drawingml/2006/main">
            <a:pPr algn="l">
              <a:buNone/>
              <a:defRPr sz="1350" b="1">
                <a:solidFill>
                  <a:srgbClr val="FF5400"/>
                </a:solidFill>
                <a:latin typeface="Arial"/>
                <a:ea typeface="Arial"/>
                <a:cs typeface="Arial"/>
              </a:defRPr>
            </a:pPr>
            <a:r>
              <a:rPr sz="1350" b="1">
                <a:solidFill>
                  <a:srgbClr val="FF5400"/>
                </a:solidFill>
                <a:latin typeface="Arial"/>
                <a:ea typeface="Arial"/>
                <a:cs typeface="Arial"/>
              </a:rPr>
              <a:t>LOCAL DEVELOPMENT</a:t>
            </a:r>
          </a:p>
        </p:txBody>
      </p:sp>
      <p:sp>
        <p:nvSpPr>
          <p:cNvPr id="2" name="Slide title">
            <a:extLst xmlns:a="http://schemas.openxmlformats.org/drawingml/2006/main">
              <a:ext uri="{FF2B5EF4-FFF2-40B4-BE49-F238E27FC236}">
                <a16:creationId xmlns:a16="http://schemas.microsoft.com/office/drawing/2014/main" id="{1F00842C-5621-4111-9240-807437432FA8}"/>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004D73"/>
                </a:solidFill>
                <a:latin typeface="Arial"/>
                <a:ea typeface="Arial"/>
                <a:cs typeface="Arial"/>
              </a:defRPr>
            </a:defPPr>
          </a:lstStyle>
          <a:p xmlns:a="http://schemas.openxmlformats.org/drawingml/2006/main">
            <a:pPr algn="l">
              <a:buNone/>
              <a:defRPr sz="3300" b="1">
                <a:solidFill>
                  <a:srgbClr val="004D73"/>
                </a:solidFill>
                <a:latin typeface="Arial"/>
                <a:ea typeface="Arial"/>
                <a:cs typeface="Arial"/>
              </a:defRPr>
            </a:pPr>
            <a:r>
              <a:rPr sz="3300" b="1">
                <a:solidFill>
                  <a:srgbClr val="004D73"/>
                </a:solidFill>
                <a:latin typeface="Arial"/>
                <a:ea typeface="Arial"/>
                <a:cs typeface="Arial"/>
              </a:rPr>
              <a:t>Implementation and evaluation workflow</a:t>
            </a:r>
          </a:p>
        </p:txBody>
      </p:sp>
      <p:sp>
        <p:nvSpPr>
          <p:cNvPr id="3" name="SHPE CAPITAL    OCTOBER 13, 2026">
            <a:extLst xmlns:a="http://schemas.openxmlformats.org/drawingml/2006/main">
              <a:ext uri="{FF2B5EF4-FFF2-40B4-BE49-F238E27FC236}">
                <a16:creationId xmlns:a16="http://schemas.microsoft.com/office/drawing/2014/main" id="{B73DEC15-6222-4520-BE18-96C54BC66C1B}"/>
              </a:ext>
            </a:extLst>
          </p:cNvPr>
          <p:cNvSpPr>
            <a:spLocks xmlns:a="http://schemas.openxmlformats.org/drawingml/2006/main" noGrp="1"/>
          </p:cNvSpPr>
          <p:nvPr/>
        </p:nvSpPr>
        <p:spPr>
          <a:xfrm xmlns:a="http://schemas.openxmlformats.org/drawingml/2006/main">
            <a:off x="609600" y="6438900"/>
            <a:ext cx="771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SHPE CAPITAL    OCTOBER 13, 2026</a:t>
            </a:r>
          </a:p>
        </p:txBody>
      </p:sp>
      <p:sp>
        <p:nvSpPr>
          <p:cNvPr id="4" name="17–20 min">
            <a:extLst xmlns:a="http://schemas.openxmlformats.org/drawingml/2006/main">
              <a:ext uri="{FF2B5EF4-FFF2-40B4-BE49-F238E27FC236}">
                <a16:creationId xmlns:a16="http://schemas.microsoft.com/office/drawing/2014/main" id="{FAC1504C-31A8-4BEE-B51E-3BDA2116B0D8}"/>
              </a:ext>
            </a:extLst>
          </p:cNvPr>
          <p:cNvSpPr>
            <a:spLocks xmlns:a="http://schemas.openxmlformats.org/drawingml/2006/main" noGrp="1"/>
          </p:cNvSpPr>
          <p:nvPr/>
        </p:nvSpPr>
        <p:spPr>
          <a:xfrm xmlns:a="http://schemas.openxmlformats.org/drawingml/2006/main">
            <a:off x="9029700" y="643890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23:00-24:00</a:t>
            </a:r>
          </a:p>
        </p:txBody>
      </p:sp>
      <p:sp>
        <p:nvSpPr>
          <p:cNvPr id="5" name="13">
            <a:extLst xmlns:a="http://schemas.openxmlformats.org/drawingml/2006/main">
              <a:ext uri="{FF2B5EF4-FFF2-40B4-BE49-F238E27FC236}">
                <a16:creationId xmlns:a16="http://schemas.microsoft.com/office/drawing/2014/main" id="{C28A02AB-007D-407E-B955-C893CEC64921}"/>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20</a:t>
            </a:r>
          </a:p>
        </p:txBody>
      </p:sp>
      <p:graphicFrame>
        <p:nvGraphicFramePr>
          <p:cNvPr id="9" name="">
            <a:extLst xmlns:a="http://schemas.openxmlformats.org/drawingml/2006/main">
              <a:ext uri="{FF2B5EF4-FFF2-40B4-BE49-F238E27FC236}">
                <a16:creationId xmlns:a16="http://schemas.microsoft.com/office/drawing/2014/main" id="{E2A74B16-D23D-4D30-9C43-8469D5187E12}"/>
              </a:ext>
            </a:extLst>
          </p:cNvPr>
          <p:cNvGraphicFramePr/>
          <p:nvPr/>
        </p:nvGraphicFramePr>
        <p:xfrm>
          <a:off xmlns:a="http://schemas.openxmlformats.org/drawingml/2006/main" x="609600" y="1676400"/>
          <a:ext xmlns:a="http://schemas.openxmlformats.org/drawingml/2006/main" cx="10972800" cy="3924300"/>
        </p:xfrm>
        <a:graphic xmlns:a="http://schemas.openxmlformats.org/drawingml/2006/main">
          <a:graphicData uri="http://schemas.openxmlformats.org/drawingml/2006/table">
            <a:tbl>
              <a:tblPr firstRow="1" bandRow="0"/>
              <a:tblGrid>
                <a:gridCol w="2200275"/>
                <a:gridCol w="4219575"/>
                <a:gridCol w="4552950"/>
              </a:tblGrid>
              <a:tr h="419100">
                <a:tc>
                  <a:txBody>
                    <a:bodyPr lIns="85725" tIns="85725" rIns="85725" bIns="85725">
                      <a:noAutofit/>
                    </a:bodyPr>
                    <a:lstStyle/>
                    <a:p>
                      <a:pPr algn="l"/>
                      <a:r>
                        <a:rPr sz="1800" b="1">
                          <a:solidFill>
                            <a:srgbClr val="FFFFFF"/>
                          </a:solidFill>
                          <a:latin typeface="Arial"/>
                          <a:ea typeface="Arial"/>
                          <a:cs typeface="Arial"/>
                        </a:rPr>
                        <a:t>Step</a:t>
                      </a:r>
                    </a:p>
                  </a:txBody>
                  <a:tcPr marL="85725" marR="85725" marT="19050" marB="19050" anchor="ctr">
                    <a:lnL w="6668">
                      <a:solidFill>
                        <a:srgbClr val="D9E0E7"/>
                      </a:solidFill>
                      <a:prstDash val="solid"/>
                    </a:lnL>
                    <a:lnR w="6668">
                      <a:solidFill>
                        <a:srgbClr val="D9E0E7"/>
                      </a:solidFill>
                      <a:prstDash val="solid"/>
                    </a:lnR>
                    <a:lnT w="6668">
                      <a:solidFill>
                        <a:srgbClr val="D9E0E7"/>
                      </a:solidFill>
                      <a:prstDash val="solid"/>
                    </a:lnT>
                    <a:lnB w="6668">
                      <a:solidFill>
                        <a:srgbClr val="D9E0E7"/>
                      </a:solidFill>
                      <a:prstDash val="solid"/>
                    </a:lnB>
                    <a:solidFill>
                      <a:srgbClr val="004D73"/>
                    </a:solidFill>
                  </a:tcPr>
                </a:tc>
                <a:tc>
                  <a:txBody>
                    <a:bodyPr lIns="85725" tIns="85725" rIns="85725" bIns="85725">
                      <a:noAutofit/>
                    </a:bodyPr>
                    <a:lstStyle/>
                    <a:p>
                      <a:pPr algn="l"/>
                      <a:r>
                        <a:rPr sz="1800" b="1">
                          <a:solidFill>
                            <a:srgbClr val="FFFFFF"/>
                          </a:solidFill>
                          <a:latin typeface="Arial"/>
                          <a:ea typeface="Arial"/>
                          <a:cs typeface="Arial"/>
                        </a:rPr>
                        <a:t>Action</a:t>
                      </a:r>
                    </a:p>
                  </a:txBody>
                  <a:tcPr marL="85725" marR="85725" marT="19050" marB="19050" anchor="ctr">
                    <a:lnR w="6668">
                      <a:solidFill>
                        <a:srgbClr val="D9E0E7"/>
                      </a:solidFill>
                      <a:prstDash val="solid"/>
                    </a:lnR>
                    <a:lnT w="6668">
                      <a:solidFill>
                        <a:srgbClr val="D9E0E7"/>
                      </a:solidFill>
                      <a:prstDash val="solid"/>
                    </a:lnT>
                    <a:lnB w="6668">
                      <a:solidFill>
                        <a:srgbClr val="D9E0E7"/>
                      </a:solidFill>
                      <a:prstDash val="solid"/>
                    </a:lnB>
                    <a:solidFill>
                      <a:srgbClr val="004D73"/>
                    </a:solidFill>
                  </a:tcPr>
                </a:tc>
                <a:tc>
                  <a:txBody>
                    <a:bodyPr lIns="85725" tIns="85725" rIns="85725" bIns="85725">
                      <a:noAutofit/>
                    </a:bodyPr>
                    <a:lstStyle/>
                    <a:p>
                      <a:pPr algn="l"/>
                      <a:r>
                        <a:rPr sz="1800" b="1">
                          <a:solidFill>
                            <a:srgbClr val="FFFFFF"/>
                          </a:solidFill>
                          <a:latin typeface="Arial"/>
                          <a:ea typeface="Arial"/>
                          <a:cs typeface="Arial"/>
                        </a:rPr>
                        <a:t>Evidence before the next step</a:t>
                      </a:r>
                    </a:p>
                  </a:txBody>
                  <a:tcPr marL="85725" marR="85725" marT="19050" marB="19050" anchor="ctr">
                    <a:lnR w="6668">
                      <a:solidFill>
                        <a:srgbClr val="D9E0E7"/>
                      </a:solidFill>
                      <a:prstDash val="solid"/>
                    </a:lnR>
                    <a:lnT w="6668">
                      <a:solidFill>
                        <a:srgbClr val="D9E0E7"/>
                      </a:solidFill>
                      <a:prstDash val="solid"/>
                    </a:lnT>
                    <a:lnB w="6668">
                      <a:solidFill>
                        <a:srgbClr val="D9E0E7"/>
                      </a:solidFill>
                      <a:prstDash val="solid"/>
                    </a:lnB>
                    <a:solidFill>
                      <a:srgbClr val="004D73"/>
                    </a:solidFill>
                  </a:tcPr>
                </a:tc>
              </a:tr>
              <a:tr h="584200">
                <a:tc>
                  <a:txBody>
                    <a:bodyPr lIns="85725" tIns="85725" rIns="85725" bIns="85725">
                      <a:noAutofit/>
                    </a:bodyPr>
                    <a:lstStyle/>
                    <a:p>
                      <a:pPr algn="l"/>
                      <a:r>
                        <a:rPr sz="1800" b="1">
                          <a:solidFill>
                            <a:srgbClr val="182C43"/>
                          </a:solidFill>
                          <a:latin typeface="Arial"/>
                          <a:ea typeface="Arial"/>
                          <a:cs typeface="Arial"/>
                        </a:rPr>
                        <a:t>1. Rules and branch</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800" b="0">
                          <a:solidFill>
                            <a:srgbClr val="182C43"/>
                          </a:solidFill>
                          <a:latin typeface="Arial"/>
                          <a:ea typeface="Arial"/>
                          <a:cs typeface="Arial"/>
                        </a:rPr>
                        <a:t>Write the specification, baseline and configuration</a:t>
                      </a:r>
                    </a:p>
                  </a:txBody>
                  <a:tcPr marL="85725" marR="85725" marT="19050" marB="19050" anchor="ctr">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800" b="0">
                          <a:solidFill>
                            <a:srgbClr val="182C43"/>
                          </a:solidFill>
                          <a:latin typeface="Arial"/>
                          <a:ea typeface="Arial"/>
                          <a:cs typeface="Arial"/>
                        </a:rPr>
                        <a:t>A worked example and expected failure cases</a:t>
                      </a:r>
                    </a:p>
                  </a:txBody>
                  <a:tcPr marL="85725" marR="85725" marT="19050" marB="19050" anchor="ctr">
                    <a:lnR w="6668">
                      <a:solidFill>
                        <a:srgbClr val="D9E0E7"/>
                      </a:solidFill>
                      <a:prstDash val="solid"/>
                    </a:lnR>
                    <a:lnB w="6668">
                      <a:solidFill>
                        <a:srgbClr val="D9E0E7"/>
                      </a:solidFill>
                      <a:prstDash val="solid"/>
                    </a:lnB>
                    <a:solidFill>
                      <a:srgbClr val="FFFFFF"/>
                    </a:solidFill>
                  </a:tcPr>
                </a:tc>
              </a:tr>
              <a:tr h="584200">
                <a:tc>
                  <a:txBody>
                    <a:bodyPr lIns="85725" tIns="85725" rIns="85725" bIns="85725">
                      <a:noAutofit/>
                    </a:bodyPr>
                    <a:lstStyle/>
                    <a:p>
                      <a:pPr algn="l"/>
                      <a:r>
                        <a:rPr sz="1800" b="1">
                          <a:solidFill>
                            <a:srgbClr val="182C43"/>
                          </a:solidFill>
                          <a:latin typeface="Arial"/>
                          <a:ea typeface="Arial"/>
                          <a:cs typeface="Arial"/>
                        </a:rPr>
                        <a:t>2. Local implementation</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1F4F7"/>
                    </a:solidFill>
                  </a:tcPr>
                </a:tc>
                <a:tc>
                  <a:txBody>
                    <a:bodyPr lIns="85725" tIns="85725" rIns="85725" bIns="85725">
                      <a:noAutofit/>
                    </a:bodyPr>
                    <a:lstStyle/>
                    <a:p>
                      <a:pPr algn="l"/>
                      <a:r>
                        <a:rPr sz="1800" b="0">
                          <a:solidFill>
                            <a:srgbClr val="182C43"/>
                          </a:solidFill>
                          <a:latin typeface="Arial"/>
                          <a:ea typeface="Arial"/>
                          <a:cs typeface="Arial"/>
                        </a:rPr>
                        <a:t>Use the shared strategy interface and platform state</a:t>
                      </a:r>
                    </a:p>
                  </a:txBody>
                  <a:tcPr marL="85725" marR="85725" marT="19050" marB="19050" anchor="ctr">
                    <a:lnR w="6668">
                      <a:solidFill>
                        <a:srgbClr val="D9E0E7"/>
                      </a:solidFill>
                      <a:prstDash val="solid"/>
                    </a:lnR>
                    <a:lnB w="6668">
                      <a:solidFill>
                        <a:srgbClr val="D9E0E7"/>
                      </a:solidFill>
                      <a:prstDash val="solid"/>
                    </a:lnB>
                    <a:solidFill>
                      <a:srgbClr val="F1F4F7"/>
                    </a:solidFill>
                  </a:tcPr>
                </a:tc>
                <a:tc>
                  <a:txBody>
                    <a:bodyPr lIns="85725" tIns="85725" rIns="85725" bIns="85725">
                      <a:noAutofit/>
                    </a:bodyPr>
                    <a:lstStyle/>
                    <a:p>
                      <a:pPr algn="l"/>
                      <a:r>
                        <a:rPr sz="1800" b="0">
                          <a:solidFill>
                            <a:srgbClr val="182C43"/>
                          </a:solidFill>
                          <a:latin typeface="Arial"/>
                          <a:ea typeface="Arial"/>
                          <a:cs typeface="Arial"/>
                        </a:rPr>
                        <a:t>Logic tests, risk checks and versioned parameters</a:t>
                      </a:r>
                    </a:p>
                  </a:txBody>
                  <a:tcPr marL="85725" marR="85725" marT="19050" marB="19050" anchor="ctr">
                    <a:lnR w="6668">
                      <a:solidFill>
                        <a:srgbClr val="D9E0E7"/>
                      </a:solidFill>
                      <a:prstDash val="solid"/>
                    </a:lnR>
                    <a:lnB w="6668">
                      <a:solidFill>
                        <a:srgbClr val="D9E0E7"/>
                      </a:solidFill>
                      <a:prstDash val="solid"/>
                    </a:lnB>
                    <a:solidFill>
                      <a:srgbClr val="F1F4F7"/>
                    </a:solidFill>
                  </a:tcPr>
                </a:tc>
              </a:tr>
              <a:tr h="584200">
                <a:tc>
                  <a:txBody>
                    <a:bodyPr lIns="85725" tIns="85725" rIns="85725" bIns="85725">
                      <a:noAutofit/>
                    </a:bodyPr>
                    <a:lstStyle/>
                    <a:p>
                      <a:pPr algn="l"/>
                      <a:r>
                        <a:rPr sz="1800" b="1">
                          <a:solidFill>
                            <a:srgbClr val="182C43"/>
                          </a:solidFill>
                          <a:latin typeface="Arial"/>
                          <a:ea typeface="Arial"/>
                          <a:cs typeface="Arial"/>
                        </a:rPr>
                        <a:t>3. Historical evaluation</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800" b="0">
                          <a:solidFill>
                            <a:srgbClr val="182C43"/>
                          </a:solidFill>
                          <a:latin typeface="Arial"/>
                          <a:ea typeface="Arial"/>
                          <a:cs typeface="Arial"/>
                        </a:rPr>
                        <a:t>Integrate with backtest tools and fixed datasets</a:t>
                      </a:r>
                    </a:p>
                  </a:txBody>
                  <a:tcPr marL="85725" marR="85725" marT="19050" marB="19050" anchor="ctr">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800" b="0">
                          <a:solidFill>
                            <a:srgbClr val="182C43"/>
                          </a:solidFill>
                          <a:latin typeface="Arial"/>
                          <a:ea typeface="Arial"/>
                          <a:cs typeface="Arial"/>
                        </a:rPr>
                        <a:t>Net report, benchmark and inspected individual trades</a:t>
                      </a:r>
                    </a:p>
                  </a:txBody>
                  <a:tcPr marL="85725" marR="85725" marT="19050" marB="19050" anchor="ctr">
                    <a:lnR w="6668">
                      <a:solidFill>
                        <a:srgbClr val="D9E0E7"/>
                      </a:solidFill>
                      <a:prstDash val="solid"/>
                    </a:lnR>
                    <a:lnB w="6668">
                      <a:solidFill>
                        <a:srgbClr val="D9E0E7"/>
                      </a:solidFill>
                      <a:prstDash val="solid"/>
                    </a:lnB>
                    <a:solidFill>
                      <a:srgbClr val="FFFFFF"/>
                    </a:solidFill>
                  </a:tcPr>
                </a:tc>
              </a:tr>
              <a:tr h="584200">
                <a:tc>
                  <a:txBody>
                    <a:bodyPr lIns="85725" tIns="85725" rIns="85725" bIns="85725">
                      <a:noAutofit/>
                    </a:bodyPr>
                    <a:lstStyle/>
                    <a:p>
                      <a:pPr algn="l"/>
                      <a:r>
                        <a:rPr sz="1800" b="1">
                          <a:solidFill>
                            <a:srgbClr val="182C43"/>
                          </a:solidFill>
                          <a:latin typeface="Arial"/>
                          <a:ea typeface="Arial"/>
                          <a:cs typeface="Arial"/>
                        </a:rPr>
                        <a:t>4. Local sim / paper</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1F4F7"/>
                    </a:solidFill>
                  </a:tcPr>
                </a:tc>
                <a:tc>
                  <a:txBody>
                    <a:bodyPr lIns="85725" tIns="85725" rIns="85725" bIns="85725">
                      <a:noAutofit/>
                    </a:bodyPr>
                    <a:lstStyle/>
                    <a:p>
                      <a:pPr algn="l"/>
                      <a:r>
                        <a:rPr sz="1800" b="0">
                          <a:solidFill>
                            <a:srgbClr val="182C43"/>
                          </a:solidFill>
                          <a:latin typeface="Arial"/>
                          <a:ea typeface="Arial"/>
                          <a:cs typeface="Arial"/>
                        </a:rPr>
                        <a:t>Verify order paths, exits, partial fills and recovery</a:t>
                      </a:r>
                    </a:p>
                  </a:txBody>
                  <a:tcPr marL="85725" marR="85725" marT="19050" marB="19050" anchor="ctr">
                    <a:lnR w="6668">
                      <a:solidFill>
                        <a:srgbClr val="D9E0E7"/>
                      </a:solidFill>
                      <a:prstDash val="solid"/>
                    </a:lnR>
                    <a:lnB w="6668">
                      <a:solidFill>
                        <a:srgbClr val="D9E0E7"/>
                      </a:solidFill>
                      <a:prstDash val="solid"/>
                    </a:lnB>
                    <a:solidFill>
                      <a:srgbClr val="F1F4F7"/>
                    </a:solidFill>
                  </a:tcPr>
                </a:tc>
                <a:tc>
                  <a:txBody>
                    <a:bodyPr lIns="85725" tIns="85725" rIns="85725" bIns="85725">
                      <a:noAutofit/>
                    </a:bodyPr>
                    <a:lstStyle/>
                    <a:p>
                      <a:pPr algn="l"/>
                      <a:r>
                        <a:rPr sz="1800" b="0">
                          <a:solidFill>
                            <a:srgbClr val="182C43"/>
                          </a:solidFill>
                          <a:latin typeface="Arial"/>
                          <a:ea typeface="Arial"/>
                          <a:cs typeface="Arial"/>
                        </a:rPr>
                        <a:t>Reconciled positions and reproducible scenario results</a:t>
                      </a:r>
                    </a:p>
                  </a:txBody>
                  <a:tcPr marL="85725" marR="85725" marT="19050" marB="19050" anchor="ctr">
                    <a:lnR w="6668">
                      <a:solidFill>
                        <a:srgbClr val="D9E0E7"/>
                      </a:solidFill>
                      <a:prstDash val="solid"/>
                    </a:lnR>
                    <a:lnB w="6668">
                      <a:solidFill>
                        <a:srgbClr val="D9E0E7"/>
                      </a:solidFill>
                      <a:prstDash val="solid"/>
                    </a:lnB>
                    <a:solidFill>
                      <a:srgbClr val="F1F4F7"/>
                    </a:solidFill>
                  </a:tcPr>
                </a:tc>
              </a:tr>
              <a:tr h="584200">
                <a:tc>
                  <a:txBody>
                    <a:bodyPr lIns="85725" tIns="85725" rIns="85725" bIns="85725">
                      <a:noAutofit/>
                    </a:bodyPr>
                    <a:lstStyle/>
                    <a:p>
                      <a:pPr algn="l"/>
                      <a:r>
                        <a:rPr sz="1800" b="1">
                          <a:solidFill>
                            <a:srgbClr val="182C43"/>
                          </a:solidFill>
                          <a:latin typeface="Arial"/>
                          <a:ea typeface="Arial"/>
                          <a:cs typeface="Arial"/>
                        </a:rPr>
                        <a:t>5. GitHub review</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800" b="0">
                          <a:solidFill>
                            <a:srgbClr val="182C43"/>
                          </a:solidFill>
                          <a:latin typeface="Arial"/>
                          <a:ea typeface="Arial"/>
                          <a:cs typeface="Arial"/>
                        </a:rPr>
                        <a:t>Push team branch and open a pull request</a:t>
                      </a:r>
                    </a:p>
                  </a:txBody>
                  <a:tcPr marL="85725" marR="85725" marT="19050" marB="19050" anchor="ctr">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800" b="0">
                          <a:solidFill>
                            <a:srgbClr val="182C43"/>
                          </a:solidFill>
                          <a:latin typeface="Arial"/>
                          <a:ea typeface="Arial"/>
                          <a:cs typeface="Arial"/>
                        </a:rPr>
                        <a:t>Code plus rules, assumptions and result attachments</a:t>
                      </a:r>
                    </a:p>
                  </a:txBody>
                  <a:tcPr marL="85725" marR="85725" marT="19050" marB="19050" anchor="ctr">
                    <a:lnR w="6668">
                      <a:solidFill>
                        <a:srgbClr val="D9E0E7"/>
                      </a:solidFill>
                      <a:prstDash val="solid"/>
                    </a:lnR>
                    <a:lnB w="6668">
                      <a:solidFill>
                        <a:srgbClr val="D9E0E7"/>
                      </a:solidFill>
                      <a:prstDash val="solid"/>
                    </a:lnB>
                    <a:solidFill>
                      <a:srgbClr val="FFFFFF"/>
                    </a:solidFill>
                  </a:tcPr>
                </a:tc>
              </a:tr>
              <a:tr h="584200">
                <a:tc>
                  <a:txBody>
                    <a:bodyPr lIns="85725" tIns="85725" rIns="85725" bIns="85725">
                      <a:noAutofit/>
                    </a:bodyPr>
                    <a:lstStyle/>
                    <a:p>
                      <a:pPr algn="l"/>
                      <a:r>
                        <a:rPr sz="1800" b="1">
                          <a:solidFill>
                            <a:srgbClr val="182C43"/>
                          </a:solidFill>
                          <a:latin typeface="Arial"/>
                          <a:ea typeface="Arial"/>
                          <a:cs typeface="Arial"/>
                        </a:rPr>
                        <a:t>6. Monitored online paper</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1F4F7"/>
                    </a:solidFill>
                  </a:tcPr>
                </a:tc>
                <a:tc>
                  <a:txBody>
                    <a:bodyPr lIns="85725" tIns="85725" rIns="85725" bIns="85725">
                      <a:noAutofit/>
                    </a:bodyPr>
                    <a:lstStyle/>
                    <a:p>
                      <a:pPr algn="l"/>
                      <a:r>
                        <a:rPr sz="1800" b="0">
                          <a:solidFill>
                            <a:srgbClr val="182C43"/>
                          </a:solidFill>
                          <a:latin typeface="Arial"/>
                          <a:ea typeface="Arial"/>
                          <a:cs typeface="Arial"/>
                        </a:rPr>
                        <a:t>Launch a reviewed version with an owner</a:t>
                      </a:r>
                    </a:p>
                  </a:txBody>
                  <a:tcPr marL="85725" marR="85725" marT="19050" marB="19050" anchor="ctr">
                    <a:lnR w="6668">
                      <a:solidFill>
                        <a:srgbClr val="D9E0E7"/>
                      </a:solidFill>
                      <a:prstDash val="solid"/>
                    </a:lnR>
                    <a:lnB w="6668">
                      <a:solidFill>
                        <a:srgbClr val="D9E0E7"/>
                      </a:solidFill>
                      <a:prstDash val="solid"/>
                    </a:lnB>
                    <a:solidFill>
                      <a:srgbClr val="F1F4F7"/>
                    </a:solidFill>
                  </a:tcPr>
                </a:tc>
                <a:tc>
                  <a:txBody>
                    <a:bodyPr lIns="85725" tIns="85725" rIns="85725" bIns="85725">
                      <a:noAutofit/>
                    </a:bodyPr>
                    <a:lstStyle/>
                    <a:p>
                      <a:pPr algn="l"/>
                      <a:r>
                        <a:rPr sz="1800" b="0">
                          <a:solidFill>
                            <a:srgbClr val="182C43"/>
                          </a:solidFill>
                          <a:latin typeface="Arial"/>
                          <a:ea typeface="Arial"/>
                          <a:cs typeface="Arial"/>
                        </a:rPr>
                        <a:t>Daily health, trade ledger and incident log</a:t>
                      </a:r>
                    </a:p>
                  </a:txBody>
                  <a:tcPr marL="85725" marR="85725" marT="19050" marB="19050" anchor="ctr">
                    <a:lnR w="6668">
                      <a:solidFill>
                        <a:srgbClr val="D9E0E7"/>
                      </a:solidFill>
                      <a:prstDash val="solid"/>
                    </a:lnR>
                    <a:lnB w="6668">
                      <a:solidFill>
                        <a:srgbClr val="D9E0E7"/>
                      </a:solidFill>
                      <a:prstDash val="solid"/>
                    </a:lnB>
                    <a:solidFill>
                      <a:srgbClr val="F1F4F7"/>
                    </a:solidFill>
                  </a:tcPr>
                </a:tc>
              </a:tr>
            </a:tbl>
          </a:graphicData>
        </a:graphic>
      </p:graphicFrame>
      <p:sp>
        <p:nvSpPr>
          <p:cNvPr id="10" name="">
            <a:extLst xmlns:a="http://schemas.openxmlformats.org/drawingml/2006/main">
              <a:ext uri="{FF2B5EF4-FFF2-40B4-BE49-F238E27FC236}">
                <a16:creationId xmlns:a16="http://schemas.microsoft.com/office/drawing/2014/main" id="{F402FC51-51C3-4833-9387-CAD420D29404}"/>
              </a:ext>
            </a:extLst>
          </p:cNvPr>
          <p:cNvSpPr>
            <a:spLocks xmlns:a="http://schemas.openxmlformats.org/drawingml/2006/main" noGrp="1"/>
          </p:cNvSpPr>
          <p:nvPr/>
        </p:nvSpPr>
        <p:spPr>
          <a:xfrm xmlns:a="http://schemas.openxmlformats.org/drawingml/2006/main">
            <a:off x="609600" y="58102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182C43"/>
                </a:solidFill>
                <a:latin typeface="Arial"/>
                <a:ea typeface="Arial"/>
                <a:cs typeface="Arial"/>
              </a:defRPr>
            </a:defPPr>
          </a:lstStyle>
          <a:p xmlns:a="http://schemas.openxmlformats.org/drawingml/2006/main">
            <a:pPr marL="266700" indent="-152400" algn="l">
              <a:spcAft>
                <a:spcPts val="300"/>
              </a:spcAft>
              <a:buChar char="•"/>
              <a:defRPr sz="1725" b="0">
                <a:solidFill>
                  <a:srgbClr val="182C43"/>
                </a:solidFill>
                <a:latin typeface="Arial"/>
                <a:ea typeface="Arial"/>
                <a:cs typeface="Arial"/>
              </a:defRPr>
            </a:pPr>
            <a:r>
              <a:rPr sz="1725" b="1">
                <a:solidFill>
                  <a:srgbClr val="182C43"/>
                </a:solidFill>
                <a:latin typeface="Arial"/>
                <a:ea typeface="Arial"/>
                <a:cs typeface="Arial"/>
              </a:rPr>
              <a:t>Local default:</a:t>
            </a:r>
            <a:r>
              <a:rPr sz="1725">
                <a:solidFill>
                  <a:srgbClr val="182C43"/>
                </a:solidFill>
                <a:latin typeface="Arial"/>
                <a:ea typeface="Arial"/>
                <a:cs typeface="Arial"/>
              </a:rPr>
              <a:t> simulated execution. Use your own Alpaca paper setup only when needed.</a:t>
            </a:r>
          </a:p>
          <a:p xmlns:a="http://schemas.openxmlformats.org/drawingml/2006/main">
            <a:pPr marL="266700" indent="-152400" algn="l">
              <a:spcAft>
                <a:spcPts val="300"/>
              </a:spcAft>
              <a:buChar char="•"/>
              <a:defRPr sz="1725" b="0">
                <a:solidFill>
                  <a:srgbClr val="182C43"/>
                </a:solidFill>
                <a:latin typeface="Arial"/>
                <a:ea typeface="Arial"/>
                <a:cs typeface="Arial"/>
              </a:defRPr>
            </a:pPr>
            <a:r>
              <a:rPr sz="1725" b="1">
                <a:solidFill>
                  <a:srgbClr val="182C43"/>
                </a:solidFill>
                <a:latin typeface="Arial"/>
                <a:ea typeface="Arial"/>
                <a:cs typeface="Arial"/>
              </a:rPr>
              <a:t>Platform support:</a:t>
            </a:r>
            <a:r>
              <a:rPr sz="1725">
                <a:solidFill>
                  <a:srgbClr val="182C43"/>
                </a:solidFill>
                <a:latin typeface="Arial"/>
                <a:ea typeface="Arial"/>
                <a:cs typeface="Arial"/>
              </a:rPr>
              <a:t> shared setup, data and strategy registration. Each member still owns an output.</a:t>
            </a:r>
          </a:p>
        </p:txBody>
      </p:sp>
    </p:spTree>
    <p:extLst>
      <p:ext uri="{BB962C8B-B14F-4D97-AF65-F5344CB8AC3E}">
        <p14:creationId xmlns:p14="http://schemas.microsoft.com/office/powerpoint/2010/main" val="112261729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CODEBASE OVERVIEW">
            <a:extLst xmlns:a="http://schemas.openxmlformats.org/drawingml/2006/main">
              <a:ext uri="{FF2B5EF4-FFF2-40B4-BE49-F238E27FC236}">
                <a16:creationId xmlns:a16="http://schemas.microsoft.com/office/drawing/2014/main" id="{36BEF7D6-E0E0-449F-8FDC-D18888EFBB8A}"/>
              </a:ext>
            </a:extLst>
          </p:cNvPr>
          <p:cNvSpPr>
            <a:spLocks xmlns:a="http://schemas.openxmlformats.org/drawingml/2006/main" noGrp="1"/>
          </p:cNvSpPr>
          <p:nvPr/>
        </p:nvSpPr>
        <p:spPr>
          <a:xfrm xmlns:a="http://schemas.openxmlformats.org/drawingml/2006/main">
            <a:off x="609600" y="285750"/>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FF5400"/>
                </a:solidFill>
                <a:latin typeface="Arial"/>
                <a:ea typeface="Arial"/>
                <a:cs typeface="Arial"/>
              </a:defRPr>
            </a:defPPr>
          </a:lstStyle>
          <a:p xmlns:a="http://schemas.openxmlformats.org/drawingml/2006/main">
            <a:pPr algn="l">
              <a:buNone/>
              <a:defRPr sz="1350" b="1">
                <a:solidFill>
                  <a:srgbClr val="FF5400"/>
                </a:solidFill>
                <a:latin typeface="Arial"/>
                <a:ea typeface="Arial"/>
                <a:cs typeface="Arial"/>
              </a:defRPr>
            </a:pPr>
            <a:r>
              <a:rPr sz="1350" b="1">
                <a:solidFill>
                  <a:srgbClr val="FF5400"/>
                </a:solidFill>
                <a:latin typeface="Arial"/>
                <a:ea typeface="Arial"/>
                <a:cs typeface="Arial"/>
              </a:rPr>
              <a:t>CODEBASE OVERVIEW</a:t>
            </a:r>
          </a:p>
        </p:txBody>
      </p:sp>
      <p:sp>
        <p:nvSpPr>
          <p:cNvPr id="2" name="Slide title">
            <a:extLst xmlns:a="http://schemas.openxmlformats.org/drawingml/2006/main">
              <a:ext uri="{FF2B5EF4-FFF2-40B4-BE49-F238E27FC236}">
                <a16:creationId xmlns:a16="http://schemas.microsoft.com/office/drawing/2014/main" id="{2F1EA85B-0E94-4E0A-8B38-CCC072F6788A}"/>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004D73"/>
                </a:solidFill>
                <a:latin typeface="Arial"/>
                <a:ea typeface="Arial"/>
                <a:cs typeface="Arial"/>
              </a:defRPr>
            </a:defPPr>
          </a:lstStyle>
          <a:p xmlns:a="http://schemas.openxmlformats.org/drawingml/2006/main">
            <a:pPr algn="l">
              <a:buNone/>
              <a:defRPr sz="3300" b="1">
                <a:solidFill>
                  <a:srgbClr val="004D73"/>
                </a:solidFill>
                <a:latin typeface="Arial"/>
                <a:ea typeface="Arial"/>
                <a:cs typeface="Arial"/>
              </a:defRPr>
            </a:pPr>
            <a:r>
              <a:rPr sz="3300" b="1">
                <a:solidFill>
                  <a:srgbClr val="004D73"/>
                </a:solidFill>
                <a:latin typeface="Arial"/>
                <a:ea typeface="Arial"/>
                <a:cs typeface="Arial"/>
              </a:rPr>
              <a:t>Repository map: data and research</a:t>
            </a:r>
          </a:p>
        </p:txBody>
      </p:sp>
      <p:sp>
        <p:nvSpPr>
          <p:cNvPr id="3" name="SHPE CAPITAL    OCTOBER 13, 2026">
            <a:extLst xmlns:a="http://schemas.openxmlformats.org/drawingml/2006/main">
              <a:ext uri="{FF2B5EF4-FFF2-40B4-BE49-F238E27FC236}">
                <a16:creationId xmlns:a16="http://schemas.microsoft.com/office/drawing/2014/main" id="{372DFDAB-CE22-49DC-A580-DA17C2AC7A66}"/>
              </a:ext>
            </a:extLst>
          </p:cNvPr>
          <p:cNvSpPr>
            <a:spLocks xmlns:a="http://schemas.openxmlformats.org/drawingml/2006/main" noGrp="1"/>
          </p:cNvSpPr>
          <p:nvPr/>
        </p:nvSpPr>
        <p:spPr>
          <a:xfrm xmlns:a="http://schemas.openxmlformats.org/drawingml/2006/main">
            <a:off x="609600" y="6438900"/>
            <a:ext cx="771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SHPE CAPITAL    OCTOBER 13, 2026</a:t>
            </a:r>
          </a:p>
        </p:txBody>
      </p:sp>
      <p:sp>
        <p:nvSpPr>
          <p:cNvPr id="4" name="20–27 min">
            <a:extLst xmlns:a="http://schemas.openxmlformats.org/drawingml/2006/main">
              <a:ext uri="{FF2B5EF4-FFF2-40B4-BE49-F238E27FC236}">
                <a16:creationId xmlns:a16="http://schemas.microsoft.com/office/drawing/2014/main" id="{E1F110D1-7BC2-421C-B789-D813D0997E2B}"/>
              </a:ext>
            </a:extLst>
          </p:cNvPr>
          <p:cNvSpPr>
            <a:spLocks xmlns:a="http://schemas.openxmlformats.org/drawingml/2006/main" noGrp="1"/>
          </p:cNvSpPr>
          <p:nvPr/>
        </p:nvSpPr>
        <p:spPr>
          <a:xfrm xmlns:a="http://schemas.openxmlformats.org/drawingml/2006/main">
            <a:off x="9029700" y="643890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24:00-25:00</a:t>
            </a:r>
          </a:p>
        </p:txBody>
      </p:sp>
      <p:sp>
        <p:nvSpPr>
          <p:cNvPr id="5" name="14">
            <a:extLst xmlns:a="http://schemas.openxmlformats.org/drawingml/2006/main">
              <a:ext uri="{FF2B5EF4-FFF2-40B4-BE49-F238E27FC236}">
                <a16:creationId xmlns:a16="http://schemas.microsoft.com/office/drawing/2014/main" id="{F49DE1B1-C576-4577-AA6F-D76FDF21A98C}"/>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21</a:t>
            </a:r>
          </a:p>
        </p:txBody>
      </p:sp>
      <p:sp>
        <p:nvSpPr>
          <p:cNvPr id="9" name="Paths below are relative to backend/src/. Sta">
            <a:extLst xmlns:a="http://schemas.openxmlformats.org/drawingml/2006/main">
              <a:ext uri="{FF2B5EF4-FFF2-40B4-BE49-F238E27FC236}">
                <a16:creationId xmlns:a16="http://schemas.microsoft.com/office/drawing/2014/main" id="{BA9E7892-C9FC-497A-80BD-99F83B90FD48}"/>
              </a:ext>
            </a:extLst>
          </p:cNvPr>
          <p:cNvSpPr>
            <a:spLocks xmlns:a="http://schemas.openxmlformats.org/drawingml/2006/main" noGrp="1"/>
          </p:cNvSpPr>
          <p:nvPr/>
        </p:nvSpPr>
        <p:spPr>
          <a:xfrm xmlns:a="http://schemas.openxmlformats.org/drawingml/2006/main">
            <a:off x="609600" y="145732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556272"/>
                </a:solidFill>
                <a:latin typeface="Arial"/>
                <a:ea typeface="Arial"/>
                <a:cs typeface="Arial"/>
              </a:defRPr>
            </a:defPPr>
          </a:lstStyle>
          <a:p xmlns:a="http://schemas.openxmlformats.org/drawingml/2006/main">
            <a:pPr algn="l">
              <a:defRPr sz="1800" b="0">
                <a:solidFill>
                  <a:srgbClr val="556272"/>
                </a:solidFill>
                <a:latin typeface="Arial"/>
                <a:ea typeface="Arial"/>
                <a:cs typeface="Arial"/>
              </a:defRPr>
            </a:pPr>
            <a:r>
              <a:rPr sz="1800" b="0">
                <a:solidFill>
                  <a:srgbClr val="556272"/>
                </a:solidFill>
                <a:latin typeface="Arial"/>
                <a:ea typeface="Arial"/>
                <a:cs typeface="Arial"/>
              </a:rPr>
              <a:t>Paths below are relative to backend/src/. Start with the component that owns your question.</a:t>
            </a:r>
          </a:p>
        </p:txBody>
      </p:sp>
      <p:graphicFrame>
        <p:nvGraphicFramePr>
          <p:cNvPr id="10" name="">
            <a:extLst xmlns:a="http://schemas.openxmlformats.org/drawingml/2006/main">
              <a:ext uri="{FF2B5EF4-FFF2-40B4-BE49-F238E27FC236}">
                <a16:creationId xmlns:a16="http://schemas.microsoft.com/office/drawing/2014/main" id="{7C174490-3CA6-4DB1-879D-E820A458CEAE}"/>
              </a:ext>
            </a:extLst>
          </p:cNvPr>
          <p:cNvGraphicFramePr/>
          <p:nvPr/>
        </p:nvGraphicFramePr>
        <p:xfrm>
          <a:off xmlns:a="http://schemas.openxmlformats.org/drawingml/2006/main" x="609600" y="1895475"/>
          <a:ext xmlns:a="http://schemas.openxmlformats.org/drawingml/2006/main" cx="10972800" cy="3829050"/>
        </p:xfrm>
        <a:graphic xmlns:a="http://schemas.openxmlformats.org/drawingml/2006/main">
          <a:graphicData uri="http://schemas.openxmlformats.org/drawingml/2006/table">
            <a:tbl>
              <a:tblPr firstRow="1" bandRow="0"/>
              <a:tblGrid>
                <a:gridCol w="1790700"/>
                <a:gridCol w="4543425"/>
                <a:gridCol w="4638675"/>
              </a:tblGrid>
              <a:tr h="419100">
                <a:tc>
                  <a:txBody>
                    <a:bodyPr lIns="85725" tIns="85725" rIns="85725" bIns="85725">
                      <a:noAutofit/>
                    </a:bodyPr>
                    <a:lstStyle/>
                    <a:p>
                      <a:pPr algn="l"/>
                      <a:r>
                        <a:rPr sz="1725" b="1">
                          <a:solidFill>
                            <a:srgbClr val="FFFFFF"/>
                          </a:solidFill>
                          <a:latin typeface="Arial"/>
                          <a:ea typeface="Arial"/>
                          <a:cs typeface="Arial"/>
                        </a:rPr>
                        <a:t>Area</a:t>
                      </a:r>
                    </a:p>
                  </a:txBody>
                  <a:tcPr marL="85725" marR="85725" marT="19050" marB="19050" anchor="ctr">
                    <a:lnL w="6668">
                      <a:solidFill>
                        <a:srgbClr val="D9E0E7"/>
                      </a:solidFill>
                      <a:prstDash val="solid"/>
                    </a:lnL>
                    <a:lnR w="6668">
                      <a:solidFill>
                        <a:srgbClr val="D9E0E7"/>
                      </a:solidFill>
                      <a:prstDash val="solid"/>
                    </a:lnR>
                    <a:lnT w="6668">
                      <a:solidFill>
                        <a:srgbClr val="D9E0E7"/>
                      </a:solidFill>
                      <a:prstDash val="solid"/>
                    </a:lnT>
                    <a:lnB w="6668">
                      <a:solidFill>
                        <a:srgbClr val="D9E0E7"/>
                      </a:solidFill>
                      <a:prstDash val="solid"/>
                    </a:lnB>
                    <a:solidFill>
                      <a:srgbClr val="004D73"/>
                    </a:solidFill>
                  </a:tcPr>
                </a:tc>
                <a:tc>
                  <a:txBody>
                    <a:bodyPr lIns="85725" tIns="85725" rIns="85725" bIns="85725">
                      <a:noAutofit/>
                    </a:bodyPr>
                    <a:lstStyle/>
                    <a:p>
                      <a:pPr algn="l"/>
                      <a:r>
                        <a:rPr sz="1725" b="1">
                          <a:solidFill>
                            <a:srgbClr val="FFFFFF"/>
                          </a:solidFill>
                          <a:latin typeface="Arial"/>
                          <a:ea typeface="Arial"/>
                          <a:cs typeface="Arial"/>
                        </a:rPr>
                        <a:t>Location / example files</a:t>
                      </a:r>
                    </a:p>
                  </a:txBody>
                  <a:tcPr marL="85725" marR="85725" marT="19050" marB="19050" anchor="ctr">
                    <a:lnR w="6668">
                      <a:solidFill>
                        <a:srgbClr val="D9E0E7"/>
                      </a:solidFill>
                      <a:prstDash val="solid"/>
                    </a:lnR>
                    <a:lnT w="6668">
                      <a:solidFill>
                        <a:srgbClr val="D9E0E7"/>
                      </a:solidFill>
                      <a:prstDash val="solid"/>
                    </a:lnT>
                    <a:lnB w="6668">
                      <a:solidFill>
                        <a:srgbClr val="D9E0E7"/>
                      </a:solidFill>
                      <a:prstDash val="solid"/>
                    </a:lnB>
                    <a:solidFill>
                      <a:srgbClr val="004D73"/>
                    </a:solidFill>
                  </a:tcPr>
                </a:tc>
                <a:tc>
                  <a:txBody>
                    <a:bodyPr lIns="85725" tIns="85725" rIns="85725" bIns="85725">
                      <a:noAutofit/>
                    </a:bodyPr>
                    <a:lstStyle/>
                    <a:p>
                      <a:pPr algn="l"/>
                      <a:r>
                        <a:rPr sz="1725" b="1">
                          <a:solidFill>
                            <a:srgbClr val="FFFFFF"/>
                          </a:solidFill>
                          <a:latin typeface="Arial"/>
                          <a:ea typeface="Arial"/>
                          <a:cs typeface="Arial"/>
                        </a:rPr>
                        <a:t>Responsibility</a:t>
                      </a:r>
                    </a:p>
                  </a:txBody>
                  <a:tcPr marL="85725" marR="85725" marT="19050" marB="19050" anchor="ctr">
                    <a:lnR w="6668">
                      <a:solidFill>
                        <a:srgbClr val="D9E0E7"/>
                      </a:solidFill>
                      <a:prstDash val="solid"/>
                    </a:lnR>
                    <a:lnT w="6668">
                      <a:solidFill>
                        <a:srgbClr val="D9E0E7"/>
                      </a:solidFill>
                      <a:prstDash val="solid"/>
                    </a:lnT>
                    <a:lnB w="6668">
                      <a:solidFill>
                        <a:srgbClr val="D9E0E7"/>
                      </a:solidFill>
                      <a:prstDash val="solid"/>
                    </a:lnB>
                    <a:solidFill>
                      <a:srgbClr val="004D73"/>
                    </a:solidFill>
                  </a:tcPr>
                </a:tc>
              </a:tr>
              <a:tr h="681990">
                <a:tc>
                  <a:txBody>
                    <a:bodyPr lIns="85725" tIns="85725" rIns="85725" bIns="85725">
                      <a:noAutofit/>
                    </a:bodyPr>
                    <a:lstStyle/>
                    <a:p>
                      <a:pPr algn="l"/>
                      <a:r>
                        <a:rPr sz="1725" b="1">
                          <a:solidFill>
                            <a:srgbClr val="182C43"/>
                          </a:solidFill>
                          <a:latin typeface="Arial"/>
                          <a:ea typeface="Arial"/>
                          <a:cs typeface="Arial"/>
                        </a:rPr>
                        <a:t>Alpaca data</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725" b="0">
                          <a:solidFill>
                            <a:srgbClr val="182C43"/>
                          </a:solidFill>
                          <a:latin typeface="Arial"/>
                          <a:ea typeface="Arial"/>
                          <a:cs typeface="Arial"/>
                        </a:rPr>
                        <a:t>adapters/alpaca/marketData.ts</a:t>
                      </a:r>
                    </a:p>
                    <a:p>
                      <a:pPr algn="l"/>
                      <a:r>
                        <a:rPr sz="1725" b="0">
                          <a:solidFill>
                            <a:srgbClr val="182C43"/>
                          </a:solidFill>
                          <a:latin typeface="Arial"/>
                          <a:ea typeface="Arial"/>
                          <a:cs typeface="Arial"/>
                        </a:rPr>
                        <a:t>adapters/alpaca/normalizer.ts</a:t>
                      </a:r>
                    </a:p>
                  </a:txBody>
                  <a:tcPr marL="85725" marR="85725" marT="19050" marB="19050" anchor="ctr">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725" b="0">
                          <a:solidFill>
                            <a:srgbClr val="182C43"/>
                          </a:solidFill>
                          <a:latin typeface="Arial"/>
                          <a:ea typeface="Arial"/>
                          <a:cs typeface="Arial"/>
                        </a:rPr>
                        <a:t>Connect to the feed and translate quotes, trades and bars into shared types</a:t>
                      </a:r>
                    </a:p>
                  </a:txBody>
                  <a:tcPr marL="85725" marR="85725" marT="19050" marB="19050" anchor="ctr">
                    <a:lnR w="6668">
                      <a:solidFill>
                        <a:srgbClr val="D9E0E7"/>
                      </a:solidFill>
                      <a:prstDash val="solid"/>
                    </a:lnR>
                    <a:lnB w="6668">
                      <a:solidFill>
                        <a:srgbClr val="D9E0E7"/>
                      </a:solidFill>
                      <a:prstDash val="solid"/>
                    </a:lnB>
                    <a:solidFill>
                      <a:srgbClr val="FFFFFF"/>
                    </a:solidFill>
                  </a:tcPr>
                </a:tc>
              </a:tr>
              <a:tr h="681990">
                <a:tc>
                  <a:txBody>
                    <a:bodyPr lIns="85725" tIns="85725" rIns="85725" bIns="85725">
                      <a:noAutofit/>
                    </a:bodyPr>
                    <a:lstStyle/>
                    <a:p>
                      <a:pPr algn="l"/>
                      <a:r>
                        <a:rPr sz="1725" b="1">
                          <a:solidFill>
                            <a:srgbClr val="182C43"/>
                          </a:solidFill>
                          <a:latin typeface="Arial"/>
                          <a:ea typeface="Arial"/>
                          <a:cs typeface="Arial"/>
                        </a:rPr>
                        <a:t>Strategy research</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1F4F7"/>
                    </a:solidFill>
                  </a:tcPr>
                </a:tc>
                <a:tc>
                  <a:txBody>
                    <a:bodyPr lIns="85725" tIns="85725" rIns="85725" bIns="85725">
                      <a:noAutofit/>
                    </a:bodyPr>
                    <a:lstStyle/>
                    <a:p>
                      <a:pPr algn="l"/>
                      <a:r>
                        <a:rPr sz="1725" b="0">
                          <a:solidFill>
                            <a:srgbClr val="182C43"/>
                          </a:solidFill>
                          <a:latin typeface="Arial"/>
                          <a:ea typeface="Arial"/>
                          <a:cs typeface="Arial"/>
                        </a:rPr>
                        <a:t>strategies/base/strategy.ts</a:t>
                      </a:r>
                    </a:p>
                    <a:p>
                      <a:pPr algn="l"/>
                      <a:r>
                        <a:rPr sz="1725" b="0">
                          <a:solidFill>
                            <a:srgbClr val="182C43"/>
                          </a:solidFill>
                          <a:latin typeface="Arial"/>
                          <a:ea typeface="Arial"/>
                          <a:cs typeface="Arial"/>
                        </a:rPr>
                        <a:t>services/indicators/</a:t>
                      </a:r>
                    </a:p>
                  </a:txBody>
                  <a:tcPr marL="85725" marR="85725" marT="19050" marB="19050" anchor="ctr">
                    <a:lnR w="6668">
                      <a:solidFill>
                        <a:srgbClr val="D9E0E7"/>
                      </a:solidFill>
                      <a:prstDash val="solid"/>
                    </a:lnR>
                    <a:lnB w="6668">
                      <a:solidFill>
                        <a:srgbClr val="D9E0E7"/>
                      </a:solidFill>
                      <a:prstDash val="solid"/>
                    </a:lnB>
                    <a:solidFill>
                      <a:srgbClr val="F1F4F7"/>
                    </a:solidFill>
                  </a:tcPr>
                </a:tc>
                <a:tc>
                  <a:txBody>
                    <a:bodyPr lIns="85725" tIns="85725" rIns="85725" bIns="85725">
                      <a:noAutofit/>
                    </a:bodyPr>
                    <a:lstStyle/>
                    <a:p>
                      <a:pPr algn="l"/>
                      <a:r>
                        <a:rPr sz="1725" b="0">
                          <a:solidFill>
                            <a:srgbClr val="182C43"/>
                          </a:solidFill>
                          <a:latin typeface="Arial"/>
                          <a:ea typeface="Arial"/>
                          <a:cs typeface="Arial"/>
                        </a:rPr>
                        <a:t>Strategy contract, rolling indicators, returns, volatility and regression helpers</a:t>
                      </a:r>
                    </a:p>
                  </a:txBody>
                  <a:tcPr marL="85725" marR="85725" marT="19050" marB="19050" anchor="ctr">
                    <a:lnR w="6668">
                      <a:solidFill>
                        <a:srgbClr val="D9E0E7"/>
                      </a:solidFill>
                      <a:prstDash val="solid"/>
                    </a:lnR>
                    <a:lnB w="6668">
                      <a:solidFill>
                        <a:srgbClr val="D9E0E7"/>
                      </a:solidFill>
                      <a:prstDash val="solid"/>
                    </a:lnB>
                    <a:solidFill>
                      <a:srgbClr val="F1F4F7"/>
                    </a:solidFill>
                  </a:tcPr>
                </a:tc>
              </a:tr>
              <a:tr h="681990">
                <a:tc>
                  <a:txBody>
                    <a:bodyPr lIns="85725" tIns="85725" rIns="85725" bIns="85725">
                      <a:noAutofit/>
                    </a:bodyPr>
                    <a:lstStyle/>
                    <a:p>
                      <a:pPr algn="l"/>
                      <a:r>
                        <a:rPr sz="1725" b="1">
                          <a:solidFill>
                            <a:srgbClr val="182C43"/>
                          </a:solidFill>
                          <a:latin typeface="Arial"/>
                          <a:ea typeface="Arial"/>
                          <a:cs typeface="Arial"/>
                        </a:rPr>
                        <a:t>Historical backtest</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725" b="0">
                          <a:solidFill>
                            <a:srgbClr val="182C43"/>
                          </a:solidFill>
                          <a:latin typeface="Arial"/>
                          <a:ea typeface="Arial"/>
                          <a:cs typeface="Arial"/>
                        </a:rPr>
                        <a:t>core/backtest/backtestEngine.ts</a:t>
                      </a:r>
                    </a:p>
                    <a:p>
                      <a:pPr algn="l"/>
                      <a:r>
                        <a:rPr sz="1725" b="0">
                          <a:solidFill>
                            <a:srgbClr val="182C43"/>
                          </a:solidFill>
                          <a:latin typeface="Arial"/>
                          <a:ea typeface="Arial"/>
                          <a:cs typeface="Arial"/>
                        </a:rPr>
                        <a:t>core/backtest/strategyFactory.ts</a:t>
                      </a:r>
                    </a:p>
                  </a:txBody>
                  <a:tcPr marL="85725" marR="85725" marT="19050" marB="19050" anchor="ctr">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725" b="0">
                          <a:solidFill>
                            <a:srgbClr val="182C43"/>
                          </a:solidFill>
                          <a:latin typeface="Arial"/>
                          <a:ea typeface="Arial"/>
                          <a:cs typeface="Arial"/>
                        </a:rPr>
                        <a:t>Replay historical decisions, build supported strategies and model results</a:t>
                      </a:r>
                    </a:p>
                  </a:txBody>
                  <a:tcPr marL="85725" marR="85725" marT="19050" marB="19050" anchor="ctr">
                    <a:lnR w="6668">
                      <a:solidFill>
                        <a:srgbClr val="D9E0E7"/>
                      </a:solidFill>
                      <a:prstDash val="solid"/>
                    </a:lnR>
                    <a:lnB w="6668">
                      <a:solidFill>
                        <a:srgbClr val="D9E0E7"/>
                      </a:solidFill>
                      <a:prstDash val="solid"/>
                    </a:lnB>
                    <a:solidFill>
                      <a:srgbClr val="FFFFFF"/>
                    </a:solidFill>
                  </a:tcPr>
                </a:tc>
              </a:tr>
              <a:tr h="681990">
                <a:tc>
                  <a:txBody>
                    <a:bodyPr lIns="85725" tIns="85725" rIns="85725" bIns="85725">
                      <a:noAutofit/>
                    </a:bodyPr>
                    <a:lstStyle/>
                    <a:p>
                      <a:pPr algn="l"/>
                      <a:r>
                        <a:rPr sz="1725" b="1">
                          <a:solidFill>
                            <a:srgbClr val="182C43"/>
                          </a:solidFill>
                          <a:latin typeface="Arial"/>
                          <a:ea typeface="Arial"/>
                          <a:cs typeface="Arial"/>
                        </a:rPr>
                        <a:t>Replay and debugging</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1F4F7"/>
                    </a:solidFill>
                  </a:tcPr>
                </a:tc>
                <a:tc>
                  <a:txBody>
                    <a:bodyPr lIns="85725" tIns="85725" rIns="85725" bIns="85725">
                      <a:noAutofit/>
                    </a:bodyPr>
                    <a:lstStyle/>
                    <a:p>
                      <a:pPr algn="l"/>
                      <a:r>
                        <a:rPr sz="1725" b="0">
                          <a:solidFill>
                            <a:srgbClr val="182C43"/>
                          </a:solidFill>
                          <a:latin typeface="Arial"/>
                          <a:ea typeface="Arial"/>
                          <a:cs typeface="Arial"/>
                        </a:rPr>
                        <a:t>core/replay/replayEngine.ts</a:t>
                      </a:r>
                    </a:p>
                    <a:p>
                      <a:pPr algn="l"/>
                      <a:r>
                        <a:rPr sz="1725" b="0">
                          <a:solidFill>
                            <a:srgbClr val="182C43"/>
                          </a:solidFill>
                          <a:latin typeface="Arial"/>
                          <a:ea typeface="Arial"/>
                          <a:cs typeface="Arial"/>
                        </a:rPr>
                        <a:t>adapters/replay/replayBarFeed.ts</a:t>
                      </a:r>
                    </a:p>
                  </a:txBody>
                  <a:tcPr marL="85725" marR="85725" marT="19050" marB="19050" anchor="ctr">
                    <a:lnR w="6668">
                      <a:solidFill>
                        <a:srgbClr val="D9E0E7"/>
                      </a:solidFill>
                      <a:prstDash val="solid"/>
                    </a:lnR>
                    <a:lnB w="6668">
                      <a:solidFill>
                        <a:srgbClr val="D9E0E7"/>
                      </a:solidFill>
                      <a:prstDash val="solid"/>
                    </a:lnB>
                    <a:solidFill>
                      <a:srgbClr val="F1F4F7"/>
                    </a:solidFill>
                  </a:tcPr>
                </a:tc>
                <a:tc>
                  <a:txBody>
                    <a:bodyPr lIns="85725" tIns="85725" rIns="85725" bIns="85725">
                      <a:noAutofit/>
                    </a:bodyPr>
                    <a:lstStyle/>
                    <a:p>
                      <a:pPr algn="l"/>
                      <a:r>
                        <a:rPr sz="1725" b="0">
                          <a:solidFill>
                            <a:srgbClr val="182C43"/>
                          </a:solidFill>
                          <a:latin typeface="Arial"/>
                          <a:ea typeface="Arial"/>
                          <a:cs typeface="Arial"/>
                        </a:rPr>
                        <a:t>Inspect supplied events or replay cached bars with controlled timing</a:t>
                      </a:r>
                    </a:p>
                  </a:txBody>
                  <a:tcPr marL="85725" marR="85725" marT="19050" marB="19050" anchor="ctr">
                    <a:lnR w="6668">
                      <a:solidFill>
                        <a:srgbClr val="D9E0E7"/>
                      </a:solidFill>
                      <a:prstDash val="solid"/>
                    </a:lnR>
                    <a:lnB w="6668">
                      <a:solidFill>
                        <a:srgbClr val="D9E0E7"/>
                      </a:solidFill>
                      <a:prstDash val="solid"/>
                    </a:lnB>
                    <a:solidFill>
                      <a:srgbClr val="F1F4F7"/>
                    </a:solidFill>
                  </a:tcPr>
                </a:tc>
              </a:tr>
              <a:tr h="681990">
                <a:tc>
                  <a:txBody>
                    <a:bodyPr lIns="85725" tIns="85725" rIns="85725" bIns="85725">
                      <a:noAutofit/>
                    </a:bodyPr>
                    <a:lstStyle/>
                    <a:p>
                      <a:pPr algn="l"/>
                      <a:r>
                        <a:rPr sz="1725" b="1">
                          <a:solidFill>
                            <a:srgbClr val="182C43"/>
                          </a:solidFill>
                          <a:latin typeface="Arial"/>
                          <a:ea typeface="Arial"/>
                          <a:cs typeface="Arial"/>
                        </a:rPr>
                        <a:t>Performance analytics</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725" b="0">
                          <a:solidFill>
                            <a:srgbClr val="182C43"/>
                          </a:solidFill>
                          <a:latin typeface="Arial"/>
                          <a:ea typeface="Arial"/>
                          <a:cs typeface="Arial"/>
                        </a:rPr>
                        <a:t>core/analytics/</a:t>
                      </a:r>
                    </a:p>
                    <a:p>
                      <a:pPr algn="l"/>
                      <a:r>
                        <a:rPr sz="1725" b="0">
                          <a:solidFill>
                            <a:srgbClr val="182C43"/>
                          </a:solidFill>
                          <a:latin typeface="Arial"/>
                          <a:ea typeface="Arial"/>
                          <a:cs typeface="Arial"/>
                        </a:rPr>
                        <a:t>core/backtest/performanceAnalytics.ts</a:t>
                      </a:r>
                    </a:p>
                  </a:txBody>
                  <a:tcPr marL="85725" marR="85725" marT="19050" marB="19050" anchor="ctr">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725" b="0">
                          <a:solidFill>
                            <a:srgbClr val="182C43"/>
                          </a:solidFill>
                          <a:latin typeface="Arial"/>
                          <a:ea typeface="Arial"/>
                          <a:cs typeface="Arial"/>
                        </a:rPr>
                        <a:t>Build run metrics, trade ledgers, benchmark comparisons and summaries</a:t>
                      </a:r>
                    </a:p>
                  </a:txBody>
                  <a:tcPr marL="85725" marR="85725" marT="19050" marB="19050" anchor="ctr">
                    <a:lnR w="6668">
                      <a:solidFill>
                        <a:srgbClr val="D9E0E7"/>
                      </a:solidFill>
                      <a:prstDash val="solid"/>
                    </a:lnR>
                    <a:lnB w="6668">
                      <a:solidFill>
                        <a:srgbClr val="D9E0E7"/>
                      </a:solidFill>
                      <a:prstDash val="solid"/>
                    </a:lnB>
                    <a:solidFill>
                      <a:srgbClr val="FFFFFF"/>
                    </a:solidFill>
                  </a:tcPr>
                </a:tc>
              </a:tr>
            </a:tbl>
          </a:graphicData>
        </a:graphic>
      </p:graphicFrame>
      <p:sp>
        <p:nvSpPr>
          <p:cNvPr id="11" name="">
            <a:extLst xmlns:a="http://schemas.openxmlformats.org/drawingml/2006/main">
              <a:ext uri="{FF2B5EF4-FFF2-40B4-BE49-F238E27FC236}">
                <a16:creationId xmlns:a16="http://schemas.microsoft.com/office/drawing/2014/main" id="{955B6BAC-157B-4306-8A6E-19AF41C3CCF6}"/>
              </a:ext>
            </a:extLst>
          </p:cNvPr>
          <p:cNvSpPr>
            <a:spLocks xmlns:a="http://schemas.openxmlformats.org/drawingml/2006/main" noGrp="1"/>
          </p:cNvSpPr>
          <p:nvPr/>
        </p:nvSpPr>
        <p:spPr>
          <a:xfrm xmlns:a="http://schemas.openxmlformats.org/drawingml/2006/main">
            <a:off x="609600" y="59150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182C43"/>
                </a:solidFill>
                <a:latin typeface="Arial"/>
                <a:ea typeface="Arial"/>
                <a:cs typeface="Arial"/>
              </a:defRPr>
            </a:defPPr>
          </a:lstStyle>
          <a:p xmlns:a="http://schemas.openxmlformats.org/drawingml/2006/main">
            <a:pPr marL="266700" indent="-152400" algn="l">
              <a:spcAft>
                <a:spcPts val="0"/>
              </a:spcAft>
              <a:buChar char="•"/>
              <a:defRPr sz="1725" b="0">
                <a:solidFill>
                  <a:srgbClr val="182C43"/>
                </a:solidFill>
                <a:latin typeface="Arial"/>
                <a:ea typeface="Arial"/>
                <a:cs typeface="Arial"/>
              </a:defRPr>
            </a:pPr>
            <a:r>
              <a:rPr sz="1725" b="1">
                <a:solidFill>
                  <a:srgbClr val="182C43"/>
                </a:solidFill>
                <a:latin typeface="Arial"/>
                <a:ea typeface="Arial"/>
                <a:cs typeface="Arial"/>
              </a:rPr>
              <a:t>Integration gap:</a:t>
            </a:r>
            <a:r>
              <a:rPr sz="1725">
                <a:solidFill>
                  <a:srgbClr val="182C43"/>
                </a:solidFill>
                <a:latin typeface="Arial"/>
                <a:ea typeface="Arial"/>
                <a:cs typeface="Arial"/>
              </a:rPr>
              <a:t> adding a strategy folder does not automatically add historical backtest support.</a:t>
            </a:r>
          </a:p>
        </p:txBody>
      </p:sp>
    </p:spTree>
    <p:extLst>
      <p:ext uri="{BB962C8B-B14F-4D97-AF65-F5344CB8AC3E}">
        <p14:creationId xmlns:p14="http://schemas.microsoft.com/office/powerpoint/2010/main" val="968500029"/>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CODEBASE OVERVIEW">
            <a:extLst xmlns:a="http://schemas.openxmlformats.org/drawingml/2006/main">
              <a:ext uri="{FF2B5EF4-FFF2-40B4-BE49-F238E27FC236}">
                <a16:creationId xmlns:a16="http://schemas.microsoft.com/office/drawing/2014/main" id="{D852DC6A-1E37-4A15-BB09-C28505011B8B}"/>
              </a:ext>
            </a:extLst>
          </p:cNvPr>
          <p:cNvSpPr>
            <a:spLocks xmlns:a="http://schemas.openxmlformats.org/drawingml/2006/main" noGrp="1"/>
          </p:cNvSpPr>
          <p:nvPr/>
        </p:nvSpPr>
        <p:spPr>
          <a:xfrm xmlns:a="http://schemas.openxmlformats.org/drawingml/2006/main">
            <a:off x="609600" y="285750"/>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FF5400"/>
                </a:solidFill>
                <a:latin typeface="Arial"/>
                <a:ea typeface="Arial"/>
                <a:cs typeface="Arial"/>
              </a:defRPr>
            </a:defPPr>
          </a:lstStyle>
          <a:p xmlns:a="http://schemas.openxmlformats.org/drawingml/2006/main">
            <a:pPr algn="l">
              <a:defRPr sz="1350" b="1">
                <a:solidFill>
                  <a:srgbClr val="FF5400"/>
                </a:solidFill>
                <a:latin typeface="Arial"/>
                <a:ea typeface="Arial"/>
                <a:cs typeface="Arial"/>
              </a:defRPr>
            </a:pPr>
            <a:r>
              <a:rPr sz="1350" b="1">
                <a:solidFill>
                  <a:srgbClr val="FF5400"/>
                </a:solidFill>
                <a:latin typeface="Arial"/>
                <a:ea typeface="Arial"/>
                <a:cs typeface="Arial"/>
              </a:rPr>
              <a:t>CODEBASE OVERVIEW</a:t>
            </a:r>
          </a:p>
        </p:txBody>
      </p:sp>
      <p:sp>
        <p:nvSpPr>
          <p:cNvPr id="2" name="Slide title">
            <a:extLst xmlns:a="http://schemas.openxmlformats.org/drawingml/2006/main">
              <a:ext uri="{FF2B5EF4-FFF2-40B4-BE49-F238E27FC236}">
                <a16:creationId xmlns:a16="http://schemas.microsoft.com/office/drawing/2014/main" id="{B87B6875-9FCB-47C6-909B-924CFE55B4D5}"/>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004D73"/>
                </a:solidFill>
                <a:latin typeface="Arial"/>
                <a:ea typeface="Arial"/>
                <a:cs typeface="Arial"/>
              </a:defRPr>
            </a:defPPr>
          </a:lstStyle>
          <a:p xmlns:a="http://schemas.openxmlformats.org/drawingml/2006/main">
            <a:pPr algn="l">
              <a:defRPr sz="3300" b="1">
                <a:solidFill>
                  <a:srgbClr val="004D73"/>
                </a:solidFill>
                <a:latin typeface="Arial"/>
                <a:ea typeface="Arial"/>
                <a:cs typeface="Arial"/>
              </a:defRPr>
            </a:pPr>
            <a:r>
              <a:rPr sz="3300" b="1">
                <a:solidFill>
                  <a:srgbClr val="004D73"/>
                </a:solidFill>
                <a:latin typeface="Arial"/>
                <a:ea typeface="Arial"/>
                <a:cs typeface="Arial"/>
              </a:rPr>
              <a:t>Repository map: paper trading and portfolio</a:t>
            </a:r>
          </a:p>
        </p:txBody>
      </p:sp>
      <p:sp>
        <p:nvSpPr>
          <p:cNvPr id="3" name="SHPE CAPITAL    OCTOBER 13, 2026">
            <a:extLst xmlns:a="http://schemas.openxmlformats.org/drawingml/2006/main">
              <a:ext uri="{FF2B5EF4-FFF2-40B4-BE49-F238E27FC236}">
                <a16:creationId xmlns:a16="http://schemas.microsoft.com/office/drawing/2014/main" id="{BC7D2C88-2415-4E6A-BEF9-0ED8FAEEFF41}"/>
              </a:ext>
            </a:extLst>
          </p:cNvPr>
          <p:cNvSpPr>
            <a:spLocks xmlns:a="http://schemas.openxmlformats.org/drawingml/2006/main" noGrp="1"/>
          </p:cNvSpPr>
          <p:nvPr/>
        </p:nvSpPr>
        <p:spPr>
          <a:xfrm xmlns:a="http://schemas.openxmlformats.org/drawingml/2006/main">
            <a:off x="609600" y="6438900"/>
            <a:ext cx="771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defRPr sz="1200" b="0">
                <a:solidFill>
                  <a:srgbClr val="556272"/>
                </a:solidFill>
                <a:latin typeface="Arial"/>
                <a:ea typeface="Arial"/>
                <a:cs typeface="Arial"/>
              </a:defRPr>
            </a:pPr>
            <a:r>
              <a:rPr sz="1200" b="0">
                <a:solidFill>
                  <a:srgbClr val="556272"/>
                </a:solidFill>
                <a:latin typeface="Arial"/>
                <a:ea typeface="Arial"/>
                <a:cs typeface="Arial"/>
              </a:rPr>
              <a:t>SHPE CAPITAL    OCTOBER 13, 2026</a:t>
            </a:r>
          </a:p>
        </p:txBody>
      </p:sp>
      <p:sp>
        <p:nvSpPr>
          <p:cNvPr id="4" name="25:00-26:00">
            <a:extLst xmlns:a="http://schemas.openxmlformats.org/drawingml/2006/main">
              <a:ext uri="{FF2B5EF4-FFF2-40B4-BE49-F238E27FC236}">
                <a16:creationId xmlns:a16="http://schemas.microsoft.com/office/drawing/2014/main" id="{EB0D10ED-FEBD-4C63-BF9F-03F8670B2B8E}"/>
              </a:ext>
            </a:extLst>
          </p:cNvPr>
          <p:cNvSpPr>
            <a:spLocks xmlns:a="http://schemas.openxmlformats.org/drawingml/2006/main" noGrp="1"/>
          </p:cNvSpPr>
          <p:nvPr/>
        </p:nvSpPr>
        <p:spPr>
          <a:xfrm xmlns:a="http://schemas.openxmlformats.org/drawingml/2006/main">
            <a:off x="9029700" y="643890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defRPr sz="1200" b="0">
                <a:solidFill>
                  <a:srgbClr val="556272"/>
                </a:solidFill>
                <a:latin typeface="Arial"/>
                <a:ea typeface="Arial"/>
                <a:cs typeface="Arial"/>
              </a:defRPr>
            </a:pPr>
            <a:r>
              <a:rPr sz="1200" b="0">
                <a:solidFill>
                  <a:srgbClr val="556272"/>
                </a:solidFill>
                <a:latin typeface="Arial"/>
                <a:ea typeface="Arial"/>
                <a:cs typeface="Arial"/>
              </a:rPr>
              <a:t>25:00-26:00</a:t>
            </a:r>
          </a:p>
        </p:txBody>
      </p:sp>
      <p:sp>
        <p:nvSpPr>
          <p:cNvPr id="5" name="0">
            <a:extLst xmlns:a="http://schemas.openxmlformats.org/drawingml/2006/main">
              <a:ext uri="{FF2B5EF4-FFF2-40B4-BE49-F238E27FC236}">
                <a16:creationId xmlns:a16="http://schemas.microsoft.com/office/drawing/2014/main" id="{BBD83E24-BB5B-4D16-91D5-D413146DD118}"/>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defRPr sz="1200" b="0">
                <a:solidFill>
                  <a:srgbClr val="556272"/>
                </a:solidFill>
                <a:latin typeface="Arial"/>
                <a:ea typeface="Arial"/>
                <a:cs typeface="Arial"/>
              </a:defRPr>
            </a:pPr>
            <a:r>
              <a:rPr sz="1200" b="0">
                <a:solidFill>
                  <a:srgbClr val="556272"/>
                </a:solidFill>
                <a:latin typeface="Arial"/>
                <a:ea typeface="Arial"/>
                <a:cs typeface="Arial"/>
              </a:rPr>
              <a:t>22</a:t>
            </a:r>
          </a:p>
        </p:txBody>
      </p:sp>
      <p:sp>
        <p:nvSpPr>
          <p:cNvPr id="6" name="Backend paths are relative to backend/src/. F">
            <a:extLst xmlns:a="http://schemas.openxmlformats.org/drawingml/2006/main">
              <a:ext uri="{FF2B5EF4-FFF2-40B4-BE49-F238E27FC236}">
                <a16:creationId xmlns:a16="http://schemas.microsoft.com/office/drawing/2014/main" id="{8F5739BA-816D-4CEA-8C12-C3D83B60DF95}"/>
              </a:ext>
            </a:extLst>
          </p:cNvPr>
          <p:cNvSpPr>
            <a:spLocks xmlns:a="http://schemas.openxmlformats.org/drawingml/2006/main" noGrp="1"/>
          </p:cNvSpPr>
          <p:nvPr/>
        </p:nvSpPr>
        <p:spPr>
          <a:xfrm xmlns:a="http://schemas.openxmlformats.org/drawingml/2006/main">
            <a:off x="609600" y="145732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556272"/>
                </a:solidFill>
                <a:latin typeface="Arial"/>
                <a:ea typeface="Arial"/>
                <a:cs typeface="Arial"/>
              </a:defRPr>
            </a:defPPr>
          </a:lstStyle>
          <a:p xmlns:a="http://schemas.openxmlformats.org/drawingml/2006/main">
            <a:pPr algn="l">
              <a:defRPr sz="1800" b="0">
                <a:solidFill>
                  <a:srgbClr val="556272"/>
                </a:solidFill>
                <a:latin typeface="Arial"/>
                <a:ea typeface="Arial"/>
                <a:cs typeface="Arial"/>
              </a:defRPr>
            </a:pPr>
            <a:r>
              <a:rPr sz="1800" b="0">
                <a:solidFill>
                  <a:srgbClr val="556272"/>
                </a:solidFill>
                <a:latin typeface="Arial"/>
                <a:ea typeface="Arial"/>
                <a:cs typeface="Arial"/>
              </a:rPr>
              <a:t>Backend paths are relative to backend/src/. Frontend and database paths start at the repo root.</a:t>
            </a:r>
          </a:p>
        </p:txBody>
      </p:sp>
      <p:graphicFrame>
        <p:nvGraphicFramePr>
          <p:cNvPr id="7" name="">
            <a:extLst xmlns:a="http://schemas.openxmlformats.org/drawingml/2006/main">
              <a:ext uri="{FF2B5EF4-FFF2-40B4-BE49-F238E27FC236}">
                <a16:creationId xmlns:a16="http://schemas.microsoft.com/office/drawing/2014/main" id="{276A654F-9A6D-4EEE-A2E6-16C597461C18}"/>
              </a:ext>
            </a:extLst>
          </p:cNvPr>
          <p:cNvGraphicFramePr/>
          <p:nvPr/>
        </p:nvGraphicFramePr>
        <p:xfrm>
          <a:off xmlns:a="http://schemas.openxmlformats.org/drawingml/2006/main" x="609600" y="1895475"/>
          <a:ext xmlns:a="http://schemas.openxmlformats.org/drawingml/2006/main" cx="10972800" cy="3990975"/>
        </p:xfrm>
        <a:graphic xmlns:a="http://schemas.openxmlformats.org/drawingml/2006/main">
          <a:graphicData uri="http://schemas.openxmlformats.org/drawingml/2006/table">
            <a:tbl>
              <a:tblPr firstRow="1" bandRow="0"/>
              <a:tblGrid>
                <a:gridCol w="1790700"/>
                <a:gridCol w="4543425"/>
                <a:gridCol w="4638675"/>
              </a:tblGrid>
              <a:tr h="419100">
                <a:tc>
                  <a:txBody>
                    <a:bodyPr lIns="85725" tIns="85725" rIns="85725" bIns="85725">
                      <a:noAutofit/>
                    </a:bodyPr>
                    <a:lstStyle/>
                    <a:p>
                      <a:pPr algn="l"/>
                      <a:r>
                        <a:rPr sz="1688" b="1">
                          <a:solidFill>
                            <a:srgbClr val="FFFFFF"/>
                          </a:solidFill>
                          <a:latin typeface="Arial"/>
                          <a:ea typeface="Arial"/>
                          <a:cs typeface="Arial"/>
                        </a:rPr>
                        <a:t>Area</a:t>
                      </a:r>
                    </a:p>
                  </a:txBody>
                  <a:tcPr marL="85725" marR="85725" marT="19050" marB="19050" anchor="ctr">
                    <a:lnL w="6668">
                      <a:solidFill>
                        <a:srgbClr val="D9E0E7"/>
                      </a:solidFill>
                      <a:prstDash val="solid"/>
                    </a:lnL>
                    <a:lnR w="6668">
                      <a:solidFill>
                        <a:srgbClr val="D9E0E7"/>
                      </a:solidFill>
                      <a:prstDash val="solid"/>
                    </a:lnR>
                    <a:lnT w="6668">
                      <a:solidFill>
                        <a:srgbClr val="D9E0E7"/>
                      </a:solidFill>
                      <a:prstDash val="solid"/>
                    </a:lnT>
                    <a:lnB w="6668">
                      <a:solidFill>
                        <a:srgbClr val="D9E0E7"/>
                      </a:solidFill>
                      <a:prstDash val="solid"/>
                    </a:lnB>
                    <a:solidFill>
                      <a:srgbClr val="004D73"/>
                    </a:solidFill>
                  </a:tcPr>
                </a:tc>
                <a:tc>
                  <a:txBody>
                    <a:bodyPr lIns="85725" tIns="85725" rIns="85725" bIns="85725">
                      <a:noAutofit/>
                    </a:bodyPr>
                    <a:lstStyle/>
                    <a:p>
                      <a:pPr algn="l"/>
                      <a:r>
                        <a:rPr sz="1688" b="1">
                          <a:solidFill>
                            <a:srgbClr val="FFFFFF"/>
                          </a:solidFill>
                          <a:latin typeface="Arial"/>
                          <a:ea typeface="Arial"/>
                          <a:cs typeface="Arial"/>
                        </a:rPr>
                        <a:t>Location / example files</a:t>
                      </a:r>
                    </a:p>
                  </a:txBody>
                  <a:tcPr marL="85725" marR="85725" marT="19050" marB="19050" anchor="ctr">
                    <a:lnR w="6668">
                      <a:solidFill>
                        <a:srgbClr val="D9E0E7"/>
                      </a:solidFill>
                      <a:prstDash val="solid"/>
                    </a:lnR>
                    <a:lnT w="6668">
                      <a:solidFill>
                        <a:srgbClr val="D9E0E7"/>
                      </a:solidFill>
                      <a:prstDash val="solid"/>
                    </a:lnT>
                    <a:lnB w="6668">
                      <a:solidFill>
                        <a:srgbClr val="D9E0E7"/>
                      </a:solidFill>
                      <a:prstDash val="solid"/>
                    </a:lnB>
                    <a:solidFill>
                      <a:srgbClr val="004D73"/>
                    </a:solidFill>
                  </a:tcPr>
                </a:tc>
                <a:tc>
                  <a:txBody>
                    <a:bodyPr lIns="85725" tIns="85725" rIns="85725" bIns="85725">
                      <a:noAutofit/>
                    </a:bodyPr>
                    <a:lstStyle/>
                    <a:p>
                      <a:pPr algn="l"/>
                      <a:r>
                        <a:rPr sz="1688" b="1">
                          <a:solidFill>
                            <a:srgbClr val="FFFFFF"/>
                          </a:solidFill>
                          <a:latin typeface="Arial"/>
                          <a:ea typeface="Arial"/>
                          <a:cs typeface="Arial"/>
                        </a:rPr>
                        <a:t>Responsibility</a:t>
                      </a:r>
                    </a:p>
                  </a:txBody>
                  <a:tcPr marL="85725" marR="85725" marT="19050" marB="19050" anchor="ctr">
                    <a:lnR w="6668">
                      <a:solidFill>
                        <a:srgbClr val="D9E0E7"/>
                      </a:solidFill>
                      <a:prstDash val="solid"/>
                    </a:lnR>
                    <a:lnT w="6668">
                      <a:solidFill>
                        <a:srgbClr val="D9E0E7"/>
                      </a:solidFill>
                      <a:prstDash val="solid"/>
                    </a:lnT>
                    <a:lnB w="6668">
                      <a:solidFill>
                        <a:srgbClr val="D9E0E7"/>
                      </a:solidFill>
                      <a:prstDash val="solid"/>
                    </a:lnB>
                    <a:solidFill>
                      <a:srgbClr val="004D73"/>
                    </a:solidFill>
                  </a:tcPr>
                </a:tc>
              </a:tr>
              <a:tr h="595313">
                <a:tc>
                  <a:txBody>
                    <a:bodyPr lIns="85725" tIns="85725" rIns="85725" bIns="85725">
                      <a:noAutofit/>
                    </a:bodyPr>
                    <a:lstStyle/>
                    <a:p>
                      <a:pPr algn="l"/>
                      <a:r>
                        <a:rPr sz="1688" b="1">
                          <a:solidFill>
                            <a:srgbClr val="182C43"/>
                          </a:solidFill>
                          <a:latin typeface="Arial"/>
                          <a:ea typeface="Arial"/>
                          <a:cs typeface="Arial"/>
                        </a:rPr>
                        <a:t>Portfolio / state</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688" b="0">
                          <a:solidFill>
                            <a:srgbClr val="182C43"/>
                          </a:solidFill>
                          <a:latin typeface="Arial"/>
                          <a:ea typeface="Arial"/>
                          <a:cs typeface="Arial"/>
                        </a:rPr>
                        <a:t>core/state/portfolioState.ts</a:t>
                      </a:r>
                    </a:p>
                    <a:p>
                      <a:pPr algn="l"/>
                      <a:r>
                        <a:rPr sz="1688" b="0">
                          <a:solidFill>
                            <a:srgbClr val="182C43"/>
                          </a:solidFill>
                          <a:latin typeface="Arial"/>
                          <a:ea typeface="Arial"/>
                          <a:cs typeface="Arial"/>
                        </a:rPr>
                        <a:t>core/ledger/</a:t>
                      </a:r>
                    </a:p>
                  </a:txBody>
                  <a:tcPr marL="85725" marR="85725" marT="19050" marB="19050" anchor="ctr">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688" b="0">
                          <a:solidFill>
                            <a:srgbClr val="182C43"/>
                          </a:solidFill>
                          <a:latin typeface="Arial"/>
                          <a:ea typeface="Arial"/>
                          <a:cs typeface="Arial"/>
                        </a:rPr>
                        <a:t>Track exposure, cash and positions. Reconcile the run ledger with the broker</a:t>
                      </a:r>
                    </a:p>
                  </a:txBody>
                  <a:tcPr marL="85725" marR="85725" marT="19050" marB="19050" anchor="ctr">
                    <a:lnR w="6668">
                      <a:solidFill>
                        <a:srgbClr val="D9E0E7"/>
                      </a:solidFill>
                      <a:prstDash val="solid"/>
                    </a:lnR>
                    <a:lnB w="6668">
                      <a:solidFill>
                        <a:srgbClr val="D9E0E7"/>
                      </a:solidFill>
                      <a:prstDash val="solid"/>
                    </a:lnB>
                    <a:solidFill>
                      <a:srgbClr val="FFFFFF"/>
                    </a:solidFill>
                  </a:tcPr>
                </a:tc>
              </a:tr>
              <a:tr h="595313">
                <a:tc>
                  <a:txBody>
                    <a:bodyPr lIns="85725" tIns="85725" rIns="85725" bIns="85725">
                      <a:noAutofit/>
                    </a:bodyPr>
                    <a:lstStyle/>
                    <a:p>
                      <a:pPr algn="l"/>
                      <a:r>
                        <a:rPr sz="1688" b="1">
                          <a:solidFill>
                            <a:srgbClr val="182C43"/>
                          </a:solidFill>
                          <a:latin typeface="Arial"/>
                          <a:ea typeface="Arial"/>
                          <a:cs typeface="Arial"/>
                        </a:rPr>
                        <a:t>Risk and size</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1F4F7"/>
                    </a:solidFill>
                  </a:tcPr>
                </a:tc>
                <a:tc>
                  <a:txBody>
                    <a:bodyPr lIns="85725" tIns="85725" rIns="85725" bIns="85725">
                      <a:noAutofit/>
                    </a:bodyPr>
                    <a:lstStyle/>
                    <a:p>
                      <a:pPr algn="l"/>
                      <a:r>
                        <a:rPr sz="1688" b="0">
                          <a:solidFill>
                            <a:srgbClr val="182C43"/>
                          </a:solidFill>
                          <a:latin typeface="Arial"/>
                          <a:ea typeface="Arial"/>
                          <a:cs typeface="Arial"/>
                        </a:rPr>
                        <a:t>core/risk/riskEngine.ts</a:t>
                      </a:r>
                    </a:p>
                    <a:p>
                      <a:pPr algn="l"/>
                      <a:r>
                        <a:rPr sz="1688" b="0">
                          <a:solidFill>
                            <a:srgbClr val="182C43"/>
                          </a:solidFill>
                          <a:latin typeface="Arial"/>
                          <a:ea typeface="Arial"/>
                          <a:cs typeface="Arial"/>
                        </a:rPr>
                        <a:t>core/sizing/</a:t>
                      </a:r>
                    </a:p>
                  </a:txBody>
                  <a:tcPr marL="85725" marR="85725" marT="19050" marB="19050" anchor="ctr">
                    <a:lnR w="6668">
                      <a:solidFill>
                        <a:srgbClr val="D9E0E7"/>
                      </a:solidFill>
                      <a:prstDash val="solid"/>
                    </a:lnR>
                    <a:lnB w="6668">
                      <a:solidFill>
                        <a:srgbClr val="D9E0E7"/>
                      </a:solidFill>
                      <a:prstDash val="solid"/>
                    </a:lnB>
                    <a:solidFill>
                      <a:srgbClr val="F1F4F7"/>
                    </a:solidFill>
                  </a:tcPr>
                </a:tc>
                <a:tc>
                  <a:txBody>
                    <a:bodyPr lIns="85725" tIns="85725" rIns="85725" bIns="85725">
                      <a:noAutofit/>
                    </a:bodyPr>
                    <a:lstStyle/>
                    <a:p>
                      <a:pPr algn="l"/>
                      <a:r>
                        <a:rPr sz="1688" b="0">
                          <a:solidFill>
                            <a:srgbClr val="182C43"/>
                          </a:solidFill>
                          <a:latin typeface="Arial"/>
                          <a:ea typeface="Arial"/>
                          <a:cs typeface="Arial"/>
                        </a:rPr>
                        <a:t>Apply limits and choose size. Verify each sizing method is implemented</a:t>
                      </a:r>
                    </a:p>
                  </a:txBody>
                  <a:tcPr marL="85725" marR="85725" marT="19050" marB="19050" anchor="ctr">
                    <a:lnR w="6668">
                      <a:solidFill>
                        <a:srgbClr val="D9E0E7"/>
                      </a:solidFill>
                      <a:prstDash val="solid"/>
                    </a:lnR>
                    <a:lnB w="6668">
                      <a:solidFill>
                        <a:srgbClr val="D9E0E7"/>
                      </a:solidFill>
                      <a:prstDash val="solid"/>
                    </a:lnB>
                    <a:solidFill>
                      <a:srgbClr val="F1F4F7"/>
                    </a:solidFill>
                  </a:tcPr>
                </a:tc>
              </a:tr>
              <a:tr h="595313">
                <a:tc>
                  <a:txBody>
                    <a:bodyPr lIns="85725" tIns="85725" rIns="85725" bIns="85725">
                      <a:noAutofit/>
                    </a:bodyPr>
                    <a:lstStyle/>
                    <a:p>
                      <a:pPr algn="l"/>
                      <a:r>
                        <a:rPr sz="1688" b="1">
                          <a:solidFill>
                            <a:srgbClr val="182C43"/>
                          </a:solidFill>
                          <a:latin typeface="Arial"/>
                          <a:ea typeface="Arial"/>
                          <a:cs typeface="Arial"/>
                        </a:rPr>
                        <a:t>Orders and fills</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688" b="0">
                          <a:solidFill>
                            <a:srgbClr val="182C43"/>
                          </a:solidFill>
                          <a:latin typeface="Arial"/>
                          <a:ea typeface="Arial"/>
                          <a:cs typeface="Arial"/>
                        </a:rPr>
                        <a:t>core/oms/</a:t>
                      </a:r>
                    </a:p>
                    <a:p>
                      <a:pPr algn="l"/>
                      <a:r>
                        <a:rPr sz="1688" b="0">
                          <a:solidFill>
                            <a:srgbClr val="182C43"/>
                          </a:solidFill>
                          <a:latin typeface="Arial"/>
                          <a:ea typeface="Arial"/>
                          <a:cs typeface="Arial"/>
                        </a:rPr>
                        <a:t>core/execution/</a:t>
                      </a:r>
                    </a:p>
                  </a:txBody>
                  <a:tcPr marL="85725" marR="85725" marT="19050" marB="19050" anchor="ctr">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688" b="0">
                          <a:solidFill>
                            <a:srgbClr val="182C43"/>
                          </a:solidFill>
                          <a:latin typeface="Arial"/>
                          <a:ea typeface="Arial"/>
                          <a:cs typeface="Arial"/>
                        </a:rPr>
                        <a:t>Reserve capital, manage order intent and route execution to the selected sink</a:t>
                      </a:r>
                    </a:p>
                  </a:txBody>
                  <a:tcPr marL="85725" marR="85725" marT="19050" marB="19050" anchor="ctr">
                    <a:lnR w="6668">
                      <a:solidFill>
                        <a:srgbClr val="D9E0E7"/>
                      </a:solidFill>
                      <a:prstDash val="solid"/>
                    </a:lnR>
                    <a:lnB w="6668">
                      <a:solidFill>
                        <a:srgbClr val="D9E0E7"/>
                      </a:solidFill>
                      <a:prstDash val="solid"/>
                    </a:lnB>
                    <a:solidFill>
                      <a:srgbClr val="FFFFFF"/>
                    </a:solidFill>
                  </a:tcPr>
                </a:tc>
              </a:tr>
              <a:tr h="595313">
                <a:tc>
                  <a:txBody>
                    <a:bodyPr lIns="85725" tIns="85725" rIns="85725" bIns="85725">
                      <a:noAutofit/>
                    </a:bodyPr>
                    <a:lstStyle/>
                    <a:p>
                      <a:pPr algn="l"/>
                      <a:r>
                        <a:rPr sz="1688" b="1">
                          <a:solidFill>
                            <a:srgbClr val="182C43"/>
                          </a:solidFill>
                          <a:latin typeface="Arial"/>
                          <a:ea typeface="Arial"/>
                          <a:cs typeface="Arial"/>
                        </a:rPr>
                        <a:t>Paper execution</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1F4F7"/>
                    </a:solidFill>
                  </a:tcPr>
                </a:tc>
                <a:tc>
                  <a:txBody>
                    <a:bodyPr lIns="85725" tIns="85725" rIns="85725" bIns="85725">
                      <a:noAutofit/>
                    </a:bodyPr>
                    <a:lstStyle/>
                    <a:p>
                      <a:pPr algn="l"/>
                      <a:r>
                        <a:rPr sz="1688" b="0">
                          <a:solidFill>
                            <a:srgbClr val="182C43"/>
                          </a:solidFill>
                          <a:latin typeface="Arial"/>
                          <a:ea typeface="Arial"/>
                          <a:cs typeface="Arial"/>
                        </a:rPr>
                        <a:t>core/execution/paperExecution.ts</a:t>
                      </a:r>
                    </a:p>
                    <a:p>
                      <a:pPr algn="l"/>
                      <a:r>
                        <a:rPr sz="1688" b="0">
                          <a:solidFill>
                            <a:srgbClr val="182C43"/>
                          </a:solidFill>
                          <a:latin typeface="Arial"/>
                          <a:ea typeface="Arial"/>
                          <a:cs typeface="Arial"/>
                        </a:rPr>
                        <a:t>adapters/alpaca/orderExecution.ts</a:t>
                      </a:r>
                    </a:p>
                  </a:txBody>
                  <a:tcPr marL="85725" marR="85725" marT="19050" marB="19050" anchor="ctr">
                    <a:lnR w="6668">
                      <a:solidFill>
                        <a:srgbClr val="D9E0E7"/>
                      </a:solidFill>
                      <a:prstDash val="solid"/>
                    </a:lnR>
                    <a:lnB w="6668">
                      <a:solidFill>
                        <a:srgbClr val="D9E0E7"/>
                      </a:solidFill>
                      <a:prstDash val="solid"/>
                    </a:lnB>
                    <a:solidFill>
                      <a:srgbClr val="F1F4F7"/>
                    </a:solidFill>
                  </a:tcPr>
                </a:tc>
                <a:tc>
                  <a:txBody>
                    <a:bodyPr lIns="85725" tIns="85725" rIns="85725" bIns="85725">
                      <a:noAutofit/>
                    </a:bodyPr>
                    <a:lstStyle/>
                    <a:p>
                      <a:pPr algn="l"/>
                      <a:r>
                        <a:rPr sz="1688" b="0">
                          <a:solidFill>
                            <a:srgbClr val="182C43"/>
                          </a:solidFill>
                          <a:latin typeface="Arial"/>
                          <a:ea typeface="Arial"/>
                          <a:cs typeface="Arial"/>
                        </a:rPr>
                        <a:t>Submit to Alpaca paper. simulatedExecution.ts supplies local simulation</a:t>
                      </a:r>
                    </a:p>
                  </a:txBody>
                  <a:tcPr marL="85725" marR="85725" marT="19050" marB="19050" anchor="ctr">
                    <a:lnR w="6668">
                      <a:solidFill>
                        <a:srgbClr val="D9E0E7"/>
                      </a:solidFill>
                      <a:prstDash val="solid"/>
                    </a:lnR>
                    <a:lnB w="6668">
                      <a:solidFill>
                        <a:srgbClr val="D9E0E7"/>
                      </a:solidFill>
                      <a:prstDash val="solid"/>
                    </a:lnB>
                    <a:solidFill>
                      <a:srgbClr val="F1F4F7"/>
                    </a:solidFill>
                  </a:tcPr>
                </a:tc>
              </a:tr>
              <a:tr h="595313">
                <a:tc>
                  <a:txBody>
                    <a:bodyPr lIns="85725" tIns="85725" rIns="85725" bIns="85725">
                      <a:noAutofit/>
                    </a:bodyPr>
                    <a:lstStyle/>
                    <a:p>
                      <a:pPr algn="l"/>
                      <a:r>
                        <a:rPr sz="1688" b="1">
                          <a:solidFill>
                            <a:srgbClr val="182C43"/>
                          </a:solidFill>
                          <a:latin typeface="Arial"/>
                          <a:ea typeface="Arial"/>
                          <a:cs typeface="Arial"/>
                        </a:rPr>
                        <a:t>Run lifecycle</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688" b="0">
                          <a:solidFill>
                            <a:srgbClr val="182C43"/>
                          </a:solidFill>
                          <a:latin typeface="Arial"/>
                          <a:ea typeface="Arial"/>
                          <a:cs typeface="Arial"/>
                        </a:rPr>
                        <a:t>runtime/bootstrap.ts</a:t>
                      </a:r>
                    </a:p>
                    <a:p>
                      <a:pPr algn="l"/>
                      <a:r>
                        <a:rPr sz="1688" b="0">
                          <a:solidFill>
                            <a:srgbClr val="182C43"/>
                          </a:solidFill>
                          <a:latin typeface="Arial"/>
                          <a:ea typeface="Arial"/>
                          <a:cs typeface="Arial"/>
                        </a:rPr>
                        <a:t>core/live/liveRunCoordinator.ts</a:t>
                      </a:r>
                    </a:p>
                  </a:txBody>
                  <a:tcPr marL="85725" marR="85725" marT="19050" marB="19050" anchor="ctr">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688" b="0">
                          <a:solidFill>
                            <a:srgbClr val="182C43"/>
                          </a:solidFill>
                          <a:latin typeface="Arial"/>
                          <a:ea typeface="Arial"/>
                          <a:cs typeface="Arial"/>
                        </a:rPr>
                        <a:t>Select data/execution, launch runs and manage ownership and expiry</a:t>
                      </a:r>
                    </a:p>
                  </a:txBody>
                  <a:tcPr marL="85725" marR="85725" marT="19050" marB="19050" anchor="ctr">
                    <a:lnR w="6668">
                      <a:solidFill>
                        <a:srgbClr val="D9E0E7"/>
                      </a:solidFill>
                      <a:prstDash val="solid"/>
                    </a:lnR>
                    <a:lnB w="6668">
                      <a:solidFill>
                        <a:srgbClr val="D9E0E7"/>
                      </a:solidFill>
                      <a:prstDash val="solid"/>
                    </a:lnB>
                    <a:solidFill>
                      <a:srgbClr val="FFFFFF"/>
                    </a:solidFill>
                  </a:tcPr>
                </a:tc>
              </a:tr>
              <a:tr h="595313">
                <a:tc>
                  <a:txBody>
                    <a:bodyPr lIns="85725" tIns="85725" rIns="85725" bIns="85725">
                      <a:noAutofit/>
                    </a:bodyPr>
                    <a:lstStyle/>
                    <a:p>
                      <a:pPr algn="l"/>
                      <a:r>
                        <a:rPr sz="1688" b="1">
                          <a:solidFill>
                            <a:srgbClr val="182C43"/>
                          </a:solidFill>
                          <a:latin typeface="Arial"/>
                          <a:ea typeface="Arial"/>
                          <a:cs typeface="Arial"/>
                        </a:rPr>
                        <a:t>App and persistence</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1F4F7"/>
                    </a:solidFill>
                  </a:tcPr>
                </a:tc>
                <a:tc>
                  <a:txBody>
                    <a:bodyPr lIns="85725" tIns="85725" rIns="85725" bIns="85725">
                      <a:noAutofit/>
                    </a:bodyPr>
                    <a:lstStyle/>
                    <a:p>
                      <a:pPr algn="l"/>
                      <a:r>
                        <a:rPr sz="1688" b="0">
                          <a:solidFill>
                            <a:srgbClr val="182C43"/>
                          </a:solidFill>
                          <a:latin typeface="Arial"/>
                          <a:ea typeface="Arial"/>
                          <a:cs typeface="Arial"/>
                        </a:rPr>
                        <a:t>frontend/features/</a:t>
                      </a:r>
                    </a:p>
                    <a:p>
                      <a:pPr algn="l"/>
                      <a:r>
                        <a:rPr sz="1688" b="0">
                          <a:solidFill>
                            <a:srgbClr val="182C43"/>
                          </a:solidFill>
                          <a:latin typeface="Arial"/>
                          <a:ea typeface="Arial"/>
                          <a:cs typeface="Arial"/>
                        </a:rPr>
                        <a:t>supabase/migrations/</a:t>
                      </a:r>
                    </a:p>
                  </a:txBody>
                  <a:tcPr marL="85725" marR="85725" marT="19050" marB="19050" anchor="ctr">
                    <a:lnR w="6668">
                      <a:solidFill>
                        <a:srgbClr val="D9E0E7"/>
                      </a:solidFill>
                      <a:prstDash val="solid"/>
                    </a:lnR>
                    <a:lnB w="6668">
                      <a:solidFill>
                        <a:srgbClr val="D9E0E7"/>
                      </a:solidFill>
                      <a:prstDash val="solid"/>
                    </a:lnB>
                    <a:solidFill>
                      <a:srgbClr val="F1F4F7"/>
                    </a:solidFill>
                  </a:tcPr>
                </a:tc>
                <a:tc>
                  <a:txBody>
                    <a:bodyPr lIns="85725" tIns="85725" rIns="85725" bIns="85725">
                      <a:noAutofit/>
                    </a:bodyPr>
                    <a:lstStyle/>
                    <a:p>
                      <a:pPr algn="l"/>
                      <a:r>
                        <a:rPr sz="1688" b="0">
                          <a:solidFill>
                            <a:srgbClr val="182C43"/>
                          </a:solidFill>
                          <a:latin typeface="Arial"/>
                          <a:ea typeface="Arial"/>
                          <a:cs typeface="Arial"/>
                        </a:rPr>
                        <a:t>Expose controls/results and maintain the shared database schema</a:t>
                      </a:r>
                    </a:p>
                  </a:txBody>
                  <a:tcPr marL="85725" marR="85725" marT="19050" marB="19050" anchor="ctr">
                    <a:lnR w="6668">
                      <a:solidFill>
                        <a:srgbClr val="D9E0E7"/>
                      </a:solidFill>
                      <a:prstDash val="solid"/>
                    </a:lnR>
                    <a:lnB w="6668">
                      <a:solidFill>
                        <a:srgbClr val="D9E0E7"/>
                      </a:solidFill>
                      <a:prstDash val="solid"/>
                    </a:lnB>
                    <a:solidFill>
                      <a:srgbClr val="F1F4F7"/>
                    </a:solidFill>
                  </a:tcPr>
                </a:tc>
              </a:tr>
            </a:tbl>
          </a:graphicData>
        </a:graphic>
      </p:graphicFrame>
      <p:sp>
        <p:nvSpPr>
          <p:cNvPr id="8" name="">
            <a:extLst xmlns:a="http://schemas.openxmlformats.org/drawingml/2006/main">
              <a:ext uri="{FF2B5EF4-FFF2-40B4-BE49-F238E27FC236}">
                <a16:creationId xmlns:a16="http://schemas.microsoft.com/office/drawing/2014/main" id="{3CFA6B9F-0CB0-472E-9E38-3FBDA14C7A3E}"/>
              </a:ext>
            </a:extLst>
          </p:cNvPr>
          <p:cNvSpPr>
            <a:spLocks xmlns:a="http://schemas.openxmlformats.org/drawingml/2006/main" noGrp="1"/>
          </p:cNvSpPr>
          <p:nvPr/>
        </p:nvSpPr>
        <p:spPr>
          <a:xfrm xmlns:a="http://schemas.openxmlformats.org/drawingml/2006/main">
            <a:off x="609600" y="60483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0">
                <a:solidFill>
                  <a:srgbClr val="182C43"/>
                </a:solidFill>
                <a:latin typeface="Arial"/>
                <a:ea typeface="Arial"/>
                <a:cs typeface="Arial"/>
              </a:defRPr>
            </a:defPPr>
          </a:lstStyle>
          <a:p xmlns:a="http://schemas.openxmlformats.org/drawingml/2006/main">
            <a:pPr marL="266700" indent="-152400" algn="l">
              <a:spcAft>
                <a:spcPts val="0"/>
              </a:spcAft>
              <a:buChar char="•"/>
              <a:defRPr sz="1650" b="0">
                <a:solidFill>
                  <a:srgbClr val="182C43"/>
                </a:solidFill>
                <a:latin typeface="Arial"/>
                <a:ea typeface="Arial"/>
                <a:cs typeface="Arial"/>
              </a:defRPr>
            </a:pPr>
            <a:r>
              <a:rPr sz="1650" b="1">
                <a:solidFill>
                  <a:srgbClr val="182C43"/>
                </a:solidFill>
                <a:latin typeface="Arial"/>
                <a:ea typeface="Arial"/>
                <a:cs typeface="Arial"/>
              </a:rPr>
              <a:t>Demo path:</a:t>
            </a:r>
            <a:r>
              <a:rPr sz="1650">
                <a:solidFill>
                  <a:srgbClr val="182C43"/>
                </a:solidFill>
                <a:latin typeface="Arial"/>
                <a:ea typeface="Arial"/>
                <a:cs typeface="Arial"/>
              </a:rPr>
              <a:t> observation, strategy signal, risk decision, order, confirmed fill and portfolio update.</a:t>
            </a:r>
          </a:p>
        </p:txBody>
      </p:sp>
    </p:spTree>
    <p:extLst>
      <p:ext uri="{BB962C8B-B14F-4D97-AF65-F5344CB8AC3E}">
        <p14:creationId xmlns:p14="http://schemas.microsoft.com/office/powerpoint/2010/main" val="1384411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MONDAY, NOVEMBER 30">
            <a:extLst xmlns:a="http://schemas.openxmlformats.org/drawingml/2006/main">
              <a:ext uri="{FF2B5EF4-FFF2-40B4-BE49-F238E27FC236}">
                <a16:creationId xmlns:a16="http://schemas.microsoft.com/office/drawing/2014/main" id="{D958492D-D15E-4270-B9C4-6588C7B10A4B}"/>
              </a:ext>
            </a:extLst>
          </p:cNvPr>
          <p:cNvSpPr>
            <a:spLocks xmlns:a="http://schemas.openxmlformats.org/drawingml/2006/main" noGrp="1"/>
          </p:cNvSpPr>
          <p:nvPr/>
        </p:nvSpPr>
        <p:spPr>
          <a:xfrm xmlns:a="http://schemas.openxmlformats.org/drawingml/2006/main">
            <a:off x="609600" y="285750"/>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FF5400"/>
                </a:solidFill>
                <a:latin typeface="Arial"/>
                <a:ea typeface="Arial"/>
                <a:cs typeface="Arial"/>
              </a:defRPr>
            </a:defPPr>
          </a:lstStyle>
          <a:p xmlns:a="http://schemas.openxmlformats.org/drawingml/2006/main">
            <a:pPr algn="l">
              <a:buNone/>
              <a:defRPr sz="1350" b="1">
                <a:solidFill>
                  <a:srgbClr val="FF5400"/>
                </a:solidFill>
                <a:latin typeface="Arial"/>
                <a:ea typeface="Arial"/>
                <a:cs typeface="Arial"/>
              </a:defRPr>
            </a:pPr>
            <a:r>
              <a:rPr sz="1350" b="1">
                <a:solidFill>
                  <a:srgbClr val="FF5400"/>
                </a:solidFill>
                <a:latin typeface="Arial"/>
                <a:ea typeface="Arial"/>
                <a:cs typeface="Arial"/>
              </a:rPr>
              <a:t>MONDAY, NOVEMBER 30</a:t>
            </a:r>
          </a:p>
        </p:txBody>
      </p:sp>
      <p:sp>
        <p:nvSpPr>
          <p:cNvPr id="2" name="Slide title">
            <a:extLst xmlns:a="http://schemas.openxmlformats.org/drawingml/2006/main">
              <a:ext uri="{FF2B5EF4-FFF2-40B4-BE49-F238E27FC236}">
                <a16:creationId xmlns:a16="http://schemas.microsoft.com/office/drawing/2014/main" id="{F7A91891-A9F6-48E4-A335-31B3DCAA7D35}"/>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004D73"/>
                </a:solidFill>
                <a:latin typeface="Arial"/>
                <a:ea typeface="Arial"/>
                <a:cs typeface="Arial"/>
              </a:defRPr>
            </a:defPPr>
          </a:lstStyle>
          <a:p xmlns:a="http://schemas.openxmlformats.org/drawingml/2006/main">
            <a:pPr algn="l">
              <a:buNone/>
              <a:defRPr sz="3300" b="1">
                <a:solidFill>
                  <a:srgbClr val="004D73"/>
                </a:solidFill>
                <a:latin typeface="Arial"/>
                <a:ea typeface="Arial"/>
                <a:cs typeface="Arial"/>
              </a:defRPr>
            </a:pPr>
            <a:r>
              <a:rPr sz="3300" b="1">
                <a:solidFill>
                  <a:srgbClr val="004D73"/>
                </a:solidFill>
                <a:latin typeface="Arial"/>
                <a:ea typeface="Arial"/>
                <a:cs typeface="Arial"/>
              </a:rPr>
              <a:t>Final presentations to SHPE leadership</a:t>
            </a:r>
          </a:p>
        </p:txBody>
      </p:sp>
      <p:sp>
        <p:nvSpPr>
          <p:cNvPr id="3" name="SHPE CAPITAL    OCTOBER 13, 2026">
            <a:extLst xmlns:a="http://schemas.openxmlformats.org/drawingml/2006/main">
              <a:ext uri="{FF2B5EF4-FFF2-40B4-BE49-F238E27FC236}">
                <a16:creationId xmlns:a16="http://schemas.microsoft.com/office/drawing/2014/main" id="{95B2FE66-BC0E-485B-98B6-4B174D6DEE69}"/>
              </a:ext>
            </a:extLst>
          </p:cNvPr>
          <p:cNvSpPr>
            <a:spLocks xmlns:a="http://schemas.openxmlformats.org/drawingml/2006/main" noGrp="1"/>
          </p:cNvSpPr>
          <p:nvPr/>
        </p:nvSpPr>
        <p:spPr>
          <a:xfrm xmlns:a="http://schemas.openxmlformats.org/drawingml/2006/main">
            <a:off x="609600" y="6438900"/>
            <a:ext cx="771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SHPE CAPITAL    OCTOBER 13, 2026</a:t>
            </a:r>
          </a:p>
        </p:txBody>
      </p:sp>
      <p:sp>
        <p:nvSpPr>
          <p:cNvPr id="4" name="27–28 min">
            <a:extLst xmlns:a="http://schemas.openxmlformats.org/drawingml/2006/main">
              <a:ext uri="{FF2B5EF4-FFF2-40B4-BE49-F238E27FC236}">
                <a16:creationId xmlns:a16="http://schemas.microsoft.com/office/drawing/2014/main" id="{C35C2CD6-2327-4EAC-82D2-FE359DD709FA}"/>
              </a:ext>
            </a:extLst>
          </p:cNvPr>
          <p:cNvSpPr>
            <a:spLocks xmlns:a="http://schemas.openxmlformats.org/drawingml/2006/main" noGrp="1"/>
          </p:cNvSpPr>
          <p:nvPr/>
        </p:nvSpPr>
        <p:spPr>
          <a:xfrm xmlns:a="http://schemas.openxmlformats.org/drawingml/2006/main">
            <a:off x="9029700" y="643890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26:00-26:45</a:t>
            </a:r>
          </a:p>
        </p:txBody>
      </p:sp>
      <p:sp>
        <p:nvSpPr>
          <p:cNvPr id="5" name="15">
            <a:extLst xmlns:a="http://schemas.openxmlformats.org/drawingml/2006/main">
              <a:ext uri="{FF2B5EF4-FFF2-40B4-BE49-F238E27FC236}">
                <a16:creationId xmlns:a16="http://schemas.microsoft.com/office/drawing/2014/main" id="{DD64872C-91EC-4CC7-B3BA-CD51FFB30914}"/>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23</a:t>
            </a:r>
          </a:p>
        </p:txBody>
      </p:sp>
      <p:graphicFrame>
        <p:nvGraphicFramePr>
          <p:cNvPr id="9" name="">
            <a:extLst xmlns:a="http://schemas.openxmlformats.org/drawingml/2006/main">
              <a:ext uri="{FF2B5EF4-FFF2-40B4-BE49-F238E27FC236}">
                <a16:creationId xmlns:a16="http://schemas.microsoft.com/office/drawing/2014/main" id="{F63062F2-93A9-4623-8010-728921426BEA}"/>
              </a:ext>
            </a:extLst>
          </p:cNvPr>
          <p:cNvGraphicFramePr/>
          <p:nvPr/>
        </p:nvGraphicFramePr>
        <p:xfrm>
          <a:off xmlns:a="http://schemas.openxmlformats.org/drawingml/2006/main" x="609600" y="1771650"/>
          <a:ext xmlns:a="http://schemas.openxmlformats.org/drawingml/2006/main" cx="10972800" cy="3305175"/>
        </p:xfrm>
        <a:graphic xmlns:a="http://schemas.openxmlformats.org/drawingml/2006/main">
          <a:graphicData uri="http://schemas.openxmlformats.org/drawingml/2006/table">
            <a:tbl>
              <a:tblPr firstRow="1" bandRow="0"/>
              <a:tblGrid>
                <a:gridCol w="2228850"/>
                <a:gridCol w="4352925"/>
                <a:gridCol w="4391025"/>
              </a:tblGrid>
              <a:tr h="419100">
                <a:tc>
                  <a:txBody>
                    <a:bodyPr lIns="85725" tIns="85725" rIns="85725" bIns="85725">
                      <a:noAutofit/>
                    </a:bodyPr>
                    <a:lstStyle/>
                    <a:p>
                      <a:pPr algn="l"/>
                      <a:r>
                        <a:rPr sz="1875" b="1">
                          <a:solidFill>
                            <a:srgbClr val="FFFFFF"/>
                          </a:solidFill>
                          <a:latin typeface="Arial"/>
                          <a:ea typeface="Arial"/>
                          <a:cs typeface="Arial"/>
                        </a:rPr>
                        <a:t>Part</a:t>
                      </a:r>
                    </a:p>
                  </a:txBody>
                  <a:tcPr marL="85725" marR="85725" marT="19050" marB="19050" anchor="ctr">
                    <a:lnL w="6668">
                      <a:solidFill>
                        <a:srgbClr val="D9E0E7"/>
                      </a:solidFill>
                      <a:prstDash val="solid"/>
                    </a:lnL>
                    <a:lnR w="6668">
                      <a:solidFill>
                        <a:srgbClr val="D9E0E7"/>
                      </a:solidFill>
                      <a:prstDash val="solid"/>
                    </a:lnR>
                    <a:lnT w="6668">
                      <a:solidFill>
                        <a:srgbClr val="D9E0E7"/>
                      </a:solidFill>
                      <a:prstDash val="solid"/>
                    </a:lnT>
                    <a:lnB w="6668">
                      <a:solidFill>
                        <a:srgbClr val="D9E0E7"/>
                      </a:solidFill>
                      <a:prstDash val="solid"/>
                    </a:lnB>
                    <a:solidFill>
                      <a:srgbClr val="004D73"/>
                    </a:solidFill>
                  </a:tcPr>
                </a:tc>
                <a:tc>
                  <a:txBody>
                    <a:bodyPr lIns="85725" tIns="85725" rIns="85725" bIns="85725">
                      <a:noAutofit/>
                    </a:bodyPr>
                    <a:lstStyle/>
                    <a:p>
                      <a:pPr algn="l"/>
                      <a:r>
                        <a:rPr sz="1875" b="1">
                          <a:solidFill>
                            <a:srgbClr val="FFFFFF"/>
                          </a:solidFill>
                          <a:latin typeface="Arial"/>
                          <a:ea typeface="Arial"/>
                          <a:cs typeface="Arial"/>
                        </a:rPr>
                        <a:t>Evidence to show</a:t>
                      </a:r>
                    </a:p>
                  </a:txBody>
                  <a:tcPr marL="85725" marR="85725" marT="19050" marB="19050" anchor="ctr">
                    <a:lnR w="6668">
                      <a:solidFill>
                        <a:srgbClr val="D9E0E7"/>
                      </a:solidFill>
                      <a:prstDash val="solid"/>
                    </a:lnR>
                    <a:lnT w="6668">
                      <a:solidFill>
                        <a:srgbClr val="D9E0E7"/>
                      </a:solidFill>
                      <a:prstDash val="solid"/>
                    </a:lnT>
                    <a:lnB w="6668">
                      <a:solidFill>
                        <a:srgbClr val="D9E0E7"/>
                      </a:solidFill>
                      <a:prstDash val="solid"/>
                    </a:lnB>
                    <a:solidFill>
                      <a:srgbClr val="004D73"/>
                    </a:solidFill>
                  </a:tcPr>
                </a:tc>
                <a:tc>
                  <a:txBody>
                    <a:bodyPr lIns="85725" tIns="85725" rIns="85725" bIns="85725">
                      <a:noAutofit/>
                    </a:bodyPr>
                    <a:lstStyle/>
                    <a:p>
                      <a:pPr algn="l"/>
                      <a:r>
                        <a:rPr sz="1875" b="1">
                          <a:solidFill>
                            <a:srgbClr val="FFFFFF"/>
                          </a:solidFill>
                          <a:latin typeface="Arial"/>
                          <a:ea typeface="Arial"/>
                          <a:cs typeface="Arial"/>
                        </a:rPr>
                        <a:t>Question leadership should be able to answer</a:t>
                      </a:r>
                    </a:p>
                  </a:txBody>
                  <a:tcPr marL="85725" marR="85725" marT="19050" marB="19050" anchor="ctr">
                    <a:lnR w="6668">
                      <a:solidFill>
                        <a:srgbClr val="D9E0E7"/>
                      </a:solidFill>
                      <a:prstDash val="solid"/>
                    </a:lnR>
                    <a:lnT w="6668">
                      <a:solidFill>
                        <a:srgbClr val="D9E0E7"/>
                      </a:solidFill>
                      <a:prstDash val="solid"/>
                    </a:lnT>
                    <a:lnB w="6668">
                      <a:solidFill>
                        <a:srgbClr val="D9E0E7"/>
                      </a:solidFill>
                      <a:prstDash val="solid"/>
                    </a:lnB>
                    <a:solidFill>
                      <a:srgbClr val="004D73"/>
                    </a:solidFill>
                  </a:tcPr>
                </a:tc>
              </a:tr>
              <a:tr h="721519">
                <a:tc>
                  <a:txBody>
                    <a:bodyPr lIns="85725" tIns="85725" rIns="85725" bIns="85725">
                      <a:noAutofit/>
                    </a:bodyPr>
                    <a:lstStyle/>
                    <a:p>
                      <a:pPr algn="l"/>
                      <a:r>
                        <a:rPr sz="1875" b="1">
                          <a:solidFill>
                            <a:srgbClr val="182C43"/>
                          </a:solidFill>
                          <a:latin typeface="Arial"/>
                          <a:ea typeface="Arial"/>
                          <a:cs typeface="Arial"/>
                        </a:rPr>
                        <a:t>Idea and research</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875" b="0">
                          <a:solidFill>
                            <a:srgbClr val="182C43"/>
                          </a:solidFill>
                          <a:latin typeface="Arial"/>
                          <a:ea typeface="Arial"/>
                          <a:cs typeface="Arial"/>
                        </a:rPr>
                        <a:t>Mechanism, cited papers, baseline and exact rules</a:t>
                      </a:r>
                    </a:p>
                  </a:txBody>
                  <a:tcPr marL="85725" marR="85725" marT="19050" marB="19050" anchor="ctr">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875" b="0">
                          <a:solidFill>
                            <a:srgbClr val="182C43"/>
                          </a:solidFill>
                          <a:latin typeface="Arial"/>
                          <a:ea typeface="Arial"/>
                          <a:cs typeface="Arial"/>
                        </a:rPr>
                        <a:t>Why might it work and how did you test that claim?</a:t>
                      </a:r>
                    </a:p>
                  </a:txBody>
                  <a:tcPr marL="85725" marR="85725" marT="19050" marB="19050" anchor="ctr">
                    <a:lnR w="6668">
                      <a:solidFill>
                        <a:srgbClr val="D9E0E7"/>
                      </a:solidFill>
                      <a:prstDash val="solid"/>
                    </a:lnR>
                    <a:lnB w="6668">
                      <a:solidFill>
                        <a:srgbClr val="D9E0E7"/>
                      </a:solidFill>
                      <a:prstDash val="solid"/>
                    </a:lnB>
                    <a:solidFill>
                      <a:srgbClr val="FFFFFF"/>
                    </a:solidFill>
                  </a:tcPr>
                </a:tc>
              </a:tr>
              <a:tr h="721519">
                <a:tc>
                  <a:txBody>
                    <a:bodyPr lIns="85725" tIns="85725" rIns="85725" bIns="85725">
                      <a:noAutofit/>
                    </a:bodyPr>
                    <a:lstStyle/>
                    <a:p>
                      <a:pPr algn="l"/>
                      <a:r>
                        <a:rPr sz="1875" b="1">
                          <a:solidFill>
                            <a:srgbClr val="182C43"/>
                          </a:solidFill>
                          <a:latin typeface="Arial"/>
                          <a:ea typeface="Arial"/>
                          <a:cs typeface="Arial"/>
                        </a:rPr>
                        <a:t>Historical performance</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1F4F7"/>
                    </a:solidFill>
                  </a:tcPr>
                </a:tc>
                <a:tc>
                  <a:txBody>
                    <a:bodyPr lIns="85725" tIns="85725" rIns="85725" bIns="85725">
                      <a:noAutofit/>
                    </a:bodyPr>
                    <a:lstStyle/>
                    <a:p>
                      <a:pPr algn="l"/>
                      <a:r>
                        <a:rPr sz="1875" b="0">
                          <a:solidFill>
                            <a:srgbClr val="182C43"/>
                          </a:solidFill>
                          <a:latin typeface="Arial"/>
                          <a:ea typeface="Arial"/>
                          <a:cs typeface="Arial"/>
                        </a:rPr>
                        <a:t>Net equity curve, drawdown, metrics and benchmark</a:t>
                      </a:r>
                    </a:p>
                  </a:txBody>
                  <a:tcPr marL="85725" marR="85725" marT="19050" marB="19050" anchor="ctr">
                    <a:lnR w="6668">
                      <a:solidFill>
                        <a:srgbClr val="D9E0E7"/>
                      </a:solidFill>
                      <a:prstDash val="solid"/>
                    </a:lnR>
                    <a:lnB w="6668">
                      <a:solidFill>
                        <a:srgbClr val="D9E0E7"/>
                      </a:solidFill>
                      <a:prstDash val="solid"/>
                    </a:lnB>
                    <a:solidFill>
                      <a:srgbClr val="F1F4F7"/>
                    </a:solidFill>
                  </a:tcPr>
                </a:tc>
                <a:tc>
                  <a:txBody>
                    <a:bodyPr lIns="85725" tIns="85725" rIns="85725" bIns="85725">
                      <a:noAutofit/>
                    </a:bodyPr>
                    <a:lstStyle/>
                    <a:p>
                      <a:pPr algn="l"/>
                      <a:r>
                        <a:rPr sz="1875" b="0">
                          <a:solidFill>
                            <a:srgbClr val="182C43"/>
                          </a:solidFill>
                          <a:latin typeface="Arial"/>
                          <a:ea typeface="Arial"/>
                          <a:cs typeface="Arial"/>
                        </a:rPr>
                        <a:t>Did it survive fair assumptions and later observations?</a:t>
                      </a:r>
                    </a:p>
                  </a:txBody>
                  <a:tcPr marL="85725" marR="85725" marT="19050" marB="19050" anchor="ctr">
                    <a:lnR w="6668">
                      <a:solidFill>
                        <a:srgbClr val="D9E0E7"/>
                      </a:solidFill>
                      <a:prstDash val="solid"/>
                    </a:lnR>
                    <a:lnB w="6668">
                      <a:solidFill>
                        <a:srgbClr val="D9E0E7"/>
                      </a:solidFill>
                      <a:prstDash val="solid"/>
                    </a:lnB>
                    <a:solidFill>
                      <a:srgbClr val="F1F4F7"/>
                    </a:solidFill>
                  </a:tcPr>
                </a:tc>
              </a:tr>
              <a:tr h="721519">
                <a:tc>
                  <a:txBody>
                    <a:bodyPr lIns="85725" tIns="85725" rIns="85725" bIns="85725">
                      <a:noAutofit/>
                    </a:bodyPr>
                    <a:lstStyle/>
                    <a:p>
                      <a:pPr algn="l"/>
                      <a:r>
                        <a:rPr sz="1875" b="1">
                          <a:solidFill>
                            <a:srgbClr val="182C43"/>
                          </a:solidFill>
                          <a:latin typeface="Arial"/>
                          <a:ea typeface="Arial"/>
                          <a:cs typeface="Arial"/>
                        </a:rPr>
                        <a:t>Online paper</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875" b="0">
                          <a:solidFill>
                            <a:srgbClr val="182C43"/>
                          </a:solidFill>
                          <a:latin typeface="Arial"/>
                          <a:ea typeface="Arial"/>
                          <a:cs typeface="Arial"/>
                        </a:rPr>
                        <a:t>Dates, version IDs, trades, healthy sessions and incidents</a:t>
                      </a:r>
                    </a:p>
                  </a:txBody>
                  <a:tcPr marL="85725" marR="85725" marT="19050" marB="19050" anchor="ctr">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875" b="0">
                          <a:solidFill>
                            <a:srgbClr val="182C43"/>
                          </a:solidFill>
                          <a:latin typeface="Arial"/>
                          <a:ea typeface="Arial"/>
                          <a:cs typeface="Arial"/>
                        </a:rPr>
                        <a:t>Did the implementation behave as designed in operation?</a:t>
                      </a:r>
                    </a:p>
                  </a:txBody>
                  <a:tcPr marL="85725" marR="85725" marT="19050" marB="19050" anchor="ctr">
                    <a:lnR w="6668">
                      <a:solidFill>
                        <a:srgbClr val="D9E0E7"/>
                      </a:solidFill>
                      <a:prstDash val="solid"/>
                    </a:lnR>
                    <a:lnB w="6668">
                      <a:solidFill>
                        <a:srgbClr val="D9E0E7"/>
                      </a:solidFill>
                      <a:prstDash val="solid"/>
                    </a:lnB>
                    <a:solidFill>
                      <a:srgbClr val="FFFFFF"/>
                    </a:solidFill>
                  </a:tcPr>
                </a:tc>
              </a:tr>
              <a:tr h="721519">
                <a:tc>
                  <a:txBody>
                    <a:bodyPr lIns="85725" tIns="85725" rIns="85725" bIns="85725">
                      <a:noAutofit/>
                    </a:bodyPr>
                    <a:lstStyle/>
                    <a:p>
                      <a:pPr algn="l"/>
                      <a:r>
                        <a:rPr sz="1875" b="1">
                          <a:solidFill>
                            <a:srgbClr val="182C43"/>
                          </a:solidFill>
                          <a:latin typeface="Arial"/>
                          <a:ea typeface="Arial"/>
                          <a:cs typeface="Arial"/>
                        </a:rPr>
                        <a:t>Reflection and future work</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1F4F7"/>
                    </a:solidFill>
                  </a:tcPr>
                </a:tc>
                <a:tc>
                  <a:txBody>
                    <a:bodyPr lIns="85725" tIns="85725" rIns="85725" bIns="85725">
                      <a:noAutofit/>
                    </a:bodyPr>
                    <a:lstStyle/>
                    <a:p>
                      <a:pPr algn="l"/>
                      <a:r>
                        <a:rPr sz="1875" b="0">
                          <a:solidFill>
                            <a:srgbClr val="182C43"/>
                          </a:solidFill>
                          <a:latin typeface="Arial"/>
                          <a:ea typeface="Arial"/>
                          <a:cs typeface="Arial"/>
                        </a:rPr>
                        <a:t>Failures, limitations, one justified next experiment</a:t>
                      </a:r>
                    </a:p>
                  </a:txBody>
                  <a:tcPr marL="85725" marR="85725" marT="19050" marB="19050" anchor="ctr">
                    <a:lnR w="6668">
                      <a:solidFill>
                        <a:srgbClr val="D9E0E7"/>
                      </a:solidFill>
                      <a:prstDash val="solid"/>
                    </a:lnR>
                    <a:lnB w="6668">
                      <a:solidFill>
                        <a:srgbClr val="D9E0E7"/>
                      </a:solidFill>
                      <a:prstDash val="solid"/>
                    </a:lnB>
                    <a:solidFill>
                      <a:srgbClr val="F1F4F7"/>
                    </a:solidFill>
                  </a:tcPr>
                </a:tc>
                <a:tc>
                  <a:txBody>
                    <a:bodyPr lIns="85725" tIns="85725" rIns="85725" bIns="85725">
                      <a:noAutofit/>
                    </a:bodyPr>
                    <a:lstStyle/>
                    <a:p>
                      <a:pPr algn="l"/>
                      <a:r>
                        <a:rPr sz="1875" b="0">
                          <a:solidFill>
                            <a:srgbClr val="182C43"/>
                          </a:solidFill>
                          <a:latin typeface="Arial"/>
                          <a:ea typeface="Arial"/>
                          <a:cs typeface="Arial"/>
                        </a:rPr>
                        <a:t>What did the team learn and what would improve the evidence?</a:t>
                      </a:r>
                    </a:p>
                  </a:txBody>
                  <a:tcPr marL="85725" marR="85725" marT="19050" marB="19050" anchor="ctr">
                    <a:lnR w="6668">
                      <a:solidFill>
                        <a:srgbClr val="D9E0E7"/>
                      </a:solidFill>
                      <a:prstDash val="solid"/>
                    </a:lnR>
                    <a:lnB w="6668">
                      <a:solidFill>
                        <a:srgbClr val="D9E0E7"/>
                      </a:solidFill>
                      <a:prstDash val="solid"/>
                    </a:lnB>
                    <a:solidFill>
                      <a:srgbClr val="F1F4F7"/>
                    </a:solidFill>
                  </a:tcPr>
                </a:tc>
              </a:tr>
            </a:tbl>
          </a:graphicData>
        </a:graphic>
      </p:graphicFrame>
      <p:sp>
        <p:nvSpPr>
          <p:cNvPr id="10" name="Platform team presentation">
            <a:extLst xmlns:a="http://schemas.openxmlformats.org/drawingml/2006/main">
              <a:ext uri="{FF2B5EF4-FFF2-40B4-BE49-F238E27FC236}">
                <a16:creationId xmlns:a16="http://schemas.microsoft.com/office/drawing/2014/main" id="{1DD098F1-04C4-4E09-A3E3-00A57BBF4E1B}"/>
              </a:ext>
            </a:extLst>
          </p:cNvPr>
          <p:cNvSpPr>
            <a:spLocks xmlns:a="http://schemas.openxmlformats.org/drawingml/2006/main" noGrp="1"/>
          </p:cNvSpPr>
          <p:nvPr/>
        </p:nvSpPr>
        <p:spPr>
          <a:xfrm xmlns:a="http://schemas.openxmlformats.org/drawingml/2006/main">
            <a:off x="609600" y="53054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FF5400"/>
                </a:solidFill>
                <a:latin typeface="Arial"/>
                <a:ea typeface="Arial"/>
                <a:cs typeface="Arial"/>
              </a:defRPr>
            </a:defPPr>
          </a:lstStyle>
          <a:p xmlns:a="http://schemas.openxmlformats.org/drawingml/2006/main">
            <a:pPr algn="l">
              <a:defRPr sz="2100" b="1">
                <a:solidFill>
                  <a:srgbClr val="FF5400"/>
                </a:solidFill>
                <a:latin typeface="Arial"/>
                <a:ea typeface="Arial"/>
                <a:cs typeface="Arial"/>
              </a:defRPr>
            </a:pPr>
            <a:r>
              <a:rPr sz="2100" b="1">
                <a:solidFill>
                  <a:srgbClr val="FF5400"/>
                </a:solidFill>
                <a:latin typeface="Arial"/>
                <a:ea typeface="Arial"/>
                <a:cs typeface="Arial"/>
              </a:rPr>
              <a:t>Platform team presentation</a:t>
            </a:r>
          </a:p>
        </p:txBody>
      </p:sp>
      <p:sp>
        <p:nvSpPr>
          <p:cNvPr id="11" name="">
            <a:extLst xmlns:a="http://schemas.openxmlformats.org/drawingml/2006/main">
              <a:ext uri="{FF2B5EF4-FFF2-40B4-BE49-F238E27FC236}">
                <a16:creationId xmlns:a16="http://schemas.microsoft.com/office/drawing/2014/main" id="{52386A8C-F106-4DEB-BA54-F469813C1F8F}"/>
              </a:ext>
            </a:extLst>
          </p:cNvPr>
          <p:cNvSpPr>
            <a:spLocks xmlns:a="http://schemas.openxmlformats.org/drawingml/2006/main" noGrp="1"/>
          </p:cNvSpPr>
          <p:nvPr/>
        </p:nvSpPr>
        <p:spPr>
          <a:xfrm xmlns:a="http://schemas.openxmlformats.org/drawingml/2006/main">
            <a:off x="609600" y="570547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182C43"/>
                </a:solidFill>
                <a:latin typeface="Arial"/>
                <a:ea typeface="Arial"/>
                <a:cs typeface="Arial"/>
              </a:defRPr>
            </a:defPPr>
          </a:lstStyle>
          <a:p xmlns:a="http://schemas.openxmlformats.org/drawingml/2006/main">
            <a:pPr marL="266700" indent="-152400" algn="l">
              <a:spcAft>
                <a:spcPts val="400"/>
              </a:spcAft>
              <a:buChar char="•"/>
              <a:defRPr sz="1800" b="0">
                <a:solidFill>
                  <a:srgbClr val="182C43"/>
                </a:solidFill>
                <a:latin typeface="Arial"/>
                <a:ea typeface="Arial"/>
                <a:cs typeface="Arial"/>
              </a:defRPr>
            </a:pPr>
            <a:r>
              <a:rPr sz="1800">
                <a:solidFill>
                  <a:srgbClr val="182C43"/>
                </a:solidFill>
                <a:latin typeface="Arial"/>
                <a:ea typeface="Arial"/>
                <a:cs typeface="Arial"/>
              </a:rPr>
              <a:t>Show shared tool improvements, repeatable benchmarks, recovery tests and remaining integration gaps.</a:t>
            </a:r>
          </a:p>
          <a:p xmlns:a="http://schemas.openxmlformats.org/drawingml/2006/main">
            <a:pPr marL="266700" indent="-152400" algn="l">
              <a:spcAft>
                <a:spcPts val="400"/>
              </a:spcAft>
              <a:buChar char="•"/>
              <a:defRPr sz="1800" b="0">
                <a:solidFill>
                  <a:srgbClr val="182C43"/>
                </a:solidFill>
                <a:latin typeface="Arial"/>
                <a:ea typeface="Arial"/>
                <a:cs typeface="Arial"/>
              </a:defRPr>
            </a:pPr>
            <a:r>
              <a:rPr sz="1800" b="1">
                <a:solidFill>
                  <a:srgbClr val="182C43"/>
                </a:solidFill>
                <a:latin typeface="Arial"/>
                <a:ea typeface="Arial"/>
                <a:cs typeface="Arial"/>
              </a:rPr>
              <a:t>For all teams:</a:t>
            </a:r>
            <a:r>
              <a:rPr sz="1800">
                <a:solidFill>
                  <a:srgbClr val="182C43"/>
                </a:solidFill>
                <a:latin typeface="Arial"/>
                <a:ea typeface="Arial"/>
                <a:cs typeface="Arial"/>
              </a:rPr>
              <a:t> label short samples and simulated execution clearly. Negative findings still count.</a:t>
            </a:r>
          </a:p>
        </p:txBody>
      </p:sp>
    </p:spTree>
    <p:extLst>
      <p:ext uri="{BB962C8B-B14F-4D97-AF65-F5344CB8AC3E}">
        <p14:creationId xmlns:p14="http://schemas.microsoft.com/office/powerpoint/2010/main" val="413935559"/>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AM COORDINATION">
            <a:extLst xmlns:a="http://schemas.openxmlformats.org/drawingml/2006/main">
              <a:ext uri="{FF2B5EF4-FFF2-40B4-BE49-F238E27FC236}">
                <a16:creationId xmlns:a16="http://schemas.microsoft.com/office/drawing/2014/main" id="{724F16FD-C5E9-4514-877A-5A6F25182097}"/>
              </a:ext>
            </a:extLst>
          </p:cNvPr>
          <p:cNvSpPr>
            <a:spLocks xmlns:a="http://schemas.openxmlformats.org/drawingml/2006/main" noGrp="1"/>
          </p:cNvSpPr>
          <p:nvPr/>
        </p:nvSpPr>
        <p:spPr>
          <a:xfrm xmlns:a="http://schemas.openxmlformats.org/drawingml/2006/main">
            <a:off x="609600" y="285750"/>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FF5400"/>
                </a:solidFill>
                <a:latin typeface="Arial"/>
                <a:ea typeface="Arial"/>
                <a:cs typeface="Arial"/>
              </a:defRPr>
            </a:defPPr>
          </a:lstStyle>
          <a:p xmlns:a="http://schemas.openxmlformats.org/drawingml/2006/main">
            <a:pPr algn="l">
              <a:buNone/>
              <a:defRPr sz="1350" b="1">
                <a:solidFill>
                  <a:srgbClr val="FF5400"/>
                </a:solidFill>
                <a:latin typeface="Arial"/>
                <a:ea typeface="Arial"/>
                <a:cs typeface="Arial"/>
              </a:defRPr>
            </a:pPr>
            <a:r>
              <a:rPr sz="1350" b="1">
                <a:solidFill>
                  <a:srgbClr val="FF5400"/>
                </a:solidFill>
                <a:latin typeface="Arial"/>
                <a:ea typeface="Arial"/>
                <a:cs typeface="Arial"/>
              </a:rPr>
              <a:t>TEAM COORDINATION</a:t>
            </a:r>
          </a:p>
        </p:txBody>
      </p:sp>
      <p:sp>
        <p:nvSpPr>
          <p:cNvPr id="2" name="Slide title">
            <a:extLst xmlns:a="http://schemas.openxmlformats.org/drawingml/2006/main">
              <a:ext uri="{FF2B5EF4-FFF2-40B4-BE49-F238E27FC236}">
                <a16:creationId xmlns:a16="http://schemas.microsoft.com/office/drawing/2014/main" id="{EB864528-3715-44BB-B6F4-208ECC3C9B28}"/>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004D73"/>
                </a:solidFill>
                <a:latin typeface="Arial"/>
                <a:ea typeface="Arial"/>
                <a:cs typeface="Arial"/>
              </a:defRPr>
            </a:defPPr>
          </a:lstStyle>
          <a:p xmlns:a="http://schemas.openxmlformats.org/drawingml/2006/main">
            <a:pPr algn="l">
              <a:buNone/>
              <a:defRPr sz="3300" b="1">
                <a:solidFill>
                  <a:srgbClr val="004D73"/>
                </a:solidFill>
                <a:latin typeface="Arial"/>
                <a:ea typeface="Arial"/>
                <a:cs typeface="Arial"/>
              </a:defRPr>
            </a:pPr>
            <a:r>
              <a:rPr sz="3300" b="1">
                <a:solidFill>
                  <a:srgbClr val="004D73"/>
                </a:solidFill>
                <a:latin typeface="Arial"/>
                <a:ea typeface="Arial"/>
                <a:cs typeface="Arial"/>
              </a:rPr>
              <a:t>Communication and shared resources</a:t>
            </a:r>
          </a:p>
        </p:txBody>
      </p:sp>
      <p:sp>
        <p:nvSpPr>
          <p:cNvPr id="3" name="SHPE CAPITAL    OCTOBER 13, 2026">
            <a:extLst xmlns:a="http://schemas.openxmlformats.org/drawingml/2006/main">
              <a:ext uri="{FF2B5EF4-FFF2-40B4-BE49-F238E27FC236}">
                <a16:creationId xmlns:a16="http://schemas.microsoft.com/office/drawing/2014/main" id="{38BCCD84-5E70-41EA-802A-8635296B2ED6}"/>
              </a:ext>
            </a:extLst>
          </p:cNvPr>
          <p:cNvSpPr>
            <a:spLocks xmlns:a="http://schemas.openxmlformats.org/drawingml/2006/main" noGrp="1"/>
          </p:cNvSpPr>
          <p:nvPr/>
        </p:nvSpPr>
        <p:spPr>
          <a:xfrm xmlns:a="http://schemas.openxmlformats.org/drawingml/2006/main">
            <a:off x="609600" y="6438900"/>
            <a:ext cx="771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SHPE CAPITAL    OCTOBER 13, 2026</a:t>
            </a:r>
          </a:p>
        </p:txBody>
      </p:sp>
      <p:sp>
        <p:nvSpPr>
          <p:cNvPr id="4" name="28–29 min">
            <a:extLst xmlns:a="http://schemas.openxmlformats.org/drawingml/2006/main">
              <a:ext uri="{FF2B5EF4-FFF2-40B4-BE49-F238E27FC236}">
                <a16:creationId xmlns:a16="http://schemas.microsoft.com/office/drawing/2014/main" id="{7234C1EF-79C0-4810-90DC-310E37824D54}"/>
              </a:ext>
            </a:extLst>
          </p:cNvPr>
          <p:cNvSpPr>
            <a:spLocks xmlns:a="http://schemas.openxmlformats.org/drawingml/2006/main" noGrp="1"/>
          </p:cNvSpPr>
          <p:nvPr/>
        </p:nvSpPr>
        <p:spPr>
          <a:xfrm xmlns:a="http://schemas.openxmlformats.org/drawingml/2006/main">
            <a:off x="9029700" y="643890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26:45-27:15</a:t>
            </a:r>
          </a:p>
        </p:txBody>
      </p:sp>
      <p:sp>
        <p:nvSpPr>
          <p:cNvPr id="5" name="16">
            <a:extLst xmlns:a="http://schemas.openxmlformats.org/drawingml/2006/main">
              <a:ext uri="{FF2B5EF4-FFF2-40B4-BE49-F238E27FC236}">
                <a16:creationId xmlns:a16="http://schemas.microsoft.com/office/drawing/2014/main" id="{C27C0640-C77A-4641-859B-1673D8812F67}"/>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24</a:t>
            </a:r>
          </a:p>
        </p:txBody>
      </p:sp>
      <p:graphicFrame>
        <p:nvGraphicFramePr>
          <p:cNvPr id="9" name="">
            <a:extLst xmlns:a="http://schemas.openxmlformats.org/drawingml/2006/main">
              <a:ext uri="{FF2B5EF4-FFF2-40B4-BE49-F238E27FC236}">
                <a16:creationId xmlns:a16="http://schemas.microsoft.com/office/drawing/2014/main" id="{BC38352E-1705-4E54-B80F-49634A16E41A}"/>
              </a:ext>
            </a:extLst>
          </p:cNvPr>
          <p:cNvGraphicFramePr/>
          <p:nvPr/>
        </p:nvGraphicFramePr>
        <p:xfrm>
          <a:off xmlns:a="http://schemas.openxmlformats.org/drawingml/2006/main" x="609600" y="1771650"/>
          <a:ext xmlns:a="http://schemas.openxmlformats.org/drawingml/2006/main" cx="10972800" cy="3829050"/>
        </p:xfrm>
        <a:graphic xmlns:a="http://schemas.openxmlformats.org/drawingml/2006/main">
          <a:graphicData uri="http://schemas.openxmlformats.org/drawingml/2006/table">
            <a:tbl>
              <a:tblPr firstRow="1" bandRow="0"/>
              <a:tblGrid>
                <a:gridCol w="2743200"/>
                <a:gridCol w="3429000"/>
                <a:gridCol w="4800600"/>
              </a:tblGrid>
              <a:tr h="419100">
                <a:tc>
                  <a:txBody>
                    <a:bodyPr lIns="85725" tIns="85725" rIns="85725" bIns="85725">
                      <a:noAutofit/>
                    </a:bodyPr>
                    <a:lstStyle/>
                    <a:p>
                      <a:pPr algn="l"/>
                      <a:r>
                        <a:rPr sz="1875" b="1">
                          <a:solidFill>
                            <a:srgbClr val="FFFFFF"/>
                          </a:solidFill>
                          <a:latin typeface="Arial"/>
                          <a:ea typeface="Arial"/>
                          <a:cs typeface="Arial"/>
                        </a:rPr>
                        <a:t>Channel / resource</a:t>
                      </a:r>
                    </a:p>
                  </a:txBody>
                  <a:tcPr marL="85725" marR="85725" marT="19050" marB="19050" anchor="ctr">
                    <a:lnL w="6668">
                      <a:solidFill>
                        <a:srgbClr val="D9E0E7"/>
                      </a:solidFill>
                      <a:prstDash val="solid"/>
                    </a:lnL>
                    <a:lnR w="6668">
                      <a:solidFill>
                        <a:srgbClr val="D9E0E7"/>
                      </a:solidFill>
                      <a:prstDash val="solid"/>
                    </a:lnR>
                    <a:lnT w="6668">
                      <a:solidFill>
                        <a:srgbClr val="D9E0E7"/>
                      </a:solidFill>
                      <a:prstDash val="solid"/>
                    </a:lnT>
                    <a:lnB w="6668">
                      <a:solidFill>
                        <a:srgbClr val="D9E0E7"/>
                      </a:solidFill>
                      <a:prstDash val="solid"/>
                    </a:lnB>
                    <a:solidFill>
                      <a:srgbClr val="004D73"/>
                    </a:solidFill>
                  </a:tcPr>
                </a:tc>
                <a:tc>
                  <a:txBody>
                    <a:bodyPr lIns="85725" tIns="85725" rIns="85725" bIns="85725">
                      <a:noAutofit/>
                    </a:bodyPr>
                    <a:lstStyle/>
                    <a:p>
                      <a:pPr algn="l"/>
                      <a:r>
                        <a:rPr sz="1875" b="1">
                          <a:solidFill>
                            <a:srgbClr val="FFFFFF"/>
                          </a:solidFill>
                          <a:latin typeface="Arial"/>
                          <a:ea typeface="Arial"/>
                          <a:cs typeface="Arial"/>
                        </a:rPr>
                        <a:t>Use</a:t>
                      </a:r>
                    </a:p>
                  </a:txBody>
                  <a:tcPr marL="85725" marR="85725" marT="19050" marB="19050" anchor="ctr">
                    <a:lnR w="6668">
                      <a:solidFill>
                        <a:srgbClr val="D9E0E7"/>
                      </a:solidFill>
                      <a:prstDash val="solid"/>
                    </a:lnR>
                    <a:lnT w="6668">
                      <a:solidFill>
                        <a:srgbClr val="D9E0E7"/>
                      </a:solidFill>
                      <a:prstDash val="solid"/>
                    </a:lnT>
                    <a:lnB w="6668">
                      <a:solidFill>
                        <a:srgbClr val="D9E0E7"/>
                      </a:solidFill>
                      <a:prstDash val="solid"/>
                    </a:lnB>
                    <a:solidFill>
                      <a:srgbClr val="004D73"/>
                    </a:solidFill>
                  </a:tcPr>
                </a:tc>
                <a:tc>
                  <a:txBody>
                    <a:bodyPr lIns="85725" tIns="85725" rIns="85725" bIns="85725">
                      <a:noAutofit/>
                    </a:bodyPr>
                    <a:lstStyle/>
                    <a:p>
                      <a:pPr algn="l"/>
                      <a:r>
                        <a:rPr sz="1875" b="1">
                          <a:solidFill>
                            <a:srgbClr val="FFFFFF"/>
                          </a:solidFill>
                          <a:latin typeface="Arial"/>
                          <a:ea typeface="Arial"/>
                          <a:cs typeface="Arial"/>
                        </a:rPr>
                        <a:t>What members should post or find</a:t>
                      </a:r>
                    </a:p>
                  </a:txBody>
                  <a:tcPr marL="85725" marR="85725" marT="19050" marB="19050" anchor="ctr">
                    <a:lnR w="6668">
                      <a:solidFill>
                        <a:srgbClr val="D9E0E7"/>
                      </a:solidFill>
                      <a:prstDash val="solid"/>
                    </a:lnR>
                    <a:lnT w="6668">
                      <a:solidFill>
                        <a:srgbClr val="D9E0E7"/>
                      </a:solidFill>
                      <a:prstDash val="solid"/>
                    </a:lnT>
                    <a:lnB w="6668">
                      <a:solidFill>
                        <a:srgbClr val="D9E0E7"/>
                      </a:solidFill>
                      <a:prstDash val="solid"/>
                    </a:lnB>
                    <a:solidFill>
                      <a:srgbClr val="004D73"/>
                    </a:solidFill>
                  </a:tcPr>
                </a:tc>
              </a:tr>
              <a:tr h="681990">
                <a:tc>
                  <a:txBody>
                    <a:bodyPr lIns="85725" tIns="85725" rIns="85725" bIns="85725">
                      <a:noAutofit/>
                    </a:bodyPr>
                    <a:lstStyle/>
                    <a:p>
                      <a:pPr algn="l"/>
                      <a:r>
                        <a:rPr sz="1875" b="1">
                          <a:solidFill>
                            <a:srgbClr val="182C43"/>
                          </a:solidFill>
                          <a:latin typeface="Arial"/>
                          <a:ea typeface="Arial"/>
                          <a:cs typeface="Arial"/>
                        </a:rPr>
                        <a:t>WhatsApp</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875" b="0">
                          <a:solidFill>
                            <a:srgbClr val="182C43"/>
                          </a:solidFill>
                          <a:latin typeface="Arial"/>
                          <a:ea typeface="Arial"/>
                          <a:cs typeface="Arial"/>
                        </a:rPr>
                        <a:t>Meeting logistics</a:t>
                      </a:r>
                    </a:p>
                  </a:txBody>
                  <a:tcPr marL="85725" marR="85725" marT="19050" marB="19050" anchor="ctr">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875" b="0">
                          <a:solidFill>
                            <a:srgbClr val="182C43"/>
                          </a:solidFill>
                          <a:latin typeface="Arial"/>
                          <a:ea typeface="Arial"/>
                          <a:cs typeface="Arial"/>
                        </a:rPr>
                        <a:t>Event details, announcements and schedule changes</a:t>
                      </a:r>
                    </a:p>
                  </a:txBody>
                  <a:tcPr marL="85725" marR="85725" marT="19050" marB="19050" anchor="ctr">
                    <a:lnR w="6668">
                      <a:solidFill>
                        <a:srgbClr val="D9E0E7"/>
                      </a:solidFill>
                      <a:prstDash val="solid"/>
                    </a:lnR>
                    <a:lnB w="6668">
                      <a:solidFill>
                        <a:srgbClr val="D9E0E7"/>
                      </a:solidFill>
                      <a:prstDash val="solid"/>
                    </a:lnB>
                    <a:solidFill>
                      <a:srgbClr val="FFFFFF"/>
                    </a:solidFill>
                  </a:tcPr>
                </a:tc>
              </a:tr>
              <a:tr h="681990">
                <a:tc>
                  <a:txBody>
                    <a:bodyPr lIns="85725" tIns="85725" rIns="85725" bIns="85725">
                      <a:noAutofit/>
                    </a:bodyPr>
                    <a:lstStyle/>
                    <a:p>
                      <a:pPr algn="l"/>
                      <a:r>
                        <a:rPr sz="1875" b="1">
                          <a:solidFill>
                            <a:srgbClr val="182C43"/>
                          </a:solidFill>
                          <a:latin typeface="Arial"/>
                          <a:ea typeface="Arial"/>
                          <a:cs typeface="Arial"/>
                        </a:rPr>
                        <a:t>Discord: setup pending</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1F4F7"/>
                    </a:solidFill>
                  </a:tcPr>
                </a:tc>
                <a:tc>
                  <a:txBody>
                    <a:bodyPr lIns="85725" tIns="85725" rIns="85725" bIns="85725">
                      <a:noAutofit/>
                    </a:bodyPr>
                    <a:lstStyle/>
                    <a:p>
                      <a:pPr algn="l"/>
                      <a:r>
                        <a:rPr sz="1875" b="0">
                          <a:solidFill>
                            <a:srgbClr val="182C43"/>
                          </a:solidFill>
                          <a:latin typeface="Arial"/>
                          <a:ea typeface="Arial"/>
                          <a:cs typeface="Arial"/>
                        </a:rPr>
                        <a:t>Team research and workflow support</a:t>
                      </a:r>
                    </a:p>
                  </a:txBody>
                  <a:tcPr marL="85725" marR="85725" marT="19050" marB="19050" anchor="ctr">
                    <a:lnR w="6668">
                      <a:solidFill>
                        <a:srgbClr val="D9E0E7"/>
                      </a:solidFill>
                      <a:prstDash val="solid"/>
                    </a:lnR>
                    <a:lnB w="6668">
                      <a:solidFill>
                        <a:srgbClr val="D9E0E7"/>
                      </a:solidFill>
                      <a:prstDash val="solid"/>
                    </a:lnB>
                    <a:solidFill>
                      <a:srgbClr val="F1F4F7"/>
                    </a:solidFill>
                  </a:tcPr>
                </a:tc>
                <a:tc>
                  <a:txBody>
                    <a:bodyPr lIns="85725" tIns="85725" rIns="85725" bIns="85725">
                      <a:noAutofit/>
                    </a:bodyPr>
                    <a:lstStyle/>
                    <a:p>
                      <a:pPr algn="l"/>
                      <a:r>
                        <a:rPr sz="1875" b="0">
                          <a:solidFill>
                            <a:srgbClr val="182C43"/>
                          </a:solidFill>
                          <a:latin typeface="Arial"/>
                          <a:ea typeface="Arial"/>
                          <a:cs typeface="Arial"/>
                        </a:rPr>
                        <a:t>Reading links, explanations, questions and next meeting tasks</a:t>
                      </a:r>
                    </a:p>
                  </a:txBody>
                  <a:tcPr marL="85725" marR="85725" marT="19050" marB="19050" anchor="ctr">
                    <a:lnR w="6668">
                      <a:solidFill>
                        <a:srgbClr val="D9E0E7"/>
                      </a:solidFill>
                      <a:prstDash val="solid"/>
                    </a:lnR>
                    <a:lnB w="6668">
                      <a:solidFill>
                        <a:srgbClr val="D9E0E7"/>
                      </a:solidFill>
                      <a:prstDash val="solid"/>
                    </a:lnB>
                    <a:solidFill>
                      <a:srgbClr val="F1F4F7"/>
                    </a:solidFill>
                  </a:tcPr>
                </a:tc>
              </a:tr>
              <a:tr h="681990">
                <a:tc>
                  <a:txBody>
                    <a:bodyPr lIns="85725" tIns="85725" rIns="85725" bIns="85725">
                      <a:noAutofit/>
                    </a:bodyPr>
                    <a:lstStyle/>
                    <a:p>
                      <a:pPr algn="l"/>
                      <a:r>
                        <a:rPr sz="1875" b="1">
                          <a:solidFill>
                            <a:srgbClr val="182C43"/>
                          </a:solidFill>
                          <a:latin typeface="Arial"/>
                          <a:ea typeface="Arial"/>
                          <a:cs typeface="Arial"/>
                        </a:rPr>
                        <a:t>GitHub</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875" b="0">
                          <a:solidFill>
                            <a:srgbClr val="182C43"/>
                          </a:solidFill>
                          <a:latin typeface="Arial"/>
                          <a:ea typeface="Arial"/>
                          <a:cs typeface="Arial"/>
                        </a:rPr>
                        <a:t>Implementation and experiment history</a:t>
                      </a:r>
                    </a:p>
                  </a:txBody>
                  <a:tcPr marL="85725" marR="85725" marT="19050" marB="19050" anchor="ctr">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875" b="0">
                          <a:solidFill>
                            <a:srgbClr val="182C43"/>
                          </a:solidFill>
                          <a:latin typeface="Arial"/>
                          <a:ea typeface="Arial"/>
                          <a:cs typeface="Arial"/>
                        </a:rPr>
                        <a:t>Issues, pull requests, configs and reproducible result reports</a:t>
                      </a:r>
                    </a:p>
                  </a:txBody>
                  <a:tcPr marL="85725" marR="85725" marT="19050" marB="19050" anchor="ctr">
                    <a:lnR w="6668">
                      <a:solidFill>
                        <a:srgbClr val="D9E0E7"/>
                      </a:solidFill>
                      <a:prstDash val="solid"/>
                    </a:lnR>
                    <a:lnB w="6668">
                      <a:solidFill>
                        <a:srgbClr val="D9E0E7"/>
                      </a:solidFill>
                      <a:prstDash val="solid"/>
                    </a:lnB>
                    <a:solidFill>
                      <a:srgbClr val="FFFFFF"/>
                    </a:solidFill>
                  </a:tcPr>
                </a:tc>
              </a:tr>
              <a:tr h="681990">
                <a:tc>
                  <a:txBody>
                    <a:bodyPr lIns="85725" tIns="85725" rIns="85725" bIns="85725">
                      <a:noAutofit/>
                    </a:bodyPr>
                    <a:lstStyle/>
                    <a:p>
                      <a:pPr algn="l"/>
                      <a:r>
                        <a:rPr sz="1875" b="1">
                          <a:solidFill>
                            <a:srgbClr val="182C43"/>
                          </a:solidFill>
                          <a:latin typeface="Arial"/>
                          <a:ea typeface="Arial"/>
                          <a:cs typeface="Arial"/>
                        </a:rPr>
                        <a:t>docs/team-guides/</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1F4F7"/>
                    </a:solidFill>
                  </a:tcPr>
                </a:tc>
                <a:tc>
                  <a:txBody>
                    <a:bodyPr lIns="85725" tIns="85725" rIns="85725" bIns="85725">
                      <a:noAutofit/>
                    </a:bodyPr>
                    <a:lstStyle/>
                    <a:p>
                      <a:pPr algn="l"/>
                      <a:r>
                        <a:rPr sz="1875" b="0">
                          <a:solidFill>
                            <a:srgbClr val="182C43"/>
                          </a:solidFill>
                          <a:latin typeface="Arial"/>
                          <a:ea typeface="Arial"/>
                          <a:cs typeface="Arial"/>
                        </a:rPr>
                        <a:t>Team-specific starting material</a:t>
                      </a:r>
                    </a:p>
                  </a:txBody>
                  <a:tcPr marL="85725" marR="85725" marT="19050" marB="19050" anchor="ctr">
                    <a:lnR w="6668">
                      <a:solidFill>
                        <a:srgbClr val="D9E0E7"/>
                      </a:solidFill>
                      <a:prstDash val="solid"/>
                    </a:lnR>
                    <a:lnB w="6668">
                      <a:solidFill>
                        <a:srgbClr val="D9E0E7"/>
                      </a:solidFill>
                      <a:prstDash val="solid"/>
                    </a:lnB>
                    <a:solidFill>
                      <a:srgbClr val="F1F4F7"/>
                    </a:solidFill>
                  </a:tcPr>
                </a:tc>
                <a:tc>
                  <a:txBody>
                    <a:bodyPr lIns="85725" tIns="85725" rIns="85725" bIns="85725">
                      <a:noAutofit/>
                    </a:bodyPr>
                    <a:lstStyle/>
                    <a:p>
                      <a:pPr algn="l"/>
                      <a:r>
                        <a:rPr sz="1875" b="0">
                          <a:solidFill>
                            <a:srgbClr val="182C43"/>
                          </a:solidFill>
                          <a:latin typeface="Arial"/>
                          <a:ea typeface="Arial"/>
                          <a:cs typeface="Arial"/>
                        </a:rPr>
                        <a:t>Program explanation, simple examples and relevant papers</a:t>
                      </a:r>
                    </a:p>
                  </a:txBody>
                  <a:tcPr marL="85725" marR="85725" marT="19050" marB="19050" anchor="ctr">
                    <a:lnR w="6668">
                      <a:solidFill>
                        <a:srgbClr val="D9E0E7"/>
                      </a:solidFill>
                      <a:prstDash val="solid"/>
                    </a:lnR>
                    <a:lnB w="6668">
                      <a:solidFill>
                        <a:srgbClr val="D9E0E7"/>
                      </a:solidFill>
                      <a:prstDash val="solid"/>
                    </a:lnB>
                    <a:solidFill>
                      <a:srgbClr val="F1F4F7"/>
                    </a:solidFill>
                  </a:tcPr>
                </a:tc>
              </a:tr>
              <a:tr h="681990">
                <a:tc>
                  <a:txBody>
                    <a:bodyPr lIns="85725" tIns="85725" rIns="85725" bIns="85725">
                      <a:noAutofit/>
                    </a:bodyPr>
                    <a:lstStyle/>
                    <a:p>
                      <a:pPr algn="l"/>
                      <a:r>
                        <a:rPr sz="1875" b="1">
                          <a:solidFill>
                            <a:srgbClr val="182C43"/>
                          </a:solidFill>
                          <a:latin typeface="Arial"/>
                          <a:ea typeface="Arial"/>
                          <a:cs typeface="Arial"/>
                        </a:rPr>
                        <a:t>docs/guides/</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875" b="0">
                          <a:solidFill>
                            <a:srgbClr val="182C43"/>
                          </a:solidFill>
                          <a:latin typeface="Arial"/>
                          <a:ea typeface="Arial"/>
                          <a:cs typeface="Arial"/>
                        </a:rPr>
                        <a:t>Shared setup and engineering workflow</a:t>
                      </a:r>
                    </a:p>
                  </a:txBody>
                  <a:tcPr marL="85725" marR="85725" marT="19050" marB="19050" anchor="ctr">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875" b="0">
                          <a:solidFill>
                            <a:srgbClr val="182C43"/>
                          </a:solidFill>
                          <a:latin typeface="Arial"/>
                          <a:ea typeface="Arial"/>
                          <a:cs typeface="Arial"/>
                        </a:rPr>
                        <a:t>Local development and latency benchmark instructions</a:t>
                      </a:r>
                    </a:p>
                  </a:txBody>
                  <a:tcPr marL="85725" marR="85725" marT="19050" marB="19050" anchor="ctr">
                    <a:lnR w="6668">
                      <a:solidFill>
                        <a:srgbClr val="D9E0E7"/>
                      </a:solidFill>
                      <a:prstDash val="solid"/>
                    </a:lnR>
                    <a:lnB w="6668">
                      <a:solidFill>
                        <a:srgbClr val="D9E0E7"/>
                      </a:solidFill>
                      <a:prstDash val="solid"/>
                    </a:lnB>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CA20E3A8-9048-44EB-95F9-7F9C13E58D13}"/>
              </a:ext>
            </a:extLst>
          </p:cNvPr>
          <p:cNvSpPr>
            <a:spLocks xmlns:a="http://schemas.openxmlformats.org/drawingml/2006/main" noGrp="1"/>
          </p:cNvSpPr>
          <p:nvPr/>
        </p:nvSpPr>
        <p:spPr>
          <a:xfrm xmlns:a="http://schemas.openxmlformats.org/drawingml/2006/main">
            <a:off x="609600" y="59055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182C43"/>
                </a:solidFill>
                <a:latin typeface="Arial"/>
                <a:ea typeface="Arial"/>
                <a:cs typeface="Arial"/>
              </a:defRPr>
            </a:defPPr>
          </a:lstStyle>
          <a:p xmlns:a="http://schemas.openxmlformats.org/drawingml/2006/main">
            <a:pPr marL="266700" indent="-152400" algn="l">
              <a:spcAft>
                <a:spcPts val="0"/>
              </a:spcAft>
              <a:buChar char="•"/>
              <a:defRPr sz="1800" b="0">
                <a:solidFill>
                  <a:srgbClr val="182C43"/>
                </a:solidFill>
                <a:latin typeface="Arial"/>
                <a:ea typeface="Arial"/>
                <a:cs typeface="Arial"/>
              </a:defRPr>
            </a:pPr>
            <a:r>
              <a:rPr sz="1800" b="1">
                <a:solidFill>
                  <a:srgbClr val="182C43"/>
                </a:solidFill>
                <a:latin typeface="Arial"/>
                <a:ea typeface="Arial"/>
                <a:cs typeface="Arial"/>
              </a:rPr>
              <a:t>Coordination task:</a:t>
            </a:r>
            <a:r>
              <a:rPr sz="1800">
                <a:solidFill>
                  <a:srgbClr val="182C43"/>
                </a:solidFill>
                <a:latin typeface="Arial"/>
                <a:ea typeface="Arial"/>
                <a:cs typeface="Arial"/>
              </a:rPr>
              <a:t> complete Discord setup, then share the team channels and resource index.</a:t>
            </a:r>
          </a:p>
        </p:txBody>
      </p:sp>
    </p:spTree>
    <p:extLst>
      <p:ext uri="{BB962C8B-B14F-4D97-AF65-F5344CB8AC3E}">
        <p14:creationId xmlns:p14="http://schemas.microsoft.com/office/powerpoint/2010/main" val="1833588119"/>
      </p:ext>
    </p:extLst>
  </p:cSld>
</p:sld>
</file>

<file path=ppt/slides/slide25.xml><?xml version="1.0" encoding="utf-8"?>
<p:sld xmlns:p="http://schemas.openxmlformats.org/presentationml/2006/main" show="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DEDICATED TEAM TIME">
            <a:extLst xmlns:a="http://schemas.openxmlformats.org/drawingml/2006/main">
              <a:ext uri="{FF2B5EF4-FFF2-40B4-BE49-F238E27FC236}">
                <a16:creationId xmlns:a16="http://schemas.microsoft.com/office/drawing/2014/main" id="{8E347836-74A2-46BD-AA31-DED5017092D7}"/>
              </a:ext>
            </a:extLst>
          </p:cNvPr>
          <p:cNvSpPr>
            <a:spLocks xmlns:a="http://schemas.openxmlformats.org/drawingml/2006/main" noGrp="1"/>
          </p:cNvSpPr>
          <p:nvPr/>
        </p:nvSpPr>
        <p:spPr>
          <a:xfrm xmlns:a="http://schemas.openxmlformats.org/drawingml/2006/main">
            <a:off x="609600" y="285750"/>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FF5400"/>
                </a:solidFill>
                <a:latin typeface="Arial"/>
                <a:ea typeface="Arial"/>
                <a:cs typeface="Arial"/>
              </a:defRPr>
            </a:defPPr>
          </a:lstStyle>
          <a:p xmlns:a="http://schemas.openxmlformats.org/drawingml/2006/main">
            <a:pPr algn="l">
              <a:buNone/>
              <a:defRPr sz="1350" b="1">
                <a:solidFill>
                  <a:srgbClr val="FF5400"/>
                </a:solidFill>
                <a:latin typeface="Arial"/>
                <a:ea typeface="Arial"/>
                <a:cs typeface="Arial"/>
              </a:defRPr>
            </a:pPr>
            <a:r>
              <a:rPr sz="1350" b="1">
                <a:solidFill>
                  <a:srgbClr val="FF5400"/>
                </a:solidFill>
                <a:latin typeface="Arial"/>
                <a:ea typeface="Arial"/>
                <a:cs typeface="Arial"/>
              </a:rPr>
              <a:t>DEDICATED TEAM TIME</a:t>
            </a:r>
          </a:p>
        </p:txBody>
      </p:sp>
      <p:sp>
        <p:nvSpPr>
          <p:cNvPr id="2" name="Slide title">
            <a:extLst xmlns:a="http://schemas.openxmlformats.org/drawingml/2006/main">
              <a:ext uri="{FF2B5EF4-FFF2-40B4-BE49-F238E27FC236}">
                <a16:creationId xmlns:a16="http://schemas.microsoft.com/office/drawing/2014/main" id="{42B79201-D609-4488-8C11-6B0A68E0F392}"/>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225" b="1">
                <a:solidFill>
                  <a:srgbClr val="004D73"/>
                </a:solidFill>
                <a:latin typeface="Arial"/>
                <a:ea typeface="Arial"/>
                <a:cs typeface="Arial"/>
              </a:defRPr>
            </a:defPPr>
          </a:lstStyle>
          <a:p xmlns:a="http://schemas.openxmlformats.org/drawingml/2006/main">
            <a:pPr algn="l">
              <a:buNone/>
              <a:defRPr sz="3225" b="1">
                <a:solidFill>
                  <a:srgbClr val="004D73"/>
                </a:solidFill>
                <a:latin typeface="Arial"/>
                <a:ea typeface="Arial"/>
                <a:cs typeface="Arial"/>
              </a:defRPr>
            </a:pPr>
            <a:r>
              <a:rPr sz="3225" b="1">
                <a:solidFill>
                  <a:srgbClr val="004D73"/>
                </a:solidFill>
                <a:latin typeface="Arial"/>
                <a:ea typeface="Arial"/>
                <a:cs typeface="Arial"/>
              </a:rPr>
              <a:t>Assigned-team work and the first experiment</a:t>
            </a:r>
          </a:p>
        </p:txBody>
      </p:sp>
      <p:sp>
        <p:nvSpPr>
          <p:cNvPr id="3" name="SHPE CAPITAL    OCTOBER 13, 2026">
            <a:extLst xmlns:a="http://schemas.openxmlformats.org/drawingml/2006/main">
              <a:ext uri="{FF2B5EF4-FFF2-40B4-BE49-F238E27FC236}">
                <a16:creationId xmlns:a16="http://schemas.microsoft.com/office/drawing/2014/main" id="{70EF110A-69FD-4582-97D9-DC848358F8B0}"/>
              </a:ext>
            </a:extLst>
          </p:cNvPr>
          <p:cNvSpPr>
            <a:spLocks xmlns:a="http://schemas.openxmlformats.org/drawingml/2006/main" noGrp="1"/>
          </p:cNvSpPr>
          <p:nvPr/>
        </p:nvSpPr>
        <p:spPr>
          <a:xfrm xmlns:a="http://schemas.openxmlformats.org/drawingml/2006/main">
            <a:off x="609600" y="6438900"/>
            <a:ext cx="771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SHPE CAPITAL    OCTOBER 13, 2026</a:t>
            </a:r>
          </a:p>
        </p:txBody>
      </p:sp>
      <p:sp>
        <p:nvSpPr>
          <p:cNvPr id="4" name="30–60 min">
            <a:extLst xmlns:a="http://schemas.openxmlformats.org/drawingml/2006/main">
              <a:ext uri="{FF2B5EF4-FFF2-40B4-BE49-F238E27FC236}">
                <a16:creationId xmlns:a16="http://schemas.microsoft.com/office/drawing/2014/main" id="{AFB9507F-73E0-4FBB-AEB1-22BE33F19101}"/>
              </a:ext>
            </a:extLst>
          </p:cNvPr>
          <p:cNvSpPr>
            <a:spLocks xmlns:a="http://schemas.openxmlformats.org/drawingml/2006/main" noGrp="1"/>
          </p:cNvSpPr>
          <p:nvPr/>
        </p:nvSpPr>
        <p:spPr>
          <a:xfrm xmlns:a="http://schemas.openxmlformats.org/drawingml/2006/main">
            <a:off x="9029700" y="643890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30:00-60:00</a:t>
            </a:r>
          </a:p>
        </p:txBody>
      </p:sp>
      <p:sp>
        <p:nvSpPr>
          <p:cNvPr id="5" name="17">
            <a:extLst xmlns:a="http://schemas.openxmlformats.org/drawingml/2006/main">
              <a:ext uri="{FF2B5EF4-FFF2-40B4-BE49-F238E27FC236}">
                <a16:creationId xmlns:a16="http://schemas.microsoft.com/office/drawing/2014/main" id="{44BB0FC1-681A-46B7-B957-49CD728F5D0E}"/>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25</a:t>
            </a:r>
          </a:p>
        </p:txBody>
      </p:sp>
      <p:graphicFrame>
        <p:nvGraphicFramePr>
          <p:cNvPr id="9" name="">
            <a:extLst xmlns:a="http://schemas.openxmlformats.org/drawingml/2006/main">
              <a:ext uri="{FF2B5EF4-FFF2-40B4-BE49-F238E27FC236}">
                <a16:creationId xmlns:a16="http://schemas.microsoft.com/office/drawing/2014/main" id="{2F7A31BC-074C-4AA3-9F6C-E02DCC85C1B9}"/>
              </a:ext>
            </a:extLst>
          </p:cNvPr>
          <p:cNvGraphicFramePr/>
          <p:nvPr/>
        </p:nvGraphicFramePr>
        <p:xfrm>
          <a:off xmlns:a="http://schemas.openxmlformats.org/drawingml/2006/main" x="609600" y="1771650"/>
          <a:ext xmlns:a="http://schemas.openxmlformats.org/drawingml/2006/main" cx="10972800" cy="3629025"/>
        </p:xfrm>
        <a:graphic xmlns:a="http://schemas.openxmlformats.org/drawingml/2006/main">
          <a:graphicData uri="http://schemas.openxmlformats.org/drawingml/2006/table">
            <a:tbl>
              <a:tblPr firstRow="1" bandRow="0"/>
              <a:tblGrid>
                <a:gridCol w="1657350"/>
                <a:gridCol w="4200525"/>
                <a:gridCol w="5114925"/>
              </a:tblGrid>
              <a:tr h="419100">
                <a:tc>
                  <a:txBody>
                    <a:bodyPr lIns="85725" tIns="85725" rIns="85725" bIns="85725">
                      <a:noAutofit/>
                    </a:bodyPr>
                    <a:lstStyle/>
                    <a:p>
                      <a:pPr algn="l"/>
                      <a:r>
                        <a:rPr sz="1875" b="1">
                          <a:solidFill>
                            <a:srgbClr val="FFFFFF"/>
                          </a:solidFill>
                          <a:latin typeface="Arial"/>
                          <a:ea typeface="Arial"/>
                          <a:cs typeface="Arial"/>
                        </a:rPr>
                        <a:t>Time</a:t>
                      </a:r>
                    </a:p>
                  </a:txBody>
                  <a:tcPr marL="85725" marR="85725" marT="19050" marB="19050" anchor="ctr">
                    <a:lnL w="6668">
                      <a:solidFill>
                        <a:srgbClr val="D9E0E7"/>
                      </a:solidFill>
                      <a:prstDash val="solid"/>
                    </a:lnL>
                    <a:lnR w="6668">
                      <a:solidFill>
                        <a:srgbClr val="D9E0E7"/>
                      </a:solidFill>
                      <a:prstDash val="solid"/>
                    </a:lnR>
                    <a:lnT w="6668">
                      <a:solidFill>
                        <a:srgbClr val="D9E0E7"/>
                      </a:solidFill>
                      <a:prstDash val="solid"/>
                    </a:lnT>
                    <a:lnB w="6668">
                      <a:solidFill>
                        <a:srgbClr val="D9E0E7"/>
                      </a:solidFill>
                      <a:prstDash val="solid"/>
                    </a:lnB>
                    <a:solidFill>
                      <a:srgbClr val="004D73"/>
                    </a:solidFill>
                  </a:tcPr>
                </a:tc>
                <a:tc>
                  <a:txBody>
                    <a:bodyPr lIns="85725" tIns="85725" rIns="85725" bIns="85725">
                      <a:noAutofit/>
                    </a:bodyPr>
                    <a:lstStyle/>
                    <a:p>
                      <a:pPr algn="l"/>
                      <a:r>
                        <a:rPr sz="1875" b="1">
                          <a:solidFill>
                            <a:srgbClr val="FFFFFF"/>
                          </a:solidFill>
                          <a:latin typeface="Arial"/>
                          <a:ea typeface="Arial"/>
                          <a:cs typeface="Arial"/>
                        </a:rPr>
                        <a:t>Team activity</a:t>
                      </a:r>
                    </a:p>
                  </a:txBody>
                  <a:tcPr marL="85725" marR="85725" marT="19050" marB="19050" anchor="ctr">
                    <a:lnR w="6668">
                      <a:solidFill>
                        <a:srgbClr val="D9E0E7"/>
                      </a:solidFill>
                      <a:prstDash val="solid"/>
                    </a:lnR>
                    <a:lnT w="6668">
                      <a:solidFill>
                        <a:srgbClr val="D9E0E7"/>
                      </a:solidFill>
                      <a:prstDash val="solid"/>
                    </a:lnT>
                    <a:lnB w="6668">
                      <a:solidFill>
                        <a:srgbClr val="D9E0E7"/>
                      </a:solidFill>
                      <a:prstDash val="solid"/>
                    </a:lnB>
                    <a:solidFill>
                      <a:srgbClr val="004D73"/>
                    </a:solidFill>
                  </a:tcPr>
                </a:tc>
                <a:tc>
                  <a:txBody>
                    <a:bodyPr lIns="85725" tIns="85725" rIns="85725" bIns="85725">
                      <a:noAutofit/>
                    </a:bodyPr>
                    <a:lstStyle/>
                    <a:p>
                      <a:pPr algn="l"/>
                      <a:r>
                        <a:rPr sz="1875" b="1">
                          <a:solidFill>
                            <a:srgbClr val="FFFFFF"/>
                          </a:solidFill>
                          <a:latin typeface="Arial"/>
                          <a:ea typeface="Arial"/>
                          <a:cs typeface="Arial"/>
                        </a:rPr>
                        <a:t>Concrete output</a:t>
                      </a:r>
                    </a:p>
                  </a:txBody>
                  <a:tcPr marL="85725" marR="85725" marT="19050" marB="19050" anchor="ctr">
                    <a:lnR w="6668">
                      <a:solidFill>
                        <a:srgbClr val="D9E0E7"/>
                      </a:solidFill>
                      <a:prstDash val="solid"/>
                    </a:lnR>
                    <a:lnT w="6668">
                      <a:solidFill>
                        <a:srgbClr val="D9E0E7"/>
                      </a:solidFill>
                      <a:prstDash val="solid"/>
                    </a:lnT>
                    <a:lnB w="6668">
                      <a:solidFill>
                        <a:srgbClr val="D9E0E7"/>
                      </a:solidFill>
                      <a:prstDash val="solid"/>
                    </a:lnB>
                    <a:solidFill>
                      <a:srgbClr val="004D73"/>
                    </a:solidFill>
                  </a:tcPr>
                </a:tc>
              </a:tr>
              <a:tr h="641985">
                <a:tc>
                  <a:txBody>
                    <a:bodyPr lIns="85725" tIns="85725" rIns="85725" bIns="85725">
                      <a:noAutofit/>
                    </a:bodyPr>
                    <a:lstStyle/>
                    <a:p>
                      <a:pPr algn="l"/>
                      <a:r>
                        <a:rPr sz="1875" b="1">
                          <a:solidFill>
                            <a:srgbClr val="182C43"/>
                          </a:solidFill>
                          <a:latin typeface="Arial"/>
                          <a:ea typeface="Arial"/>
                          <a:cs typeface="Arial"/>
                        </a:rPr>
                        <a:t>5 minutes</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875" b="0">
                          <a:solidFill>
                            <a:srgbClr val="182C43"/>
                          </a:solidFill>
                          <a:latin typeface="Arial"/>
                          <a:ea typeface="Arial"/>
                          <a:cs typeface="Arial"/>
                        </a:rPr>
                        <a:t>Introductions and learning goals</a:t>
                      </a:r>
                    </a:p>
                  </a:txBody>
                  <a:tcPr marL="85725" marR="85725" marT="19050" marB="19050" anchor="ctr">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875" b="0">
                          <a:solidFill>
                            <a:srgbClr val="182C43"/>
                          </a:solidFill>
                          <a:latin typeface="Arial"/>
                          <a:ea typeface="Arial"/>
                          <a:cs typeface="Arial"/>
                        </a:rPr>
                        <a:t>Member skills and what each person wants to learn</a:t>
                      </a:r>
                    </a:p>
                  </a:txBody>
                  <a:tcPr marL="85725" marR="85725" marT="19050" marB="19050" anchor="ctr">
                    <a:lnR w="6668">
                      <a:solidFill>
                        <a:srgbClr val="D9E0E7"/>
                      </a:solidFill>
                      <a:prstDash val="solid"/>
                    </a:lnR>
                    <a:lnB w="6668">
                      <a:solidFill>
                        <a:srgbClr val="D9E0E7"/>
                      </a:solidFill>
                      <a:prstDash val="solid"/>
                    </a:lnB>
                    <a:solidFill>
                      <a:srgbClr val="FFFFFF"/>
                    </a:solidFill>
                  </a:tcPr>
                </a:tc>
              </a:tr>
              <a:tr h="641985">
                <a:tc>
                  <a:txBody>
                    <a:bodyPr lIns="85725" tIns="85725" rIns="85725" bIns="85725">
                      <a:noAutofit/>
                    </a:bodyPr>
                    <a:lstStyle/>
                    <a:p>
                      <a:pPr algn="l"/>
                      <a:r>
                        <a:rPr sz="1875" b="1">
                          <a:solidFill>
                            <a:srgbClr val="182C43"/>
                          </a:solidFill>
                          <a:latin typeface="Arial"/>
                          <a:ea typeface="Arial"/>
                          <a:cs typeface="Arial"/>
                        </a:rPr>
                        <a:t>4 minutes</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1F4F7"/>
                    </a:solidFill>
                  </a:tcPr>
                </a:tc>
                <a:tc>
                  <a:txBody>
                    <a:bodyPr lIns="85725" tIns="85725" rIns="85725" bIns="85725">
                      <a:noAutofit/>
                    </a:bodyPr>
                    <a:lstStyle/>
                    <a:p>
                      <a:pPr algn="l"/>
                      <a:r>
                        <a:rPr sz="1875" b="0">
                          <a:solidFill>
                            <a:srgbClr val="182C43"/>
                          </a:solidFill>
                          <a:latin typeface="Arial"/>
                          <a:ea typeface="Arial"/>
                          <a:cs typeface="Arial"/>
                        </a:rPr>
                        <a:t>Assign research, build and validation owners</a:t>
                      </a:r>
                    </a:p>
                  </a:txBody>
                  <a:tcPr marL="85725" marR="85725" marT="19050" marB="19050" anchor="ctr">
                    <a:lnR w="6668">
                      <a:solidFill>
                        <a:srgbClr val="D9E0E7"/>
                      </a:solidFill>
                      <a:prstDash val="solid"/>
                    </a:lnR>
                    <a:lnB w="6668">
                      <a:solidFill>
                        <a:srgbClr val="D9E0E7"/>
                      </a:solidFill>
                      <a:prstDash val="solid"/>
                    </a:lnB>
                    <a:solidFill>
                      <a:srgbClr val="F1F4F7"/>
                    </a:solidFill>
                  </a:tcPr>
                </a:tc>
                <a:tc>
                  <a:txBody>
                    <a:bodyPr lIns="85725" tIns="85725" rIns="85725" bIns="85725">
                      <a:noAutofit/>
                    </a:bodyPr>
                    <a:lstStyle/>
                    <a:p>
                      <a:pPr algn="l"/>
                      <a:r>
                        <a:rPr sz="1875" b="0">
                          <a:solidFill>
                            <a:srgbClr val="182C43"/>
                          </a:solidFill>
                          <a:latin typeface="Arial"/>
                          <a:ea typeface="Arial"/>
                          <a:cs typeface="Arial"/>
                        </a:rPr>
                        <a:t>A named owner for each task and one shared record</a:t>
                      </a:r>
                    </a:p>
                  </a:txBody>
                  <a:tcPr marL="85725" marR="85725" marT="19050" marB="19050" anchor="ctr">
                    <a:lnR w="6668">
                      <a:solidFill>
                        <a:srgbClr val="D9E0E7"/>
                      </a:solidFill>
                      <a:prstDash val="solid"/>
                    </a:lnR>
                    <a:lnB w="6668">
                      <a:solidFill>
                        <a:srgbClr val="D9E0E7"/>
                      </a:solidFill>
                      <a:prstDash val="solid"/>
                    </a:lnB>
                    <a:solidFill>
                      <a:srgbClr val="F1F4F7"/>
                    </a:solidFill>
                  </a:tcPr>
                </a:tc>
              </a:tr>
              <a:tr h="641985">
                <a:tc>
                  <a:txBody>
                    <a:bodyPr lIns="85725" tIns="85725" rIns="85725" bIns="85725">
                      <a:noAutofit/>
                    </a:bodyPr>
                    <a:lstStyle/>
                    <a:p>
                      <a:pPr algn="l"/>
                      <a:r>
                        <a:rPr sz="1875" b="1">
                          <a:solidFill>
                            <a:srgbClr val="182C43"/>
                          </a:solidFill>
                          <a:latin typeface="Arial"/>
                          <a:ea typeface="Arial"/>
                          <a:cs typeface="Arial"/>
                        </a:rPr>
                        <a:t>12 minutes</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875" b="0">
                          <a:solidFill>
                            <a:srgbClr val="182C43"/>
                          </a:solidFill>
                          <a:latin typeface="Arial"/>
                          <a:ea typeface="Arial"/>
                          <a:cs typeface="Arial"/>
                        </a:rPr>
                        <a:t>Define the baseline within your program</a:t>
                      </a:r>
                    </a:p>
                  </a:txBody>
                  <a:tcPr marL="85725" marR="85725" marT="19050" marB="19050" anchor="ctr">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875" b="0">
                          <a:solidFill>
                            <a:srgbClr val="182C43"/>
                          </a:solidFill>
                          <a:latin typeface="Arial"/>
                          <a:ea typeface="Arial"/>
                          <a:cs typeface="Arial"/>
                        </a:rPr>
                        <a:t>Hypothesis, inputs, entry, size, exits and failure cases</a:t>
                      </a:r>
                    </a:p>
                  </a:txBody>
                  <a:tcPr marL="85725" marR="85725" marT="19050" marB="19050" anchor="ctr">
                    <a:lnR w="6668">
                      <a:solidFill>
                        <a:srgbClr val="D9E0E7"/>
                      </a:solidFill>
                      <a:prstDash val="solid"/>
                    </a:lnR>
                    <a:lnB w="6668">
                      <a:solidFill>
                        <a:srgbClr val="D9E0E7"/>
                      </a:solidFill>
                      <a:prstDash val="solid"/>
                    </a:lnB>
                    <a:solidFill>
                      <a:srgbClr val="FFFFFF"/>
                    </a:solidFill>
                  </a:tcPr>
                </a:tc>
              </a:tr>
              <a:tr h="641985">
                <a:tc>
                  <a:txBody>
                    <a:bodyPr lIns="85725" tIns="85725" rIns="85725" bIns="85725">
                      <a:noAutofit/>
                    </a:bodyPr>
                    <a:lstStyle/>
                    <a:p>
                      <a:pPr algn="l"/>
                      <a:r>
                        <a:rPr sz="1875" b="1">
                          <a:solidFill>
                            <a:srgbClr val="182C43"/>
                          </a:solidFill>
                          <a:latin typeface="Arial"/>
                          <a:ea typeface="Arial"/>
                          <a:cs typeface="Arial"/>
                        </a:rPr>
                        <a:t>6 minutes</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1F4F7"/>
                    </a:solidFill>
                  </a:tcPr>
                </a:tc>
                <a:tc>
                  <a:txBody>
                    <a:bodyPr lIns="85725" tIns="85725" rIns="85725" bIns="85725">
                      <a:noAutofit/>
                    </a:bodyPr>
                    <a:lstStyle/>
                    <a:p>
                      <a:pPr algn="l"/>
                      <a:r>
                        <a:rPr sz="1875" b="0">
                          <a:solidFill>
                            <a:srgbClr val="182C43"/>
                          </a:solidFill>
                          <a:latin typeface="Arial"/>
                          <a:ea typeface="Arial"/>
                          <a:cs typeface="Arial"/>
                        </a:rPr>
                        <a:t>Plan the first research experiment</a:t>
                      </a:r>
                    </a:p>
                  </a:txBody>
                  <a:tcPr marL="85725" marR="85725" marT="19050" marB="19050" anchor="ctr">
                    <a:lnR w="6668">
                      <a:solidFill>
                        <a:srgbClr val="D9E0E7"/>
                      </a:solidFill>
                      <a:prstDash val="solid"/>
                    </a:lnR>
                    <a:lnB w="6668">
                      <a:solidFill>
                        <a:srgbClr val="D9E0E7"/>
                      </a:solidFill>
                      <a:prstDash val="solid"/>
                    </a:lnB>
                    <a:solidFill>
                      <a:srgbClr val="F1F4F7"/>
                    </a:solidFill>
                  </a:tcPr>
                </a:tc>
                <a:tc>
                  <a:txBody>
                    <a:bodyPr lIns="85725" tIns="85725" rIns="85725" bIns="85725">
                      <a:noAutofit/>
                    </a:bodyPr>
                    <a:lstStyle/>
                    <a:p>
                      <a:pPr algn="l"/>
                      <a:r>
                        <a:rPr sz="1875" b="0">
                          <a:solidFill>
                            <a:srgbClr val="182C43"/>
                          </a:solidFill>
                          <a:latin typeface="Arial"/>
                          <a:ea typeface="Arial"/>
                          <a:cs typeface="Arial"/>
                        </a:rPr>
                        <a:t>Paper to read, example to calculate and a measurable first test</a:t>
                      </a:r>
                    </a:p>
                  </a:txBody>
                  <a:tcPr marL="85725" marR="85725" marT="19050" marB="19050" anchor="ctr">
                    <a:lnR w="6668">
                      <a:solidFill>
                        <a:srgbClr val="D9E0E7"/>
                      </a:solidFill>
                      <a:prstDash val="solid"/>
                    </a:lnR>
                    <a:lnB w="6668">
                      <a:solidFill>
                        <a:srgbClr val="D9E0E7"/>
                      </a:solidFill>
                      <a:prstDash val="solid"/>
                    </a:lnB>
                    <a:solidFill>
                      <a:srgbClr val="F1F4F7"/>
                    </a:solidFill>
                  </a:tcPr>
                </a:tc>
              </a:tr>
              <a:tr h="641985">
                <a:tc>
                  <a:txBody>
                    <a:bodyPr lIns="85725" tIns="85725" rIns="85725" bIns="85725">
                      <a:noAutofit/>
                    </a:bodyPr>
                    <a:lstStyle/>
                    <a:p>
                      <a:pPr algn="l"/>
                      <a:r>
                        <a:rPr sz="1875" b="1">
                          <a:solidFill>
                            <a:srgbClr val="182C43"/>
                          </a:solidFill>
                          <a:latin typeface="Arial"/>
                          <a:ea typeface="Arial"/>
                          <a:cs typeface="Arial"/>
                        </a:rPr>
                        <a:t>3 minutes</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875" b="0">
                          <a:solidFill>
                            <a:srgbClr val="182C43"/>
                          </a:solidFill>
                          <a:latin typeface="Arial"/>
                          <a:ea typeface="Arial"/>
                          <a:cs typeface="Arial"/>
                        </a:rPr>
                        <a:t>Four report-outs, 45 seconds each</a:t>
                      </a:r>
                    </a:p>
                  </a:txBody>
                  <a:tcPr marL="85725" marR="85725" marT="19050" marB="19050" anchor="ctr">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875" b="0">
                          <a:solidFill>
                            <a:srgbClr val="182C43"/>
                          </a:solidFill>
                          <a:latin typeface="Arial"/>
                          <a:ea typeface="Arial"/>
                          <a:cs typeface="Arial"/>
                        </a:rPr>
                        <a:t>Baseline idea, next-week output and the main blocker</a:t>
                      </a:r>
                    </a:p>
                  </a:txBody>
                  <a:tcPr marL="85725" marR="85725" marT="19050" marB="19050" anchor="ctr">
                    <a:lnR w="6668">
                      <a:solidFill>
                        <a:srgbClr val="D9E0E7"/>
                      </a:solidFill>
                      <a:prstDash val="solid"/>
                    </a:lnR>
                    <a:lnB w="6668">
                      <a:solidFill>
                        <a:srgbClr val="D9E0E7"/>
                      </a:solidFill>
                      <a:prstDash val="solid"/>
                    </a:lnB>
                    <a:solidFill>
                      <a:srgbClr val="FFFFFF"/>
                    </a:solidFill>
                  </a:tcPr>
                </a:tc>
              </a:tr>
            </a:tbl>
          </a:graphicData>
        </a:graphic>
      </p:graphicFrame>
      <p:sp>
        <p:nvSpPr>
          <p:cNvPr id="10" name="Deliverable for October 20">
            <a:extLst xmlns:a="http://schemas.openxmlformats.org/drawingml/2006/main">
              <a:ext uri="{FF2B5EF4-FFF2-40B4-BE49-F238E27FC236}">
                <a16:creationId xmlns:a16="http://schemas.microsoft.com/office/drawing/2014/main" id="{189D1E50-EC10-4EEB-ADE3-3D033802D1AA}"/>
              </a:ext>
            </a:extLst>
          </p:cNvPr>
          <p:cNvSpPr>
            <a:spLocks xmlns:a="http://schemas.openxmlformats.org/drawingml/2006/main" noGrp="1"/>
          </p:cNvSpPr>
          <p:nvPr/>
        </p:nvSpPr>
        <p:spPr>
          <a:xfrm xmlns:a="http://schemas.openxmlformats.org/drawingml/2006/main">
            <a:off x="609600" y="56197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FF5400"/>
                </a:solidFill>
                <a:latin typeface="Arial"/>
                <a:ea typeface="Arial"/>
                <a:cs typeface="Arial"/>
              </a:defRPr>
            </a:defPPr>
          </a:lstStyle>
          <a:p xmlns:a="http://schemas.openxmlformats.org/drawingml/2006/main">
            <a:pPr algn="l">
              <a:defRPr sz="2100" b="1">
                <a:solidFill>
                  <a:srgbClr val="FF5400"/>
                </a:solidFill>
                <a:latin typeface="Arial"/>
                <a:ea typeface="Arial"/>
                <a:cs typeface="Arial"/>
              </a:defRPr>
            </a:pPr>
            <a:r>
              <a:rPr sz="2100" b="1">
                <a:solidFill>
                  <a:srgbClr val="FF5400"/>
                </a:solidFill>
                <a:latin typeface="Arial"/>
                <a:ea typeface="Arial"/>
                <a:cs typeface="Arial"/>
              </a:rPr>
              <a:t>Deliverable for October 20</a:t>
            </a:r>
          </a:p>
        </p:txBody>
      </p:sp>
      <p:sp>
        <p:nvSpPr>
          <p:cNvPr id="11" name="">
            <a:extLst xmlns:a="http://schemas.openxmlformats.org/drawingml/2006/main">
              <a:ext uri="{FF2B5EF4-FFF2-40B4-BE49-F238E27FC236}">
                <a16:creationId xmlns:a16="http://schemas.microsoft.com/office/drawing/2014/main" id="{F3072B5F-75AE-4F5E-B154-22CA54B08C91}"/>
              </a:ext>
            </a:extLst>
          </p:cNvPr>
          <p:cNvSpPr>
            <a:spLocks xmlns:a="http://schemas.openxmlformats.org/drawingml/2006/main" noGrp="1"/>
          </p:cNvSpPr>
          <p:nvPr/>
        </p:nvSpPr>
        <p:spPr>
          <a:xfrm xmlns:a="http://schemas.openxmlformats.org/drawingml/2006/main">
            <a:off x="609600" y="6010275"/>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182C43"/>
                </a:solidFill>
                <a:latin typeface="Arial"/>
                <a:ea typeface="Arial"/>
                <a:cs typeface="Arial"/>
              </a:defRPr>
            </a:defPPr>
          </a:lstStyle>
          <a:p xmlns:a="http://schemas.openxmlformats.org/drawingml/2006/main">
            <a:pPr marL="266700" indent="-152400" algn="l">
              <a:spcAft>
                <a:spcPts val="0"/>
              </a:spcAft>
              <a:buChar char="•"/>
              <a:defRPr sz="1725" b="0">
                <a:solidFill>
                  <a:srgbClr val="182C43"/>
                </a:solidFill>
                <a:latin typeface="Arial"/>
                <a:ea typeface="Arial"/>
                <a:cs typeface="Arial"/>
              </a:defRPr>
            </a:pPr>
            <a:r>
              <a:rPr sz="1725">
                <a:solidFill>
                  <a:srgbClr val="182C43"/>
                </a:solidFill>
                <a:latin typeface="Arial"/>
                <a:ea typeface="Arial"/>
                <a:cs typeface="Arial"/>
              </a:rPr>
              <a:t>Source summary, rules, worked trade and first test. Platform: one gap and acceptance test.</a:t>
            </a:r>
          </a:p>
        </p:txBody>
      </p:sp>
    </p:spTree>
    <p:extLst>
      <p:ext uri="{BB962C8B-B14F-4D97-AF65-F5344CB8AC3E}">
        <p14:creationId xmlns:p14="http://schemas.microsoft.com/office/powerpoint/2010/main" val="793872342"/>
      </p:ext>
    </p:extLst>
  </p:cSld>
</p:sld>
</file>

<file path=ppt/slides/slide26.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REFERENCE">
            <a:extLst xmlns:a="http://schemas.openxmlformats.org/drawingml/2006/main">
              <a:ext uri="{FF2B5EF4-FFF2-40B4-BE49-F238E27FC236}">
                <a16:creationId xmlns:a16="http://schemas.microsoft.com/office/drawing/2014/main" id="{9C2D5969-96EF-42E8-8970-E74726DFF4FD}"/>
              </a:ext>
            </a:extLst>
          </p:cNvPr>
          <p:cNvSpPr>
            <a:spLocks xmlns:a="http://schemas.openxmlformats.org/drawingml/2006/main" noGrp="1"/>
          </p:cNvSpPr>
          <p:nvPr/>
        </p:nvSpPr>
        <p:spPr>
          <a:xfrm xmlns:a="http://schemas.openxmlformats.org/drawingml/2006/main">
            <a:off x="609600" y="285750"/>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FF5400"/>
                </a:solidFill>
                <a:latin typeface="Arial"/>
                <a:ea typeface="Arial"/>
                <a:cs typeface="Arial"/>
              </a:defRPr>
            </a:defPPr>
          </a:lstStyle>
          <a:p xmlns:a="http://schemas.openxmlformats.org/drawingml/2006/main">
            <a:pPr algn="l">
              <a:buNone/>
              <a:defRPr sz="1350" b="1">
                <a:solidFill>
                  <a:srgbClr val="FF5400"/>
                </a:solidFill>
                <a:latin typeface="Arial"/>
                <a:ea typeface="Arial"/>
                <a:cs typeface="Arial"/>
              </a:defRPr>
            </a:pPr>
            <a:r>
              <a:rPr sz="1350" b="1">
                <a:solidFill>
                  <a:srgbClr val="FF5400"/>
                </a:solidFill>
                <a:latin typeface="Arial"/>
                <a:ea typeface="Arial"/>
                <a:cs typeface="Arial"/>
              </a:rPr>
              <a:t>REFERENCE</a:t>
            </a:r>
          </a:p>
        </p:txBody>
      </p:sp>
      <p:sp>
        <p:nvSpPr>
          <p:cNvPr id="2" name="Slide title">
            <a:extLst xmlns:a="http://schemas.openxmlformats.org/drawingml/2006/main">
              <a:ext uri="{FF2B5EF4-FFF2-40B4-BE49-F238E27FC236}">
                <a16:creationId xmlns:a16="http://schemas.microsoft.com/office/drawing/2014/main" id="{24C74216-214B-47E4-97EE-7F9751D80FF8}"/>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004D73"/>
                </a:solidFill>
                <a:latin typeface="Arial"/>
                <a:ea typeface="Arial"/>
                <a:cs typeface="Arial"/>
              </a:defRPr>
            </a:defPPr>
          </a:lstStyle>
          <a:p xmlns:a="http://schemas.openxmlformats.org/drawingml/2006/main">
            <a:pPr algn="l">
              <a:buNone/>
              <a:defRPr sz="3300" b="1">
                <a:solidFill>
                  <a:srgbClr val="004D73"/>
                </a:solidFill>
                <a:latin typeface="Arial"/>
                <a:ea typeface="Arial"/>
                <a:cs typeface="Arial"/>
              </a:defRPr>
            </a:pPr>
            <a:r>
              <a:rPr sz="3300" b="1">
                <a:solidFill>
                  <a:srgbClr val="004D73"/>
                </a:solidFill>
                <a:latin typeface="Arial"/>
                <a:ea typeface="Arial"/>
                <a:cs typeface="Arial"/>
              </a:rPr>
              <a:t>Online paper readiness checklist</a:t>
            </a:r>
          </a:p>
        </p:txBody>
      </p:sp>
      <p:sp>
        <p:nvSpPr>
          <p:cNvPr id="3" name="SHPE CAPITAL    OCTOBER 13, 2026">
            <a:extLst xmlns:a="http://schemas.openxmlformats.org/drawingml/2006/main">
              <a:ext uri="{FF2B5EF4-FFF2-40B4-BE49-F238E27FC236}">
                <a16:creationId xmlns:a16="http://schemas.microsoft.com/office/drawing/2014/main" id="{80099D01-0409-4C81-8C68-77F9C136E66F}"/>
              </a:ext>
            </a:extLst>
          </p:cNvPr>
          <p:cNvSpPr>
            <a:spLocks xmlns:a="http://schemas.openxmlformats.org/drawingml/2006/main" noGrp="1"/>
          </p:cNvSpPr>
          <p:nvPr/>
        </p:nvSpPr>
        <p:spPr>
          <a:xfrm xmlns:a="http://schemas.openxmlformats.org/drawingml/2006/main">
            <a:off x="609600" y="6438900"/>
            <a:ext cx="771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SHPE CAPITAL    OCTOBER 13, 2026</a:t>
            </a:r>
          </a:p>
        </p:txBody>
      </p:sp>
      <p:sp>
        <p:nvSpPr>
          <p:cNvPr id="4" name="Reference">
            <a:extLst xmlns:a="http://schemas.openxmlformats.org/drawingml/2006/main">
              <a:ext uri="{FF2B5EF4-FFF2-40B4-BE49-F238E27FC236}">
                <a16:creationId xmlns:a16="http://schemas.microsoft.com/office/drawing/2014/main" id="{34DCCB77-0D33-4F2B-902C-74F7CA373FFA}"/>
              </a:ext>
            </a:extLst>
          </p:cNvPr>
          <p:cNvSpPr>
            <a:spLocks xmlns:a="http://schemas.openxmlformats.org/drawingml/2006/main" noGrp="1"/>
          </p:cNvSpPr>
          <p:nvPr/>
        </p:nvSpPr>
        <p:spPr>
          <a:xfrm xmlns:a="http://schemas.openxmlformats.org/drawingml/2006/main">
            <a:off x="9029700" y="643890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Reference</a:t>
            </a:r>
          </a:p>
        </p:txBody>
      </p:sp>
      <p:sp>
        <p:nvSpPr>
          <p:cNvPr id="5" name="18">
            <a:extLst xmlns:a="http://schemas.openxmlformats.org/drawingml/2006/main">
              <a:ext uri="{FF2B5EF4-FFF2-40B4-BE49-F238E27FC236}">
                <a16:creationId xmlns:a16="http://schemas.microsoft.com/office/drawing/2014/main" id="{42032CCA-72AB-4B06-8A27-2BA723924008}"/>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26</a:t>
            </a:r>
          </a:p>
        </p:txBody>
      </p:sp>
      <p:graphicFrame>
        <p:nvGraphicFramePr>
          <p:cNvPr id="8" name="">
            <a:extLst xmlns:a="http://schemas.openxmlformats.org/drawingml/2006/main">
              <a:ext uri="{FF2B5EF4-FFF2-40B4-BE49-F238E27FC236}">
                <a16:creationId xmlns:a16="http://schemas.microsoft.com/office/drawing/2014/main" id="{EAE1D624-01D6-4C2D-A192-E9C383249F2C}"/>
              </a:ext>
            </a:extLst>
          </p:cNvPr>
          <p:cNvGraphicFramePr/>
          <p:nvPr/>
        </p:nvGraphicFramePr>
        <p:xfrm>
          <a:off xmlns:a="http://schemas.openxmlformats.org/drawingml/2006/main" x="609600" y="1762125"/>
          <a:ext xmlns:a="http://schemas.openxmlformats.org/drawingml/2006/main" cx="10972800" cy="3962400"/>
        </p:xfrm>
        <a:graphic xmlns:a="http://schemas.openxmlformats.org/drawingml/2006/main">
          <a:graphicData uri="http://schemas.openxmlformats.org/drawingml/2006/table">
            <a:tbl>
              <a:tblPr firstRow="1" bandRow="0"/>
              <a:tblGrid>
                <a:gridCol w="2752725"/>
                <a:gridCol w="5210175"/>
                <a:gridCol w="3009900"/>
              </a:tblGrid>
              <a:tr h="419100">
                <a:tc>
                  <a:txBody>
                    <a:bodyPr lIns="85725" tIns="85725" rIns="85725" bIns="85725">
                      <a:noAutofit/>
                    </a:bodyPr>
                    <a:lstStyle/>
                    <a:p>
                      <a:pPr algn="l"/>
                      <a:r>
                        <a:rPr sz="1800" b="1">
                          <a:solidFill>
                            <a:srgbClr val="FFFFFF"/>
                          </a:solidFill>
                          <a:latin typeface="Arial"/>
                          <a:ea typeface="Arial"/>
                          <a:cs typeface="Arial"/>
                        </a:rPr>
                        <a:t>Requirement</a:t>
                      </a:r>
                    </a:p>
                  </a:txBody>
                  <a:tcPr marL="85725" marR="85725" marT="19050" marB="19050" anchor="ctr">
                    <a:lnL w="6668">
                      <a:solidFill>
                        <a:srgbClr val="D9E0E7"/>
                      </a:solidFill>
                      <a:prstDash val="solid"/>
                    </a:lnL>
                    <a:lnR w="6668">
                      <a:solidFill>
                        <a:srgbClr val="D9E0E7"/>
                      </a:solidFill>
                      <a:prstDash val="solid"/>
                    </a:lnR>
                    <a:lnT w="6668">
                      <a:solidFill>
                        <a:srgbClr val="D9E0E7"/>
                      </a:solidFill>
                      <a:prstDash val="solid"/>
                    </a:lnT>
                    <a:lnB w="6668">
                      <a:solidFill>
                        <a:srgbClr val="D9E0E7"/>
                      </a:solidFill>
                      <a:prstDash val="solid"/>
                    </a:lnB>
                    <a:solidFill>
                      <a:srgbClr val="004D73"/>
                    </a:solidFill>
                  </a:tcPr>
                </a:tc>
                <a:tc>
                  <a:txBody>
                    <a:bodyPr lIns="85725" tIns="85725" rIns="85725" bIns="85725">
                      <a:noAutofit/>
                    </a:bodyPr>
                    <a:lstStyle/>
                    <a:p>
                      <a:pPr algn="l"/>
                      <a:r>
                        <a:rPr sz="1800" b="1">
                          <a:solidFill>
                            <a:srgbClr val="FFFFFF"/>
                          </a:solidFill>
                          <a:latin typeface="Arial"/>
                          <a:ea typeface="Arial"/>
                          <a:cs typeface="Arial"/>
                        </a:rPr>
                        <a:t>Evidence</a:t>
                      </a:r>
                    </a:p>
                  </a:txBody>
                  <a:tcPr marL="85725" marR="85725" marT="19050" marB="19050" anchor="ctr">
                    <a:lnR w="6668">
                      <a:solidFill>
                        <a:srgbClr val="D9E0E7"/>
                      </a:solidFill>
                      <a:prstDash val="solid"/>
                    </a:lnR>
                    <a:lnT w="6668">
                      <a:solidFill>
                        <a:srgbClr val="D9E0E7"/>
                      </a:solidFill>
                      <a:prstDash val="solid"/>
                    </a:lnT>
                    <a:lnB w="6668">
                      <a:solidFill>
                        <a:srgbClr val="D9E0E7"/>
                      </a:solidFill>
                      <a:prstDash val="solid"/>
                    </a:lnB>
                    <a:solidFill>
                      <a:srgbClr val="004D73"/>
                    </a:solidFill>
                  </a:tcPr>
                </a:tc>
                <a:tc>
                  <a:txBody>
                    <a:bodyPr lIns="85725" tIns="85725" rIns="85725" bIns="85725">
                      <a:noAutofit/>
                    </a:bodyPr>
                    <a:lstStyle/>
                    <a:p>
                      <a:pPr algn="l"/>
                      <a:r>
                        <a:rPr sz="1800" b="1">
                          <a:solidFill>
                            <a:srgbClr val="FFFFFF"/>
                          </a:solidFill>
                          <a:latin typeface="Arial"/>
                          <a:ea typeface="Arial"/>
                          <a:cs typeface="Arial"/>
                        </a:rPr>
                        <a:t>Owner / record</a:t>
                      </a:r>
                    </a:p>
                  </a:txBody>
                  <a:tcPr marL="85725" marR="85725" marT="19050" marB="19050" anchor="ctr">
                    <a:lnR w="6668">
                      <a:solidFill>
                        <a:srgbClr val="D9E0E7"/>
                      </a:solidFill>
                      <a:prstDash val="solid"/>
                    </a:lnR>
                    <a:lnT w="6668">
                      <a:solidFill>
                        <a:srgbClr val="D9E0E7"/>
                      </a:solidFill>
                      <a:prstDash val="solid"/>
                    </a:lnT>
                    <a:lnB w="6668">
                      <a:solidFill>
                        <a:srgbClr val="D9E0E7"/>
                      </a:solidFill>
                      <a:prstDash val="solid"/>
                    </a:lnB>
                    <a:solidFill>
                      <a:srgbClr val="004D73"/>
                    </a:solidFill>
                  </a:tcPr>
                </a:tc>
              </a:tr>
              <a:tr h="708660">
                <a:tc>
                  <a:txBody>
                    <a:bodyPr lIns="85725" tIns="85725" rIns="85725" bIns="85725">
                      <a:noAutofit/>
                    </a:bodyPr>
                    <a:lstStyle/>
                    <a:p>
                      <a:pPr algn="l"/>
                      <a:r>
                        <a:rPr sz="1800" b="1">
                          <a:solidFill>
                            <a:srgbClr val="182C43"/>
                          </a:solidFill>
                          <a:latin typeface="Arial"/>
                          <a:ea typeface="Arial"/>
                          <a:cs typeface="Arial"/>
                        </a:rPr>
                        <a:t>Version and historical test</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800" b="0">
                          <a:solidFill>
                            <a:srgbClr val="182C43"/>
                          </a:solidFill>
                          <a:latin typeface="Arial"/>
                          <a:ea typeface="Arial"/>
                          <a:cs typeface="Arial"/>
                        </a:rPr>
                        <a:t>Exact rules, config, fixed data and net report</a:t>
                      </a:r>
                    </a:p>
                  </a:txBody>
                  <a:tcPr marL="85725" marR="85725" marT="19050" marB="19050" anchor="ctr">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800" b="0">
                          <a:solidFill>
                            <a:srgbClr val="182C43"/>
                          </a:solidFill>
                          <a:latin typeface="Arial"/>
                          <a:ea typeface="Arial"/>
                          <a:cs typeface="Arial"/>
                        </a:rPr>
                        <a:t>Team lead plus independent reviewer</a:t>
                      </a:r>
                    </a:p>
                  </a:txBody>
                  <a:tcPr marL="85725" marR="85725" marT="19050" marB="19050" anchor="ctr">
                    <a:lnR w="6668">
                      <a:solidFill>
                        <a:srgbClr val="D9E0E7"/>
                      </a:solidFill>
                      <a:prstDash val="solid"/>
                    </a:lnR>
                    <a:lnB w="6668">
                      <a:solidFill>
                        <a:srgbClr val="D9E0E7"/>
                      </a:solidFill>
                      <a:prstDash val="solid"/>
                    </a:lnB>
                    <a:solidFill>
                      <a:srgbClr val="FFFFFF"/>
                    </a:solidFill>
                  </a:tcPr>
                </a:tc>
              </a:tr>
              <a:tr h="708660">
                <a:tc>
                  <a:txBody>
                    <a:bodyPr lIns="85725" tIns="85725" rIns="85725" bIns="85725">
                      <a:noAutofit/>
                    </a:bodyPr>
                    <a:lstStyle/>
                    <a:p>
                      <a:pPr algn="l"/>
                      <a:r>
                        <a:rPr sz="1800" b="1">
                          <a:solidFill>
                            <a:srgbClr val="182C43"/>
                          </a:solidFill>
                          <a:latin typeface="Arial"/>
                          <a:ea typeface="Arial"/>
                          <a:cs typeface="Arial"/>
                        </a:rPr>
                        <a:t>Risk and order behavior</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1F4F7"/>
                    </a:solidFill>
                  </a:tcPr>
                </a:tc>
                <a:tc>
                  <a:txBody>
                    <a:bodyPr lIns="85725" tIns="85725" rIns="85725" bIns="85725">
                      <a:noAutofit/>
                    </a:bodyPr>
                    <a:lstStyle/>
                    <a:p>
                      <a:pPr algn="l"/>
                      <a:r>
                        <a:rPr sz="1800" b="0">
                          <a:solidFill>
                            <a:srgbClr val="182C43"/>
                          </a:solidFill>
                          <a:latin typeface="Arial"/>
                          <a:ea typeface="Arial"/>
                          <a:cs typeface="Arial"/>
                        </a:rPr>
                        <a:t>Limits, exits, partial fills, short/hedge and stale-data checks</a:t>
                      </a:r>
                    </a:p>
                  </a:txBody>
                  <a:tcPr marL="85725" marR="85725" marT="19050" marB="19050" anchor="ctr">
                    <a:lnR w="6668">
                      <a:solidFill>
                        <a:srgbClr val="D9E0E7"/>
                      </a:solidFill>
                      <a:prstDash val="solid"/>
                    </a:lnR>
                    <a:lnB w="6668">
                      <a:solidFill>
                        <a:srgbClr val="D9E0E7"/>
                      </a:solidFill>
                      <a:prstDash val="solid"/>
                    </a:lnB>
                    <a:solidFill>
                      <a:srgbClr val="F1F4F7"/>
                    </a:solidFill>
                  </a:tcPr>
                </a:tc>
                <a:tc>
                  <a:txBody>
                    <a:bodyPr lIns="85725" tIns="85725" rIns="85725" bIns="85725">
                      <a:noAutofit/>
                    </a:bodyPr>
                    <a:lstStyle/>
                    <a:p>
                      <a:pPr algn="l"/>
                      <a:r>
                        <a:rPr sz="1800" b="0">
                          <a:solidFill>
                            <a:srgbClr val="182C43"/>
                          </a:solidFill>
                          <a:latin typeface="Arial"/>
                          <a:ea typeface="Arial"/>
                          <a:cs typeface="Arial"/>
                        </a:rPr>
                        <a:t>Implementation and validation owners</a:t>
                      </a:r>
                    </a:p>
                  </a:txBody>
                  <a:tcPr marL="85725" marR="85725" marT="19050" marB="19050" anchor="ctr">
                    <a:lnR w="6668">
                      <a:solidFill>
                        <a:srgbClr val="D9E0E7"/>
                      </a:solidFill>
                      <a:prstDash val="solid"/>
                    </a:lnR>
                    <a:lnB w="6668">
                      <a:solidFill>
                        <a:srgbClr val="D9E0E7"/>
                      </a:solidFill>
                      <a:prstDash val="solid"/>
                    </a:lnB>
                    <a:solidFill>
                      <a:srgbClr val="F1F4F7"/>
                    </a:solidFill>
                  </a:tcPr>
                </a:tc>
              </a:tr>
              <a:tr h="708660">
                <a:tc>
                  <a:txBody>
                    <a:bodyPr lIns="85725" tIns="85725" rIns="85725" bIns="85725">
                      <a:noAutofit/>
                    </a:bodyPr>
                    <a:lstStyle/>
                    <a:p>
                      <a:pPr algn="l"/>
                      <a:r>
                        <a:rPr sz="1800" b="1">
                          <a:solidFill>
                            <a:srgbClr val="182C43"/>
                          </a:solidFill>
                          <a:latin typeface="Arial"/>
                          <a:ea typeface="Arial"/>
                          <a:cs typeface="Arial"/>
                        </a:rPr>
                        <a:t>Local and paper paths</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800" b="0">
                          <a:solidFill>
                            <a:srgbClr val="182C43"/>
                          </a:solidFill>
                          <a:latin typeface="Arial"/>
                          <a:ea typeface="Arial"/>
                          <a:cs typeface="Arial"/>
                        </a:rPr>
                        <a:t>Confirmed orders, shutdown, restart and reconciled state</a:t>
                      </a:r>
                    </a:p>
                  </a:txBody>
                  <a:tcPr marL="85725" marR="85725" marT="19050" marB="19050" anchor="ctr">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800" b="0">
                          <a:solidFill>
                            <a:srgbClr val="182C43"/>
                          </a:solidFill>
                          <a:latin typeface="Arial"/>
                          <a:ea typeface="Arial"/>
                          <a:cs typeface="Arial"/>
                        </a:rPr>
                        <a:t>Platform with strategy team</a:t>
                      </a:r>
                    </a:p>
                  </a:txBody>
                  <a:tcPr marL="85725" marR="85725" marT="19050" marB="19050" anchor="ctr">
                    <a:lnR w="6668">
                      <a:solidFill>
                        <a:srgbClr val="D9E0E7"/>
                      </a:solidFill>
                      <a:prstDash val="solid"/>
                    </a:lnR>
                    <a:lnB w="6668">
                      <a:solidFill>
                        <a:srgbClr val="D9E0E7"/>
                      </a:solidFill>
                      <a:prstDash val="solid"/>
                    </a:lnB>
                    <a:solidFill>
                      <a:srgbClr val="FFFFFF"/>
                    </a:solidFill>
                  </a:tcPr>
                </a:tc>
              </a:tr>
              <a:tr h="708660">
                <a:tc>
                  <a:txBody>
                    <a:bodyPr lIns="85725" tIns="85725" rIns="85725" bIns="85725">
                      <a:noAutofit/>
                    </a:bodyPr>
                    <a:lstStyle/>
                    <a:p>
                      <a:pPr algn="l"/>
                      <a:r>
                        <a:rPr sz="1800" b="1">
                          <a:solidFill>
                            <a:srgbClr val="182C43"/>
                          </a:solidFill>
                          <a:latin typeface="Arial"/>
                          <a:ea typeface="Arial"/>
                          <a:cs typeface="Arial"/>
                        </a:rPr>
                        <a:t>Monitoring and recovery</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1F4F7"/>
                    </a:solidFill>
                  </a:tcPr>
                </a:tc>
                <a:tc>
                  <a:txBody>
                    <a:bodyPr lIns="85725" tIns="85725" rIns="85725" bIns="85725">
                      <a:noAutofit/>
                    </a:bodyPr>
                    <a:lstStyle/>
                    <a:p>
                      <a:pPr algn="l"/>
                      <a:r>
                        <a:rPr sz="1800" b="0">
                          <a:solidFill>
                            <a:srgbClr val="182C43"/>
                          </a:solidFill>
                          <a:latin typeface="Arial"/>
                          <a:ea typeface="Arial"/>
                          <a:cs typeface="Arial"/>
                        </a:rPr>
                        <a:t>Health alerts, daily checks, incident log and runbook</a:t>
                      </a:r>
                    </a:p>
                  </a:txBody>
                  <a:tcPr marL="85725" marR="85725" marT="19050" marB="19050" anchor="ctr">
                    <a:lnR w="6668">
                      <a:solidFill>
                        <a:srgbClr val="D9E0E7"/>
                      </a:solidFill>
                      <a:prstDash val="solid"/>
                    </a:lnR>
                    <a:lnB w="6668">
                      <a:solidFill>
                        <a:srgbClr val="D9E0E7"/>
                      </a:solidFill>
                      <a:prstDash val="solid"/>
                    </a:lnB>
                    <a:solidFill>
                      <a:srgbClr val="F1F4F7"/>
                    </a:solidFill>
                  </a:tcPr>
                </a:tc>
                <a:tc>
                  <a:txBody>
                    <a:bodyPr lIns="85725" tIns="85725" rIns="85725" bIns="85725">
                      <a:noAutofit/>
                    </a:bodyPr>
                    <a:lstStyle/>
                    <a:p>
                      <a:pPr algn="l"/>
                      <a:r>
                        <a:rPr sz="1800" b="0">
                          <a:solidFill>
                            <a:srgbClr val="182C43"/>
                          </a:solidFill>
                          <a:latin typeface="Arial"/>
                          <a:ea typeface="Arial"/>
                          <a:cs typeface="Arial"/>
                        </a:rPr>
                        <a:t>Named primary operator and backup</a:t>
                      </a:r>
                    </a:p>
                  </a:txBody>
                  <a:tcPr marL="85725" marR="85725" marT="19050" marB="19050" anchor="ctr">
                    <a:lnR w="6668">
                      <a:solidFill>
                        <a:srgbClr val="D9E0E7"/>
                      </a:solidFill>
                      <a:prstDash val="solid"/>
                    </a:lnR>
                    <a:lnB w="6668">
                      <a:solidFill>
                        <a:srgbClr val="D9E0E7"/>
                      </a:solidFill>
                      <a:prstDash val="solid"/>
                    </a:lnB>
                    <a:solidFill>
                      <a:srgbClr val="F1F4F7"/>
                    </a:solidFill>
                  </a:tcPr>
                </a:tc>
              </a:tr>
              <a:tr h="708660">
                <a:tc>
                  <a:txBody>
                    <a:bodyPr lIns="85725" tIns="85725" rIns="85725" bIns="85725">
                      <a:noAutofit/>
                    </a:bodyPr>
                    <a:lstStyle/>
                    <a:p>
                      <a:pPr algn="l"/>
                      <a:r>
                        <a:rPr sz="1800" b="1">
                          <a:solidFill>
                            <a:srgbClr val="182C43"/>
                          </a:solidFill>
                          <a:latin typeface="Arial"/>
                          <a:ea typeface="Arial"/>
                          <a:cs typeface="Arial"/>
                        </a:rPr>
                        <a:t>Evaluation plan</a:t>
                      </a:r>
                    </a:p>
                  </a:txBody>
                  <a:tcPr marL="85725" marR="85725" marT="19050" marB="19050" anchor="ctr">
                    <a:lnL w="6668">
                      <a:solidFill>
                        <a:srgbClr val="D9E0E7"/>
                      </a:solidFill>
                      <a:prstDash val="solid"/>
                    </a:lnL>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800" b="0">
                          <a:solidFill>
                            <a:srgbClr val="182C43"/>
                          </a:solidFill>
                          <a:latin typeface="Arial"/>
                          <a:ea typeface="Arial"/>
                          <a:cs typeface="Arial"/>
                        </a:rPr>
                        <a:t>Fixed baseline, separate variants and dated results</a:t>
                      </a:r>
                    </a:p>
                  </a:txBody>
                  <a:tcPr marL="85725" marR="85725" marT="19050" marB="19050" anchor="ctr">
                    <a:lnR w="6668">
                      <a:solidFill>
                        <a:srgbClr val="D9E0E7"/>
                      </a:solidFill>
                      <a:prstDash val="solid"/>
                    </a:lnR>
                    <a:lnB w="6668">
                      <a:solidFill>
                        <a:srgbClr val="D9E0E7"/>
                      </a:solidFill>
                      <a:prstDash val="solid"/>
                    </a:lnB>
                    <a:solidFill>
                      <a:srgbClr val="FFFFFF"/>
                    </a:solidFill>
                  </a:tcPr>
                </a:tc>
                <a:tc>
                  <a:txBody>
                    <a:bodyPr lIns="85725" tIns="85725" rIns="85725" bIns="85725">
                      <a:noAutofit/>
                    </a:bodyPr>
                    <a:lstStyle/>
                    <a:p>
                      <a:pPr algn="l"/>
                      <a:r>
                        <a:rPr sz="1800" b="0">
                          <a:solidFill>
                            <a:srgbClr val="182C43"/>
                          </a:solidFill>
                          <a:latin typeface="Arial"/>
                          <a:ea typeface="Arial"/>
                          <a:cs typeface="Arial"/>
                        </a:rPr>
                        <a:t>Research/analysis owner</a:t>
                      </a:r>
                    </a:p>
                  </a:txBody>
                  <a:tcPr marL="85725" marR="85725" marT="19050" marB="19050" anchor="ctr">
                    <a:lnR w="6668">
                      <a:solidFill>
                        <a:srgbClr val="D9E0E7"/>
                      </a:solidFill>
                      <a:prstDash val="solid"/>
                    </a:lnR>
                    <a:lnB w="6668">
                      <a:solidFill>
                        <a:srgbClr val="D9E0E7"/>
                      </a:solidFill>
                      <a:prstDash val="solid"/>
                    </a:lnB>
                    <a:solidFill>
                      <a:srgbClr val="FFFFFF"/>
                    </a:solidFill>
                  </a:tcPr>
                </a:tc>
              </a:tr>
            </a:tbl>
          </a:graphicData>
        </a:graphic>
      </p:graphicFrame>
    </p:spTree>
    <p:extLst>
      <p:ext uri="{BB962C8B-B14F-4D97-AF65-F5344CB8AC3E}">
        <p14:creationId xmlns:p14="http://schemas.microsoft.com/office/powerpoint/2010/main" val="1530626370"/>
      </p:ext>
    </p:extLst>
  </p:cSld>
</p:sld>
</file>

<file path=ppt/slides/slide27.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REFERENCE">
            <a:extLst xmlns:a="http://schemas.openxmlformats.org/drawingml/2006/main">
              <a:ext uri="{FF2B5EF4-FFF2-40B4-BE49-F238E27FC236}">
                <a16:creationId xmlns:a16="http://schemas.microsoft.com/office/drawing/2014/main" id="{7B17E73C-05D8-49F6-BE17-0F06EFA7A917}"/>
              </a:ext>
            </a:extLst>
          </p:cNvPr>
          <p:cNvSpPr>
            <a:spLocks xmlns:a="http://schemas.openxmlformats.org/drawingml/2006/main" noGrp="1"/>
          </p:cNvSpPr>
          <p:nvPr/>
        </p:nvSpPr>
        <p:spPr>
          <a:xfrm xmlns:a="http://schemas.openxmlformats.org/drawingml/2006/main">
            <a:off x="609600" y="285750"/>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FF5400"/>
                </a:solidFill>
                <a:latin typeface="Arial"/>
                <a:ea typeface="Arial"/>
                <a:cs typeface="Arial"/>
              </a:defRPr>
            </a:defPPr>
          </a:lstStyle>
          <a:p xmlns:a="http://schemas.openxmlformats.org/drawingml/2006/main">
            <a:pPr algn="l">
              <a:buNone/>
              <a:defRPr sz="1350" b="1">
                <a:solidFill>
                  <a:srgbClr val="FF5400"/>
                </a:solidFill>
                <a:latin typeface="Arial"/>
                <a:ea typeface="Arial"/>
                <a:cs typeface="Arial"/>
              </a:defRPr>
            </a:pPr>
            <a:r>
              <a:rPr sz="1350" b="1">
                <a:solidFill>
                  <a:srgbClr val="FF5400"/>
                </a:solidFill>
                <a:latin typeface="Arial"/>
                <a:ea typeface="Arial"/>
                <a:cs typeface="Arial"/>
              </a:rPr>
              <a:t>REFERENCE</a:t>
            </a:r>
          </a:p>
        </p:txBody>
      </p:sp>
      <p:sp>
        <p:nvSpPr>
          <p:cNvPr id="2" name="Slide title">
            <a:extLst xmlns:a="http://schemas.openxmlformats.org/drawingml/2006/main">
              <a:ext uri="{FF2B5EF4-FFF2-40B4-BE49-F238E27FC236}">
                <a16:creationId xmlns:a16="http://schemas.microsoft.com/office/drawing/2014/main" id="{F2E505CE-C768-4A01-8192-571651EF56D9}"/>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004D73"/>
                </a:solidFill>
                <a:latin typeface="Arial"/>
                <a:ea typeface="Arial"/>
                <a:cs typeface="Arial"/>
              </a:defRPr>
            </a:defPPr>
          </a:lstStyle>
          <a:p xmlns:a="http://schemas.openxmlformats.org/drawingml/2006/main">
            <a:pPr algn="l">
              <a:buNone/>
              <a:defRPr sz="3300" b="1">
                <a:solidFill>
                  <a:srgbClr val="004D73"/>
                </a:solidFill>
                <a:latin typeface="Arial"/>
                <a:ea typeface="Arial"/>
                <a:cs typeface="Arial"/>
              </a:defRPr>
            </a:pPr>
            <a:r>
              <a:rPr sz="3300" b="1">
                <a:solidFill>
                  <a:srgbClr val="004D73"/>
                </a:solidFill>
                <a:latin typeface="Arial"/>
                <a:ea typeface="Arial"/>
                <a:cs typeface="Arial"/>
              </a:rPr>
              <a:t>Research and project references</a:t>
            </a:r>
          </a:p>
        </p:txBody>
      </p:sp>
      <p:sp>
        <p:nvSpPr>
          <p:cNvPr id="3" name="SHPE CAPITAL    OCTOBER 13, 2026">
            <a:extLst xmlns:a="http://schemas.openxmlformats.org/drawingml/2006/main">
              <a:ext uri="{FF2B5EF4-FFF2-40B4-BE49-F238E27FC236}">
                <a16:creationId xmlns:a16="http://schemas.microsoft.com/office/drawing/2014/main" id="{780318D6-4686-43AF-8BC0-790B32D4C78B}"/>
              </a:ext>
            </a:extLst>
          </p:cNvPr>
          <p:cNvSpPr>
            <a:spLocks xmlns:a="http://schemas.openxmlformats.org/drawingml/2006/main" noGrp="1"/>
          </p:cNvSpPr>
          <p:nvPr/>
        </p:nvSpPr>
        <p:spPr>
          <a:xfrm xmlns:a="http://schemas.openxmlformats.org/drawingml/2006/main">
            <a:off x="609600" y="6438900"/>
            <a:ext cx="771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SHPE CAPITAL    OCTOBER 13, 2026</a:t>
            </a:r>
          </a:p>
        </p:txBody>
      </p:sp>
      <p:sp>
        <p:nvSpPr>
          <p:cNvPr id="4" name="Reference">
            <a:extLst xmlns:a="http://schemas.openxmlformats.org/drawingml/2006/main">
              <a:ext uri="{FF2B5EF4-FFF2-40B4-BE49-F238E27FC236}">
                <a16:creationId xmlns:a16="http://schemas.microsoft.com/office/drawing/2014/main" id="{169AA308-E09C-4659-A002-92054D84C9C3}"/>
              </a:ext>
            </a:extLst>
          </p:cNvPr>
          <p:cNvSpPr>
            <a:spLocks xmlns:a="http://schemas.openxmlformats.org/drawingml/2006/main" noGrp="1"/>
          </p:cNvSpPr>
          <p:nvPr/>
        </p:nvSpPr>
        <p:spPr>
          <a:xfrm xmlns:a="http://schemas.openxmlformats.org/drawingml/2006/main">
            <a:off x="9029700" y="643890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Reference</a:t>
            </a:r>
          </a:p>
        </p:txBody>
      </p:sp>
      <p:sp>
        <p:nvSpPr>
          <p:cNvPr id="5" name="19">
            <a:extLst xmlns:a="http://schemas.openxmlformats.org/drawingml/2006/main">
              <a:ext uri="{FF2B5EF4-FFF2-40B4-BE49-F238E27FC236}">
                <a16:creationId xmlns:a16="http://schemas.microsoft.com/office/drawing/2014/main" id="{5514C287-2F99-4EF4-8A03-01D6EFDD68C2}"/>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27</a:t>
            </a:r>
          </a:p>
        </p:txBody>
      </p:sp>
      <p:sp>
        <p:nvSpPr>
          <p:cNvPr id="22" name="Statistical arbitrage">
            <a:extLst xmlns:a="http://schemas.openxmlformats.org/drawingml/2006/main">
              <a:ext uri="{FF2B5EF4-FFF2-40B4-BE49-F238E27FC236}">
                <a16:creationId xmlns:a16="http://schemas.microsoft.com/office/drawing/2014/main" id="{35818E28-9490-4794-A3B1-8A54C90DFC33}"/>
              </a:ext>
            </a:extLst>
          </p:cNvPr>
          <p:cNvSpPr>
            <a:spLocks xmlns:a="http://schemas.openxmlformats.org/drawingml/2006/main" noGrp="1"/>
          </p:cNvSpPr>
          <p:nvPr/>
        </p:nvSpPr>
        <p:spPr>
          <a:xfrm xmlns:a="http://schemas.openxmlformats.org/drawingml/2006/main">
            <a:off x="609600" y="1552575"/>
            <a:ext cx="2457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1">
                <a:solidFill>
                  <a:srgbClr val="FF5400"/>
                </a:solidFill>
                <a:latin typeface="Arial"/>
                <a:ea typeface="Arial"/>
                <a:cs typeface="Arial"/>
              </a:defRPr>
            </a:defPPr>
          </a:lstStyle>
          <a:p xmlns:a="http://schemas.openxmlformats.org/drawingml/2006/main">
            <a:pPr algn="l">
              <a:defRPr sz="1800" b="1">
                <a:solidFill>
                  <a:srgbClr val="FF5400"/>
                </a:solidFill>
                <a:latin typeface="Arial"/>
                <a:ea typeface="Arial"/>
                <a:cs typeface="Arial"/>
              </a:defRPr>
            </a:pPr>
            <a:r>
              <a:rPr sz="1800" b="1">
                <a:solidFill>
                  <a:srgbClr val="FF5400"/>
                </a:solidFill>
                <a:latin typeface="Arial"/>
                <a:ea typeface="Arial"/>
                <a:cs typeface="Arial"/>
              </a:rPr>
              <a:t>Statistical arbitrage</a:t>
            </a:r>
          </a:p>
        </p:txBody>
      </p:sp>
      <p:sp>
        <p:nvSpPr>
          <p:cNvPr id="23" name="">
            <a:extLst xmlns:a="http://schemas.openxmlformats.org/drawingml/2006/main">
              <a:ext uri="{FF2B5EF4-FFF2-40B4-BE49-F238E27FC236}">
                <a16:creationId xmlns:a16="http://schemas.microsoft.com/office/drawing/2014/main" id="{F5FBF8E0-4776-4A2A-980A-93F6559FB016}"/>
              </a:ext>
            </a:extLst>
          </p:cNvPr>
          <p:cNvSpPr>
            <a:spLocks xmlns:a="http://schemas.openxmlformats.org/drawingml/2006/main" noGrp="1"/>
          </p:cNvSpPr>
          <p:nvPr/>
        </p:nvSpPr>
        <p:spPr>
          <a:xfrm xmlns:a="http://schemas.openxmlformats.org/drawingml/2006/main">
            <a:off x="3162300" y="1552575"/>
            <a:ext cx="8420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004D73"/>
                </a:solidFill>
                <a:latin typeface="Arial"/>
                <a:ea typeface="Arial"/>
                <a:cs typeface="Arial"/>
              </a:defRPr>
            </a:defPPr>
          </a:lstStyle>
          <a:p xmlns:a="http://schemas.openxmlformats.org/drawingml/2006/main">
            <a:pPr algn="l">
              <a:defRPr sz="1800" b="0">
                <a:solidFill>
                  <a:srgbClr val="004D73"/>
                </a:solidFill>
                <a:latin typeface="Arial"/>
                <a:ea typeface="Arial"/>
                <a:cs typeface="Arial"/>
              </a:defRPr>
            </a:pPr>
            <a:r>
              <a:rPr sz="1800" u="sng">
                <a:solidFill>
                  <a:srgbClr val="004D73"/>
                </a:solidFill>
                <a:latin typeface="Arial"/>
                <a:ea typeface="Arial"/>
                <a:cs typeface="Arial"/>
                <a:hlinkClick xmlns:r="http://schemas.openxmlformats.org/officeDocument/2006/relationships" r:id="Rdd45cfe0df8342a8"/>
              </a:rPr>
              <a:t>Avellaneda and Lee, Statistical Arbitrage</a:t>
            </a:r>
          </a:p>
        </p:txBody>
      </p:sp>
      <p:sp>
        <p:nvSpPr>
          <p:cNvPr id="24" name="Momentum">
            <a:extLst xmlns:a="http://schemas.openxmlformats.org/drawingml/2006/main">
              <a:ext uri="{FF2B5EF4-FFF2-40B4-BE49-F238E27FC236}">
                <a16:creationId xmlns:a16="http://schemas.microsoft.com/office/drawing/2014/main" id="{6300A007-0D67-4D8D-99FF-E3EF82EA4997}"/>
              </a:ext>
            </a:extLst>
          </p:cNvPr>
          <p:cNvSpPr>
            <a:spLocks xmlns:a="http://schemas.openxmlformats.org/drawingml/2006/main" noGrp="1"/>
          </p:cNvSpPr>
          <p:nvPr/>
        </p:nvSpPr>
        <p:spPr>
          <a:xfrm xmlns:a="http://schemas.openxmlformats.org/drawingml/2006/main">
            <a:off x="609600" y="1962150"/>
            <a:ext cx="2457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1">
                <a:solidFill>
                  <a:srgbClr val="FF5400"/>
                </a:solidFill>
                <a:latin typeface="Arial"/>
                <a:ea typeface="Arial"/>
                <a:cs typeface="Arial"/>
              </a:defRPr>
            </a:defPPr>
          </a:lstStyle>
          <a:p xmlns:a="http://schemas.openxmlformats.org/drawingml/2006/main">
            <a:pPr algn="l">
              <a:defRPr sz="1800" b="1">
                <a:solidFill>
                  <a:srgbClr val="FF5400"/>
                </a:solidFill>
                <a:latin typeface="Arial"/>
                <a:ea typeface="Arial"/>
                <a:cs typeface="Arial"/>
              </a:defRPr>
            </a:pPr>
            <a:r>
              <a:rPr sz="1800" b="1">
                <a:solidFill>
                  <a:srgbClr val="FF5400"/>
                </a:solidFill>
                <a:latin typeface="Arial"/>
                <a:ea typeface="Arial"/>
                <a:cs typeface="Arial"/>
              </a:rPr>
              <a:t>Momentum</a:t>
            </a:r>
          </a:p>
        </p:txBody>
      </p:sp>
      <p:sp>
        <p:nvSpPr>
          <p:cNvPr id="25" name="">
            <a:extLst xmlns:a="http://schemas.openxmlformats.org/drawingml/2006/main">
              <a:ext uri="{FF2B5EF4-FFF2-40B4-BE49-F238E27FC236}">
                <a16:creationId xmlns:a16="http://schemas.microsoft.com/office/drawing/2014/main" id="{90B37791-958D-4A39-B2D6-01F19DE5898E}"/>
              </a:ext>
            </a:extLst>
          </p:cNvPr>
          <p:cNvSpPr>
            <a:spLocks xmlns:a="http://schemas.openxmlformats.org/drawingml/2006/main" noGrp="1"/>
          </p:cNvSpPr>
          <p:nvPr/>
        </p:nvSpPr>
        <p:spPr>
          <a:xfrm xmlns:a="http://schemas.openxmlformats.org/drawingml/2006/main">
            <a:off x="3162300" y="1962150"/>
            <a:ext cx="8420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004D73"/>
                </a:solidFill>
                <a:latin typeface="Arial"/>
                <a:ea typeface="Arial"/>
                <a:cs typeface="Arial"/>
              </a:defRPr>
            </a:defPPr>
          </a:lstStyle>
          <a:p xmlns:a="http://schemas.openxmlformats.org/drawingml/2006/main">
            <a:pPr algn="l">
              <a:defRPr sz="1800" b="0">
                <a:solidFill>
                  <a:srgbClr val="004D73"/>
                </a:solidFill>
                <a:latin typeface="Arial"/>
                <a:ea typeface="Arial"/>
                <a:cs typeface="Arial"/>
              </a:defRPr>
            </a:pPr>
            <a:r>
              <a:rPr sz="1800" u="sng">
                <a:solidFill>
                  <a:srgbClr val="004D73"/>
                </a:solidFill>
                <a:latin typeface="Arial"/>
                <a:ea typeface="Arial"/>
                <a:cs typeface="Arial"/>
                <a:hlinkClick xmlns:r="http://schemas.openxmlformats.org/officeDocument/2006/relationships" r:id="R3342f05664ca417d"/>
              </a:rPr>
              <a:t>Gao et al., Market Intraday Momentum</a:t>
            </a:r>
          </a:p>
        </p:txBody>
      </p:sp>
      <p:sp>
        <p:nvSpPr>
          <p:cNvPr id="26" name="Microstructure">
            <a:extLst xmlns:a="http://schemas.openxmlformats.org/drawingml/2006/main">
              <a:ext uri="{FF2B5EF4-FFF2-40B4-BE49-F238E27FC236}">
                <a16:creationId xmlns:a16="http://schemas.microsoft.com/office/drawing/2014/main" id="{1A1376D5-034E-4867-B26F-E9E8680113CD}"/>
              </a:ext>
            </a:extLst>
          </p:cNvPr>
          <p:cNvSpPr>
            <a:spLocks xmlns:a="http://schemas.openxmlformats.org/drawingml/2006/main" noGrp="1"/>
          </p:cNvSpPr>
          <p:nvPr/>
        </p:nvSpPr>
        <p:spPr>
          <a:xfrm xmlns:a="http://schemas.openxmlformats.org/drawingml/2006/main">
            <a:off x="609600" y="2371725"/>
            <a:ext cx="2457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1">
                <a:solidFill>
                  <a:srgbClr val="FF5400"/>
                </a:solidFill>
                <a:latin typeface="Arial"/>
                <a:ea typeface="Arial"/>
                <a:cs typeface="Arial"/>
              </a:defRPr>
            </a:defPPr>
          </a:lstStyle>
          <a:p xmlns:a="http://schemas.openxmlformats.org/drawingml/2006/main">
            <a:pPr algn="l">
              <a:defRPr sz="1800" b="1">
                <a:solidFill>
                  <a:srgbClr val="FF5400"/>
                </a:solidFill>
                <a:latin typeface="Arial"/>
                <a:ea typeface="Arial"/>
                <a:cs typeface="Arial"/>
              </a:defRPr>
            </a:pPr>
            <a:r>
              <a:rPr sz="1800" b="1">
                <a:solidFill>
                  <a:srgbClr val="FF5400"/>
                </a:solidFill>
                <a:latin typeface="Arial"/>
                <a:ea typeface="Arial"/>
                <a:cs typeface="Arial"/>
              </a:rPr>
              <a:t>Microstructure</a:t>
            </a:r>
          </a:p>
        </p:txBody>
      </p:sp>
      <p:sp>
        <p:nvSpPr>
          <p:cNvPr id="27" name="">
            <a:extLst xmlns:a="http://schemas.openxmlformats.org/drawingml/2006/main">
              <a:ext uri="{FF2B5EF4-FFF2-40B4-BE49-F238E27FC236}">
                <a16:creationId xmlns:a16="http://schemas.microsoft.com/office/drawing/2014/main" id="{8386296E-2C2C-411D-98A5-B2AEC770611E}"/>
              </a:ext>
            </a:extLst>
          </p:cNvPr>
          <p:cNvSpPr>
            <a:spLocks xmlns:a="http://schemas.openxmlformats.org/drawingml/2006/main" noGrp="1"/>
          </p:cNvSpPr>
          <p:nvPr/>
        </p:nvSpPr>
        <p:spPr>
          <a:xfrm xmlns:a="http://schemas.openxmlformats.org/drawingml/2006/main">
            <a:off x="3162300" y="2371725"/>
            <a:ext cx="8420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004D73"/>
                </a:solidFill>
                <a:latin typeface="Arial"/>
                <a:ea typeface="Arial"/>
                <a:cs typeface="Arial"/>
              </a:defRPr>
            </a:defPPr>
          </a:lstStyle>
          <a:p xmlns:a="http://schemas.openxmlformats.org/drawingml/2006/main">
            <a:pPr algn="l">
              <a:defRPr sz="1800" b="0">
                <a:solidFill>
                  <a:srgbClr val="004D73"/>
                </a:solidFill>
                <a:latin typeface="Arial"/>
                <a:ea typeface="Arial"/>
                <a:cs typeface="Arial"/>
              </a:defRPr>
            </a:pPr>
            <a:r>
              <a:rPr sz="1800" u="sng">
                <a:solidFill>
                  <a:srgbClr val="004D73"/>
                </a:solidFill>
                <a:latin typeface="Arial"/>
                <a:ea typeface="Arial"/>
                <a:cs typeface="Arial"/>
                <a:hlinkClick xmlns:r="http://schemas.openxmlformats.org/officeDocument/2006/relationships" r:id="Rd06fd1fbca404323"/>
              </a:rPr>
              <a:t>Gould and Bonart, Queue Imbalance</a:t>
            </a:r>
          </a:p>
        </p:txBody>
      </p:sp>
      <p:sp>
        <p:nvSpPr>
          <p:cNvPr id="28" name="Lead-lag">
            <a:extLst xmlns:a="http://schemas.openxmlformats.org/drawingml/2006/main">
              <a:ext uri="{FF2B5EF4-FFF2-40B4-BE49-F238E27FC236}">
                <a16:creationId xmlns:a16="http://schemas.microsoft.com/office/drawing/2014/main" id="{FA3EAED2-C0DF-4D84-89BF-2B20BCA31928}"/>
              </a:ext>
            </a:extLst>
          </p:cNvPr>
          <p:cNvSpPr>
            <a:spLocks xmlns:a="http://schemas.openxmlformats.org/drawingml/2006/main" noGrp="1"/>
          </p:cNvSpPr>
          <p:nvPr/>
        </p:nvSpPr>
        <p:spPr>
          <a:xfrm xmlns:a="http://schemas.openxmlformats.org/drawingml/2006/main">
            <a:off x="609600" y="2781300"/>
            <a:ext cx="2457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1">
                <a:solidFill>
                  <a:srgbClr val="FF5400"/>
                </a:solidFill>
                <a:latin typeface="Arial"/>
                <a:ea typeface="Arial"/>
                <a:cs typeface="Arial"/>
              </a:defRPr>
            </a:defPPr>
          </a:lstStyle>
          <a:p xmlns:a="http://schemas.openxmlformats.org/drawingml/2006/main">
            <a:pPr algn="l">
              <a:defRPr sz="1800" b="1">
                <a:solidFill>
                  <a:srgbClr val="FF5400"/>
                </a:solidFill>
                <a:latin typeface="Arial"/>
                <a:ea typeface="Arial"/>
                <a:cs typeface="Arial"/>
              </a:defRPr>
            </a:pPr>
            <a:r>
              <a:rPr sz="1800" b="1">
                <a:solidFill>
                  <a:srgbClr val="FF5400"/>
                </a:solidFill>
                <a:latin typeface="Arial"/>
                <a:ea typeface="Arial"/>
                <a:cs typeface="Arial"/>
              </a:rPr>
              <a:t>Lead-lag</a:t>
            </a:r>
          </a:p>
        </p:txBody>
      </p:sp>
      <p:sp>
        <p:nvSpPr>
          <p:cNvPr id="29" name="">
            <a:extLst xmlns:a="http://schemas.openxmlformats.org/drawingml/2006/main">
              <a:ext uri="{FF2B5EF4-FFF2-40B4-BE49-F238E27FC236}">
                <a16:creationId xmlns:a16="http://schemas.microsoft.com/office/drawing/2014/main" id="{D3A00214-53E4-4E00-B37C-6D13406A8008}"/>
              </a:ext>
            </a:extLst>
          </p:cNvPr>
          <p:cNvSpPr>
            <a:spLocks xmlns:a="http://schemas.openxmlformats.org/drawingml/2006/main" noGrp="1"/>
          </p:cNvSpPr>
          <p:nvPr/>
        </p:nvSpPr>
        <p:spPr>
          <a:xfrm xmlns:a="http://schemas.openxmlformats.org/drawingml/2006/main">
            <a:off x="3162300" y="2781300"/>
            <a:ext cx="8420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004D73"/>
                </a:solidFill>
                <a:latin typeface="Arial"/>
                <a:ea typeface="Arial"/>
                <a:cs typeface="Arial"/>
              </a:defRPr>
            </a:defPPr>
          </a:lstStyle>
          <a:p xmlns:a="http://schemas.openxmlformats.org/drawingml/2006/main">
            <a:pPr algn="l">
              <a:defRPr sz="1800" b="0">
                <a:solidFill>
                  <a:srgbClr val="004D73"/>
                </a:solidFill>
                <a:latin typeface="Arial"/>
                <a:ea typeface="Arial"/>
                <a:cs typeface="Arial"/>
              </a:defRPr>
            </a:pPr>
            <a:r>
              <a:rPr sz="1800" u="sng">
                <a:solidFill>
                  <a:srgbClr val="004D73"/>
                </a:solidFill>
                <a:latin typeface="Arial"/>
                <a:ea typeface="Arial"/>
                <a:cs typeface="Arial"/>
                <a:hlinkClick xmlns:r="http://schemas.openxmlformats.org/officeDocument/2006/relationships" r:id="R663bd0231a5b4571"/>
              </a:rPr>
              <a:t>Cont et al., Cross-Impact of Order Flow</a:t>
            </a:r>
          </a:p>
        </p:txBody>
      </p:sp>
      <p:sp>
        <p:nvSpPr>
          <p:cNvPr id="30" name="Volatility forecasts">
            <a:extLst xmlns:a="http://schemas.openxmlformats.org/drawingml/2006/main">
              <a:ext uri="{FF2B5EF4-FFF2-40B4-BE49-F238E27FC236}">
                <a16:creationId xmlns:a16="http://schemas.microsoft.com/office/drawing/2014/main" id="{E40BB088-1FB2-440B-A34C-BD9D2902F3AE}"/>
              </a:ext>
            </a:extLst>
          </p:cNvPr>
          <p:cNvSpPr>
            <a:spLocks xmlns:a="http://schemas.openxmlformats.org/drawingml/2006/main" noGrp="1"/>
          </p:cNvSpPr>
          <p:nvPr/>
        </p:nvSpPr>
        <p:spPr>
          <a:xfrm xmlns:a="http://schemas.openxmlformats.org/drawingml/2006/main">
            <a:off x="609600" y="3190875"/>
            <a:ext cx="2457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1">
                <a:solidFill>
                  <a:srgbClr val="FF5400"/>
                </a:solidFill>
                <a:latin typeface="Arial"/>
                <a:ea typeface="Arial"/>
                <a:cs typeface="Arial"/>
              </a:defRPr>
            </a:defPPr>
          </a:lstStyle>
          <a:p xmlns:a="http://schemas.openxmlformats.org/drawingml/2006/main">
            <a:pPr algn="l">
              <a:defRPr sz="1800" b="1">
                <a:solidFill>
                  <a:srgbClr val="FF5400"/>
                </a:solidFill>
                <a:latin typeface="Arial"/>
                <a:ea typeface="Arial"/>
                <a:cs typeface="Arial"/>
              </a:defRPr>
            </a:pPr>
            <a:r>
              <a:rPr sz="1800" b="1">
                <a:solidFill>
                  <a:srgbClr val="FF5400"/>
                </a:solidFill>
                <a:latin typeface="Arial"/>
                <a:ea typeface="Arial"/>
                <a:cs typeface="Arial"/>
              </a:rPr>
              <a:t>Volatility forecasts</a:t>
            </a:r>
          </a:p>
        </p:txBody>
      </p:sp>
      <p:sp>
        <p:nvSpPr>
          <p:cNvPr id="31" name="">
            <a:extLst xmlns:a="http://schemas.openxmlformats.org/drawingml/2006/main">
              <a:ext uri="{FF2B5EF4-FFF2-40B4-BE49-F238E27FC236}">
                <a16:creationId xmlns:a16="http://schemas.microsoft.com/office/drawing/2014/main" id="{B3D3834B-9FD9-448C-95A1-49F23E2F7EF0}"/>
              </a:ext>
            </a:extLst>
          </p:cNvPr>
          <p:cNvSpPr>
            <a:spLocks xmlns:a="http://schemas.openxmlformats.org/drawingml/2006/main" noGrp="1"/>
          </p:cNvSpPr>
          <p:nvPr/>
        </p:nvSpPr>
        <p:spPr>
          <a:xfrm xmlns:a="http://schemas.openxmlformats.org/drawingml/2006/main">
            <a:off x="3162300" y="3190875"/>
            <a:ext cx="8420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004D73"/>
                </a:solidFill>
                <a:latin typeface="Arial"/>
                <a:ea typeface="Arial"/>
                <a:cs typeface="Arial"/>
              </a:defRPr>
            </a:defPPr>
          </a:lstStyle>
          <a:p xmlns:a="http://schemas.openxmlformats.org/drawingml/2006/main">
            <a:pPr algn="l">
              <a:defRPr sz="1800" b="0">
                <a:solidFill>
                  <a:srgbClr val="004D73"/>
                </a:solidFill>
                <a:latin typeface="Arial"/>
                <a:ea typeface="Arial"/>
                <a:cs typeface="Arial"/>
              </a:defRPr>
            </a:pPr>
            <a:r>
              <a:rPr sz="1800" u="sng">
                <a:solidFill>
                  <a:srgbClr val="004D73"/>
                </a:solidFill>
                <a:latin typeface="Arial"/>
                <a:ea typeface="Arial"/>
                <a:cs typeface="Arial"/>
                <a:hlinkClick xmlns:r="http://schemas.openxmlformats.org/officeDocument/2006/relationships" r:id="R965d649743874520"/>
              </a:rPr>
              <a:t>Zhang et al., Intraday Commonality</a:t>
            </a:r>
          </a:p>
        </p:txBody>
      </p:sp>
      <p:sp>
        <p:nvSpPr>
          <p:cNvPr id="32" name="Performance">
            <a:extLst xmlns:a="http://schemas.openxmlformats.org/drawingml/2006/main">
              <a:ext uri="{FF2B5EF4-FFF2-40B4-BE49-F238E27FC236}">
                <a16:creationId xmlns:a16="http://schemas.microsoft.com/office/drawing/2014/main" id="{EBD2702B-29AF-4847-82BB-8ABB355CAD4A}"/>
              </a:ext>
            </a:extLst>
          </p:cNvPr>
          <p:cNvSpPr>
            <a:spLocks xmlns:a="http://schemas.openxmlformats.org/drawingml/2006/main" noGrp="1"/>
          </p:cNvSpPr>
          <p:nvPr/>
        </p:nvSpPr>
        <p:spPr>
          <a:xfrm xmlns:a="http://schemas.openxmlformats.org/drawingml/2006/main">
            <a:off x="609600" y="3600450"/>
            <a:ext cx="2457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1">
                <a:solidFill>
                  <a:srgbClr val="FF5400"/>
                </a:solidFill>
                <a:latin typeface="Arial"/>
                <a:ea typeface="Arial"/>
                <a:cs typeface="Arial"/>
              </a:defRPr>
            </a:defPPr>
          </a:lstStyle>
          <a:p xmlns:a="http://schemas.openxmlformats.org/drawingml/2006/main">
            <a:pPr algn="l">
              <a:defRPr sz="1800" b="1">
                <a:solidFill>
                  <a:srgbClr val="FF5400"/>
                </a:solidFill>
                <a:latin typeface="Arial"/>
                <a:ea typeface="Arial"/>
                <a:cs typeface="Arial"/>
              </a:defRPr>
            </a:pPr>
            <a:r>
              <a:rPr sz="1800" b="1">
                <a:solidFill>
                  <a:srgbClr val="FF5400"/>
                </a:solidFill>
                <a:latin typeface="Arial"/>
                <a:ea typeface="Arial"/>
                <a:cs typeface="Arial"/>
              </a:rPr>
              <a:t>Performance</a:t>
            </a:r>
          </a:p>
        </p:txBody>
      </p:sp>
      <p:sp>
        <p:nvSpPr>
          <p:cNvPr id="33" name="">
            <a:extLst xmlns:a="http://schemas.openxmlformats.org/drawingml/2006/main">
              <a:ext uri="{FF2B5EF4-FFF2-40B4-BE49-F238E27FC236}">
                <a16:creationId xmlns:a16="http://schemas.microsoft.com/office/drawing/2014/main" id="{4A0A94D2-92F2-4DE7-B2F4-76A4C0EED891}"/>
              </a:ext>
            </a:extLst>
          </p:cNvPr>
          <p:cNvSpPr>
            <a:spLocks xmlns:a="http://schemas.openxmlformats.org/drawingml/2006/main" noGrp="1"/>
          </p:cNvSpPr>
          <p:nvPr/>
        </p:nvSpPr>
        <p:spPr>
          <a:xfrm xmlns:a="http://schemas.openxmlformats.org/drawingml/2006/main">
            <a:off x="3162300" y="3600450"/>
            <a:ext cx="8420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004D73"/>
                </a:solidFill>
                <a:latin typeface="Arial"/>
                <a:ea typeface="Arial"/>
                <a:cs typeface="Arial"/>
              </a:defRPr>
            </a:defPPr>
          </a:lstStyle>
          <a:p xmlns:a="http://schemas.openxmlformats.org/drawingml/2006/main">
            <a:pPr algn="l">
              <a:defRPr sz="1800" b="0">
                <a:solidFill>
                  <a:srgbClr val="004D73"/>
                </a:solidFill>
                <a:latin typeface="Arial"/>
                <a:ea typeface="Arial"/>
                <a:cs typeface="Arial"/>
              </a:defRPr>
            </a:pPr>
            <a:r>
              <a:rPr sz="1800" u="sng">
                <a:solidFill>
                  <a:srgbClr val="004D73"/>
                </a:solidFill>
                <a:latin typeface="Arial"/>
                <a:ea typeface="Arial"/>
                <a:cs typeface="Arial"/>
                <a:hlinkClick xmlns:r="http://schemas.openxmlformats.org/officeDocument/2006/relationships" r:id="R757ff7525d084c58"/>
              </a:rPr>
              <a:t>Sharpe, The Sharpe Ratio</a:t>
            </a:r>
          </a:p>
        </p:txBody>
      </p:sp>
      <p:sp>
        <p:nvSpPr>
          <p:cNvPr id="34" name="Overfitting">
            <a:extLst xmlns:a="http://schemas.openxmlformats.org/drawingml/2006/main">
              <a:ext uri="{FF2B5EF4-FFF2-40B4-BE49-F238E27FC236}">
                <a16:creationId xmlns:a16="http://schemas.microsoft.com/office/drawing/2014/main" id="{0705D7CB-5B35-4F7A-9A97-EC0DFE53F077}"/>
              </a:ext>
            </a:extLst>
          </p:cNvPr>
          <p:cNvSpPr>
            <a:spLocks xmlns:a="http://schemas.openxmlformats.org/drawingml/2006/main" noGrp="1"/>
          </p:cNvSpPr>
          <p:nvPr/>
        </p:nvSpPr>
        <p:spPr>
          <a:xfrm xmlns:a="http://schemas.openxmlformats.org/drawingml/2006/main">
            <a:off x="609600" y="4010025"/>
            <a:ext cx="2457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1">
                <a:solidFill>
                  <a:srgbClr val="FF5400"/>
                </a:solidFill>
                <a:latin typeface="Arial"/>
                <a:ea typeface="Arial"/>
                <a:cs typeface="Arial"/>
              </a:defRPr>
            </a:defPPr>
          </a:lstStyle>
          <a:p xmlns:a="http://schemas.openxmlformats.org/drawingml/2006/main">
            <a:pPr algn="l">
              <a:defRPr sz="1800" b="1">
                <a:solidFill>
                  <a:srgbClr val="FF5400"/>
                </a:solidFill>
                <a:latin typeface="Arial"/>
                <a:ea typeface="Arial"/>
                <a:cs typeface="Arial"/>
              </a:defRPr>
            </a:pPr>
            <a:r>
              <a:rPr sz="1800" b="1">
                <a:solidFill>
                  <a:srgbClr val="FF5400"/>
                </a:solidFill>
                <a:latin typeface="Arial"/>
                <a:ea typeface="Arial"/>
                <a:cs typeface="Arial"/>
              </a:rPr>
              <a:t>Overfitting</a:t>
            </a:r>
          </a:p>
        </p:txBody>
      </p:sp>
      <p:sp>
        <p:nvSpPr>
          <p:cNvPr id="35" name="">
            <a:extLst xmlns:a="http://schemas.openxmlformats.org/drawingml/2006/main">
              <a:ext uri="{FF2B5EF4-FFF2-40B4-BE49-F238E27FC236}">
                <a16:creationId xmlns:a16="http://schemas.microsoft.com/office/drawing/2014/main" id="{AC1CCCFF-6C52-41D1-AC64-CC1E0A836305}"/>
              </a:ext>
            </a:extLst>
          </p:cNvPr>
          <p:cNvSpPr>
            <a:spLocks xmlns:a="http://schemas.openxmlformats.org/drawingml/2006/main" noGrp="1"/>
          </p:cNvSpPr>
          <p:nvPr/>
        </p:nvSpPr>
        <p:spPr>
          <a:xfrm xmlns:a="http://schemas.openxmlformats.org/drawingml/2006/main">
            <a:off x="3162300" y="4010025"/>
            <a:ext cx="8420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004D73"/>
                </a:solidFill>
                <a:latin typeface="Arial"/>
                <a:ea typeface="Arial"/>
                <a:cs typeface="Arial"/>
              </a:defRPr>
            </a:defPPr>
          </a:lstStyle>
          <a:p xmlns:a="http://schemas.openxmlformats.org/drawingml/2006/main">
            <a:pPr algn="l">
              <a:defRPr sz="1800" b="0">
                <a:solidFill>
                  <a:srgbClr val="004D73"/>
                </a:solidFill>
                <a:latin typeface="Arial"/>
                <a:ea typeface="Arial"/>
                <a:cs typeface="Arial"/>
              </a:defRPr>
            </a:pPr>
            <a:r>
              <a:rPr sz="1800" u="sng">
                <a:solidFill>
                  <a:srgbClr val="004D73"/>
                </a:solidFill>
                <a:latin typeface="Arial"/>
                <a:ea typeface="Arial"/>
                <a:cs typeface="Arial"/>
                <a:hlinkClick xmlns:r="http://schemas.openxmlformats.org/officeDocument/2006/relationships" r:id="R77f42deb98e44866"/>
              </a:rPr>
              <a:t>Bailey et al., Probability of Backtest Overfitting</a:t>
            </a:r>
          </a:p>
        </p:txBody>
      </p:sp>
      <p:sp>
        <p:nvSpPr>
          <p:cNvPr id="36" name="Market data">
            <a:extLst xmlns:a="http://schemas.openxmlformats.org/drawingml/2006/main">
              <a:ext uri="{FF2B5EF4-FFF2-40B4-BE49-F238E27FC236}">
                <a16:creationId xmlns:a16="http://schemas.microsoft.com/office/drawing/2014/main" id="{8556DEEE-549A-492A-8865-B46BED7C77F7}"/>
              </a:ext>
            </a:extLst>
          </p:cNvPr>
          <p:cNvSpPr>
            <a:spLocks xmlns:a="http://schemas.openxmlformats.org/drawingml/2006/main" noGrp="1"/>
          </p:cNvSpPr>
          <p:nvPr/>
        </p:nvSpPr>
        <p:spPr>
          <a:xfrm xmlns:a="http://schemas.openxmlformats.org/drawingml/2006/main">
            <a:off x="609600" y="4419600"/>
            <a:ext cx="2457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1">
                <a:solidFill>
                  <a:srgbClr val="FF5400"/>
                </a:solidFill>
                <a:latin typeface="Arial"/>
                <a:ea typeface="Arial"/>
                <a:cs typeface="Arial"/>
              </a:defRPr>
            </a:defPPr>
          </a:lstStyle>
          <a:p xmlns:a="http://schemas.openxmlformats.org/drawingml/2006/main">
            <a:pPr algn="l">
              <a:defRPr sz="1800" b="1">
                <a:solidFill>
                  <a:srgbClr val="FF5400"/>
                </a:solidFill>
                <a:latin typeface="Arial"/>
                <a:ea typeface="Arial"/>
                <a:cs typeface="Arial"/>
              </a:defRPr>
            </a:pPr>
            <a:r>
              <a:rPr sz="1800" b="1">
                <a:solidFill>
                  <a:srgbClr val="FF5400"/>
                </a:solidFill>
                <a:latin typeface="Arial"/>
                <a:ea typeface="Arial"/>
                <a:cs typeface="Arial"/>
              </a:rPr>
              <a:t>Market data</a:t>
            </a:r>
          </a:p>
        </p:txBody>
      </p:sp>
      <p:sp>
        <p:nvSpPr>
          <p:cNvPr id="37" name="">
            <a:extLst xmlns:a="http://schemas.openxmlformats.org/drawingml/2006/main">
              <a:ext uri="{FF2B5EF4-FFF2-40B4-BE49-F238E27FC236}">
                <a16:creationId xmlns:a16="http://schemas.microsoft.com/office/drawing/2014/main" id="{3FD0CED7-7994-465E-A40D-795CE65BBA52}"/>
              </a:ext>
            </a:extLst>
          </p:cNvPr>
          <p:cNvSpPr>
            <a:spLocks xmlns:a="http://schemas.openxmlformats.org/drawingml/2006/main" noGrp="1"/>
          </p:cNvSpPr>
          <p:nvPr/>
        </p:nvSpPr>
        <p:spPr>
          <a:xfrm xmlns:a="http://schemas.openxmlformats.org/drawingml/2006/main">
            <a:off x="3162300" y="4419600"/>
            <a:ext cx="8420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004D73"/>
                </a:solidFill>
                <a:latin typeface="Arial"/>
                <a:ea typeface="Arial"/>
                <a:cs typeface="Arial"/>
              </a:defRPr>
            </a:defPPr>
          </a:lstStyle>
          <a:p xmlns:a="http://schemas.openxmlformats.org/drawingml/2006/main">
            <a:pPr algn="l">
              <a:defRPr sz="1800" b="0">
                <a:solidFill>
                  <a:srgbClr val="004D73"/>
                </a:solidFill>
                <a:latin typeface="Arial"/>
                <a:ea typeface="Arial"/>
                <a:cs typeface="Arial"/>
              </a:defRPr>
            </a:pPr>
            <a:r>
              <a:rPr sz="1800" u="sng">
                <a:solidFill>
                  <a:srgbClr val="004D73"/>
                </a:solidFill>
                <a:latin typeface="Arial"/>
                <a:ea typeface="Arial"/>
                <a:cs typeface="Arial"/>
                <a:hlinkClick xmlns:r="http://schemas.openxmlformats.org/officeDocument/2006/relationships" r:id="R6fbcd47993064232"/>
              </a:rPr>
              <a:t>Alpaca Market Data FAQ</a:t>
            </a:r>
          </a:p>
        </p:txBody>
      </p:sp>
      <p:sp>
        <p:nvSpPr>
          <p:cNvPr id="38" name="Orders and fills">
            <a:extLst xmlns:a="http://schemas.openxmlformats.org/drawingml/2006/main">
              <a:ext uri="{FF2B5EF4-FFF2-40B4-BE49-F238E27FC236}">
                <a16:creationId xmlns:a16="http://schemas.microsoft.com/office/drawing/2014/main" id="{BBD7AE61-2685-40F6-8EAB-798DA1B036A4}"/>
              </a:ext>
            </a:extLst>
          </p:cNvPr>
          <p:cNvSpPr>
            <a:spLocks xmlns:a="http://schemas.openxmlformats.org/drawingml/2006/main" noGrp="1"/>
          </p:cNvSpPr>
          <p:nvPr/>
        </p:nvSpPr>
        <p:spPr>
          <a:xfrm xmlns:a="http://schemas.openxmlformats.org/drawingml/2006/main">
            <a:off x="609600" y="4829175"/>
            <a:ext cx="2457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1">
                <a:solidFill>
                  <a:srgbClr val="FF5400"/>
                </a:solidFill>
                <a:latin typeface="Arial"/>
                <a:ea typeface="Arial"/>
                <a:cs typeface="Arial"/>
              </a:defRPr>
            </a:defPPr>
          </a:lstStyle>
          <a:p xmlns:a="http://schemas.openxmlformats.org/drawingml/2006/main">
            <a:pPr algn="l">
              <a:defRPr sz="1800" b="1">
                <a:solidFill>
                  <a:srgbClr val="FF5400"/>
                </a:solidFill>
                <a:latin typeface="Arial"/>
                <a:ea typeface="Arial"/>
                <a:cs typeface="Arial"/>
              </a:defRPr>
            </a:pPr>
            <a:r>
              <a:rPr sz="1800" b="1">
                <a:solidFill>
                  <a:srgbClr val="FF5400"/>
                </a:solidFill>
                <a:latin typeface="Arial"/>
                <a:ea typeface="Arial"/>
                <a:cs typeface="Arial"/>
              </a:rPr>
              <a:t>Orders and fills</a:t>
            </a:r>
          </a:p>
        </p:txBody>
      </p:sp>
      <p:sp>
        <p:nvSpPr>
          <p:cNvPr id="39" name="">
            <a:extLst xmlns:a="http://schemas.openxmlformats.org/drawingml/2006/main">
              <a:ext uri="{FF2B5EF4-FFF2-40B4-BE49-F238E27FC236}">
                <a16:creationId xmlns:a16="http://schemas.microsoft.com/office/drawing/2014/main" id="{E8293739-1293-482B-8B46-4A58A25FBE8F}"/>
              </a:ext>
            </a:extLst>
          </p:cNvPr>
          <p:cNvSpPr>
            <a:spLocks xmlns:a="http://schemas.openxmlformats.org/drawingml/2006/main" noGrp="1"/>
          </p:cNvSpPr>
          <p:nvPr/>
        </p:nvSpPr>
        <p:spPr>
          <a:xfrm xmlns:a="http://schemas.openxmlformats.org/drawingml/2006/main">
            <a:off x="3162300" y="4829175"/>
            <a:ext cx="8420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004D73"/>
                </a:solidFill>
                <a:latin typeface="Arial"/>
                <a:ea typeface="Arial"/>
                <a:cs typeface="Arial"/>
              </a:defRPr>
            </a:defPPr>
          </a:lstStyle>
          <a:p xmlns:a="http://schemas.openxmlformats.org/drawingml/2006/main">
            <a:pPr algn="l">
              <a:defRPr sz="1800" b="0">
                <a:solidFill>
                  <a:srgbClr val="004D73"/>
                </a:solidFill>
                <a:latin typeface="Arial"/>
                <a:ea typeface="Arial"/>
                <a:cs typeface="Arial"/>
              </a:defRPr>
            </a:pPr>
            <a:r>
              <a:rPr sz="1800" u="sng">
                <a:solidFill>
                  <a:srgbClr val="004D73"/>
                </a:solidFill>
                <a:latin typeface="Arial"/>
                <a:ea typeface="Arial"/>
                <a:cs typeface="Arial"/>
                <a:hlinkClick xmlns:r="http://schemas.openxmlformats.org/officeDocument/2006/relationships" r:id="R6b900f0bcb6a41ad"/>
              </a:rPr>
              <a:t>Alpaca Placing Orders</a:t>
            </a:r>
          </a:p>
        </p:txBody>
      </p:sp>
      <p:sp>
        <p:nvSpPr>
          <p:cNvPr id="40" name="Paper trading">
            <a:extLst xmlns:a="http://schemas.openxmlformats.org/drawingml/2006/main">
              <a:ext uri="{FF2B5EF4-FFF2-40B4-BE49-F238E27FC236}">
                <a16:creationId xmlns:a16="http://schemas.microsoft.com/office/drawing/2014/main" id="{B95B99B5-1AFB-4C64-8A37-48C760FF5DA3}"/>
              </a:ext>
            </a:extLst>
          </p:cNvPr>
          <p:cNvSpPr>
            <a:spLocks xmlns:a="http://schemas.openxmlformats.org/drawingml/2006/main" noGrp="1"/>
          </p:cNvSpPr>
          <p:nvPr/>
        </p:nvSpPr>
        <p:spPr>
          <a:xfrm xmlns:a="http://schemas.openxmlformats.org/drawingml/2006/main">
            <a:off x="609600" y="5238750"/>
            <a:ext cx="2457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1">
                <a:solidFill>
                  <a:srgbClr val="FF5400"/>
                </a:solidFill>
                <a:latin typeface="Arial"/>
                <a:ea typeface="Arial"/>
                <a:cs typeface="Arial"/>
              </a:defRPr>
            </a:defPPr>
          </a:lstStyle>
          <a:p xmlns:a="http://schemas.openxmlformats.org/drawingml/2006/main">
            <a:pPr algn="l">
              <a:defRPr sz="1800" b="1">
                <a:solidFill>
                  <a:srgbClr val="FF5400"/>
                </a:solidFill>
                <a:latin typeface="Arial"/>
                <a:ea typeface="Arial"/>
                <a:cs typeface="Arial"/>
              </a:defRPr>
            </a:pPr>
            <a:r>
              <a:rPr sz="1800" b="1">
                <a:solidFill>
                  <a:srgbClr val="FF5400"/>
                </a:solidFill>
                <a:latin typeface="Arial"/>
                <a:ea typeface="Arial"/>
                <a:cs typeface="Arial"/>
              </a:rPr>
              <a:t>Paper trading</a:t>
            </a:r>
          </a:p>
        </p:txBody>
      </p:sp>
      <p:sp>
        <p:nvSpPr>
          <p:cNvPr id="41" name="">
            <a:extLst xmlns:a="http://schemas.openxmlformats.org/drawingml/2006/main">
              <a:ext uri="{FF2B5EF4-FFF2-40B4-BE49-F238E27FC236}">
                <a16:creationId xmlns:a16="http://schemas.microsoft.com/office/drawing/2014/main" id="{899877EE-0F0B-4B3A-8671-2B2C4212DA41}"/>
              </a:ext>
            </a:extLst>
          </p:cNvPr>
          <p:cNvSpPr>
            <a:spLocks xmlns:a="http://schemas.openxmlformats.org/drawingml/2006/main" noGrp="1"/>
          </p:cNvSpPr>
          <p:nvPr/>
        </p:nvSpPr>
        <p:spPr>
          <a:xfrm xmlns:a="http://schemas.openxmlformats.org/drawingml/2006/main">
            <a:off x="3162300" y="5238750"/>
            <a:ext cx="8420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004D73"/>
                </a:solidFill>
                <a:latin typeface="Arial"/>
                <a:ea typeface="Arial"/>
                <a:cs typeface="Arial"/>
              </a:defRPr>
            </a:defPPr>
          </a:lstStyle>
          <a:p xmlns:a="http://schemas.openxmlformats.org/drawingml/2006/main">
            <a:pPr algn="l">
              <a:defRPr sz="1800" b="0">
                <a:solidFill>
                  <a:srgbClr val="004D73"/>
                </a:solidFill>
                <a:latin typeface="Arial"/>
                <a:ea typeface="Arial"/>
                <a:cs typeface="Arial"/>
              </a:defRPr>
            </a:pPr>
            <a:r>
              <a:rPr sz="1800" u="sng">
                <a:solidFill>
                  <a:srgbClr val="004D73"/>
                </a:solidFill>
                <a:latin typeface="Arial"/>
                <a:ea typeface="Arial"/>
                <a:cs typeface="Arial"/>
                <a:hlinkClick xmlns:r="http://schemas.openxmlformats.org/officeDocument/2006/relationships" r:id="R42fcd2fff37a483a"/>
              </a:rPr>
              <a:t>Alpaca Paper Trading</a:t>
            </a:r>
          </a:p>
        </p:txBody>
      </p:sp>
      <p:sp>
        <p:nvSpPr>
          <p:cNvPr id="42" name="Project resources: docs/team-guides/ and docs">
            <a:extLst xmlns:a="http://schemas.openxmlformats.org/drawingml/2006/main">
              <a:ext uri="{FF2B5EF4-FFF2-40B4-BE49-F238E27FC236}">
                <a16:creationId xmlns:a16="http://schemas.microsoft.com/office/drawing/2014/main" id="{CFF3F35B-1165-41B6-99D8-628148A3C461}"/>
              </a:ext>
            </a:extLst>
          </p:cNvPr>
          <p:cNvSpPr>
            <a:spLocks xmlns:a="http://schemas.openxmlformats.org/drawingml/2006/main" noGrp="1"/>
          </p:cNvSpPr>
          <p:nvPr/>
        </p:nvSpPr>
        <p:spPr>
          <a:xfrm xmlns:a="http://schemas.openxmlformats.org/drawingml/2006/main">
            <a:off x="609600" y="59055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556272"/>
                </a:solidFill>
                <a:latin typeface="Arial"/>
                <a:ea typeface="Arial"/>
                <a:cs typeface="Arial"/>
              </a:defRPr>
            </a:defPPr>
          </a:lstStyle>
          <a:p xmlns:a="http://schemas.openxmlformats.org/drawingml/2006/main">
            <a:pPr algn="l">
              <a:defRPr sz="1725" b="0">
                <a:solidFill>
                  <a:srgbClr val="556272"/>
                </a:solidFill>
                <a:latin typeface="Arial"/>
                <a:ea typeface="Arial"/>
                <a:cs typeface="Arial"/>
              </a:defRPr>
            </a:pPr>
            <a:r>
              <a:rPr sz="1725" b="0">
                <a:solidFill>
                  <a:srgbClr val="556272"/>
                </a:solidFill>
                <a:latin typeface="Arial"/>
                <a:ea typeface="Arial"/>
                <a:cs typeface="Arial"/>
              </a:rPr>
              <a:t>Project resources: docs/team-guides/ and docs/guides/</a:t>
            </a:r>
          </a:p>
        </p:txBody>
      </p:sp>
    </p:spTree>
    <p:extLst>
      <p:ext uri="{BB962C8B-B14F-4D97-AF65-F5344CB8AC3E}">
        <p14:creationId xmlns:p14="http://schemas.microsoft.com/office/powerpoint/2010/main" val="14486697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2026-10-13T21:31:31.6120000Z</dcterms:created>
  <dcterms:modified xsi:type="dcterms:W3CDTF">2026-10-13T21:31:31.6120000Z</dcterms:modified>
</coreProperties>
</file>